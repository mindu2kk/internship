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Canva Sans Bold" charset="1" panose="020B0803030501040103"/>
      <p:regular r:id="rId26"/>
    </p:embeddedFont>
    <p:embeddedFont>
      <p:font typeface="Canva Sans" charset="1" panose="020B0503030501040103"/>
      <p:regular r:id="rId27"/>
    </p:embeddedFont>
    <p:embeddedFont>
      <p:font typeface="TT Hoves Bold" charset="1" panose="02000003020000060003"/>
      <p:regular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svg" Type="http://schemas.openxmlformats.org/officeDocument/2006/relationships/image"/><Relationship Id="rId13" Target="../media/image12.png" Type="http://schemas.openxmlformats.org/officeDocument/2006/relationships/image"/><Relationship Id="rId14" Target="../media/image13.svg" Type="http://schemas.openxmlformats.org/officeDocument/2006/relationships/image"/><Relationship Id="rId15" Target="../media/image14.png" Type="http://schemas.openxmlformats.org/officeDocument/2006/relationships/image"/><Relationship Id="rId16" Target="../media/image15.svg" Type="http://schemas.openxmlformats.org/officeDocument/2006/relationships/image"/><Relationship Id="rId17" Target="../media/image16.png" Type="http://schemas.openxmlformats.org/officeDocument/2006/relationships/image"/><Relationship Id="rId18" Target="../media/image17.svg" Type="http://schemas.openxmlformats.org/officeDocument/2006/relationships/image"/><Relationship Id="rId19" Target="../media/image18.png" Type="http://schemas.openxmlformats.org/officeDocument/2006/relationships/image"/><Relationship Id="rId2" Target="../media/image1.png" Type="http://schemas.openxmlformats.org/officeDocument/2006/relationships/image"/><Relationship Id="rId20" Target="../media/image19.svg" Type="http://schemas.openxmlformats.org/officeDocument/2006/relationships/image"/><Relationship Id="rId21" Target="../media/image20.png" Type="http://schemas.openxmlformats.org/officeDocument/2006/relationships/image"/><Relationship Id="rId22" Target="../media/image21.sv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0.png" Type="http://schemas.openxmlformats.org/officeDocument/2006/relationships/image"/><Relationship Id="rId11" Target="../media/image11.svg" Type="http://schemas.openxmlformats.org/officeDocument/2006/relationships/image"/><Relationship Id="rId12" Target="../media/image5.png" Type="http://schemas.openxmlformats.org/officeDocument/2006/relationships/image"/><Relationship Id="rId13" Target="../media/image6.svg" Type="http://schemas.openxmlformats.org/officeDocument/2006/relationships/image"/><Relationship Id="rId14" Target="../media/image20.png" Type="http://schemas.openxmlformats.org/officeDocument/2006/relationships/image"/><Relationship Id="rId15" Target="../media/image21.svg" Type="http://schemas.openxmlformats.org/officeDocument/2006/relationships/image"/><Relationship Id="rId16" Target="../media/image1.png" Type="http://schemas.openxmlformats.org/officeDocument/2006/relationships/image"/><Relationship Id="rId17" Target="../media/image2.svg" Type="http://schemas.openxmlformats.org/officeDocument/2006/relationships/image"/><Relationship Id="rId18" Target="../media/image14.png" Type="http://schemas.openxmlformats.org/officeDocument/2006/relationships/image"/><Relationship Id="rId19" Target="../media/image15.sv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24.png" Type="http://schemas.openxmlformats.org/officeDocument/2006/relationships/image"/><Relationship Id="rId9" Target="../media/image25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8.pn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5.png" Type="http://schemas.openxmlformats.org/officeDocument/2006/relationships/image"/><Relationship Id="rId14" Target="../media/image6.svg" Type="http://schemas.openxmlformats.org/officeDocument/2006/relationships/image"/><Relationship Id="rId15" Target="../media/image20.png" Type="http://schemas.openxmlformats.org/officeDocument/2006/relationships/image"/><Relationship Id="rId16" Target="../media/image21.svg" Type="http://schemas.openxmlformats.org/officeDocument/2006/relationships/image"/><Relationship Id="rId17" Target="../media/image1.png" Type="http://schemas.openxmlformats.org/officeDocument/2006/relationships/image"/><Relationship Id="rId18" Target="../media/image2.svg" Type="http://schemas.openxmlformats.org/officeDocument/2006/relationships/image"/><Relationship Id="rId19" Target="../media/image14.png" Type="http://schemas.openxmlformats.org/officeDocument/2006/relationships/image"/><Relationship Id="rId2" Target="../media/image22.png" Type="http://schemas.openxmlformats.org/officeDocument/2006/relationships/image"/><Relationship Id="rId20" Target="../media/image15.svg" Type="http://schemas.openxmlformats.org/officeDocument/2006/relationships/image"/><Relationship Id="rId3" Target="../media/image23.svg" Type="http://schemas.openxmlformats.org/officeDocument/2006/relationships/image"/><Relationship Id="rId4" Target="../media/image26.png" Type="http://schemas.openxmlformats.org/officeDocument/2006/relationships/image"/><Relationship Id="rId5" Target="../media/image27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5.png" Type="http://schemas.openxmlformats.org/officeDocument/2006/relationships/image"/><Relationship Id="rId13" Target="../media/image6.svg" Type="http://schemas.openxmlformats.org/officeDocument/2006/relationships/image"/><Relationship Id="rId14" Target="../media/image31.png" Type="http://schemas.openxmlformats.org/officeDocument/2006/relationships/image"/><Relationship Id="rId15" Target="../media/image32.svg" Type="http://schemas.openxmlformats.org/officeDocument/2006/relationships/image"/><Relationship Id="rId16" Target="../media/image33.png" Type="http://schemas.openxmlformats.org/officeDocument/2006/relationships/image"/><Relationship Id="rId17" Target="../media/image34.svg" Type="http://schemas.openxmlformats.org/officeDocument/2006/relationships/image"/><Relationship Id="rId18" Target="../media/image35.png" Type="http://schemas.openxmlformats.org/officeDocument/2006/relationships/image"/><Relationship Id="rId19" Target="../media/image36.svg" Type="http://schemas.openxmlformats.org/officeDocument/2006/relationships/image"/><Relationship Id="rId2" Target="../media/image22.png" Type="http://schemas.openxmlformats.org/officeDocument/2006/relationships/image"/><Relationship Id="rId20" Target="../media/image37.png" Type="http://schemas.openxmlformats.org/officeDocument/2006/relationships/image"/><Relationship Id="rId21" Target="../media/image38.svg" Type="http://schemas.openxmlformats.org/officeDocument/2006/relationships/image"/><Relationship Id="rId22" Target="../media/image20.png" Type="http://schemas.openxmlformats.org/officeDocument/2006/relationships/image"/><Relationship Id="rId23" Target="../media/image21.svg" Type="http://schemas.openxmlformats.org/officeDocument/2006/relationships/image"/><Relationship Id="rId24" Target="../media/image1.png" Type="http://schemas.openxmlformats.org/officeDocument/2006/relationships/image"/><Relationship Id="rId25" Target="../media/image2.svg" Type="http://schemas.openxmlformats.org/officeDocument/2006/relationships/image"/><Relationship Id="rId26" Target="../media/image14.png" Type="http://schemas.openxmlformats.org/officeDocument/2006/relationships/image"/><Relationship Id="rId27" Target="../media/image15.svg" Type="http://schemas.openxmlformats.org/officeDocument/2006/relationships/image"/><Relationship Id="rId3" Target="../media/image23.sv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39.png" Type="http://schemas.openxmlformats.org/officeDocument/2006/relationships/image"/><Relationship Id="rId13" Target="../media/image40.png" Type="http://schemas.openxmlformats.org/officeDocument/2006/relationships/image"/><Relationship Id="rId14" Target="../media/image41.svg" Type="http://schemas.openxmlformats.org/officeDocument/2006/relationships/image"/><Relationship Id="rId15" Target="../media/image20.png" Type="http://schemas.openxmlformats.org/officeDocument/2006/relationships/image"/><Relationship Id="rId16" Target="../media/image21.svg" Type="http://schemas.openxmlformats.org/officeDocument/2006/relationships/image"/><Relationship Id="rId17" Target="../media/image1.png" Type="http://schemas.openxmlformats.org/officeDocument/2006/relationships/image"/><Relationship Id="rId18" Target="../media/image2.svg" Type="http://schemas.openxmlformats.org/officeDocument/2006/relationships/image"/><Relationship Id="rId19" Target="../media/image14.png" Type="http://schemas.openxmlformats.org/officeDocument/2006/relationships/image"/><Relationship Id="rId2" Target="../media/image22.png" Type="http://schemas.openxmlformats.org/officeDocument/2006/relationships/image"/><Relationship Id="rId20" Target="../media/image15.svg" Type="http://schemas.openxmlformats.org/officeDocument/2006/relationships/image"/><Relationship Id="rId3" Target="../media/image23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14" Target="../media/image18.png" Type="http://schemas.openxmlformats.org/officeDocument/2006/relationships/image"/><Relationship Id="rId15" Target="../media/image19.svg" Type="http://schemas.openxmlformats.org/officeDocument/2006/relationships/image"/><Relationship Id="rId16" Target="../media/image5.png" Type="http://schemas.openxmlformats.org/officeDocument/2006/relationships/image"/><Relationship Id="rId17" Target="../media/image6.svg" Type="http://schemas.openxmlformats.org/officeDocument/2006/relationships/image"/><Relationship Id="rId18" Target="../media/image20.png" Type="http://schemas.openxmlformats.org/officeDocument/2006/relationships/image"/><Relationship Id="rId19" Target="../media/image21.svg" Type="http://schemas.openxmlformats.org/officeDocument/2006/relationships/image"/><Relationship Id="rId2" Target="../media/image42.png" Type="http://schemas.openxmlformats.org/officeDocument/2006/relationships/image"/><Relationship Id="rId20" Target="../media/image14.png" Type="http://schemas.openxmlformats.org/officeDocument/2006/relationships/image"/><Relationship Id="rId21" Target="../media/image15.svg" Type="http://schemas.openxmlformats.org/officeDocument/2006/relationships/image"/><Relationship Id="rId22" Target="../media/image46.png" Type="http://schemas.openxmlformats.org/officeDocument/2006/relationships/image"/><Relationship Id="rId23" Target="../media/image47.png" Type="http://schemas.openxmlformats.org/officeDocument/2006/relationships/image"/><Relationship Id="rId24" Target="../media/image48.png" Type="http://schemas.openxmlformats.org/officeDocument/2006/relationships/image"/><Relationship Id="rId25" Target="../media/image49.png" Type="http://schemas.openxmlformats.org/officeDocument/2006/relationships/image"/><Relationship Id="rId26" Target="../media/image50.png" Type="http://schemas.openxmlformats.org/officeDocument/2006/relationships/image"/><Relationship Id="rId3" Target="../media/image43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44.png" Type="http://schemas.openxmlformats.org/officeDocument/2006/relationships/image"/><Relationship Id="rId7" Target="../media/image45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3.pn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5.png" Type="http://schemas.openxmlformats.org/officeDocument/2006/relationships/image"/><Relationship Id="rId14" Target="../media/image6.svg" Type="http://schemas.openxmlformats.org/officeDocument/2006/relationships/image"/><Relationship Id="rId15" Target="../media/image20.png" Type="http://schemas.openxmlformats.org/officeDocument/2006/relationships/image"/><Relationship Id="rId16" Target="../media/image21.svg" Type="http://schemas.openxmlformats.org/officeDocument/2006/relationships/image"/><Relationship Id="rId17" Target="../media/image1.png" Type="http://schemas.openxmlformats.org/officeDocument/2006/relationships/image"/><Relationship Id="rId18" Target="../media/image2.svg" Type="http://schemas.openxmlformats.org/officeDocument/2006/relationships/image"/><Relationship Id="rId19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51.png" Type="http://schemas.openxmlformats.org/officeDocument/2006/relationships/image"/><Relationship Id="rId5" Target="../media/image52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5.png" Type="http://schemas.openxmlformats.org/officeDocument/2006/relationships/image"/><Relationship Id="rId13" Target="../media/image6.svg" Type="http://schemas.openxmlformats.org/officeDocument/2006/relationships/image"/><Relationship Id="rId14" Target="../media/image31.png" Type="http://schemas.openxmlformats.org/officeDocument/2006/relationships/image"/><Relationship Id="rId15" Target="../media/image32.svg" Type="http://schemas.openxmlformats.org/officeDocument/2006/relationships/image"/><Relationship Id="rId16" Target="../media/image33.png" Type="http://schemas.openxmlformats.org/officeDocument/2006/relationships/image"/><Relationship Id="rId17" Target="../media/image34.svg" Type="http://schemas.openxmlformats.org/officeDocument/2006/relationships/image"/><Relationship Id="rId18" Target="../media/image35.png" Type="http://schemas.openxmlformats.org/officeDocument/2006/relationships/image"/><Relationship Id="rId19" Target="../media/image36.svg" Type="http://schemas.openxmlformats.org/officeDocument/2006/relationships/image"/><Relationship Id="rId2" Target="../media/image22.png" Type="http://schemas.openxmlformats.org/officeDocument/2006/relationships/image"/><Relationship Id="rId20" Target="../media/image37.png" Type="http://schemas.openxmlformats.org/officeDocument/2006/relationships/image"/><Relationship Id="rId21" Target="../media/image38.svg" Type="http://schemas.openxmlformats.org/officeDocument/2006/relationships/image"/><Relationship Id="rId22" Target="../media/image20.png" Type="http://schemas.openxmlformats.org/officeDocument/2006/relationships/image"/><Relationship Id="rId23" Target="../media/image21.svg" Type="http://schemas.openxmlformats.org/officeDocument/2006/relationships/image"/><Relationship Id="rId24" Target="../media/image1.png" Type="http://schemas.openxmlformats.org/officeDocument/2006/relationships/image"/><Relationship Id="rId25" Target="../media/image2.svg" Type="http://schemas.openxmlformats.org/officeDocument/2006/relationships/image"/><Relationship Id="rId26" Target="../media/image54.png" Type="http://schemas.openxmlformats.org/officeDocument/2006/relationships/image"/><Relationship Id="rId3" Target="../media/image23.svg" Type="http://schemas.openxmlformats.org/officeDocument/2006/relationships/image"/><Relationship Id="rId4" Target="../media/image55.png" Type="http://schemas.openxmlformats.org/officeDocument/2006/relationships/image"/><Relationship Id="rId5" Target="../media/image56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57.png" Type="http://schemas.openxmlformats.org/officeDocument/2006/relationships/image"/><Relationship Id="rId13" Target="../media/image20.png" Type="http://schemas.openxmlformats.org/officeDocument/2006/relationships/image"/><Relationship Id="rId14" Target="../media/image21.svg" Type="http://schemas.openxmlformats.org/officeDocument/2006/relationships/image"/><Relationship Id="rId15" Target="../media/image1.png" Type="http://schemas.openxmlformats.org/officeDocument/2006/relationships/image"/><Relationship Id="rId16" Target="../media/image2.svg" Type="http://schemas.openxmlformats.org/officeDocument/2006/relationships/image"/><Relationship Id="rId17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14" Target="../media/image1.png" Type="http://schemas.openxmlformats.org/officeDocument/2006/relationships/image"/><Relationship Id="rId15" Target="../media/image2.svg" Type="http://schemas.openxmlformats.org/officeDocument/2006/relationships/image"/><Relationship Id="rId16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14" Target="../media/image1.png" Type="http://schemas.openxmlformats.org/officeDocument/2006/relationships/image"/><Relationship Id="rId15" Target="../media/image2.svg" Type="http://schemas.openxmlformats.org/officeDocument/2006/relationships/image"/><Relationship Id="rId16" Target="../media/image58.png" Type="http://schemas.openxmlformats.org/officeDocument/2006/relationships/image"/><Relationship Id="rId17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14" Target="../media/image1.png" Type="http://schemas.openxmlformats.org/officeDocument/2006/relationships/image"/><Relationship Id="rId15" Target="../media/image2.svg" Type="http://schemas.openxmlformats.org/officeDocument/2006/relationships/image"/><Relationship Id="rId16" Target="../media/image59.png" Type="http://schemas.openxmlformats.org/officeDocument/2006/relationships/image"/><Relationship Id="rId17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14" Target="../media/image1.png" Type="http://schemas.openxmlformats.org/officeDocument/2006/relationships/image"/><Relationship Id="rId15" Target="../media/image2.svg" Type="http://schemas.openxmlformats.org/officeDocument/2006/relationships/image"/><Relationship Id="rId16" Target="../media/image54.png" Type="http://schemas.openxmlformats.org/officeDocument/2006/relationships/image"/><Relationship Id="rId17" Target="../media/image60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14" Target="../media/image1.png" Type="http://schemas.openxmlformats.org/officeDocument/2006/relationships/image"/><Relationship Id="rId15" Target="../media/image2.svg" Type="http://schemas.openxmlformats.org/officeDocument/2006/relationships/image"/><Relationship Id="rId16" Target="../media/image61.png" Type="http://schemas.openxmlformats.org/officeDocument/2006/relationships/image"/><Relationship Id="rId17" Target="../media/image62.png" Type="http://schemas.openxmlformats.org/officeDocument/2006/relationships/image"/><Relationship Id="rId18" Target="../media/image63.png" Type="http://schemas.openxmlformats.org/officeDocument/2006/relationships/image"/><Relationship Id="rId19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6.pn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5.png" Type="http://schemas.openxmlformats.org/officeDocument/2006/relationships/image"/><Relationship Id="rId14" Target="../media/image6.svg" Type="http://schemas.openxmlformats.org/officeDocument/2006/relationships/image"/><Relationship Id="rId15" Target="../media/image20.png" Type="http://schemas.openxmlformats.org/officeDocument/2006/relationships/image"/><Relationship Id="rId16" Target="../media/image21.svg" Type="http://schemas.openxmlformats.org/officeDocument/2006/relationships/image"/><Relationship Id="rId17" Target="../media/image1.png" Type="http://schemas.openxmlformats.org/officeDocument/2006/relationships/image"/><Relationship Id="rId18" Target="../media/image2.svg" Type="http://schemas.openxmlformats.org/officeDocument/2006/relationships/image"/><Relationship Id="rId19" Target="../media/image54.png" Type="http://schemas.openxmlformats.org/officeDocument/2006/relationships/image"/><Relationship Id="rId2" Target="../media/image22.png" Type="http://schemas.openxmlformats.org/officeDocument/2006/relationships/image"/><Relationship Id="rId3" Target="../media/image23.svg" Type="http://schemas.openxmlformats.org/officeDocument/2006/relationships/image"/><Relationship Id="rId4" Target="../media/image64.png" Type="http://schemas.openxmlformats.org/officeDocument/2006/relationships/image"/><Relationship Id="rId5" Target="../media/image65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69.png" Type="http://schemas.openxmlformats.org/officeDocument/2006/relationships/image"/><Relationship Id="rId13" Target="../media/image70.png" Type="http://schemas.openxmlformats.org/officeDocument/2006/relationships/image"/><Relationship Id="rId14" Target="../media/image20.png" Type="http://schemas.openxmlformats.org/officeDocument/2006/relationships/image"/><Relationship Id="rId15" Target="../media/image21.svg" Type="http://schemas.openxmlformats.org/officeDocument/2006/relationships/image"/><Relationship Id="rId16" Target="../media/image1.png" Type="http://schemas.openxmlformats.org/officeDocument/2006/relationships/image"/><Relationship Id="rId17" Target="../media/image2.svg" Type="http://schemas.openxmlformats.org/officeDocument/2006/relationships/image"/><Relationship Id="rId18" Target="../media/image54.png" Type="http://schemas.openxmlformats.org/officeDocument/2006/relationships/image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67.png" Type="http://schemas.openxmlformats.org/officeDocument/2006/relationships/image"/><Relationship Id="rId7" Target="../media/image68.svg" Type="http://schemas.openxmlformats.org/officeDocument/2006/relationships/image"/><Relationship Id="rId8" Target="../media/image16.png" Type="http://schemas.openxmlformats.org/officeDocument/2006/relationships/image"/><Relationship Id="rId9" Target="../media/image17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5.png" Type="http://schemas.openxmlformats.org/officeDocument/2006/relationships/image"/><Relationship Id="rId13" Target="../media/image6.svg" Type="http://schemas.openxmlformats.org/officeDocument/2006/relationships/image"/><Relationship Id="rId14" Target="../media/image31.png" Type="http://schemas.openxmlformats.org/officeDocument/2006/relationships/image"/><Relationship Id="rId15" Target="../media/image32.svg" Type="http://schemas.openxmlformats.org/officeDocument/2006/relationships/image"/><Relationship Id="rId16" Target="../media/image33.png" Type="http://schemas.openxmlformats.org/officeDocument/2006/relationships/image"/><Relationship Id="rId17" Target="../media/image34.svg" Type="http://schemas.openxmlformats.org/officeDocument/2006/relationships/image"/><Relationship Id="rId18" Target="../media/image35.png" Type="http://schemas.openxmlformats.org/officeDocument/2006/relationships/image"/><Relationship Id="rId19" Target="../media/image36.svg" Type="http://schemas.openxmlformats.org/officeDocument/2006/relationships/image"/><Relationship Id="rId2" Target="../media/image22.png" Type="http://schemas.openxmlformats.org/officeDocument/2006/relationships/image"/><Relationship Id="rId20" Target="../media/image37.png" Type="http://schemas.openxmlformats.org/officeDocument/2006/relationships/image"/><Relationship Id="rId21" Target="../media/image38.svg" Type="http://schemas.openxmlformats.org/officeDocument/2006/relationships/image"/><Relationship Id="rId22" Target="../media/image20.png" Type="http://schemas.openxmlformats.org/officeDocument/2006/relationships/image"/><Relationship Id="rId23" Target="../media/image21.svg" Type="http://schemas.openxmlformats.org/officeDocument/2006/relationships/image"/><Relationship Id="rId24" Target="../media/image1.png" Type="http://schemas.openxmlformats.org/officeDocument/2006/relationships/image"/><Relationship Id="rId25" Target="../media/image2.svg" Type="http://schemas.openxmlformats.org/officeDocument/2006/relationships/image"/><Relationship Id="rId26" Target="../media/image54.png" Type="http://schemas.openxmlformats.org/officeDocument/2006/relationships/image"/><Relationship Id="rId3" Target="../media/image23.svg" Type="http://schemas.openxmlformats.org/officeDocument/2006/relationships/image"/><Relationship Id="rId4" Target="../media/image71.png" Type="http://schemas.openxmlformats.org/officeDocument/2006/relationships/image"/><Relationship Id="rId5" Target="../media/image72.pn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png" Type="http://schemas.openxmlformats.org/officeDocument/2006/relationships/image"/><Relationship Id="rId11" Target="../media/image6.svg" Type="http://schemas.openxmlformats.org/officeDocument/2006/relationships/image"/><Relationship Id="rId12" Target="../media/image20.png" Type="http://schemas.openxmlformats.org/officeDocument/2006/relationships/image"/><Relationship Id="rId13" Target="../media/image21.svg" Type="http://schemas.openxmlformats.org/officeDocument/2006/relationships/image"/><Relationship Id="rId14" Target="../media/image1.png" Type="http://schemas.openxmlformats.org/officeDocument/2006/relationships/image"/><Relationship Id="rId15" Target="../media/image2.svg" Type="http://schemas.openxmlformats.org/officeDocument/2006/relationships/image"/><Relationship Id="rId16" Target="../media/image73.png" Type="http://schemas.openxmlformats.org/officeDocument/2006/relationships/image"/><Relationship Id="rId17" Target="../media/image74.svg" Type="http://schemas.openxmlformats.org/officeDocument/2006/relationships/image"/><Relationship Id="rId18" Target="../media/image75.png" Type="http://schemas.openxmlformats.org/officeDocument/2006/relationships/image"/><Relationship Id="rId19" Target="../media/image76.png" Type="http://schemas.openxmlformats.org/officeDocument/2006/relationships/image"/><Relationship Id="rId2" Target="../media/image22.png" Type="http://schemas.openxmlformats.org/officeDocument/2006/relationships/image"/><Relationship Id="rId20" Target="../media/image77.svg" Type="http://schemas.openxmlformats.org/officeDocument/2006/relationships/image"/><Relationship Id="rId21" Target="../media/image78.png" Type="http://schemas.openxmlformats.org/officeDocument/2006/relationships/image"/><Relationship Id="rId22" Target="../media/image79.svg" Type="http://schemas.openxmlformats.org/officeDocument/2006/relationships/image"/><Relationship Id="rId23" Target="../media/image80.png" Type="http://schemas.openxmlformats.org/officeDocument/2006/relationships/image"/><Relationship Id="rId24" Target="../media/image81.svg" Type="http://schemas.openxmlformats.org/officeDocument/2006/relationships/image"/><Relationship Id="rId25" Target="../media/image82.png" Type="http://schemas.openxmlformats.org/officeDocument/2006/relationships/image"/><Relationship Id="rId26" Target="../media/image83.svg" Type="http://schemas.openxmlformats.org/officeDocument/2006/relationships/image"/><Relationship Id="rId27" Target="../media/image84.png" Type="http://schemas.openxmlformats.org/officeDocument/2006/relationships/image"/><Relationship Id="rId28" Target="../media/image85.svg" Type="http://schemas.openxmlformats.org/officeDocument/2006/relationships/image"/><Relationship Id="rId29" Target="../media/image54.png" Type="http://schemas.openxmlformats.org/officeDocument/2006/relationships/image"/><Relationship Id="rId3" Target="../media/image23.svg" Type="http://schemas.openxmlformats.org/officeDocument/2006/relationships/image"/><Relationship Id="rId30" Target="../media/image86.png" Type="http://schemas.openxmlformats.org/officeDocument/2006/relationships/image"/><Relationship Id="rId31" Target="../media/image87.svg" Type="http://schemas.openxmlformats.org/officeDocument/2006/relationships/image"/><Relationship Id="rId4" Target="../media/image12.png" Type="http://schemas.openxmlformats.org/officeDocument/2006/relationships/image"/><Relationship Id="rId5" Target="../media/image13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6.png" Type="http://schemas.openxmlformats.org/officeDocument/2006/relationships/image"/><Relationship Id="rId11" Target="../media/image17.svg" Type="http://schemas.openxmlformats.org/officeDocument/2006/relationships/image"/><Relationship Id="rId12" Target="../media/image88.png" Type="http://schemas.openxmlformats.org/officeDocument/2006/relationships/image"/><Relationship Id="rId13" Target="../media/image89.svg" Type="http://schemas.openxmlformats.org/officeDocument/2006/relationships/image"/><Relationship Id="rId14" Target="../media/image90.png" Type="http://schemas.openxmlformats.org/officeDocument/2006/relationships/image"/><Relationship Id="rId15" Target="../media/image20.png" Type="http://schemas.openxmlformats.org/officeDocument/2006/relationships/image"/><Relationship Id="rId16" Target="../media/image21.svg" Type="http://schemas.openxmlformats.org/officeDocument/2006/relationships/image"/><Relationship Id="rId17" Target="../media/image54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92.png" Type="http://schemas.openxmlformats.org/officeDocument/2006/relationships/image"/><Relationship Id="rId12" Target="../media/image93.svg" Type="http://schemas.openxmlformats.org/officeDocument/2006/relationships/image"/><Relationship Id="rId13" Target="../media/image94.png" Type="http://schemas.openxmlformats.org/officeDocument/2006/relationships/image"/><Relationship Id="rId14" Target="../media/image95.svg" Type="http://schemas.openxmlformats.org/officeDocument/2006/relationships/image"/><Relationship Id="rId15" Target="../media/image18.png" Type="http://schemas.openxmlformats.org/officeDocument/2006/relationships/image"/><Relationship Id="rId16" Target="../media/image19.svg" Type="http://schemas.openxmlformats.org/officeDocument/2006/relationships/image"/><Relationship Id="rId17" Target="../media/image5.png" Type="http://schemas.openxmlformats.org/officeDocument/2006/relationships/image"/><Relationship Id="rId18" Target="../media/image6.svg" Type="http://schemas.openxmlformats.org/officeDocument/2006/relationships/image"/><Relationship Id="rId19" Target="../media/image20.png" Type="http://schemas.openxmlformats.org/officeDocument/2006/relationships/image"/><Relationship Id="rId2" Target="../media/image1.png" Type="http://schemas.openxmlformats.org/officeDocument/2006/relationships/image"/><Relationship Id="rId20" Target="../media/image21.svg" Type="http://schemas.openxmlformats.org/officeDocument/2006/relationships/image"/><Relationship Id="rId21" Target="../media/image54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91.pn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84820" y="946731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07177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93732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20013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642247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2058255" y="1244010"/>
            <a:ext cx="5203361" cy="5400761"/>
            <a:chOff x="0" y="0"/>
            <a:chExt cx="1459540" cy="151491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59539" cy="1514911"/>
            </a:xfrm>
            <a:custGeom>
              <a:avLst/>
              <a:gdLst/>
              <a:ahLst/>
              <a:cxnLst/>
              <a:rect r="r" b="b" t="t" l="l"/>
              <a:pathLst>
                <a:path h="1514911" w="1459539">
                  <a:moveTo>
                    <a:pt x="473267" y="77131"/>
                  </a:moveTo>
                  <a:lnTo>
                    <a:pt x="404467" y="249131"/>
                  </a:lnTo>
                  <a:cubicBezTo>
                    <a:pt x="385834" y="295713"/>
                    <a:pt x="340719" y="326259"/>
                    <a:pt x="290548" y="326262"/>
                  </a:cubicBezTo>
                  <a:lnTo>
                    <a:pt x="122702" y="326262"/>
                  </a:lnTo>
                  <a:cubicBezTo>
                    <a:pt x="54936" y="326262"/>
                    <a:pt x="1" y="381197"/>
                    <a:pt x="0" y="448963"/>
                  </a:cubicBezTo>
                  <a:lnTo>
                    <a:pt x="0" y="1392210"/>
                  </a:lnTo>
                  <a:cubicBezTo>
                    <a:pt x="1" y="1459976"/>
                    <a:pt x="54936" y="1514911"/>
                    <a:pt x="122702" y="1514911"/>
                  </a:cubicBezTo>
                  <a:lnTo>
                    <a:pt x="1336837" y="1514911"/>
                  </a:lnTo>
                  <a:cubicBezTo>
                    <a:pt x="1404603" y="1514911"/>
                    <a:pt x="1459538" y="1459976"/>
                    <a:pt x="1459539" y="1392210"/>
                  </a:cubicBezTo>
                  <a:lnTo>
                    <a:pt x="1459539" y="122701"/>
                  </a:lnTo>
                  <a:cubicBezTo>
                    <a:pt x="1459538" y="54935"/>
                    <a:pt x="1404604" y="1"/>
                    <a:pt x="1336838" y="0"/>
                  </a:cubicBezTo>
                  <a:lnTo>
                    <a:pt x="587191" y="0"/>
                  </a:lnTo>
                  <a:cubicBezTo>
                    <a:pt x="537018" y="0"/>
                    <a:pt x="491900" y="30547"/>
                    <a:pt x="473267" y="77131"/>
                  </a:cubicBezTo>
                  <a:close/>
                </a:path>
              </a:pathLst>
            </a:custGeom>
            <a:blipFill>
              <a:blip r:embed="rId8"/>
              <a:stretch>
                <a:fillRect l="-1896" t="0" r="-1896" b="0"/>
              </a:stretch>
            </a:blipFill>
            <a:ln w="38100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2058115" y="5751211"/>
            <a:ext cx="5201185" cy="2924972"/>
            <a:chOff x="0" y="0"/>
            <a:chExt cx="3114770" cy="1751643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114771" cy="1751643"/>
            </a:xfrm>
            <a:custGeom>
              <a:avLst/>
              <a:gdLst/>
              <a:ahLst/>
              <a:cxnLst/>
              <a:rect r="r" b="b" t="t" l="l"/>
              <a:pathLst>
                <a:path h="1751643" w="3114771">
                  <a:moveTo>
                    <a:pt x="47632" y="0"/>
                  </a:moveTo>
                  <a:lnTo>
                    <a:pt x="3067139" y="0"/>
                  </a:lnTo>
                  <a:cubicBezTo>
                    <a:pt x="3079772" y="0"/>
                    <a:pt x="3091887" y="5018"/>
                    <a:pt x="3100819" y="13951"/>
                  </a:cubicBezTo>
                  <a:cubicBezTo>
                    <a:pt x="3109752" y="22884"/>
                    <a:pt x="3114771" y="34999"/>
                    <a:pt x="3114771" y="47632"/>
                  </a:cubicBezTo>
                  <a:lnTo>
                    <a:pt x="3114771" y="1704011"/>
                  </a:lnTo>
                  <a:cubicBezTo>
                    <a:pt x="3114771" y="1716643"/>
                    <a:pt x="3109752" y="1728759"/>
                    <a:pt x="3100819" y="1737691"/>
                  </a:cubicBezTo>
                  <a:cubicBezTo>
                    <a:pt x="3091887" y="1746624"/>
                    <a:pt x="3079772" y="1751643"/>
                    <a:pt x="3067139" y="1751643"/>
                  </a:cubicBezTo>
                  <a:lnTo>
                    <a:pt x="47632" y="1751643"/>
                  </a:lnTo>
                  <a:cubicBezTo>
                    <a:pt x="34999" y="1751643"/>
                    <a:pt x="22884" y="1746624"/>
                    <a:pt x="13951" y="1737691"/>
                  </a:cubicBezTo>
                  <a:cubicBezTo>
                    <a:pt x="5018" y="1728759"/>
                    <a:pt x="0" y="1716643"/>
                    <a:pt x="0" y="1704011"/>
                  </a:cubicBezTo>
                  <a:lnTo>
                    <a:pt x="0" y="47632"/>
                  </a:lnTo>
                  <a:cubicBezTo>
                    <a:pt x="0" y="34999"/>
                    <a:pt x="5018" y="22884"/>
                    <a:pt x="13951" y="13951"/>
                  </a:cubicBezTo>
                  <a:cubicBezTo>
                    <a:pt x="22884" y="5018"/>
                    <a:pt x="34999" y="0"/>
                    <a:pt x="47632" y="0"/>
                  </a:cubicBezTo>
                  <a:close/>
                </a:path>
              </a:pathLst>
            </a:custGeom>
            <a:solidFill>
              <a:srgbClr val="FF6F5E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3114770" cy="17897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375322" y="6029222"/>
            <a:ext cx="1785539" cy="2096766"/>
            <a:chOff x="0" y="0"/>
            <a:chExt cx="812800" cy="954475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954475"/>
            </a:xfrm>
            <a:custGeom>
              <a:avLst/>
              <a:gdLst/>
              <a:ahLst/>
              <a:cxnLst/>
              <a:rect r="r" b="b" t="t" l="l"/>
              <a:pathLst>
                <a:path h="954475" w="812800">
                  <a:moveTo>
                    <a:pt x="73710" y="0"/>
                  </a:moveTo>
                  <a:lnTo>
                    <a:pt x="739090" y="0"/>
                  </a:lnTo>
                  <a:cubicBezTo>
                    <a:pt x="758639" y="0"/>
                    <a:pt x="777387" y="7766"/>
                    <a:pt x="791211" y="21589"/>
                  </a:cubicBezTo>
                  <a:cubicBezTo>
                    <a:pt x="805034" y="35413"/>
                    <a:pt x="812800" y="54161"/>
                    <a:pt x="812800" y="73710"/>
                  </a:cubicBezTo>
                  <a:lnTo>
                    <a:pt x="812800" y="880764"/>
                  </a:lnTo>
                  <a:cubicBezTo>
                    <a:pt x="812800" y="900314"/>
                    <a:pt x="805034" y="919062"/>
                    <a:pt x="791211" y="932885"/>
                  </a:cubicBezTo>
                  <a:cubicBezTo>
                    <a:pt x="777387" y="946709"/>
                    <a:pt x="758639" y="954475"/>
                    <a:pt x="739090" y="954475"/>
                  </a:cubicBezTo>
                  <a:lnTo>
                    <a:pt x="73710" y="954475"/>
                  </a:lnTo>
                  <a:cubicBezTo>
                    <a:pt x="54161" y="954475"/>
                    <a:pt x="35413" y="946709"/>
                    <a:pt x="21589" y="932885"/>
                  </a:cubicBezTo>
                  <a:cubicBezTo>
                    <a:pt x="7766" y="919062"/>
                    <a:pt x="0" y="900314"/>
                    <a:pt x="0" y="880764"/>
                  </a:cubicBezTo>
                  <a:lnTo>
                    <a:pt x="0" y="73710"/>
                  </a:lnTo>
                  <a:cubicBezTo>
                    <a:pt x="0" y="54161"/>
                    <a:pt x="7766" y="35413"/>
                    <a:pt x="21589" y="21589"/>
                  </a:cubicBezTo>
                  <a:cubicBezTo>
                    <a:pt x="35413" y="7766"/>
                    <a:pt x="54161" y="0"/>
                    <a:pt x="73710" y="0"/>
                  </a:cubicBezTo>
                  <a:close/>
                </a:path>
              </a:pathLst>
            </a:custGeom>
            <a:blipFill>
              <a:blip r:embed="rId9"/>
              <a:stretch>
                <a:fillRect l="0" t="-2647" r="0" b="-2647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4394969" y="6029222"/>
            <a:ext cx="2585224" cy="2096766"/>
            <a:chOff x="0" y="0"/>
            <a:chExt cx="1176827" cy="954475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176827" cy="954475"/>
            </a:xfrm>
            <a:custGeom>
              <a:avLst/>
              <a:gdLst/>
              <a:ahLst/>
              <a:cxnLst/>
              <a:rect r="r" b="b" t="t" l="l"/>
              <a:pathLst>
                <a:path h="954475" w="1176827">
                  <a:moveTo>
                    <a:pt x="50910" y="0"/>
                  </a:moveTo>
                  <a:lnTo>
                    <a:pt x="1125917" y="0"/>
                  </a:lnTo>
                  <a:cubicBezTo>
                    <a:pt x="1154034" y="0"/>
                    <a:pt x="1176827" y="22793"/>
                    <a:pt x="1176827" y="50910"/>
                  </a:cubicBezTo>
                  <a:lnTo>
                    <a:pt x="1176827" y="903565"/>
                  </a:lnTo>
                  <a:cubicBezTo>
                    <a:pt x="1176827" y="917067"/>
                    <a:pt x="1171463" y="930016"/>
                    <a:pt x="1161916" y="939564"/>
                  </a:cubicBezTo>
                  <a:cubicBezTo>
                    <a:pt x="1152369" y="949111"/>
                    <a:pt x="1139420" y="954475"/>
                    <a:pt x="1125917" y="954475"/>
                  </a:cubicBezTo>
                  <a:lnTo>
                    <a:pt x="50910" y="954475"/>
                  </a:lnTo>
                  <a:cubicBezTo>
                    <a:pt x="37408" y="954475"/>
                    <a:pt x="24458" y="949111"/>
                    <a:pt x="14911" y="939564"/>
                  </a:cubicBezTo>
                  <a:cubicBezTo>
                    <a:pt x="5364" y="930016"/>
                    <a:pt x="0" y="917067"/>
                    <a:pt x="0" y="903565"/>
                  </a:cubicBezTo>
                  <a:lnTo>
                    <a:pt x="0" y="50910"/>
                  </a:lnTo>
                  <a:cubicBezTo>
                    <a:pt x="0" y="37408"/>
                    <a:pt x="5364" y="24458"/>
                    <a:pt x="14911" y="14911"/>
                  </a:cubicBezTo>
                  <a:cubicBezTo>
                    <a:pt x="24458" y="5364"/>
                    <a:pt x="37408" y="0"/>
                    <a:pt x="50910" y="0"/>
                  </a:cubicBezTo>
                  <a:close/>
                </a:path>
              </a:pathLst>
            </a:custGeom>
            <a:blipFill>
              <a:blip r:embed="rId10"/>
              <a:stretch>
                <a:fillRect l="-142" t="0" r="-142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23" id="23"/>
          <p:cNvSpPr/>
          <p:nvPr/>
        </p:nvSpPr>
        <p:spPr>
          <a:xfrm flipH="true" flipV="false" rot="0">
            <a:off x="7993168" y="7651633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2952598" y="2279536"/>
            <a:ext cx="8583230" cy="25187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699"/>
              </a:lnSpc>
            </a:pPr>
            <a:r>
              <a:rPr lang="en-US" b="true" sz="9797" spc="-607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AURA AI SALES ADVISOR</a:t>
            </a:r>
          </a:p>
        </p:txBody>
      </p:sp>
      <p:grpSp>
        <p:nvGrpSpPr>
          <p:cNvPr name="Group 25" id="25"/>
          <p:cNvGrpSpPr/>
          <p:nvPr/>
        </p:nvGrpSpPr>
        <p:grpSpPr>
          <a:xfrm rot="-144823">
            <a:off x="2985422" y="6135391"/>
            <a:ext cx="6281683" cy="1419194"/>
            <a:chOff x="0" y="0"/>
            <a:chExt cx="1571476" cy="35503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571476" cy="355037"/>
            </a:xfrm>
            <a:custGeom>
              <a:avLst/>
              <a:gdLst/>
              <a:ahLst/>
              <a:cxnLst/>
              <a:rect r="r" b="b" t="t" l="l"/>
              <a:pathLst>
                <a:path h="355037" w="1571476">
                  <a:moveTo>
                    <a:pt x="77645" y="0"/>
                  </a:moveTo>
                  <a:lnTo>
                    <a:pt x="1493831" y="0"/>
                  </a:lnTo>
                  <a:cubicBezTo>
                    <a:pt x="1536713" y="0"/>
                    <a:pt x="1571476" y="34763"/>
                    <a:pt x="1571476" y="77645"/>
                  </a:cubicBezTo>
                  <a:lnTo>
                    <a:pt x="1571476" y="277392"/>
                  </a:lnTo>
                  <a:cubicBezTo>
                    <a:pt x="1571476" y="297985"/>
                    <a:pt x="1563295" y="317734"/>
                    <a:pt x="1548734" y="332295"/>
                  </a:cubicBezTo>
                  <a:cubicBezTo>
                    <a:pt x="1534173" y="346857"/>
                    <a:pt x="1514424" y="355037"/>
                    <a:pt x="1493831" y="355037"/>
                  </a:cubicBezTo>
                  <a:lnTo>
                    <a:pt x="77645" y="355037"/>
                  </a:lnTo>
                  <a:cubicBezTo>
                    <a:pt x="57052" y="355037"/>
                    <a:pt x="37303" y="346857"/>
                    <a:pt x="22742" y="332295"/>
                  </a:cubicBezTo>
                  <a:cubicBezTo>
                    <a:pt x="8180" y="317734"/>
                    <a:pt x="0" y="297985"/>
                    <a:pt x="0" y="277392"/>
                  </a:cubicBezTo>
                  <a:lnTo>
                    <a:pt x="0" y="77645"/>
                  </a:lnTo>
                  <a:cubicBezTo>
                    <a:pt x="0" y="57052"/>
                    <a:pt x="8180" y="37303"/>
                    <a:pt x="22742" y="22742"/>
                  </a:cubicBezTo>
                  <a:cubicBezTo>
                    <a:pt x="37303" y="8180"/>
                    <a:pt x="57052" y="0"/>
                    <a:pt x="77645" y="0"/>
                  </a:cubicBezTo>
                  <a:close/>
                </a:path>
              </a:pathLst>
            </a:custGeom>
            <a:solidFill>
              <a:srgbClr val="EB574C"/>
            </a:solidFill>
            <a:ln w="19050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1571476" cy="3931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AutoShape 28" id="28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6F5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6F5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6F5E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1" id="31"/>
          <p:cNvSpPr/>
          <p:nvPr/>
        </p:nvSpPr>
        <p:spPr>
          <a:xfrm flipH="false" flipV="false" rot="0">
            <a:off x="642247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2630081" y="749094"/>
            <a:ext cx="645033" cy="494917"/>
          </a:xfrm>
          <a:custGeom>
            <a:avLst/>
            <a:gdLst/>
            <a:ahLst/>
            <a:cxnLst/>
            <a:rect r="r" b="b" t="t" l="l"/>
            <a:pathLst>
              <a:path h="494917" w="645033">
                <a:moveTo>
                  <a:pt x="0" y="0"/>
                </a:moveTo>
                <a:lnTo>
                  <a:pt x="645034" y="0"/>
                </a:lnTo>
                <a:lnTo>
                  <a:pt x="645034" y="494916"/>
                </a:lnTo>
                <a:lnTo>
                  <a:pt x="0" y="494916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642247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10864771" y="1738927"/>
            <a:ext cx="805826" cy="805826"/>
          </a:xfrm>
          <a:custGeom>
            <a:avLst/>
            <a:gdLst/>
            <a:ahLst/>
            <a:cxnLst/>
            <a:rect r="r" b="b" t="t" l="l"/>
            <a:pathLst>
              <a:path h="805826" w="805826">
                <a:moveTo>
                  <a:pt x="0" y="0"/>
                </a:moveTo>
                <a:lnTo>
                  <a:pt x="805826" y="0"/>
                </a:lnTo>
                <a:lnTo>
                  <a:pt x="805826" y="805826"/>
                </a:lnTo>
                <a:lnTo>
                  <a:pt x="0" y="805826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-158741">
            <a:off x="2812763" y="6223725"/>
            <a:ext cx="6302388" cy="1395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21"/>
              </a:lnSpc>
            </a:pPr>
            <a:r>
              <a:rPr lang="en-US" sz="5476" spc="-21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Harness Engineering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488365" y="884121"/>
            <a:ext cx="1535587" cy="262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82"/>
              </a:lnSpc>
            </a:pPr>
            <a:r>
              <a:rPr lang="en-US" sz="2002" spc="-7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AURA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4256158" y="884121"/>
            <a:ext cx="1535587" cy="262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82"/>
              </a:lnSpc>
            </a:pPr>
            <a:r>
              <a:rPr lang="en-US" b="true" sz="2002" spc="-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 Advisor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71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0756419" y="2269014"/>
            <a:ext cx="8468516" cy="6407169"/>
            <a:chOff x="0" y="0"/>
            <a:chExt cx="5071437" cy="38369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071437" cy="3836984"/>
            </a:xfrm>
            <a:custGeom>
              <a:avLst/>
              <a:gdLst/>
              <a:ahLst/>
              <a:cxnLst/>
              <a:rect r="r" b="b" t="t" l="l"/>
              <a:pathLst>
                <a:path h="3836984" w="5071437">
                  <a:moveTo>
                    <a:pt x="29254" y="0"/>
                  </a:moveTo>
                  <a:lnTo>
                    <a:pt x="5042183" y="0"/>
                  </a:lnTo>
                  <a:cubicBezTo>
                    <a:pt x="5049942" y="0"/>
                    <a:pt x="5057383" y="3082"/>
                    <a:pt x="5062869" y="8568"/>
                  </a:cubicBezTo>
                  <a:cubicBezTo>
                    <a:pt x="5068355" y="14055"/>
                    <a:pt x="5071437" y="21496"/>
                    <a:pt x="5071437" y="29254"/>
                  </a:cubicBezTo>
                  <a:lnTo>
                    <a:pt x="5071437" y="3807729"/>
                  </a:lnTo>
                  <a:cubicBezTo>
                    <a:pt x="5071437" y="3823886"/>
                    <a:pt x="5058340" y="3836984"/>
                    <a:pt x="5042183" y="3836984"/>
                  </a:cubicBezTo>
                  <a:lnTo>
                    <a:pt x="29254" y="3836984"/>
                  </a:lnTo>
                  <a:cubicBezTo>
                    <a:pt x="13098" y="3836984"/>
                    <a:pt x="0" y="3823886"/>
                    <a:pt x="0" y="3807729"/>
                  </a:cubicBezTo>
                  <a:lnTo>
                    <a:pt x="0" y="29254"/>
                  </a:lnTo>
                  <a:cubicBezTo>
                    <a:pt x="0" y="13098"/>
                    <a:pt x="13098" y="0"/>
                    <a:pt x="29254" y="0"/>
                  </a:cubicBezTo>
                  <a:close/>
                </a:path>
              </a:pathLst>
            </a:custGeom>
            <a:solidFill>
              <a:srgbClr val="FF6F5E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5071437" cy="38750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2952598" y="7025030"/>
            <a:ext cx="5684689" cy="1922523"/>
            <a:chOff x="0" y="0"/>
            <a:chExt cx="3404320" cy="115131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404320" cy="1151318"/>
            </a:xfrm>
            <a:custGeom>
              <a:avLst/>
              <a:gdLst/>
              <a:ahLst/>
              <a:cxnLst/>
              <a:rect r="r" b="b" t="t" l="l"/>
              <a:pathLst>
                <a:path h="1151318" w="3404320">
                  <a:moveTo>
                    <a:pt x="43580" y="0"/>
                  </a:moveTo>
                  <a:lnTo>
                    <a:pt x="3360740" y="0"/>
                  </a:lnTo>
                  <a:cubicBezTo>
                    <a:pt x="3372298" y="0"/>
                    <a:pt x="3383383" y="4592"/>
                    <a:pt x="3391556" y="12764"/>
                  </a:cubicBezTo>
                  <a:cubicBezTo>
                    <a:pt x="3399729" y="20937"/>
                    <a:pt x="3404320" y="32022"/>
                    <a:pt x="3404320" y="43580"/>
                  </a:cubicBezTo>
                  <a:lnTo>
                    <a:pt x="3404320" y="1107738"/>
                  </a:lnTo>
                  <a:cubicBezTo>
                    <a:pt x="3404320" y="1119296"/>
                    <a:pt x="3399729" y="1130381"/>
                    <a:pt x="3391556" y="1138554"/>
                  </a:cubicBezTo>
                  <a:cubicBezTo>
                    <a:pt x="3383383" y="1146727"/>
                    <a:pt x="3372298" y="1151318"/>
                    <a:pt x="3360740" y="1151318"/>
                  </a:cubicBezTo>
                  <a:lnTo>
                    <a:pt x="43580" y="1151318"/>
                  </a:lnTo>
                  <a:cubicBezTo>
                    <a:pt x="32022" y="1151318"/>
                    <a:pt x="20937" y="1146727"/>
                    <a:pt x="12764" y="1138554"/>
                  </a:cubicBezTo>
                  <a:cubicBezTo>
                    <a:pt x="4592" y="1130381"/>
                    <a:pt x="0" y="1119296"/>
                    <a:pt x="0" y="1107738"/>
                  </a:cubicBezTo>
                  <a:lnTo>
                    <a:pt x="0" y="43580"/>
                  </a:lnTo>
                  <a:cubicBezTo>
                    <a:pt x="0" y="32022"/>
                    <a:pt x="4592" y="20937"/>
                    <a:pt x="12764" y="12764"/>
                  </a:cubicBezTo>
                  <a:cubicBezTo>
                    <a:pt x="20937" y="4592"/>
                    <a:pt x="32022" y="0"/>
                    <a:pt x="43580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3404320" cy="11894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3299292" y="7207761"/>
            <a:ext cx="1951523" cy="1378161"/>
            <a:chOff x="0" y="0"/>
            <a:chExt cx="888358" cy="6273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88358" cy="627356"/>
            </a:xfrm>
            <a:custGeom>
              <a:avLst/>
              <a:gdLst/>
              <a:ahLst/>
              <a:cxnLst/>
              <a:rect r="r" b="b" t="t" l="l"/>
              <a:pathLst>
                <a:path h="627356" w="888358">
                  <a:moveTo>
                    <a:pt x="67441" y="0"/>
                  </a:moveTo>
                  <a:lnTo>
                    <a:pt x="820917" y="0"/>
                  </a:lnTo>
                  <a:cubicBezTo>
                    <a:pt x="838804" y="0"/>
                    <a:pt x="855958" y="7105"/>
                    <a:pt x="868605" y="19753"/>
                  </a:cubicBezTo>
                  <a:cubicBezTo>
                    <a:pt x="881253" y="32401"/>
                    <a:pt x="888358" y="49555"/>
                    <a:pt x="888358" y="67441"/>
                  </a:cubicBezTo>
                  <a:lnTo>
                    <a:pt x="888358" y="559915"/>
                  </a:lnTo>
                  <a:cubicBezTo>
                    <a:pt x="888358" y="577802"/>
                    <a:pt x="881253" y="594956"/>
                    <a:pt x="868605" y="607603"/>
                  </a:cubicBezTo>
                  <a:cubicBezTo>
                    <a:pt x="855958" y="620251"/>
                    <a:pt x="838804" y="627356"/>
                    <a:pt x="820917" y="627356"/>
                  </a:cubicBezTo>
                  <a:lnTo>
                    <a:pt x="67441" y="627356"/>
                  </a:lnTo>
                  <a:cubicBezTo>
                    <a:pt x="49555" y="627356"/>
                    <a:pt x="32401" y="620251"/>
                    <a:pt x="19753" y="607603"/>
                  </a:cubicBezTo>
                  <a:cubicBezTo>
                    <a:pt x="7105" y="594956"/>
                    <a:pt x="0" y="577802"/>
                    <a:pt x="0" y="559915"/>
                  </a:cubicBezTo>
                  <a:lnTo>
                    <a:pt x="0" y="67441"/>
                  </a:lnTo>
                  <a:cubicBezTo>
                    <a:pt x="0" y="49555"/>
                    <a:pt x="7105" y="32401"/>
                    <a:pt x="19753" y="19753"/>
                  </a:cubicBezTo>
                  <a:cubicBezTo>
                    <a:pt x="32401" y="7105"/>
                    <a:pt x="49555" y="0"/>
                    <a:pt x="67441" y="0"/>
                  </a:cubicBezTo>
                  <a:close/>
                </a:path>
              </a:pathLst>
            </a:custGeom>
            <a:blipFill>
              <a:blip r:embed="rId8"/>
              <a:stretch>
                <a:fillRect l="0" t="-2835" r="0" b="-2835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5506686" y="7207761"/>
            <a:ext cx="2825548" cy="1378161"/>
            <a:chOff x="0" y="0"/>
            <a:chExt cx="1286225" cy="62735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286225" cy="627356"/>
            </a:xfrm>
            <a:custGeom>
              <a:avLst/>
              <a:gdLst/>
              <a:ahLst/>
              <a:cxnLst/>
              <a:rect r="r" b="b" t="t" l="l"/>
              <a:pathLst>
                <a:path h="627356" w="1286225">
                  <a:moveTo>
                    <a:pt x="46580" y="0"/>
                  </a:moveTo>
                  <a:lnTo>
                    <a:pt x="1239646" y="0"/>
                  </a:lnTo>
                  <a:cubicBezTo>
                    <a:pt x="1265371" y="0"/>
                    <a:pt x="1286225" y="20854"/>
                    <a:pt x="1286225" y="46580"/>
                  </a:cubicBezTo>
                  <a:lnTo>
                    <a:pt x="1286225" y="580777"/>
                  </a:lnTo>
                  <a:cubicBezTo>
                    <a:pt x="1286225" y="606502"/>
                    <a:pt x="1265371" y="627356"/>
                    <a:pt x="1239646" y="627356"/>
                  </a:cubicBezTo>
                  <a:lnTo>
                    <a:pt x="46580" y="627356"/>
                  </a:lnTo>
                  <a:cubicBezTo>
                    <a:pt x="20854" y="627356"/>
                    <a:pt x="0" y="606502"/>
                    <a:pt x="0" y="580777"/>
                  </a:cubicBezTo>
                  <a:lnTo>
                    <a:pt x="0" y="46580"/>
                  </a:lnTo>
                  <a:cubicBezTo>
                    <a:pt x="0" y="20854"/>
                    <a:pt x="20854" y="0"/>
                    <a:pt x="46580" y="0"/>
                  </a:cubicBezTo>
                  <a:close/>
                </a:path>
              </a:pathLst>
            </a:custGeom>
            <a:blipFill>
              <a:blip r:embed="rId9"/>
              <a:stretch>
                <a:fillRect l="0" t="-8431" r="0" b="-8431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3807547" y="8737679"/>
            <a:ext cx="419749" cy="419749"/>
            <a:chOff x="0" y="0"/>
            <a:chExt cx="81280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3387757" y="8737679"/>
            <a:ext cx="419749" cy="419749"/>
            <a:chOff x="0" y="0"/>
            <a:chExt cx="8128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2967966" y="8737679"/>
            <a:ext cx="419749" cy="419749"/>
            <a:chOff x="0" y="0"/>
            <a:chExt cx="812800" cy="812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2210463" y="3826472"/>
            <a:ext cx="5684689" cy="653335"/>
            <a:chOff x="0" y="0"/>
            <a:chExt cx="3948465" cy="453793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948465" cy="453793"/>
            </a:xfrm>
            <a:custGeom>
              <a:avLst/>
              <a:gdLst/>
              <a:ahLst/>
              <a:cxnLst/>
              <a:rect r="r" b="b" t="t" l="l"/>
              <a:pathLst>
                <a:path h="453793" w="3948465">
                  <a:moveTo>
                    <a:pt x="17705" y="0"/>
                  </a:moveTo>
                  <a:lnTo>
                    <a:pt x="3930760" y="0"/>
                  </a:lnTo>
                  <a:cubicBezTo>
                    <a:pt x="3935456" y="0"/>
                    <a:pt x="3939960" y="1865"/>
                    <a:pt x="3943279" y="5186"/>
                  </a:cubicBezTo>
                  <a:cubicBezTo>
                    <a:pt x="3946600" y="8506"/>
                    <a:pt x="3948465" y="13009"/>
                    <a:pt x="3948465" y="17705"/>
                  </a:cubicBezTo>
                  <a:lnTo>
                    <a:pt x="3948465" y="436088"/>
                  </a:lnTo>
                  <a:cubicBezTo>
                    <a:pt x="3948465" y="445866"/>
                    <a:pt x="3940539" y="453793"/>
                    <a:pt x="3930760" y="453793"/>
                  </a:cubicBezTo>
                  <a:lnTo>
                    <a:pt x="17705" y="453793"/>
                  </a:lnTo>
                  <a:cubicBezTo>
                    <a:pt x="13009" y="453793"/>
                    <a:pt x="8506" y="451927"/>
                    <a:pt x="5186" y="448607"/>
                  </a:cubicBezTo>
                  <a:cubicBezTo>
                    <a:pt x="1865" y="445287"/>
                    <a:pt x="0" y="440784"/>
                    <a:pt x="0" y="436088"/>
                  </a:cubicBezTo>
                  <a:lnTo>
                    <a:pt x="0" y="17705"/>
                  </a:lnTo>
                  <a:cubicBezTo>
                    <a:pt x="0" y="13009"/>
                    <a:pt x="1865" y="8506"/>
                    <a:pt x="5186" y="5186"/>
                  </a:cubicBezTo>
                  <a:cubicBezTo>
                    <a:pt x="8506" y="1865"/>
                    <a:pt x="13009" y="0"/>
                    <a:pt x="17705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19050"/>
              <a:ext cx="3948465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2337985" y="2008902"/>
            <a:ext cx="6913914" cy="78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6"/>
              </a:lnSpc>
            </a:pPr>
            <a:r>
              <a:rPr lang="en-US" b="true" sz="6046" spc="-3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VẤN ĐỀ THỰC TẾ</a:t>
            </a:r>
          </a:p>
        </p:txBody>
      </p:sp>
      <p:sp>
        <p:nvSpPr>
          <p:cNvPr name="Freeform 40" id="40"/>
          <p:cNvSpPr/>
          <p:nvPr/>
        </p:nvSpPr>
        <p:spPr>
          <a:xfrm flipH="true" flipV="false" rot="0">
            <a:off x="8310286" y="269520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1924143" y="5317275"/>
            <a:ext cx="8690075" cy="2032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34"/>
              </a:lnSpc>
            </a:pPr>
            <a:r>
              <a:rPr lang="en-US" sz="1549" spc="-57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"Tôi cần laptop dưới 20 triệu để học lập trình" — Nhu cầu tự nhiên không khớp với schema catalog.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2967966" y="764074"/>
            <a:ext cx="1535587" cy="264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44"/>
              </a:lnSpc>
            </a:pPr>
            <a:r>
              <a:rPr lang="en-US" sz="2065" spc="-7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AURA AI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4017422" y="764074"/>
            <a:ext cx="1950330" cy="264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44"/>
              </a:lnSpc>
            </a:pPr>
            <a:r>
              <a:rPr lang="en-US" b="true" sz="2065" spc="-7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Sales Advisor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2445464" y="3967813"/>
            <a:ext cx="5449688" cy="232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846"/>
              </a:lnSpc>
            </a:pPr>
            <a:r>
              <a:rPr lang="en-US" b="true" sz="1565" spc="-10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Người dùng khó chọn sản phẩm công nghệ: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1316817" y="2827399"/>
            <a:ext cx="3178571" cy="203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49"/>
              </a:lnSpc>
            </a:pPr>
            <a:r>
              <a:rPr lang="en-US" b="true" sz="1565" spc="-57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QUÁ NHIỀU LỰA CHỌN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1316817" y="3235922"/>
            <a:ext cx="5942483" cy="4704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875"/>
              </a:lnSpc>
            </a:pPr>
            <a:r>
              <a:rPr lang="en-US" sz="1399" spc="-5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Hàng trăm model, cấu hình và mức giá khác nhau khiến người dùng không biết bắt đầu từ đâu khi tìm kiếm sản phẩm phù hợp.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1316817" y="4603085"/>
            <a:ext cx="3178571" cy="215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48"/>
              </a:lnSpc>
            </a:pPr>
            <a:r>
              <a:rPr lang="en-US" b="true" sz="1665" spc="-6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THÔNG SỐ KỸ THUẬT PHỨC TẠP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1316817" y="4916304"/>
            <a:ext cx="5942483" cy="4883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959"/>
              </a:lnSpc>
            </a:pPr>
            <a:r>
              <a:rPr lang="en-US" sz="1399" spc="-5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CPU, RAM, SSD, GPU — các thông số khó hiểu với người dùng phổ thông. Không ai tìm kiếm theo "Core i7-1255U" mà theo "máy chạy nhanh".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1316817" y="6390963"/>
            <a:ext cx="3178571" cy="215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48"/>
              </a:lnSpc>
            </a:pPr>
            <a:r>
              <a:rPr lang="en-US" b="true" sz="1665" spc="-6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NHU CẦU MƠ HỒ, TỰ NHIÊN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1316817" y="6818537"/>
            <a:ext cx="5942483" cy="4053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637"/>
              </a:lnSpc>
            </a:pPr>
            <a:r>
              <a:rPr lang="en-US" sz="1399" spc="-51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Người dùng diễn đạt theo nhu cầu thực tế, không theo bộ lọc dữ liệu. Bộ lọc truyền thống không thể hiểu "máy để học lập trình, pin trâu".</a:t>
            </a:r>
          </a:p>
        </p:txBody>
      </p:sp>
      <p:sp>
        <p:nvSpPr>
          <p:cNvPr name="Freeform 52" id="52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3" id="53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4" id="54"/>
          <p:cNvSpPr/>
          <p:nvPr/>
        </p:nvSpPr>
        <p:spPr>
          <a:xfrm flipH="false" flipV="false" rot="0">
            <a:off x="2210463" y="621895"/>
            <a:ext cx="645033" cy="494917"/>
          </a:xfrm>
          <a:custGeom>
            <a:avLst/>
            <a:gdLst/>
            <a:ahLst/>
            <a:cxnLst/>
            <a:rect r="r" b="b" t="t" l="l"/>
            <a:pathLst>
              <a:path h="494917" w="645033">
                <a:moveTo>
                  <a:pt x="0" y="0"/>
                </a:moveTo>
                <a:lnTo>
                  <a:pt x="645034" y="0"/>
                </a:lnTo>
                <a:lnTo>
                  <a:pt x="645034" y="494917"/>
                </a:lnTo>
                <a:lnTo>
                  <a:pt x="0" y="49491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71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91925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2058115" y="5751211"/>
            <a:ext cx="5201185" cy="2924972"/>
            <a:chOff x="0" y="0"/>
            <a:chExt cx="3114770" cy="17516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14771" cy="1751643"/>
            </a:xfrm>
            <a:custGeom>
              <a:avLst/>
              <a:gdLst/>
              <a:ahLst/>
              <a:cxnLst/>
              <a:rect r="r" b="b" t="t" l="l"/>
              <a:pathLst>
                <a:path h="1751643" w="3114771">
                  <a:moveTo>
                    <a:pt x="47632" y="0"/>
                  </a:moveTo>
                  <a:lnTo>
                    <a:pt x="3067139" y="0"/>
                  </a:lnTo>
                  <a:cubicBezTo>
                    <a:pt x="3079772" y="0"/>
                    <a:pt x="3091887" y="5018"/>
                    <a:pt x="3100819" y="13951"/>
                  </a:cubicBezTo>
                  <a:cubicBezTo>
                    <a:pt x="3109752" y="22884"/>
                    <a:pt x="3114771" y="34999"/>
                    <a:pt x="3114771" y="47632"/>
                  </a:cubicBezTo>
                  <a:lnTo>
                    <a:pt x="3114771" y="1704011"/>
                  </a:lnTo>
                  <a:cubicBezTo>
                    <a:pt x="3114771" y="1716643"/>
                    <a:pt x="3109752" y="1728759"/>
                    <a:pt x="3100819" y="1737691"/>
                  </a:cubicBezTo>
                  <a:cubicBezTo>
                    <a:pt x="3091887" y="1746624"/>
                    <a:pt x="3079772" y="1751643"/>
                    <a:pt x="3067139" y="1751643"/>
                  </a:cubicBezTo>
                  <a:lnTo>
                    <a:pt x="47632" y="1751643"/>
                  </a:lnTo>
                  <a:cubicBezTo>
                    <a:pt x="34999" y="1751643"/>
                    <a:pt x="22884" y="1746624"/>
                    <a:pt x="13951" y="1737691"/>
                  </a:cubicBezTo>
                  <a:cubicBezTo>
                    <a:pt x="5018" y="1728759"/>
                    <a:pt x="0" y="1716643"/>
                    <a:pt x="0" y="1704011"/>
                  </a:cubicBezTo>
                  <a:lnTo>
                    <a:pt x="0" y="47632"/>
                  </a:lnTo>
                  <a:cubicBezTo>
                    <a:pt x="0" y="34999"/>
                    <a:pt x="5018" y="22884"/>
                    <a:pt x="13951" y="13951"/>
                  </a:cubicBezTo>
                  <a:cubicBezTo>
                    <a:pt x="22884" y="5018"/>
                    <a:pt x="34999" y="0"/>
                    <a:pt x="47632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114770" cy="17897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75322" y="6029222"/>
            <a:ext cx="1785539" cy="2096766"/>
            <a:chOff x="0" y="0"/>
            <a:chExt cx="812800" cy="9544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954475"/>
            </a:xfrm>
            <a:custGeom>
              <a:avLst/>
              <a:gdLst/>
              <a:ahLst/>
              <a:cxnLst/>
              <a:rect r="r" b="b" t="t" l="l"/>
              <a:pathLst>
                <a:path h="954475" w="812800">
                  <a:moveTo>
                    <a:pt x="73710" y="0"/>
                  </a:moveTo>
                  <a:lnTo>
                    <a:pt x="739090" y="0"/>
                  </a:lnTo>
                  <a:cubicBezTo>
                    <a:pt x="758639" y="0"/>
                    <a:pt x="777387" y="7766"/>
                    <a:pt x="791211" y="21589"/>
                  </a:cubicBezTo>
                  <a:cubicBezTo>
                    <a:pt x="805034" y="35413"/>
                    <a:pt x="812800" y="54161"/>
                    <a:pt x="812800" y="73710"/>
                  </a:cubicBezTo>
                  <a:lnTo>
                    <a:pt x="812800" y="880764"/>
                  </a:lnTo>
                  <a:cubicBezTo>
                    <a:pt x="812800" y="900314"/>
                    <a:pt x="805034" y="919062"/>
                    <a:pt x="791211" y="932885"/>
                  </a:cubicBezTo>
                  <a:cubicBezTo>
                    <a:pt x="777387" y="946709"/>
                    <a:pt x="758639" y="954475"/>
                    <a:pt x="739090" y="954475"/>
                  </a:cubicBezTo>
                  <a:lnTo>
                    <a:pt x="73710" y="954475"/>
                  </a:lnTo>
                  <a:cubicBezTo>
                    <a:pt x="54161" y="954475"/>
                    <a:pt x="35413" y="946709"/>
                    <a:pt x="21589" y="932885"/>
                  </a:cubicBezTo>
                  <a:cubicBezTo>
                    <a:pt x="7766" y="919062"/>
                    <a:pt x="0" y="900314"/>
                    <a:pt x="0" y="880764"/>
                  </a:cubicBezTo>
                  <a:lnTo>
                    <a:pt x="0" y="73710"/>
                  </a:lnTo>
                  <a:cubicBezTo>
                    <a:pt x="0" y="54161"/>
                    <a:pt x="7766" y="35413"/>
                    <a:pt x="21589" y="21589"/>
                  </a:cubicBezTo>
                  <a:cubicBezTo>
                    <a:pt x="35413" y="7766"/>
                    <a:pt x="54161" y="0"/>
                    <a:pt x="7371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647" r="0" b="-2647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4394969" y="6029222"/>
            <a:ext cx="2585224" cy="2096766"/>
            <a:chOff x="0" y="0"/>
            <a:chExt cx="1176827" cy="9544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6827" cy="954475"/>
            </a:xfrm>
            <a:custGeom>
              <a:avLst/>
              <a:gdLst/>
              <a:ahLst/>
              <a:cxnLst/>
              <a:rect r="r" b="b" t="t" l="l"/>
              <a:pathLst>
                <a:path h="954475" w="1176827">
                  <a:moveTo>
                    <a:pt x="50910" y="0"/>
                  </a:moveTo>
                  <a:lnTo>
                    <a:pt x="1125917" y="0"/>
                  </a:lnTo>
                  <a:cubicBezTo>
                    <a:pt x="1154034" y="0"/>
                    <a:pt x="1176827" y="22793"/>
                    <a:pt x="1176827" y="50910"/>
                  </a:cubicBezTo>
                  <a:lnTo>
                    <a:pt x="1176827" y="903565"/>
                  </a:lnTo>
                  <a:cubicBezTo>
                    <a:pt x="1176827" y="917067"/>
                    <a:pt x="1171463" y="930016"/>
                    <a:pt x="1161916" y="939564"/>
                  </a:cubicBezTo>
                  <a:cubicBezTo>
                    <a:pt x="1152369" y="949111"/>
                    <a:pt x="1139420" y="954475"/>
                    <a:pt x="1125917" y="954475"/>
                  </a:cubicBezTo>
                  <a:lnTo>
                    <a:pt x="50910" y="954475"/>
                  </a:lnTo>
                  <a:cubicBezTo>
                    <a:pt x="37408" y="954475"/>
                    <a:pt x="24458" y="949111"/>
                    <a:pt x="14911" y="939564"/>
                  </a:cubicBezTo>
                  <a:cubicBezTo>
                    <a:pt x="5364" y="930016"/>
                    <a:pt x="0" y="917067"/>
                    <a:pt x="0" y="903565"/>
                  </a:cubicBezTo>
                  <a:lnTo>
                    <a:pt x="0" y="50910"/>
                  </a:lnTo>
                  <a:cubicBezTo>
                    <a:pt x="0" y="37408"/>
                    <a:pt x="5364" y="24458"/>
                    <a:pt x="14911" y="14911"/>
                  </a:cubicBezTo>
                  <a:cubicBezTo>
                    <a:pt x="24458" y="5364"/>
                    <a:pt x="37408" y="0"/>
                    <a:pt x="50910" y="0"/>
                  </a:cubicBezTo>
                  <a:close/>
                </a:path>
              </a:pathLst>
            </a:custGeom>
            <a:blipFill>
              <a:blip r:embed="rId5"/>
              <a:stretch>
                <a:fillRect l="-142" t="0" r="-142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2252718" y="2031886"/>
            <a:ext cx="8322945" cy="18192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202"/>
              </a:lnSpc>
            </a:pPr>
            <a:r>
              <a:rPr lang="en-US" b="true" sz="5626" spc="-348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BỘ LỌC TRUYỀN THỐNG CHƯA ĐỦ ĐÁP ỨNG</a:t>
            </a:r>
          </a:p>
        </p:txBody>
      </p:sp>
      <p:sp>
        <p:nvSpPr>
          <p:cNvPr name="Freeform 20" id="20"/>
          <p:cNvSpPr/>
          <p:nvPr/>
        </p:nvSpPr>
        <p:spPr>
          <a:xfrm flipH="true" flipV="false" rot="0">
            <a:off x="9333961" y="336087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121219" y="2424196"/>
            <a:ext cx="5138081" cy="2967819"/>
            <a:chOff x="0" y="0"/>
            <a:chExt cx="1176827" cy="67975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76827" cy="679750"/>
            </a:xfrm>
            <a:custGeom>
              <a:avLst/>
              <a:gdLst/>
              <a:ahLst/>
              <a:cxnLst/>
              <a:rect r="r" b="b" t="t" l="l"/>
              <a:pathLst>
                <a:path h="679750" w="1176827">
                  <a:moveTo>
                    <a:pt x="25615" y="0"/>
                  </a:moveTo>
                  <a:lnTo>
                    <a:pt x="1151212" y="0"/>
                  </a:lnTo>
                  <a:cubicBezTo>
                    <a:pt x="1158005" y="0"/>
                    <a:pt x="1164521" y="2699"/>
                    <a:pt x="1169324" y="7502"/>
                  </a:cubicBezTo>
                  <a:cubicBezTo>
                    <a:pt x="1174128" y="12306"/>
                    <a:pt x="1176827" y="18822"/>
                    <a:pt x="1176827" y="25615"/>
                  </a:cubicBezTo>
                  <a:lnTo>
                    <a:pt x="1176827" y="654135"/>
                  </a:lnTo>
                  <a:cubicBezTo>
                    <a:pt x="1176827" y="660928"/>
                    <a:pt x="1174128" y="667444"/>
                    <a:pt x="1169324" y="672247"/>
                  </a:cubicBezTo>
                  <a:cubicBezTo>
                    <a:pt x="1164521" y="677051"/>
                    <a:pt x="1158005" y="679750"/>
                    <a:pt x="1151212" y="679750"/>
                  </a:cubicBezTo>
                  <a:lnTo>
                    <a:pt x="25615" y="679750"/>
                  </a:lnTo>
                  <a:cubicBezTo>
                    <a:pt x="18822" y="679750"/>
                    <a:pt x="12306" y="677051"/>
                    <a:pt x="7502" y="672247"/>
                  </a:cubicBezTo>
                  <a:cubicBezTo>
                    <a:pt x="2699" y="667444"/>
                    <a:pt x="0" y="660928"/>
                    <a:pt x="0" y="654135"/>
                  </a:cubicBezTo>
                  <a:lnTo>
                    <a:pt x="0" y="25615"/>
                  </a:lnTo>
                  <a:cubicBezTo>
                    <a:pt x="0" y="18822"/>
                    <a:pt x="2699" y="12306"/>
                    <a:pt x="7502" y="7502"/>
                  </a:cubicBezTo>
                  <a:cubicBezTo>
                    <a:pt x="12306" y="2699"/>
                    <a:pt x="18822" y="0"/>
                    <a:pt x="25615" y="0"/>
                  </a:cubicBezTo>
                  <a:close/>
                </a:path>
              </a:pathLst>
            </a:custGeom>
            <a:blipFill>
              <a:blip r:embed="rId10"/>
              <a:stretch>
                <a:fillRect l="-667" t="0" r="-667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2952598" y="5781033"/>
            <a:ext cx="3333328" cy="653335"/>
            <a:chOff x="0" y="0"/>
            <a:chExt cx="2315259" cy="45379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315259" cy="453793"/>
            </a:xfrm>
            <a:custGeom>
              <a:avLst/>
              <a:gdLst/>
              <a:ahLst/>
              <a:cxnLst/>
              <a:rect r="r" b="b" t="t" l="l"/>
              <a:pathLst>
                <a:path h="453793" w="2315259">
                  <a:moveTo>
                    <a:pt x="30194" y="0"/>
                  </a:moveTo>
                  <a:lnTo>
                    <a:pt x="2285066" y="0"/>
                  </a:lnTo>
                  <a:cubicBezTo>
                    <a:pt x="2301741" y="0"/>
                    <a:pt x="2315259" y="13518"/>
                    <a:pt x="2315259" y="30194"/>
                  </a:cubicBezTo>
                  <a:lnTo>
                    <a:pt x="2315259" y="423599"/>
                  </a:lnTo>
                  <a:cubicBezTo>
                    <a:pt x="2315259" y="431607"/>
                    <a:pt x="2312078" y="439287"/>
                    <a:pt x="2306416" y="444949"/>
                  </a:cubicBezTo>
                  <a:cubicBezTo>
                    <a:pt x="2300753" y="450612"/>
                    <a:pt x="2293074" y="453793"/>
                    <a:pt x="2285066" y="453793"/>
                  </a:cubicBezTo>
                  <a:lnTo>
                    <a:pt x="30194" y="453793"/>
                  </a:lnTo>
                  <a:cubicBezTo>
                    <a:pt x="22186" y="453793"/>
                    <a:pt x="14506" y="450612"/>
                    <a:pt x="8843" y="444949"/>
                  </a:cubicBezTo>
                  <a:cubicBezTo>
                    <a:pt x="3181" y="439287"/>
                    <a:pt x="0" y="431607"/>
                    <a:pt x="0" y="423599"/>
                  </a:cubicBezTo>
                  <a:lnTo>
                    <a:pt x="0" y="30194"/>
                  </a:lnTo>
                  <a:cubicBezTo>
                    <a:pt x="0" y="13518"/>
                    <a:pt x="13518" y="0"/>
                    <a:pt x="30194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19050"/>
              <a:ext cx="2315259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477336" y="5781033"/>
            <a:ext cx="3333328" cy="653335"/>
            <a:chOff x="0" y="0"/>
            <a:chExt cx="2315259" cy="45379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315259" cy="453793"/>
            </a:xfrm>
            <a:custGeom>
              <a:avLst/>
              <a:gdLst/>
              <a:ahLst/>
              <a:cxnLst/>
              <a:rect r="r" b="b" t="t" l="l"/>
              <a:pathLst>
                <a:path h="453793" w="2315259">
                  <a:moveTo>
                    <a:pt x="30194" y="0"/>
                  </a:moveTo>
                  <a:lnTo>
                    <a:pt x="2285066" y="0"/>
                  </a:lnTo>
                  <a:cubicBezTo>
                    <a:pt x="2301741" y="0"/>
                    <a:pt x="2315259" y="13518"/>
                    <a:pt x="2315259" y="30194"/>
                  </a:cubicBezTo>
                  <a:lnTo>
                    <a:pt x="2315259" y="423599"/>
                  </a:lnTo>
                  <a:cubicBezTo>
                    <a:pt x="2315259" y="431607"/>
                    <a:pt x="2312078" y="439287"/>
                    <a:pt x="2306416" y="444949"/>
                  </a:cubicBezTo>
                  <a:cubicBezTo>
                    <a:pt x="2300753" y="450612"/>
                    <a:pt x="2293074" y="453793"/>
                    <a:pt x="2285066" y="453793"/>
                  </a:cubicBezTo>
                  <a:lnTo>
                    <a:pt x="30194" y="453793"/>
                  </a:lnTo>
                  <a:cubicBezTo>
                    <a:pt x="22186" y="453793"/>
                    <a:pt x="14506" y="450612"/>
                    <a:pt x="8843" y="444949"/>
                  </a:cubicBezTo>
                  <a:cubicBezTo>
                    <a:pt x="3181" y="439287"/>
                    <a:pt x="0" y="431607"/>
                    <a:pt x="0" y="423599"/>
                  </a:cubicBezTo>
                  <a:lnTo>
                    <a:pt x="0" y="30194"/>
                  </a:lnTo>
                  <a:cubicBezTo>
                    <a:pt x="0" y="13518"/>
                    <a:pt x="13518" y="0"/>
                    <a:pt x="3019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19050"/>
              <a:ext cx="2315259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TextBox 34" id="34"/>
          <p:cNvSpPr txBox="true"/>
          <p:nvPr/>
        </p:nvSpPr>
        <p:spPr>
          <a:xfrm rot="0">
            <a:off x="2952598" y="6708797"/>
            <a:ext cx="3701687" cy="19865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268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Filter đòi hỏi người dùng biết tiêu chí rõ ràng.</a:t>
            </a:r>
          </a:p>
          <a:p>
            <a:pPr algn="just" marL="0" indent="0" lvl="0">
              <a:lnSpc>
                <a:spcPts val="2268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Nhu cầu thực tế thường mơ hồ, đa yếu tố.</a:t>
            </a:r>
          </a:p>
          <a:p>
            <a:pPr algn="just" marL="0" indent="0" lvl="0">
              <a:lnSpc>
                <a:spcPts val="2268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Không hiểu ngôn ngữ tự nhiên.</a:t>
            </a:r>
          </a:p>
          <a:p>
            <a:pPr algn="just" marL="0" indent="0" lvl="0">
              <a:lnSpc>
                <a:spcPts val="2268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Cần chuyển câu hỏi thành ràng buộc có cấu trúc.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3583111" y="899371"/>
            <a:ext cx="1535587" cy="262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78"/>
              </a:lnSpc>
            </a:pPr>
            <a:r>
              <a:rPr lang="en-US" sz="1998" spc="-73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AURA AI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4619262" y="899371"/>
            <a:ext cx="2196584" cy="262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78"/>
              </a:lnSpc>
            </a:pPr>
            <a:r>
              <a:rPr lang="en-US" b="true" sz="1998" spc="-7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Sales </a:t>
            </a:r>
            <a:r>
              <a:rPr lang="en-US" b="true" sz="1998" spc="-7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Advisor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187598" y="5952507"/>
            <a:ext cx="2863327" cy="319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94"/>
              </a:lnSpc>
            </a:pPr>
            <a:r>
              <a:rPr lang="en-US" b="true" sz="2198" spc="-15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Hạn chế bộ lọc: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7712337" y="5952507"/>
            <a:ext cx="2863327" cy="3199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94"/>
              </a:lnSpc>
            </a:pPr>
            <a:r>
              <a:rPr lang="en-US" b="true" sz="2198" spc="-15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Giải pháp AI: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292857" y="6691730"/>
            <a:ext cx="3517807" cy="2390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160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"Laptop Dell dưới 20 triệu để học lập trình" → </a:t>
            </a:r>
          </a:p>
          <a:p>
            <a:pPr algn="just" marL="0" indent="0" lvl="0">
              <a:lnSpc>
                <a:spcPts val="2160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category: Laptop </a:t>
            </a:r>
          </a:p>
          <a:p>
            <a:pPr algn="just" marL="0" indent="0" lvl="0">
              <a:lnSpc>
                <a:spcPts val="2160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brand: Dell</a:t>
            </a:r>
          </a:p>
          <a:p>
            <a:pPr algn="just" marL="0" indent="0" lvl="0">
              <a:lnSpc>
                <a:spcPts val="2160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budget_max:20.000.000 use_case: programming </a:t>
            </a:r>
          </a:p>
          <a:p>
            <a:pPr algn="just" marL="0" indent="0" lvl="0">
              <a:lnSpc>
                <a:spcPts val="2160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attributes: RAM, SSD, CPU</a:t>
            </a:r>
          </a:p>
          <a:p>
            <a:pPr algn="just" marL="0" indent="0" lvl="0">
              <a:lnSpc>
                <a:spcPts val="2160"/>
              </a:lnSpc>
            </a:pPr>
          </a:p>
          <a:p>
            <a:pPr algn="just" marL="0" indent="0" lvl="0">
              <a:lnSpc>
                <a:spcPts val="2160"/>
              </a:lnSpc>
            </a:pPr>
          </a:p>
        </p:txBody>
      </p:sp>
      <p:grpSp>
        <p:nvGrpSpPr>
          <p:cNvPr name="Group 40" id="40"/>
          <p:cNvGrpSpPr/>
          <p:nvPr/>
        </p:nvGrpSpPr>
        <p:grpSpPr>
          <a:xfrm rot="0">
            <a:off x="16627119" y="5143500"/>
            <a:ext cx="419749" cy="419749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6207328" y="5143500"/>
            <a:ext cx="419749" cy="419749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5" id="45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5787537" y="5143500"/>
            <a:ext cx="419749" cy="419749"/>
            <a:chOff x="0" y="0"/>
            <a:chExt cx="812800" cy="81280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9" id="49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0" id="50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1" id="51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2" id="52"/>
          <p:cNvSpPr/>
          <p:nvPr/>
        </p:nvSpPr>
        <p:spPr>
          <a:xfrm flipH="false" flipV="false" rot="0">
            <a:off x="2630081" y="781242"/>
            <a:ext cx="645033" cy="494917"/>
          </a:xfrm>
          <a:custGeom>
            <a:avLst/>
            <a:gdLst/>
            <a:ahLst/>
            <a:cxnLst/>
            <a:rect r="r" b="b" t="t" l="l"/>
            <a:pathLst>
              <a:path h="494917" w="645033">
                <a:moveTo>
                  <a:pt x="0" y="0"/>
                </a:moveTo>
                <a:lnTo>
                  <a:pt x="645034" y="0"/>
                </a:lnTo>
                <a:lnTo>
                  <a:pt x="645034" y="494916"/>
                </a:lnTo>
                <a:lnTo>
                  <a:pt x="0" y="494916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715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773732" y="4678470"/>
            <a:ext cx="4100858" cy="2243954"/>
            <a:chOff x="0" y="0"/>
            <a:chExt cx="2848370" cy="15586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3146794" y="2424196"/>
            <a:ext cx="4112506" cy="6251987"/>
            <a:chOff x="0" y="0"/>
            <a:chExt cx="2462806" cy="37440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62806" cy="3744052"/>
            </a:xfrm>
            <a:custGeom>
              <a:avLst/>
              <a:gdLst/>
              <a:ahLst/>
              <a:cxnLst/>
              <a:rect r="r" b="b" t="t" l="l"/>
              <a:pathLst>
                <a:path h="3744052" w="2462806">
                  <a:moveTo>
                    <a:pt x="60241" y="0"/>
                  </a:moveTo>
                  <a:lnTo>
                    <a:pt x="2402565" y="0"/>
                  </a:lnTo>
                  <a:cubicBezTo>
                    <a:pt x="2435835" y="0"/>
                    <a:pt x="2462806" y="26971"/>
                    <a:pt x="2462806" y="60241"/>
                  </a:cubicBezTo>
                  <a:lnTo>
                    <a:pt x="2462806" y="3683811"/>
                  </a:lnTo>
                  <a:cubicBezTo>
                    <a:pt x="2462806" y="3717081"/>
                    <a:pt x="2435835" y="3744052"/>
                    <a:pt x="2402565" y="3744052"/>
                  </a:cubicBezTo>
                  <a:lnTo>
                    <a:pt x="60241" y="3744052"/>
                  </a:lnTo>
                  <a:cubicBezTo>
                    <a:pt x="26971" y="3744052"/>
                    <a:pt x="0" y="3717081"/>
                    <a:pt x="0" y="3683811"/>
                  </a:cubicBezTo>
                  <a:lnTo>
                    <a:pt x="0" y="60241"/>
                  </a:lnTo>
                  <a:cubicBezTo>
                    <a:pt x="0" y="26971"/>
                    <a:pt x="26971" y="0"/>
                    <a:pt x="60241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462806" cy="3782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436891" y="2700962"/>
            <a:ext cx="3532312" cy="2336656"/>
            <a:chOff x="0" y="0"/>
            <a:chExt cx="1607953" cy="10636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07953" cy="1063675"/>
            </a:xfrm>
            <a:custGeom>
              <a:avLst/>
              <a:gdLst/>
              <a:ahLst/>
              <a:cxnLst/>
              <a:rect r="r" b="b" t="t" l="l"/>
              <a:pathLst>
                <a:path h="1063675" w="1607953">
                  <a:moveTo>
                    <a:pt x="37260" y="0"/>
                  </a:moveTo>
                  <a:lnTo>
                    <a:pt x="1570694" y="0"/>
                  </a:lnTo>
                  <a:cubicBezTo>
                    <a:pt x="1591271" y="0"/>
                    <a:pt x="1607953" y="16682"/>
                    <a:pt x="1607953" y="37260"/>
                  </a:cubicBezTo>
                  <a:lnTo>
                    <a:pt x="1607953" y="1026416"/>
                  </a:lnTo>
                  <a:cubicBezTo>
                    <a:pt x="1607953" y="1046994"/>
                    <a:pt x="1591271" y="1063675"/>
                    <a:pt x="1570694" y="1063675"/>
                  </a:cubicBezTo>
                  <a:lnTo>
                    <a:pt x="37260" y="1063675"/>
                  </a:lnTo>
                  <a:cubicBezTo>
                    <a:pt x="16682" y="1063675"/>
                    <a:pt x="0" y="1046994"/>
                    <a:pt x="0" y="1026416"/>
                  </a:cubicBezTo>
                  <a:lnTo>
                    <a:pt x="0" y="37260"/>
                  </a:lnTo>
                  <a:cubicBezTo>
                    <a:pt x="0" y="16682"/>
                    <a:pt x="16682" y="0"/>
                    <a:pt x="3726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925" r="0" b="-925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3451179" y="5190984"/>
            <a:ext cx="3503737" cy="2880406"/>
            <a:chOff x="0" y="0"/>
            <a:chExt cx="1594946" cy="131119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594945" cy="1311197"/>
            </a:xfrm>
            <a:custGeom>
              <a:avLst/>
              <a:gdLst/>
              <a:ahLst/>
              <a:cxnLst/>
              <a:rect r="r" b="b" t="t" l="l"/>
              <a:pathLst>
                <a:path h="1311197" w="1594945">
                  <a:moveTo>
                    <a:pt x="37564" y="0"/>
                  </a:moveTo>
                  <a:lnTo>
                    <a:pt x="1557382" y="0"/>
                  </a:lnTo>
                  <a:cubicBezTo>
                    <a:pt x="1578128" y="0"/>
                    <a:pt x="1594945" y="16818"/>
                    <a:pt x="1594945" y="37564"/>
                  </a:cubicBezTo>
                  <a:lnTo>
                    <a:pt x="1594945" y="1273634"/>
                  </a:lnTo>
                  <a:cubicBezTo>
                    <a:pt x="1594945" y="1283596"/>
                    <a:pt x="1590988" y="1293151"/>
                    <a:pt x="1583943" y="1300195"/>
                  </a:cubicBezTo>
                  <a:cubicBezTo>
                    <a:pt x="1576899" y="1307240"/>
                    <a:pt x="1567344" y="1311197"/>
                    <a:pt x="1557382" y="1311197"/>
                  </a:cubicBezTo>
                  <a:lnTo>
                    <a:pt x="37564" y="1311197"/>
                  </a:lnTo>
                  <a:cubicBezTo>
                    <a:pt x="27601" y="1311197"/>
                    <a:pt x="18047" y="1307240"/>
                    <a:pt x="11002" y="1300195"/>
                  </a:cubicBezTo>
                  <a:cubicBezTo>
                    <a:pt x="3958" y="1293151"/>
                    <a:pt x="0" y="1283596"/>
                    <a:pt x="0" y="1273634"/>
                  </a:cubicBezTo>
                  <a:lnTo>
                    <a:pt x="0" y="37564"/>
                  </a:lnTo>
                  <a:cubicBezTo>
                    <a:pt x="0" y="27601"/>
                    <a:pt x="3958" y="18047"/>
                    <a:pt x="11002" y="11002"/>
                  </a:cubicBezTo>
                  <a:cubicBezTo>
                    <a:pt x="18047" y="3958"/>
                    <a:pt x="27601" y="0"/>
                    <a:pt x="37564" y="0"/>
                  </a:cubicBezTo>
                  <a:close/>
                </a:path>
              </a:pathLst>
            </a:custGeom>
            <a:blipFill>
              <a:blip r:embed="rId5"/>
              <a:stretch>
                <a:fillRect l="-825" t="0" r="-825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952598" y="2174761"/>
            <a:ext cx="8845603" cy="1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48"/>
              </a:lnSpc>
            </a:pPr>
            <a:r>
              <a:rPr lang="en-US" b="true" sz="5099" spc="-31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CHATBOT &amp; RAG</a:t>
            </a:r>
          </a:p>
          <a:p>
            <a:pPr algn="l" marL="0" indent="0" lvl="0">
              <a:lnSpc>
                <a:spcPts val="5048"/>
              </a:lnSpc>
            </a:pPr>
            <a:r>
              <a:rPr lang="en-US" b="true" sz="5099" spc="-31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CHƯA ĐỦ KIỂM SOÁT</a:t>
            </a:r>
          </a:p>
        </p:txBody>
      </p:sp>
      <p:sp>
        <p:nvSpPr>
          <p:cNvPr name="Freeform 23" id="23"/>
          <p:cNvSpPr/>
          <p:nvPr/>
        </p:nvSpPr>
        <p:spPr>
          <a:xfrm flipH="true" flipV="false" rot="0">
            <a:off x="9634050" y="2079511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6"/>
                </a:lnTo>
                <a:lnTo>
                  <a:pt x="941613" y="818026"/>
                </a:lnTo>
                <a:lnTo>
                  <a:pt x="9416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4" id="24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7" id="27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12085806" y="8465801"/>
            <a:ext cx="2697188" cy="782208"/>
            <a:chOff x="0" y="0"/>
            <a:chExt cx="1873410" cy="54330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873410" cy="543305"/>
            </a:xfrm>
            <a:custGeom>
              <a:avLst/>
              <a:gdLst/>
              <a:ahLst/>
              <a:cxnLst/>
              <a:rect r="r" b="b" t="t" l="l"/>
              <a:pathLst>
                <a:path h="543305" w="1873410">
                  <a:moveTo>
                    <a:pt x="37315" y="0"/>
                  </a:moveTo>
                  <a:lnTo>
                    <a:pt x="1836095" y="0"/>
                  </a:lnTo>
                  <a:cubicBezTo>
                    <a:pt x="1845992" y="0"/>
                    <a:pt x="1855483" y="3931"/>
                    <a:pt x="1862481" y="10929"/>
                  </a:cubicBezTo>
                  <a:cubicBezTo>
                    <a:pt x="1869479" y="17927"/>
                    <a:pt x="1873410" y="27418"/>
                    <a:pt x="1873410" y="37315"/>
                  </a:cubicBezTo>
                  <a:lnTo>
                    <a:pt x="1873410" y="505990"/>
                  </a:lnTo>
                  <a:cubicBezTo>
                    <a:pt x="1873410" y="515887"/>
                    <a:pt x="1869479" y="525378"/>
                    <a:pt x="1862481" y="532376"/>
                  </a:cubicBezTo>
                  <a:cubicBezTo>
                    <a:pt x="1855483" y="539374"/>
                    <a:pt x="1845992" y="543305"/>
                    <a:pt x="1836095" y="543305"/>
                  </a:cubicBezTo>
                  <a:lnTo>
                    <a:pt x="37315" y="543305"/>
                  </a:lnTo>
                  <a:cubicBezTo>
                    <a:pt x="27418" y="543305"/>
                    <a:pt x="17927" y="539374"/>
                    <a:pt x="10929" y="532376"/>
                  </a:cubicBezTo>
                  <a:cubicBezTo>
                    <a:pt x="3931" y="525378"/>
                    <a:pt x="0" y="515887"/>
                    <a:pt x="0" y="505990"/>
                  </a:cubicBezTo>
                  <a:lnTo>
                    <a:pt x="0" y="37315"/>
                  </a:lnTo>
                  <a:cubicBezTo>
                    <a:pt x="0" y="27418"/>
                    <a:pt x="3931" y="17927"/>
                    <a:pt x="10929" y="10929"/>
                  </a:cubicBezTo>
                  <a:cubicBezTo>
                    <a:pt x="17927" y="3931"/>
                    <a:pt x="27418" y="0"/>
                    <a:pt x="37315" y="0"/>
                  </a:cubicBezTo>
                  <a:close/>
                </a:path>
              </a:pathLst>
            </a:custGeom>
            <a:solidFill>
              <a:srgbClr val="FF6F5E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1873410" cy="524255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3765854" y="8465801"/>
            <a:ext cx="3952908" cy="782208"/>
            <a:chOff x="0" y="0"/>
            <a:chExt cx="2745607" cy="54330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745607" cy="543305"/>
            </a:xfrm>
            <a:custGeom>
              <a:avLst/>
              <a:gdLst/>
              <a:ahLst/>
              <a:cxnLst/>
              <a:rect r="r" b="b" t="t" l="l"/>
              <a:pathLst>
                <a:path h="543305" w="2745607">
                  <a:moveTo>
                    <a:pt x="25461" y="0"/>
                  </a:moveTo>
                  <a:lnTo>
                    <a:pt x="2720146" y="0"/>
                  </a:lnTo>
                  <a:cubicBezTo>
                    <a:pt x="2734208" y="0"/>
                    <a:pt x="2745607" y="11399"/>
                    <a:pt x="2745607" y="25461"/>
                  </a:cubicBezTo>
                  <a:lnTo>
                    <a:pt x="2745607" y="517844"/>
                  </a:lnTo>
                  <a:cubicBezTo>
                    <a:pt x="2745607" y="524597"/>
                    <a:pt x="2742924" y="531073"/>
                    <a:pt x="2738150" y="535848"/>
                  </a:cubicBezTo>
                  <a:cubicBezTo>
                    <a:pt x="2733375" y="540623"/>
                    <a:pt x="2726898" y="543305"/>
                    <a:pt x="2720146" y="543305"/>
                  </a:cubicBezTo>
                  <a:lnTo>
                    <a:pt x="25461" y="543305"/>
                  </a:lnTo>
                  <a:cubicBezTo>
                    <a:pt x="11399" y="543305"/>
                    <a:pt x="0" y="531906"/>
                    <a:pt x="0" y="517844"/>
                  </a:cubicBezTo>
                  <a:lnTo>
                    <a:pt x="0" y="25461"/>
                  </a:lnTo>
                  <a:cubicBezTo>
                    <a:pt x="0" y="18708"/>
                    <a:pt x="2682" y="12232"/>
                    <a:pt x="7457" y="7457"/>
                  </a:cubicBezTo>
                  <a:cubicBezTo>
                    <a:pt x="12232" y="2682"/>
                    <a:pt x="18708" y="0"/>
                    <a:pt x="25461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19050"/>
              <a:ext cx="2745607" cy="524255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2952598" y="4797729"/>
            <a:ext cx="2933893" cy="653335"/>
            <a:chOff x="0" y="0"/>
            <a:chExt cx="2037821" cy="453793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4273982" y="2554333"/>
            <a:ext cx="419749" cy="419749"/>
            <a:chOff x="0" y="0"/>
            <a:chExt cx="812800" cy="812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3854191" y="2554333"/>
            <a:ext cx="419749" cy="419749"/>
            <a:chOff x="0" y="0"/>
            <a:chExt cx="812800" cy="812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3434400" y="2554333"/>
            <a:ext cx="419749" cy="419749"/>
            <a:chOff x="0" y="0"/>
            <a:chExt cx="812800" cy="812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8" id="48"/>
          <p:cNvGrpSpPr/>
          <p:nvPr/>
        </p:nvGrpSpPr>
        <p:grpSpPr>
          <a:xfrm rot="0">
            <a:off x="6141714" y="4525048"/>
            <a:ext cx="1025142" cy="1025142"/>
            <a:chOff x="0" y="0"/>
            <a:chExt cx="812800" cy="812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5E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0" id="5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51" id="51"/>
          <p:cNvSpPr/>
          <p:nvPr/>
        </p:nvSpPr>
        <p:spPr>
          <a:xfrm flipH="false" flipV="false" rot="0">
            <a:off x="6387001" y="4724559"/>
            <a:ext cx="487589" cy="626118"/>
          </a:xfrm>
          <a:custGeom>
            <a:avLst/>
            <a:gdLst/>
            <a:ahLst/>
            <a:cxnLst/>
            <a:rect r="r" b="b" t="t" l="l"/>
            <a:pathLst>
              <a:path h="626118" w="487589">
                <a:moveTo>
                  <a:pt x="0" y="0"/>
                </a:moveTo>
                <a:lnTo>
                  <a:pt x="487589" y="0"/>
                </a:lnTo>
                <a:lnTo>
                  <a:pt x="487589" y="626118"/>
                </a:lnTo>
                <a:lnTo>
                  <a:pt x="0" y="6261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2" id="52"/>
          <p:cNvGrpSpPr/>
          <p:nvPr/>
        </p:nvGrpSpPr>
        <p:grpSpPr>
          <a:xfrm rot="0">
            <a:off x="7585955" y="4678470"/>
            <a:ext cx="4100858" cy="2243954"/>
            <a:chOff x="0" y="0"/>
            <a:chExt cx="2848370" cy="1558603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FF6F5E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7764821" y="4797729"/>
            <a:ext cx="2933893" cy="653335"/>
            <a:chOff x="0" y="0"/>
            <a:chExt cx="2037821" cy="453793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7" id="57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955890" y="4525048"/>
            <a:ext cx="1025142" cy="1025142"/>
            <a:chOff x="0" y="0"/>
            <a:chExt cx="812800" cy="8128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574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0" id="6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61" id="61"/>
          <p:cNvSpPr/>
          <p:nvPr/>
        </p:nvSpPr>
        <p:spPr>
          <a:xfrm flipH="false" flipV="false" rot="0">
            <a:off x="11175017" y="4766550"/>
            <a:ext cx="586888" cy="542138"/>
          </a:xfrm>
          <a:custGeom>
            <a:avLst/>
            <a:gdLst/>
            <a:ahLst/>
            <a:cxnLst/>
            <a:rect r="r" b="b" t="t" l="l"/>
            <a:pathLst>
              <a:path h="542138" w="586888">
                <a:moveTo>
                  <a:pt x="0" y="0"/>
                </a:moveTo>
                <a:lnTo>
                  <a:pt x="586887" y="0"/>
                </a:lnTo>
                <a:lnTo>
                  <a:pt x="586887" y="542137"/>
                </a:lnTo>
                <a:lnTo>
                  <a:pt x="0" y="5421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2" id="62"/>
          <p:cNvGrpSpPr/>
          <p:nvPr/>
        </p:nvGrpSpPr>
        <p:grpSpPr>
          <a:xfrm rot="0">
            <a:off x="2771749" y="7199671"/>
            <a:ext cx="4100858" cy="2243954"/>
            <a:chOff x="0" y="0"/>
            <a:chExt cx="2848370" cy="1558603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02388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2950615" y="7318930"/>
            <a:ext cx="2933893" cy="653335"/>
            <a:chOff x="0" y="0"/>
            <a:chExt cx="2037821" cy="453793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7" id="67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6139731" y="7046249"/>
            <a:ext cx="1025142" cy="1025142"/>
            <a:chOff x="0" y="0"/>
            <a:chExt cx="812800" cy="8128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5E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7583973" y="7199671"/>
            <a:ext cx="4100858" cy="2243954"/>
            <a:chOff x="0" y="0"/>
            <a:chExt cx="2848370" cy="1558603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7762839" y="7318930"/>
            <a:ext cx="2933893" cy="653335"/>
            <a:chOff x="0" y="0"/>
            <a:chExt cx="2037821" cy="453793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6" id="76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77" id="77"/>
          <p:cNvGrpSpPr/>
          <p:nvPr/>
        </p:nvGrpSpPr>
        <p:grpSpPr>
          <a:xfrm rot="0">
            <a:off x="10953907" y="7046249"/>
            <a:ext cx="1025142" cy="1025142"/>
            <a:chOff x="0" y="0"/>
            <a:chExt cx="812800" cy="81280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2388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9" id="7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80" id="80"/>
          <p:cNvSpPr/>
          <p:nvPr/>
        </p:nvSpPr>
        <p:spPr>
          <a:xfrm flipH="false" flipV="false" rot="0">
            <a:off x="11128359" y="7220700"/>
            <a:ext cx="676239" cy="676239"/>
          </a:xfrm>
          <a:custGeom>
            <a:avLst/>
            <a:gdLst/>
            <a:ahLst/>
            <a:cxnLst/>
            <a:rect r="r" b="b" t="t" l="l"/>
            <a:pathLst>
              <a:path h="676239" w="676239">
                <a:moveTo>
                  <a:pt x="0" y="0"/>
                </a:moveTo>
                <a:lnTo>
                  <a:pt x="676238" y="0"/>
                </a:lnTo>
                <a:lnTo>
                  <a:pt x="676238" y="676239"/>
                </a:lnTo>
                <a:lnTo>
                  <a:pt x="0" y="67623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1" id="81"/>
          <p:cNvSpPr/>
          <p:nvPr/>
        </p:nvSpPr>
        <p:spPr>
          <a:xfrm flipH="false" flipV="false" rot="0">
            <a:off x="6360490" y="7299472"/>
            <a:ext cx="583624" cy="518695"/>
          </a:xfrm>
          <a:custGeom>
            <a:avLst/>
            <a:gdLst/>
            <a:ahLst/>
            <a:cxnLst/>
            <a:rect r="r" b="b" t="t" l="l"/>
            <a:pathLst>
              <a:path h="518695" w="583624">
                <a:moveTo>
                  <a:pt x="0" y="0"/>
                </a:moveTo>
                <a:lnTo>
                  <a:pt x="583624" y="0"/>
                </a:lnTo>
                <a:lnTo>
                  <a:pt x="583624" y="518695"/>
                </a:lnTo>
                <a:lnTo>
                  <a:pt x="0" y="51869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2" id="82"/>
          <p:cNvSpPr txBox="true"/>
          <p:nvPr/>
        </p:nvSpPr>
        <p:spPr>
          <a:xfrm rot="0">
            <a:off x="3003339" y="5703060"/>
            <a:ext cx="3627456" cy="289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188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LLM tự bịa giá, thông số CPU/RAM/SSD không có trong catalog thực tế.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3423561" y="900120"/>
            <a:ext cx="1535587" cy="263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99"/>
              </a:lnSpc>
            </a:pPr>
            <a:r>
              <a:rPr lang="en-US" sz="2019" spc="-7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AURA AI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4510270" y="900120"/>
            <a:ext cx="1722169" cy="2634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99"/>
              </a:lnSpc>
            </a:pPr>
            <a:r>
              <a:rPr lang="en-US" b="true" sz="2019" spc="-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Sales Advisor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14102529" y="8718121"/>
            <a:ext cx="3627965" cy="419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55"/>
              </a:lnSpc>
            </a:pPr>
            <a:r>
              <a:rPr lang="en-US" sz="1380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Sai một thông số có thể ảnh hưởng quyết định mua hàng.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12408824" y="8692804"/>
            <a:ext cx="1249380" cy="200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584"/>
              </a:lnSpc>
            </a:pPr>
            <a:r>
              <a:rPr lang="en-US" sz="132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⚠ Lưu ý</a:t>
            </a:r>
          </a:p>
        </p:txBody>
      </p:sp>
      <p:sp>
        <p:nvSpPr>
          <p:cNvPr name="TextBox 87" id="87"/>
          <p:cNvSpPr txBox="true"/>
          <p:nvPr/>
        </p:nvSpPr>
        <p:spPr>
          <a:xfrm rot="0">
            <a:off x="3159438" y="4959677"/>
            <a:ext cx="2520213" cy="19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57"/>
              </a:lnSpc>
            </a:pPr>
            <a:r>
              <a:rPr lang="en-US" b="true" sz="1319" spc="-9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Hallucination</a:t>
            </a:r>
          </a:p>
        </p:txBody>
      </p:sp>
      <p:sp>
        <p:nvSpPr>
          <p:cNvPr name="TextBox 88" id="88"/>
          <p:cNvSpPr txBox="true"/>
          <p:nvPr/>
        </p:nvSpPr>
        <p:spPr>
          <a:xfrm rot="0">
            <a:off x="7815562" y="5703060"/>
            <a:ext cx="3627456" cy="289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188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RAG truy xuất sai sản phẩm, nhầm mã SKU hoặc thiếu trường dữ liệu quan trọng.</a:t>
            </a:r>
          </a:p>
        </p:txBody>
      </p:sp>
      <p:sp>
        <p:nvSpPr>
          <p:cNvPr name="TextBox 89" id="89"/>
          <p:cNvSpPr txBox="true"/>
          <p:nvPr/>
        </p:nvSpPr>
        <p:spPr>
          <a:xfrm rot="0">
            <a:off x="7971662" y="4959677"/>
            <a:ext cx="2520213" cy="19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57"/>
              </a:lnSpc>
            </a:pPr>
            <a:r>
              <a:rPr lang="en-US" b="true" sz="1319" spc="-9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Sai sản phẩm/SKU</a:t>
            </a:r>
          </a:p>
        </p:txBody>
      </p:sp>
      <p:sp>
        <p:nvSpPr>
          <p:cNvPr name="TextBox 90" id="90"/>
          <p:cNvSpPr txBox="true"/>
          <p:nvPr/>
        </p:nvSpPr>
        <p:spPr>
          <a:xfrm rot="0">
            <a:off x="3001357" y="8224261"/>
            <a:ext cx="3627456" cy="289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188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Text trả lời không khớp với product cards hiển thị, gây mâu thuẫn thông tin.</a:t>
            </a:r>
          </a:p>
        </p:txBody>
      </p:sp>
      <p:sp>
        <p:nvSpPr>
          <p:cNvPr name="TextBox 91" id="91"/>
          <p:cNvSpPr txBox="true"/>
          <p:nvPr/>
        </p:nvSpPr>
        <p:spPr>
          <a:xfrm rot="0">
            <a:off x="3157456" y="7480878"/>
            <a:ext cx="2520213" cy="19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57"/>
              </a:lnSpc>
            </a:pPr>
            <a:r>
              <a:rPr lang="en-US" b="true" sz="1319" spc="-9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Mismatch UI</a:t>
            </a:r>
          </a:p>
        </p:txBody>
      </p:sp>
      <p:sp>
        <p:nvSpPr>
          <p:cNvPr name="TextBox 92" id="92"/>
          <p:cNvSpPr txBox="true"/>
          <p:nvPr/>
        </p:nvSpPr>
        <p:spPr>
          <a:xfrm rot="0">
            <a:off x="7813580" y="8224261"/>
            <a:ext cx="3627456" cy="2891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188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Không có trace, không test được từng bước, không phát hiện lỗi kịp thời.</a:t>
            </a:r>
          </a:p>
        </p:txBody>
      </p:sp>
      <p:sp>
        <p:nvSpPr>
          <p:cNvPr name="TextBox 93" id="93"/>
          <p:cNvSpPr txBox="true"/>
          <p:nvPr/>
        </p:nvSpPr>
        <p:spPr>
          <a:xfrm rot="0">
            <a:off x="7969679" y="7480878"/>
            <a:ext cx="2520213" cy="19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57"/>
              </a:lnSpc>
            </a:pPr>
            <a:r>
              <a:rPr lang="en-US" b="true" sz="1319" spc="-9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Thiếu kiểm soát</a:t>
            </a:r>
          </a:p>
        </p:txBody>
      </p:sp>
      <p:sp>
        <p:nvSpPr>
          <p:cNvPr name="Freeform 94" id="94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5" id="95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6" id="96"/>
          <p:cNvSpPr/>
          <p:nvPr/>
        </p:nvSpPr>
        <p:spPr>
          <a:xfrm flipH="false" flipV="false" rot="0">
            <a:off x="2451215" y="713127"/>
            <a:ext cx="645033" cy="494917"/>
          </a:xfrm>
          <a:custGeom>
            <a:avLst/>
            <a:gdLst/>
            <a:ahLst/>
            <a:cxnLst/>
            <a:rect r="r" b="b" t="t" l="l"/>
            <a:pathLst>
              <a:path h="494917" w="645033">
                <a:moveTo>
                  <a:pt x="0" y="0"/>
                </a:moveTo>
                <a:lnTo>
                  <a:pt x="645034" y="0"/>
                </a:lnTo>
                <a:lnTo>
                  <a:pt x="645034" y="494916"/>
                </a:lnTo>
                <a:lnTo>
                  <a:pt x="0" y="494916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1993201" y="3688715"/>
            <a:ext cx="5266099" cy="4987468"/>
            <a:chOff x="0" y="0"/>
            <a:chExt cx="3153645" cy="298678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53645" cy="2986784"/>
            </a:xfrm>
            <a:custGeom>
              <a:avLst/>
              <a:gdLst/>
              <a:ahLst/>
              <a:cxnLst/>
              <a:rect r="r" b="b" t="t" l="l"/>
              <a:pathLst>
                <a:path h="2986784" w="3153645">
                  <a:moveTo>
                    <a:pt x="47045" y="0"/>
                  </a:moveTo>
                  <a:lnTo>
                    <a:pt x="3106600" y="0"/>
                  </a:lnTo>
                  <a:cubicBezTo>
                    <a:pt x="3119077" y="0"/>
                    <a:pt x="3131044" y="4956"/>
                    <a:pt x="3139866" y="13779"/>
                  </a:cubicBezTo>
                  <a:cubicBezTo>
                    <a:pt x="3148689" y="22602"/>
                    <a:pt x="3153645" y="34568"/>
                    <a:pt x="3153645" y="47045"/>
                  </a:cubicBezTo>
                  <a:lnTo>
                    <a:pt x="3153645" y="2939740"/>
                  </a:lnTo>
                  <a:cubicBezTo>
                    <a:pt x="3153645" y="2952217"/>
                    <a:pt x="3148689" y="2964183"/>
                    <a:pt x="3139866" y="2973005"/>
                  </a:cubicBezTo>
                  <a:cubicBezTo>
                    <a:pt x="3131044" y="2981828"/>
                    <a:pt x="3119077" y="2986784"/>
                    <a:pt x="3106600" y="2986784"/>
                  </a:cubicBezTo>
                  <a:lnTo>
                    <a:pt x="47045" y="2986784"/>
                  </a:lnTo>
                  <a:cubicBezTo>
                    <a:pt x="34568" y="2986784"/>
                    <a:pt x="22602" y="2981828"/>
                    <a:pt x="13779" y="2973005"/>
                  </a:cubicBezTo>
                  <a:cubicBezTo>
                    <a:pt x="4956" y="2964183"/>
                    <a:pt x="0" y="2952217"/>
                    <a:pt x="0" y="2939740"/>
                  </a:cubicBezTo>
                  <a:lnTo>
                    <a:pt x="0" y="47045"/>
                  </a:lnTo>
                  <a:cubicBezTo>
                    <a:pt x="0" y="34568"/>
                    <a:pt x="4956" y="22602"/>
                    <a:pt x="13779" y="13779"/>
                  </a:cubicBezTo>
                  <a:cubicBezTo>
                    <a:pt x="22602" y="4956"/>
                    <a:pt x="34568" y="0"/>
                    <a:pt x="47045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153645" cy="302488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2952598" y="2212861"/>
            <a:ext cx="8845603" cy="18057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24"/>
              </a:lnSpc>
            </a:pPr>
            <a:r>
              <a:rPr lang="en-US" b="true" sz="6994" spc="-43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CÂU HỎI KỸ THUẬT TRUNG TÂM</a:t>
            </a:r>
          </a:p>
        </p:txBody>
      </p:sp>
      <p:sp>
        <p:nvSpPr>
          <p:cNvPr name="Freeform 16" id="16"/>
          <p:cNvSpPr/>
          <p:nvPr/>
        </p:nvSpPr>
        <p:spPr>
          <a:xfrm flipH="true" flipV="false" rot="0">
            <a:off x="9610601" y="2607179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4" y="0"/>
                </a:moveTo>
                <a:lnTo>
                  <a:pt x="0" y="0"/>
                </a:lnTo>
                <a:lnTo>
                  <a:pt x="0" y="818026"/>
                </a:lnTo>
                <a:lnTo>
                  <a:pt x="941614" y="818026"/>
                </a:lnTo>
                <a:lnTo>
                  <a:pt x="94161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7" id="17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31" id="31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12375567" y="4006824"/>
            <a:ext cx="4501367" cy="4022323"/>
            <a:chOff x="0" y="0"/>
            <a:chExt cx="2049080" cy="1831012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049080" cy="1831012"/>
            </a:xfrm>
            <a:custGeom>
              <a:avLst/>
              <a:gdLst/>
              <a:ahLst/>
              <a:cxnLst/>
              <a:rect r="r" b="b" t="t" l="l"/>
              <a:pathLst>
                <a:path h="1831012" w="2049080">
                  <a:moveTo>
                    <a:pt x="29238" y="0"/>
                  </a:moveTo>
                  <a:lnTo>
                    <a:pt x="2019841" y="0"/>
                  </a:lnTo>
                  <a:cubicBezTo>
                    <a:pt x="2035989" y="0"/>
                    <a:pt x="2049080" y="13090"/>
                    <a:pt x="2049080" y="29238"/>
                  </a:cubicBezTo>
                  <a:lnTo>
                    <a:pt x="2049080" y="1801774"/>
                  </a:lnTo>
                  <a:cubicBezTo>
                    <a:pt x="2049080" y="1817922"/>
                    <a:pt x="2035989" y="1831012"/>
                    <a:pt x="2019841" y="1831012"/>
                  </a:cubicBezTo>
                  <a:lnTo>
                    <a:pt x="29238" y="1831012"/>
                  </a:lnTo>
                  <a:cubicBezTo>
                    <a:pt x="13090" y="1831012"/>
                    <a:pt x="0" y="1817922"/>
                    <a:pt x="0" y="1801774"/>
                  </a:cubicBezTo>
                  <a:lnTo>
                    <a:pt x="0" y="29238"/>
                  </a:lnTo>
                  <a:cubicBezTo>
                    <a:pt x="0" y="13090"/>
                    <a:pt x="13090" y="0"/>
                    <a:pt x="29238" y="0"/>
                  </a:cubicBezTo>
                  <a:close/>
                </a:path>
              </a:pathLst>
            </a:custGeom>
            <a:blipFill>
              <a:blip r:embed="rId12"/>
              <a:stretch>
                <a:fillRect l="0" t="-5954" r="0" b="-5954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1474350" y="4821259"/>
            <a:ext cx="1158626" cy="1158626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37" id="37"/>
          <p:cNvSpPr/>
          <p:nvPr/>
        </p:nvSpPr>
        <p:spPr>
          <a:xfrm flipH="false" flipV="false" rot="0">
            <a:off x="11722010" y="5094207"/>
            <a:ext cx="663307" cy="612729"/>
          </a:xfrm>
          <a:custGeom>
            <a:avLst/>
            <a:gdLst/>
            <a:ahLst/>
            <a:cxnLst/>
            <a:rect r="r" b="b" t="t" l="l"/>
            <a:pathLst>
              <a:path h="612729" w="663307">
                <a:moveTo>
                  <a:pt x="0" y="0"/>
                </a:moveTo>
                <a:lnTo>
                  <a:pt x="663307" y="0"/>
                </a:lnTo>
                <a:lnTo>
                  <a:pt x="663307" y="612730"/>
                </a:lnTo>
                <a:lnTo>
                  <a:pt x="0" y="61273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3268032" y="853963"/>
            <a:ext cx="1535587" cy="262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78"/>
              </a:lnSpc>
            </a:pPr>
            <a:r>
              <a:rPr lang="en-US" sz="1998" spc="-73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AURA AI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4302172" y="853963"/>
            <a:ext cx="1887005" cy="262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978"/>
              </a:lnSpc>
            </a:pPr>
            <a:r>
              <a:rPr lang="en-US" b="true" sz="1998" spc="-7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Sales </a:t>
            </a:r>
            <a:r>
              <a:rPr lang="en-US" b="true" sz="1998" spc="-7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Advisor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2984730" y="5805112"/>
            <a:ext cx="8041946" cy="2194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Làm sao đưa AI Advisor vào e-commerce mà vẫn kiểm soát được?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2984730" y="7210377"/>
            <a:ext cx="8041946" cy="1314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AI Advisor cần đáp ứng: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Hiểu tiếng Việt tự nhiên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Bám sát catalog thật, không bịa giá/spec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Đồng bộ với product cards trên UI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Có trace và test để đánh giá chất lượng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Kiểm soát toàn bộ workflow từ câu hỏi đến kết quả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2434169" y="713127"/>
            <a:ext cx="645033" cy="494917"/>
          </a:xfrm>
          <a:custGeom>
            <a:avLst/>
            <a:gdLst/>
            <a:ahLst/>
            <a:cxnLst/>
            <a:rect r="r" b="b" t="t" l="l"/>
            <a:pathLst>
              <a:path h="494917" w="645033">
                <a:moveTo>
                  <a:pt x="0" y="0"/>
                </a:moveTo>
                <a:lnTo>
                  <a:pt x="645033" y="0"/>
                </a:lnTo>
                <a:lnTo>
                  <a:pt x="645033" y="494916"/>
                </a:lnTo>
                <a:lnTo>
                  <a:pt x="0" y="494916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84820" y="2264655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64552" y="195948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058115" y="3963722"/>
            <a:ext cx="5201185" cy="4712461"/>
            <a:chOff x="0" y="0"/>
            <a:chExt cx="3114770" cy="282209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114771" cy="2822094"/>
            </a:xfrm>
            <a:custGeom>
              <a:avLst/>
              <a:gdLst/>
              <a:ahLst/>
              <a:cxnLst/>
              <a:rect r="r" b="b" t="t" l="l"/>
              <a:pathLst>
                <a:path h="2822094" w="3114771">
                  <a:moveTo>
                    <a:pt x="47632" y="0"/>
                  </a:moveTo>
                  <a:lnTo>
                    <a:pt x="3067139" y="0"/>
                  </a:lnTo>
                  <a:cubicBezTo>
                    <a:pt x="3079772" y="0"/>
                    <a:pt x="3091887" y="5018"/>
                    <a:pt x="3100819" y="13951"/>
                  </a:cubicBezTo>
                  <a:cubicBezTo>
                    <a:pt x="3109752" y="22884"/>
                    <a:pt x="3114771" y="34999"/>
                    <a:pt x="3114771" y="47632"/>
                  </a:cubicBezTo>
                  <a:lnTo>
                    <a:pt x="3114771" y="2774463"/>
                  </a:lnTo>
                  <a:cubicBezTo>
                    <a:pt x="3114771" y="2787095"/>
                    <a:pt x="3109752" y="2799211"/>
                    <a:pt x="3100819" y="2808143"/>
                  </a:cubicBezTo>
                  <a:cubicBezTo>
                    <a:pt x="3091887" y="2817076"/>
                    <a:pt x="3079772" y="2822094"/>
                    <a:pt x="3067139" y="2822094"/>
                  </a:cubicBezTo>
                  <a:lnTo>
                    <a:pt x="47632" y="2822094"/>
                  </a:lnTo>
                  <a:cubicBezTo>
                    <a:pt x="34999" y="2822094"/>
                    <a:pt x="22884" y="2817076"/>
                    <a:pt x="13951" y="2808143"/>
                  </a:cubicBezTo>
                  <a:cubicBezTo>
                    <a:pt x="5018" y="2799211"/>
                    <a:pt x="0" y="2787095"/>
                    <a:pt x="0" y="2774463"/>
                  </a:cubicBezTo>
                  <a:lnTo>
                    <a:pt x="0" y="47632"/>
                  </a:lnTo>
                  <a:cubicBezTo>
                    <a:pt x="0" y="34999"/>
                    <a:pt x="5018" y="22884"/>
                    <a:pt x="13951" y="13951"/>
                  </a:cubicBezTo>
                  <a:cubicBezTo>
                    <a:pt x="22884" y="5018"/>
                    <a:pt x="34999" y="0"/>
                    <a:pt x="47632" y="0"/>
                  </a:cubicBezTo>
                  <a:close/>
                </a:path>
              </a:pathLst>
            </a:custGeom>
            <a:solidFill>
              <a:srgbClr val="FF6F5E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3114770" cy="286019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375322" y="4411629"/>
            <a:ext cx="2567885" cy="3378128"/>
            <a:chOff x="0" y="0"/>
            <a:chExt cx="1168934" cy="153776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68934" cy="1537767"/>
            </a:xfrm>
            <a:custGeom>
              <a:avLst/>
              <a:gdLst/>
              <a:ahLst/>
              <a:cxnLst/>
              <a:rect r="r" b="b" t="t" l="l"/>
              <a:pathLst>
                <a:path h="1537767" w="1168934">
                  <a:moveTo>
                    <a:pt x="51253" y="0"/>
                  </a:moveTo>
                  <a:lnTo>
                    <a:pt x="1117681" y="0"/>
                  </a:lnTo>
                  <a:cubicBezTo>
                    <a:pt x="1145987" y="0"/>
                    <a:pt x="1168934" y="22947"/>
                    <a:pt x="1168934" y="51253"/>
                  </a:cubicBezTo>
                  <a:lnTo>
                    <a:pt x="1168934" y="1486514"/>
                  </a:lnTo>
                  <a:cubicBezTo>
                    <a:pt x="1168934" y="1514820"/>
                    <a:pt x="1145987" y="1537767"/>
                    <a:pt x="1117681" y="1537767"/>
                  </a:cubicBezTo>
                  <a:lnTo>
                    <a:pt x="51253" y="1537767"/>
                  </a:lnTo>
                  <a:cubicBezTo>
                    <a:pt x="22947" y="1537767"/>
                    <a:pt x="0" y="1514820"/>
                    <a:pt x="0" y="1486514"/>
                  </a:cubicBezTo>
                  <a:lnTo>
                    <a:pt x="0" y="51253"/>
                  </a:lnTo>
                  <a:cubicBezTo>
                    <a:pt x="0" y="22947"/>
                    <a:pt x="22947" y="0"/>
                    <a:pt x="51253" y="0"/>
                  </a:cubicBezTo>
                  <a:close/>
                </a:path>
              </a:pathLst>
            </a:custGeom>
            <a:blipFill>
              <a:blip r:embed="rId6"/>
              <a:stretch>
                <a:fillRect l="0" t="-931" r="0" b="-931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5106383" y="4411629"/>
            <a:ext cx="1873811" cy="3378128"/>
            <a:chOff x="0" y="0"/>
            <a:chExt cx="852982" cy="153776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52982" cy="1537767"/>
            </a:xfrm>
            <a:custGeom>
              <a:avLst/>
              <a:gdLst/>
              <a:ahLst/>
              <a:cxnLst/>
              <a:rect r="r" b="b" t="t" l="l"/>
              <a:pathLst>
                <a:path h="1537767" w="852982">
                  <a:moveTo>
                    <a:pt x="70238" y="0"/>
                  </a:moveTo>
                  <a:lnTo>
                    <a:pt x="782744" y="0"/>
                  </a:lnTo>
                  <a:cubicBezTo>
                    <a:pt x="801373" y="0"/>
                    <a:pt x="819238" y="7400"/>
                    <a:pt x="832410" y="20572"/>
                  </a:cubicBezTo>
                  <a:cubicBezTo>
                    <a:pt x="845582" y="33744"/>
                    <a:pt x="852982" y="51610"/>
                    <a:pt x="852982" y="70238"/>
                  </a:cubicBezTo>
                  <a:lnTo>
                    <a:pt x="852982" y="1467529"/>
                  </a:lnTo>
                  <a:cubicBezTo>
                    <a:pt x="852982" y="1506320"/>
                    <a:pt x="821536" y="1537767"/>
                    <a:pt x="782744" y="1537767"/>
                  </a:cubicBezTo>
                  <a:lnTo>
                    <a:pt x="70238" y="1537767"/>
                  </a:lnTo>
                  <a:cubicBezTo>
                    <a:pt x="51610" y="1537767"/>
                    <a:pt x="33744" y="1530367"/>
                    <a:pt x="20572" y="1517195"/>
                  </a:cubicBezTo>
                  <a:cubicBezTo>
                    <a:pt x="7400" y="1504023"/>
                    <a:pt x="0" y="1486157"/>
                    <a:pt x="0" y="1467529"/>
                  </a:cubicBezTo>
                  <a:lnTo>
                    <a:pt x="0" y="70238"/>
                  </a:lnTo>
                  <a:cubicBezTo>
                    <a:pt x="0" y="31447"/>
                    <a:pt x="31447" y="0"/>
                    <a:pt x="70238" y="0"/>
                  </a:cubicBezTo>
                  <a:close/>
                </a:path>
              </a:pathLst>
            </a:custGeom>
            <a:blipFill>
              <a:blip r:embed="rId7"/>
              <a:stretch>
                <a:fillRect l="-1380" t="0" r="-1380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20" id="20"/>
          <p:cNvSpPr/>
          <p:nvPr/>
        </p:nvSpPr>
        <p:spPr>
          <a:xfrm flipH="true" flipV="false" rot="0">
            <a:off x="10472692" y="2349577"/>
            <a:ext cx="752040" cy="653335"/>
          </a:xfrm>
          <a:custGeom>
            <a:avLst/>
            <a:gdLst/>
            <a:ahLst/>
            <a:cxnLst/>
            <a:rect r="r" b="b" t="t" l="l"/>
            <a:pathLst>
              <a:path h="653335" w="752040">
                <a:moveTo>
                  <a:pt x="752040" y="0"/>
                </a:moveTo>
                <a:lnTo>
                  <a:pt x="0" y="0"/>
                </a:lnTo>
                <a:lnTo>
                  <a:pt x="0" y="653335"/>
                </a:lnTo>
                <a:lnTo>
                  <a:pt x="752040" y="653335"/>
                </a:lnTo>
                <a:lnTo>
                  <a:pt x="75204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2836124" y="3002912"/>
            <a:ext cx="3669555" cy="621325"/>
            <a:chOff x="0" y="0"/>
            <a:chExt cx="2548795" cy="43155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2548796" cy="431559"/>
            </a:xfrm>
            <a:custGeom>
              <a:avLst/>
              <a:gdLst/>
              <a:ahLst/>
              <a:cxnLst/>
              <a:rect r="r" b="b" t="t" l="l"/>
              <a:pathLst>
                <a:path h="431559" w="2548796">
                  <a:moveTo>
                    <a:pt x="27427" y="0"/>
                  </a:moveTo>
                  <a:lnTo>
                    <a:pt x="2521369" y="0"/>
                  </a:lnTo>
                  <a:cubicBezTo>
                    <a:pt x="2528643" y="0"/>
                    <a:pt x="2535619" y="2890"/>
                    <a:pt x="2540762" y="8033"/>
                  </a:cubicBezTo>
                  <a:cubicBezTo>
                    <a:pt x="2545906" y="13177"/>
                    <a:pt x="2548796" y="20153"/>
                    <a:pt x="2548796" y="27427"/>
                  </a:cubicBezTo>
                  <a:lnTo>
                    <a:pt x="2548796" y="404132"/>
                  </a:lnTo>
                  <a:cubicBezTo>
                    <a:pt x="2548796" y="411406"/>
                    <a:pt x="2545906" y="418382"/>
                    <a:pt x="2540762" y="423526"/>
                  </a:cubicBezTo>
                  <a:cubicBezTo>
                    <a:pt x="2535619" y="428670"/>
                    <a:pt x="2528643" y="431559"/>
                    <a:pt x="2521369" y="431559"/>
                  </a:cubicBezTo>
                  <a:lnTo>
                    <a:pt x="27427" y="431559"/>
                  </a:lnTo>
                  <a:cubicBezTo>
                    <a:pt x="20153" y="431559"/>
                    <a:pt x="13177" y="428670"/>
                    <a:pt x="8033" y="423526"/>
                  </a:cubicBezTo>
                  <a:cubicBezTo>
                    <a:pt x="2890" y="418382"/>
                    <a:pt x="0" y="411406"/>
                    <a:pt x="0" y="404132"/>
                  </a:cubicBezTo>
                  <a:lnTo>
                    <a:pt x="0" y="27427"/>
                  </a:lnTo>
                  <a:cubicBezTo>
                    <a:pt x="0" y="20153"/>
                    <a:pt x="2890" y="13177"/>
                    <a:pt x="8033" y="8033"/>
                  </a:cubicBezTo>
                  <a:cubicBezTo>
                    <a:pt x="13177" y="2890"/>
                    <a:pt x="20153" y="0"/>
                    <a:pt x="27427" y="0"/>
                  </a:cubicBez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19050"/>
              <a:ext cx="2548795" cy="412509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2870400" y="1994061"/>
            <a:ext cx="8845603" cy="860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470"/>
              </a:lnSpc>
            </a:pPr>
            <a:r>
              <a:rPr lang="en-US" b="true" sz="6536" spc="-405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Ý TƯỞNG GIẢI PHÁP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952598" y="3212162"/>
            <a:ext cx="3152145" cy="2424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96"/>
              </a:lnSpc>
            </a:pPr>
            <a:r>
              <a:rPr lang="en-US" b="true" sz="1691" spc="-11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 trong Harness Engineering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3191448" y="828693"/>
            <a:ext cx="1535587" cy="2653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0"/>
              </a:lnSpc>
            </a:pPr>
            <a:r>
              <a:rPr lang="en-US" sz="2091" spc="-77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AURA AI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4347819" y="828693"/>
            <a:ext cx="1535587" cy="2653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070"/>
              </a:lnSpc>
            </a:pPr>
            <a:r>
              <a:rPr lang="en-US" b="true" sz="2091" spc="-77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Sale </a:t>
            </a:r>
            <a:r>
              <a:rPr lang="en-US" b="true" sz="2091" spc="-77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Advisor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2403333" y="8543145"/>
            <a:ext cx="8041946" cy="14141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270"/>
              </a:lnSpc>
            </a:pPr>
            <a:r>
              <a:rPr lang="en-US" sz="1484" spc="-5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Các lớp Harness bao bọc LLM:</a:t>
            </a:r>
          </a:p>
          <a:p>
            <a:pPr algn="just" marL="0" indent="0" lvl="0">
              <a:lnSpc>
                <a:spcPts val="2270"/>
              </a:lnSpc>
            </a:pPr>
            <a:r>
              <a:rPr lang="en-US" sz="1484" spc="-5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State → QueryFrame → Retrieval → Evidence → Verifier → Contract → Trace</a:t>
            </a:r>
          </a:p>
          <a:p>
            <a:pPr algn="just" marL="0" indent="0" lvl="0">
              <a:lnSpc>
                <a:spcPts val="2270"/>
              </a:lnSpc>
            </a:pPr>
            <a:r>
              <a:rPr lang="en-US" sz="1484" spc="-5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Harness là lớp kiểm soát trung tâm.</a:t>
            </a:r>
          </a:p>
          <a:p>
            <a:pPr algn="just" marL="0" indent="0" lvl="0">
              <a:lnSpc>
                <a:spcPts val="2270"/>
              </a:lnSpc>
            </a:pPr>
            <a:r>
              <a:rPr lang="en-US" sz="1484" spc="-5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Mỗi bước đều có trace và kiểm chứng.</a:t>
            </a:r>
          </a:p>
          <a:p>
            <a:pPr algn="just" marL="0" indent="0" lvl="0">
              <a:lnSpc>
                <a:spcPts val="2270"/>
              </a:lnSpc>
            </a:pPr>
            <a:r>
              <a:rPr lang="en-US" sz="1484" spc="-54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Đảm bảo bám sát dữ liệu và đòng bộ với UI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6463037" y="1217359"/>
            <a:ext cx="419749" cy="419749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043288" y="1217359"/>
            <a:ext cx="419749" cy="419749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5628905" y="1244010"/>
            <a:ext cx="419749" cy="419749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574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12672422" y="1028700"/>
            <a:ext cx="805826" cy="805826"/>
          </a:xfrm>
          <a:custGeom>
            <a:avLst/>
            <a:gdLst/>
            <a:ahLst/>
            <a:cxnLst/>
            <a:rect r="r" b="b" t="t" l="l"/>
            <a:pathLst>
              <a:path h="805826" w="805826">
                <a:moveTo>
                  <a:pt x="0" y="0"/>
                </a:moveTo>
                <a:lnTo>
                  <a:pt x="805826" y="0"/>
                </a:lnTo>
                <a:lnTo>
                  <a:pt x="805826" y="805826"/>
                </a:lnTo>
                <a:lnTo>
                  <a:pt x="0" y="80582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2403333" y="660945"/>
            <a:ext cx="645033" cy="494917"/>
          </a:xfrm>
          <a:custGeom>
            <a:avLst/>
            <a:gdLst/>
            <a:ahLst/>
            <a:cxnLst/>
            <a:rect r="r" b="b" t="t" l="l"/>
            <a:pathLst>
              <a:path h="494917" w="645033">
                <a:moveTo>
                  <a:pt x="0" y="0"/>
                </a:moveTo>
                <a:lnTo>
                  <a:pt x="645034" y="0"/>
                </a:lnTo>
                <a:lnTo>
                  <a:pt x="645034" y="494916"/>
                </a:lnTo>
                <a:lnTo>
                  <a:pt x="0" y="49491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7" id="47"/>
          <p:cNvGrpSpPr/>
          <p:nvPr/>
        </p:nvGrpSpPr>
        <p:grpSpPr>
          <a:xfrm rot="0">
            <a:off x="5010635" y="4223611"/>
            <a:ext cx="1964076" cy="1997174"/>
            <a:chOff x="0" y="0"/>
            <a:chExt cx="812800" cy="826497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26497"/>
            </a:xfrm>
            <a:custGeom>
              <a:avLst/>
              <a:gdLst/>
              <a:ahLst/>
              <a:cxnLst/>
              <a:rect r="r" b="b" t="t" l="l"/>
              <a:pathLst>
                <a:path h="826497" w="812800">
                  <a:moveTo>
                    <a:pt x="406400" y="0"/>
                  </a:moveTo>
                  <a:cubicBezTo>
                    <a:pt x="181951" y="0"/>
                    <a:pt x="0" y="185018"/>
                    <a:pt x="0" y="413249"/>
                  </a:cubicBezTo>
                  <a:cubicBezTo>
                    <a:pt x="0" y="641480"/>
                    <a:pt x="181951" y="826497"/>
                    <a:pt x="406400" y="826497"/>
                  </a:cubicBezTo>
                  <a:cubicBezTo>
                    <a:pt x="630849" y="826497"/>
                    <a:pt x="812800" y="641480"/>
                    <a:pt x="812800" y="413249"/>
                  </a:cubicBezTo>
                  <a:cubicBezTo>
                    <a:pt x="812800" y="185018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723900" cap="sq">
              <a:solidFill>
                <a:srgbClr val="BEF522"/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76200" y="39384"/>
              <a:ext cx="660400" cy="709629"/>
            </a:xfrm>
            <a:prstGeom prst="rect">
              <a:avLst/>
            </a:prstGeom>
          </p:spPr>
          <p:txBody>
            <a:bodyPr anchor="ctr" rtlCol="false" tIns="102400" lIns="102400" bIns="102400" rIns="102400"/>
            <a:lstStyle/>
            <a:p>
              <a:pPr algn="ctr" marL="0" indent="0" lvl="0">
                <a:lnSpc>
                  <a:spcPts val="27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7384924" y="4298853"/>
            <a:ext cx="1886740" cy="1918536"/>
            <a:chOff x="0" y="0"/>
            <a:chExt cx="812800" cy="82649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12800" cy="826497"/>
            </a:xfrm>
            <a:custGeom>
              <a:avLst/>
              <a:gdLst/>
              <a:ahLst/>
              <a:cxnLst/>
              <a:rect r="r" b="b" t="t" l="l"/>
              <a:pathLst>
                <a:path h="826497" w="812800">
                  <a:moveTo>
                    <a:pt x="406400" y="0"/>
                  </a:moveTo>
                  <a:cubicBezTo>
                    <a:pt x="181951" y="0"/>
                    <a:pt x="0" y="185018"/>
                    <a:pt x="0" y="413249"/>
                  </a:cubicBezTo>
                  <a:cubicBezTo>
                    <a:pt x="0" y="641480"/>
                    <a:pt x="181951" y="826497"/>
                    <a:pt x="406400" y="826497"/>
                  </a:cubicBezTo>
                  <a:cubicBezTo>
                    <a:pt x="630849" y="826497"/>
                    <a:pt x="812800" y="641480"/>
                    <a:pt x="812800" y="413249"/>
                  </a:cubicBezTo>
                  <a:cubicBezTo>
                    <a:pt x="812800" y="185018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B43C5"/>
            </a:solidFill>
            <a:ln w="723900" cap="sq">
              <a:solidFill>
                <a:srgbClr val="7C46F8"/>
              </a:solidFill>
              <a:prstDash val="solid"/>
              <a:miter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76200" y="39384"/>
              <a:ext cx="660400" cy="709629"/>
            </a:xfrm>
            <a:prstGeom prst="rect">
              <a:avLst/>
            </a:prstGeom>
          </p:spPr>
          <p:txBody>
            <a:bodyPr anchor="ctr" rtlCol="false" tIns="102400" lIns="102400" bIns="102400" rIns="102400"/>
            <a:lstStyle/>
            <a:p>
              <a:pPr algn="ctr" marL="0" indent="0" lvl="0">
                <a:lnSpc>
                  <a:spcPts val="27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4888960" y="6217389"/>
            <a:ext cx="1995062" cy="2028683"/>
            <a:chOff x="0" y="0"/>
            <a:chExt cx="812800" cy="826497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12800" cy="826497"/>
            </a:xfrm>
            <a:custGeom>
              <a:avLst/>
              <a:gdLst/>
              <a:ahLst/>
              <a:cxnLst/>
              <a:rect r="r" b="b" t="t" l="l"/>
              <a:pathLst>
                <a:path h="826497" w="812800">
                  <a:moveTo>
                    <a:pt x="406400" y="0"/>
                  </a:moveTo>
                  <a:cubicBezTo>
                    <a:pt x="181951" y="0"/>
                    <a:pt x="0" y="185018"/>
                    <a:pt x="0" y="413249"/>
                  </a:cubicBezTo>
                  <a:cubicBezTo>
                    <a:pt x="0" y="641480"/>
                    <a:pt x="181951" y="826497"/>
                    <a:pt x="406400" y="826497"/>
                  </a:cubicBezTo>
                  <a:cubicBezTo>
                    <a:pt x="630849" y="826497"/>
                    <a:pt x="812800" y="641480"/>
                    <a:pt x="812800" y="413249"/>
                  </a:cubicBezTo>
                  <a:cubicBezTo>
                    <a:pt x="812800" y="185018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05A"/>
            </a:solidFill>
            <a:ln w="723900" cap="sq">
              <a:solidFill>
                <a:srgbClr val="FF8715"/>
              </a:solidFill>
              <a:prstDash val="solid"/>
              <a:miter/>
            </a:ln>
          </p:spPr>
        </p:sp>
        <p:sp>
          <p:nvSpPr>
            <p:cNvPr name="TextBox 55" id="55"/>
            <p:cNvSpPr txBox="true"/>
            <p:nvPr/>
          </p:nvSpPr>
          <p:spPr>
            <a:xfrm>
              <a:off x="76200" y="39384"/>
              <a:ext cx="660400" cy="709629"/>
            </a:xfrm>
            <a:prstGeom prst="rect">
              <a:avLst/>
            </a:prstGeom>
          </p:spPr>
          <p:txBody>
            <a:bodyPr anchor="ctr" rtlCol="false" tIns="102400" lIns="102400" bIns="102400" rIns="102400"/>
            <a:lstStyle/>
            <a:p>
              <a:pPr algn="ctr" marL="0" indent="0" lvl="0">
                <a:lnSpc>
                  <a:spcPts val="27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7472974" y="6217389"/>
            <a:ext cx="1886740" cy="1918536"/>
            <a:chOff x="0" y="0"/>
            <a:chExt cx="812800" cy="826497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12800" cy="826497"/>
            </a:xfrm>
            <a:custGeom>
              <a:avLst/>
              <a:gdLst/>
              <a:ahLst/>
              <a:cxnLst/>
              <a:rect r="r" b="b" t="t" l="l"/>
              <a:pathLst>
                <a:path h="826497" w="812800">
                  <a:moveTo>
                    <a:pt x="406400" y="0"/>
                  </a:moveTo>
                  <a:cubicBezTo>
                    <a:pt x="181951" y="0"/>
                    <a:pt x="0" y="185018"/>
                    <a:pt x="0" y="413249"/>
                  </a:cubicBezTo>
                  <a:cubicBezTo>
                    <a:pt x="0" y="641480"/>
                    <a:pt x="181951" y="826497"/>
                    <a:pt x="406400" y="826497"/>
                  </a:cubicBezTo>
                  <a:cubicBezTo>
                    <a:pt x="630849" y="826497"/>
                    <a:pt x="812800" y="641480"/>
                    <a:pt x="812800" y="413249"/>
                  </a:cubicBezTo>
                  <a:cubicBezTo>
                    <a:pt x="812800" y="185018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723900" cap="sq">
              <a:solidFill>
                <a:srgbClr val="FB51A2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76200" y="39384"/>
              <a:ext cx="660400" cy="709629"/>
            </a:xfrm>
            <a:prstGeom prst="rect">
              <a:avLst/>
            </a:prstGeom>
          </p:spPr>
          <p:txBody>
            <a:bodyPr anchor="ctr" rtlCol="false" tIns="102400" lIns="102400" bIns="102400" rIns="102400"/>
            <a:lstStyle/>
            <a:p>
              <a:pPr algn="ctr" marL="0" indent="0" lvl="0">
                <a:lnSpc>
                  <a:spcPts val="279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6129052" y="5018738"/>
            <a:ext cx="1919057" cy="1976267"/>
            <a:chOff x="0" y="0"/>
            <a:chExt cx="812800" cy="837031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12800" cy="837031"/>
            </a:xfrm>
            <a:custGeom>
              <a:avLst/>
              <a:gdLst/>
              <a:ahLst/>
              <a:cxnLst/>
              <a:rect r="r" b="b" t="t" l="l"/>
              <a:pathLst>
                <a:path h="837031" w="812800">
                  <a:moveTo>
                    <a:pt x="406400" y="0"/>
                  </a:moveTo>
                  <a:cubicBezTo>
                    <a:pt x="181951" y="0"/>
                    <a:pt x="0" y="187376"/>
                    <a:pt x="0" y="418516"/>
                  </a:cubicBezTo>
                  <a:cubicBezTo>
                    <a:pt x="0" y="649655"/>
                    <a:pt x="181951" y="837031"/>
                    <a:pt x="406400" y="837031"/>
                  </a:cubicBezTo>
                  <a:cubicBezTo>
                    <a:pt x="630849" y="837031"/>
                    <a:pt x="812800" y="649655"/>
                    <a:pt x="812800" y="418516"/>
                  </a:cubicBezTo>
                  <a:cubicBezTo>
                    <a:pt x="812800" y="187376"/>
                    <a:pt x="630849" y="0"/>
                    <a:pt x="406400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FDE59">
                    <a:alpha val="100000"/>
                  </a:srgbClr>
                </a:gs>
                <a:gs pos="100000">
                  <a:srgbClr val="FF914D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61" id="61"/>
            <p:cNvSpPr txBox="true"/>
            <p:nvPr/>
          </p:nvSpPr>
          <p:spPr>
            <a:xfrm>
              <a:off x="76200" y="40372"/>
              <a:ext cx="660400" cy="718188"/>
            </a:xfrm>
            <a:prstGeom prst="rect">
              <a:avLst/>
            </a:prstGeom>
          </p:spPr>
          <p:txBody>
            <a:bodyPr anchor="ctr" rtlCol="false" tIns="102400" lIns="102400" bIns="102400" rIns="102400"/>
            <a:lstStyle/>
            <a:p>
              <a:pPr algn="ctr" marL="0" indent="0" lvl="0">
                <a:lnSpc>
                  <a:spcPts val="279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2" id="62"/>
          <p:cNvSpPr/>
          <p:nvPr/>
        </p:nvSpPr>
        <p:spPr>
          <a:xfrm flipH="false" flipV="false" rot="0">
            <a:off x="6693533" y="5619828"/>
            <a:ext cx="681866" cy="808499"/>
          </a:xfrm>
          <a:custGeom>
            <a:avLst/>
            <a:gdLst/>
            <a:ahLst/>
            <a:cxnLst/>
            <a:rect r="r" b="b" t="t" l="l"/>
            <a:pathLst>
              <a:path h="808499" w="681866">
                <a:moveTo>
                  <a:pt x="0" y="0"/>
                </a:moveTo>
                <a:lnTo>
                  <a:pt x="681866" y="0"/>
                </a:lnTo>
                <a:lnTo>
                  <a:pt x="681866" y="808499"/>
                </a:lnTo>
                <a:lnTo>
                  <a:pt x="0" y="8084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3" id="63"/>
          <p:cNvSpPr/>
          <p:nvPr/>
        </p:nvSpPr>
        <p:spPr>
          <a:xfrm flipH="false" flipV="false" rot="0">
            <a:off x="8126668" y="6843095"/>
            <a:ext cx="583553" cy="660828"/>
          </a:xfrm>
          <a:custGeom>
            <a:avLst/>
            <a:gdLst/>
            <a:ahLst/>
            <a:cxnLst/>
            <a:rect r="r" b="b" t="t" l="l"/>
            <a:pathLst>
              <a:path h="660828" w="583553">
                <a:moveTo>
                  <a:pt x="0" y="0"/>
                </a:moveTo>
                <a:lnTo>
                  <a:pt x="583553" y="0"/>
                </a:lnTo>
                <a:lnTo>
                  <a:pt x="583553" y="660827"/>
                </a:lnTo>
                <a:lnTo>
                  <a:pt x="0" y="660827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4" id="64"/>
          <p:cNvSpPr/>
          <p:nvPr/>
        </p:nvSpPr>
        <p:spPr>
          <a:xfrm flipH="false" flipV="false" rot="0">
            <a:off x="5637758" y="6939495"/>
            <a:ext cx="491294" cy="584470"/>
          </a:xfrm>
          <a:custGeom>
            <a:avLst/>
            <a:gdLst/>
            <a:ahLst/>
            <a:cxnLst/>
            <a:rect r="r" b="b" t="t" l="l"/>
            <a:pathLst>
              <a:path h="584470" w="491294">
                <a:moveTo>
                  <a:pt x="0" y="0"/>
                </a:moveTo>
                <a:lnTo>
                  <a:pt x="491294" y="0"/>
                </a:lnTo>
                <a:lnTo>
                  <a:pt x="491294" y="584470"/>
                </a:lnTo>
                <a:lnTo>
                  <a:pt x="0" y="584470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5" id="65"/>
          <p:cNvSpPr/>
          <p:nvPr/>
        </p:nvSpPr>
        <p:spPr>
          <a:xfrm flipH="false" flipV="false" rot="0">
            <a:off x="5762661" y="4918295"/>
            <a:ext cx="460022" cy="607807"/>
          </a:xfrm>
          <a:custGeom>
            <a:avLst/>
            <a:gdLst/>
            <a:ahLst/>
            <a:cxnLst/>
            <a:rect r="r" b="b" t="t" l="l"/>
            <a:pathLst>
              <a:path h="607807" w="460022">
                <a:moveTo>
                  <a:pt x="0" y="0"/>
                </a:moveTo>
                <a:lnTo>
                  <a:pt x="460022" y="0"/>
                </a:lnTo>
                <a:lnTo>
                  <a:pt x="460022" y="607807"/>
                </a:lnTo>
                <a:lnTo>
                  <a:pt x="0" y="60780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6" id="66"/>
          <p:cNvSpPr/>
          <p:nvPr/>
        </p:nvSpPr>
        <p:spPr>
          <a:xfrm flipH="false" flipV="false" rot="0">
            <a:off x="8059701" y="4990048"/>
            <a:ext cx="537187" cy="536146"/>
          </a:xfrm>
          <a:custGeom>
            <a:avLst/>
            <a:gdLst/>
            <a:ahLst/>
            <a:cxnLst/>
            <a:rect r="r" b="b" t="t" l="l"/>
            <a:pathLst>
              <a:path h="536146" w="537187">
                <a:moveTo>
                  <a:pt x="0" y="0"/>
                </a:moveTo>
                <a:lnTo>
                  <a:pt x="537187" y="0"/>
                </a:lnTo>
                <a:lnTo>
                  <a:pt x="537187" y="536146"/>
                </a:lnTo>
                <a:lnTo>
                  <a:pt x="0" y="536146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67" id="67"/>
          <p:cNvSpPr txBox="true"/>
          <p:nvPr/>
        </p:nvSpPr>
        <p:spPr>
          <a:xfrm rot="0">
            <a:off x="2166708" y="7203155"/>
            <a:ext cx="2560327" cy="6808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845"/>
              </a:lnSpc>
              <a:spcBef>
                <a:spcPct val="0"/>
              </a:spcBef>
            </a:pPr>
            <a:r>
              <a:rPr lang="en-US" sz="131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Kiểm chứng claim trước khi hiển thị, đảm bảo đồng bộ UI và câu trả lời.</a:t>
            </a:r>
          </a:p>
        </p:txBody>
      </p:sp>
      <p:sp>
        <p:nvSpPr>
          <p:cNvPr name="TextBox 68" id="68"/>
          <p:cNvSpPr txBox="true"/>
          <p:nvPr/>
        </p:nvSpPr>
        <p:spPr>
          <a:xfrm rot="0">
            <a:off x="1872658" y="4572205"/>
            <a:ext cx="3122783" cy="4522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845"/>
              </a:lnSpc>
              <a:spcBef>
                <a:spcPct val="0"/>
              </a:spcBef>
            </a:pPr>
            <a:r>
              <a:rPr lang="en-US" sz="131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Truy xuất sản phẩm thật từ database, bám sát thông số và giá cả thực tế.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2025958" y="4083428"/>
            <a:ext cx="2170645" cy="264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8"/>
              </a:lnSpc>
              <a:spcBef>
                <a:spcPct val="0"/>
              </a:spcBef>
            </a:pPr>
            <a:r>
              <a:rPr lang="en-US" b="true" sz="1598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Catalog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9387369" y="4279803"/>
            <a:ext cx="2170645" cy="619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05"/>
              </a:lnSpc>
              <a:spcBef>
                <a:spcPct val="0"/>
              </a:spcBef>
            </a:pPr>
            <a:r>
              <a:rPr lang="en-US" sz="121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Lưu ngữ cảnh hội thoại và ghi nhận bằng chứng cho mọi thông tin AI cung cấp.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9618314" y="3892980"/>
            <a:ext cx="2170645" cy="27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8"/>
              </a:lnSpc>
              <a:spcBef>
                <a:spcPct val="0"/>
              </a:spcBef>
            </a:pPr>
            <a:r>
              <a:rPr lang="en-US" b="true" sz="1598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State &amp; Evidence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2403333" y="6767573"/>
            <a:ext cx="2170645" cy="2641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238"/>
              </a:lnSpc>
              <a:spcBef>
                <a:spcPct val="0"/>
              </a:spcBef>
            </a:pPr>
            <a:r>
              <a:rPr lang="en-US" b="true" sz="1598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Verifier &amp; Contract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9271664" y="7945199"/>
            <a:ext cx="2170645" cy="619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705"/>
              </a:lnSpc>
              <a:spcBef>
                <a:spcPct val="0"/>
              </a:spcBef>
            </a:pPr>
            <a:r>
              <a:rPr lang="en-US" sz="1218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Ghi lại toàn bộ pipeline để debug, đánh giá và kiểm thử chất lượng hệ thống.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9521639" y="7529314"/>
            <a:ext cx="2170645" cy="27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8"/>
              </a:lnSpc>
              <a:spcBef>
                <a:spcPct val="0"/>
              </a:spcBef>
            </a:pPr>
            <a:r>
              <a:rPr lang="en-US" b="true" sz="1598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Trace &amp; Test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91925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2058115" y="5751211"/>
            <a:ext cx="5201185" cy="2924972"/>
            <a:chOff x="0" y="0"/>
            <a:chExt cx="3114770" cy="17516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14771" cy="1751643"/>
            </a:xfrm>
            <a:custGeom>
              <a:avLst/>
              <a:gdLst/>
              <a:ahLst/>
              <a:cxnLst/>
              <a:rect r="r" b="b" t="t" l="l"/>
              <a:pathLst>
                <a:path h="1751643" w="3114771">
                  <a:moveTo>
                    <a:pt x="47632" y="0"/>
                  </a:moveTo>
                  <a:lnTo>
                    <a:pt x="3067139" y="0"/>
                  </a:lnTo>
                  <a:cubicBezTo>
                    <a:pt x="3079772" y="0"/>
                    <a:pt x="3091887" y="5018"/>
                    <a:pt x="3100819" y="13951"/>
                  </a:cubicBezTo>
                  <a:cubicBezTo>
                    <a:pt x="3109752" y="22884"/>
                    <a:pt x="3114771" y="34999"/>
                    <a:pt x="3114771" y="47632"/>
                  </a:cubicBezTo>
                  <a:lnTo>
                    <a:pt x="3114771" y="1704011"/>
                  </a:lnTo>
                  <a:cubicBezTo>
                    <a:pt x="3114771" y="1716643"/>
                    <a:pt x="3109752" y="1728759"/>
                    <a:pt x="3100819" y="1737691"/>
                  </a:cubicBezTo>
                  <a:cubicBezTo>
                    <a:pt x="3091887" y="1746624"/>
                    <a:pt x="3079772" y="1751643"/>
                    <a:pt x="3067139" y="1751643"/>
                  </a:cubicBezTo>
                  <a:lnTo>
                    <a:pt x="47632" y="1751643"/>
                  </a:lnTo>
                  <a:cubicBezTo>
                    <a:pt x="34999" y="1751643"/>
                    <a:pt x="22884" y="1746624"/>
                    <a:pt x="13951" y="1737691"/>
                  </a:cubicBezTo>
                  <a:cubicBezTo>
                    <a:pt x="5018" y="1728759"/>
                    <a:pt x="0" y="1716643"/>
                    <a:pt x="0" y="1704011"/>
                  </a:cubicBezTo>
                  <a:lnTo>
                    <a:pt x="0" y="47632"/>
                  </a:lnTo>
                  <a:cubicBezTo>
                    <a:pt x="0" y="34999"/>
                    <a:pt x="5018" y="22884"/>
                    <a:pt x="13951" y="13951"/>
                  </a:cubicBezTo>
                  <a:cubicBezTo>
                    <a:pt x="22884" y="5018"/>
                    <a:pt x="34999" y="0"/>
                    <a:pt x="47632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114770" cy="17897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75322" y="6029222"/>
            <a:ext cx="1785539" cy="2096766"/>
            <a:chOff x="0" y="0"/>
            <a:chExt cx="812800" cy="9544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954475"/>
            </a:xfrm>
            <a:custGeom>
              <a:avLst/>
              <a:gdLst/>
              <a:ahLst/>
              <a:cxnLst/>
              <a:rect r="r" b="b" t="t" l="l"/>
              <a:pathLst>
                <a:path h="954475" w="812800">
                  <a:moveTo>
                    <a:pt x="73710" y="0"/>
                  </a:moveTo>
                  <a:lnTo>
                    <a:pt x="739090" y="0"/>
                  </a:lnTo>
                  <a:cubicBezTo>
                    <a:pt x="758639" y="0"/>
                    <a:pt x="777387" y="7766"/>
                    <a:pt x="791211" y="21589"/>
                  </a:cubicBezTo>
                  <a:cubicBezTo>
                    <a:pt x="805034" y="35413"/>
                    <a:pt x="812800" y="54161"/>
                    <a:pt x="812800" y="73710"/>
                  </a:cubicBezTo>
                  <a:lnTo>
                    <a:pt x="812800" y="880764"/>
                  </a:lnTo>
                  <a:cubicBezTo>
                    <a:pt x="812800" y="900314"/>
                    <a:pt x="805034" y="919062"/>
                    <a:pt x="791211" y="932885"/>
                  </a:cubicBezTo>
                  <a:cubicBezTo>
                    <a:pt x="777387" y="946709"/>
                    <a:pt x="758639" y="954475"/>
                    <a:pt x="739090" y="954475"/>
                  </a:cubicBezTo>
                  <a:lnTo>
                    <a:pt x="73710" y="954475"/>
                  </a:lnTo>
                  <a:cubicBezTo>
                    <a:pt x="54161" y="954475"/>
                    <a:pt x="35413" y="946709"/>
                    <a:pt x="21589" y="932885"/>
                  </a:cubicBezTo>
                  <a:cubicBezTo>
                    <a:pt x="7766" y="919062"/>
                    <a:pt x="0" y="900314"/>
                    <a:pt x="0" y="880764"/>
                  </a:cubicBezTo>
                  <a:lnTo>
                    <a:pt x="0" y="73710"/>
                  </a:lnTo>
                  <a:cubicBezTo>
                    <a:pt x="0" y="54161"/>
                    <a:pt x="7766" y="35413"/>
                    <a:pt x="21589" y="21589"/>
                  </a:cubicBezTo>
                  <a:cubicBezTo>
                    <a:pt x="35413" y="7766"/>
                    <a:pt x="54161" y="0"/>
                    <a:pt x="7371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647" r="0" b="-2647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4394969" y="6029222"/>
            <a:ext cx="2585224" cy="2096766"/>
            <a:chOff x="0" y="0"/>
            <a:chExt cx="1176827" cy="9544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6827" cy="954475"/>
            </a:xfrm>
            <a:custGeom>
              <a:avLst/>
              <a:gdLst/>
              <a:ahLst/>
              <a:cxnLst/>
              <a:rect r="r" b="b" t="t" l="l"/>
              <a:pathLst>
                <a:path h="954475" w="1176827">
                  <a:moveTo>
                    <a:pt x="50910" y="0"/>
                  </a:moveTo>
                  <a:lnTo>
                    <a:pt x="1125917" y="0"/>
                  </a:lnTo>
                  <a:cubicBezTo>
                    <a:pt x="1154034" y="0"/>
                    <a:pt x="1176827" y="22793"/>
                    <a:pt x="1176827" y="50910"/>
                  </a:cubicBezTo>
                  <a:lnTo>
                    <a:pt x="1176827" y="903565"/>
                  </a:lnTo>
                  <a:cubicBezTo>
                    <a:pt x="1176827" y="917067"/>
                    <a:pt x="1171463" y="930016"/>
                    <a:pt x="1161916" y="939564"/>
                  </a:cubicBezTo>
                  <a:cubicBezTo>
                    <a:pt x="1152369" y="949111"/>
                    <a:pt x="1139420" y="954475"/>
                    <a:pt x="1125917" y="954475"/>
                  </a:cubicBezTo>
                  <a:lnTo>
                    <a:pt x="50910" y="954475"/>
                  </a:lnTo>
                  <a:cubicBezTo>
                    <a:pt x="37408" y="954475"/>
                    <a:pt x="24458" y="949111"/>
                    <a:pt x="14911" y="939564"/>
                  </a:cubicBezTo>
                  <a:cubicBezTo>
                    <a:pt x="5364" y="930016"/>
                    <a:pt x="0" y="917067"/>
                    <a:pt x="0" y="903565"/>
                  </a:cubicBezTo>
                  <a:lnTo>
                    <a:pt x="0" y="50910"/>
                  </a:lnTo>
                  <a:cubicBezTo>
                    <a:pt x="0" y="37408"/>
                    <a:pt x="5364" y="24458"/>
                    <a:pt x="14911" y="14911"/>
                  </a:cubicBezTo>
                  <a:cubicBezTo>
                    <a:pt x="24458" y="5364"/>
                    <a:pt x="37408" y="0"/>
                    <a:pt x="50910" y="0"/>
                  </a:cubicBezTo>
                  <a:close/>
                </a:path>
              </a:pathLst>
            </a:custGeom>
            <a:blipFill>
              <a:blip r:embed="rId5"/>
              <a:stretch>
                <a:fillRect l="-142" t="0" r="-142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2952598" y="2203336"/>
            <a:ext cx="7623065" cy="16269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294"/>
              </a:lnSpc>
            </a:pPr>
            <a:r>
              <a:rPr lang="en-US" b="true" sz="6358" spc="-39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HARNESS ENGINEERING LÀ GÌ?</a:t>
            </a:r>
          </a:p>
        </p:txBody>
      </p:sp>
      <p:sp>
        <p:nvSpPr>
          <p:cNvPr name="Freeform 20" id="20"/>
          <p:cNvSpPr/>
          <p:nvPr/>
        </p:nvSpPr>
        <p:spPr>
          <a:xfrm flipH="true" flipV="false" rot="0">
            <a:off x="10104857" y="395335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6"/>
                </a:lnTo>
                <a:lnTo>
                  <a:pt x="941613" y="818026"/>
                </a:lnTo>
                <a:lnTo>
                  <a:pt x="9416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121219" y="2424196"/>
            <a:ext cx="5138081" cy="2967819"/>
            <a:chOff x="0" y="0"/>
            <a:chExt cx="1176827" cy="67975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76827" cy="679750"/>
            </a:xfrm>
            <a:custGeom>
              <a:avLst/>
              <a:gdLst/>
              <a:ahLst/>
              <a:cxnLst/>
              <a:rect r="r" b="b" t="t" l="l"/>
              <a:pathLst>
                <a:path h="679750" w="1176827">
                  <a:moveTo>
                    <a:pt x="25615" y="0"/>
                  </a:moveTo>
                  <a:lnTo>
                    <a:pt x="1151212" y="0"/>
                  </a:lnTo>
                  <a:cubicBezTo>
                    <a:pt x="1158005" y="0"/>
                    <a:pt x="1164521" y="2699"/>
                    <a:pt x="1169324" y="7502"/>
                  </a:cubicBezTo>
                  <a:cubicBezTo>
                    <a:pt x="1174128" y="12306"/>
                    <a:pt x="1176827" y="18822"/>
                    <a:pt x="1176827" y="25615"/>
                  </a:cubicBezTo>
                  <a:lnTo>
                    <a:pt x="1176827" y="654135"/>
                  </a:lnTo>
                  <a:cubicBezTo>
                    <a:pt x="1176827" y="660928"/>
                    <a:pt x="1174128" y="667444"/>
                    <a:pt x="1169324" y="672247"/>
                  </a:cubicBezTo>
                  <a:cubicBezTo>
                    <a:pt x="1164521" y="677051"/>
                    <a:pt x="1158005" y="679750"/>
                    <a:pt x="1151212" y="679750"/>
                  </a:cubicBezTo>
                  <a:lnTo>
                    <a:pt x="25615" y="679750"/>
                  </a:lnTo>
                  <a:cubicBezTo>
                    <a:pt x="18822" y="679750"/>
                    <a:pt x="12306" y="677051"/>
                    <a:pt x="7502" y="672247"/>
                  </a:cubicBezTo>
                  <a:cubicBezTo>
                    <a:pt x="2699" y="667444"/>
                    <a:pt x="0" y="660928"/>
                    <a:pt x="0" y="654135"/>
                  </a:cubicBezTo>
                  <a:lnTo>
                    <a:pt x="0" y="25615"/>
                  </a:lnTo>
                  <a:cubicBezTo>
                    <a:pt x="0" y="18822"/>
                    <a:pt x="2699" y="12306"/>
                    <a:pt x="7502" y="7502"/>
                  </a:cubicBezTo>
                  <a:cubicBezTo>
                    <a:pt x="12306" y="2699"/>
                    <a:pt x="18822" y="0"/>
                    <a:pt x="25615" y="0"/>
                  </a:cubicBezTo>
                  <a:close/>
                </a:path>
              </a:pathLst>
            </a:custGeom>
            <a:blipFill>
              <a:blip r:embed="rId10"/>
              <a:stretch>
                <a:fillRect l="-667" t="0" r="-667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2952598" y="5781033"/>
            <a:ext cx="3333328" cy="653335"/>
            <a:chOff x="0" y="0"/>
            <a:chExt cx="2315259" cy="45379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315259" cy="453793"/>
            </a:xfrm>
            <a:custGeom>
              <a:avLst/>
              <a:gdLst/>
              <a:ahLst/>
              <a:cxnLst/>
              <a:rect r="r" b="b" t="t" l="l"/>
              <a:pathLst>
                <a:path h="453793" w="2315259">
                  <a:moveTo>
                    <a:pt x="30194" y="0"/>
                  </a:moveTo>
                  <a:lnTo>
                    <a:pt x="2285066" y="0"/>
                  </a:lnTo>
                  <a:cubicBezTo>
                    <a:pt x="2301741" y="0"/>
                    <a:pt x="2315259" y="13518"/>
                    <a:pt x="2315259" y="30194"/>
                  </a:cubicBezTo>
                  <a:lnTo>
                    <a:pt x="2315259" y="423599"/>
                  </a:lnTo>
                  <a:cubicBezTo>
                    <a:pt x="2315259" y="431607"/>
                    <a:pt x="2312078" y="439287"/>
                    <a:pt x="2306416" y="444949"/>
                  </a:cubicBezTo>
                  <a:cubicBezTo>
                    <a:pt x="2300753" y="450612"/>
                    <a:pt x="2293074" y="453793"/>
                    <a:pt x="2285066" y="453793"/>
                  </a:cubicBezTo>
                  <a:lnTo>
                    <a:pt x="30194" y="453793"/>
                  </a:lnTo>
                  <a:cubicBezTo>
                    <a:pt x="22186" y="453793"/>
                    <a:pt x="14506" y="450612"/>
                    <a:pt x="8843" y="444949"/>
                  </a:cubicBezTo>
                  <a:cubicBezTo>
                    <a:pt x="3181" y="439287"/>
                    <a:pt x="0" y="431607"/>
                    <a:pt x="0" y="423599"/>
                  </a:cubicBezTo>
                  <a:lnTo>
                    <a:pt x="0" y="30194"/>
                  </a:lnTo>
                  <a:cubicBezTo>
                    <a:pt x="0" y="13518"/>
                    <a:pt x="13518" y="0"/>
                    <a:pt x="30194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19050"/>
              <a:ext cx="2315259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477336" y="5781033"/>
            <a:ext cx="3333328" cy="653335"/>
            <a:chOff x="0" y="0"/>
            <a:chExt cx="2315259" cy="45379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315259" cy="453793"/>
            </a:xfrm>
            <a:custGeom>
              <a:avLst/>
              <a:gdLst/>
              <a:ahLst/>
              <a:cxnLst/>
              <a:rect r="r" b="b" t="t" l="l"/>
              <a:pathLst>
                <a:path h="453793" w="2315259">
                  <a:moveTo>
                    <a:pt x="30194" y="0"/>
                  </a:moveTo>
                  <a:lnTo>
                    <a:pt x="2285066" y="0"/>
                  </a:lnTo>
                  <a:cubicBezTo>
                    <a:pt x="2301741" y="0"/>
                    <a:pt x="2315259" y="13518"/>
                    <a:pt x="2315259" y="30194"/>
                  </a:cubicBezTo>
                  <a:lnTo>
                    <a:pt x="2315259" y="423599"/>
                  </a:lnTo>
                  <a:cubicBezTo>
                    <a:pt x="2315259" y="431607"/>
                    <a:pt x="2312078" y="439287"/>
                    <a:pt x="2306416" y="444949"/>
                  </a:cubicBezTo>
                  <a:cubicBezTo>
                    <a:pt x="2300753" y="450612"/>
                    <a:pt x="2293074" y="453793"/>
                    <a:pt x="2285066" y="453793"/>
                  </a:cubicBezTo>
                  <a:lnTo>
                    <a:pt x="30194" y="453793"/>
                  </a:lnTo>
                  <a:cubicBezTo>
                    <a:pt x="22186" y="453793"/>
                    <a:pt x="14506" y="450612"/>
                    <a:pt x="8843" y="444949"/>
                  </a:cubicBezTo>
                  <a:cubicBezTo>
                    <a:pt x="3181" y="439287"/>
                    <a:pt x="0" y="431607"/>
                    <a:pt x="0" y="423599"/>
                  </a:cubicBezTo>
                  <a:lnTo>
                    <a:pt x="0" y="30194"/>
                  </a:lnTo>
                  <a:cubicBezTo>
                    <a:pt x="0" y="13518"/>
                    <a:pt x="13518" y="0"/>
                    <a:pt x="3019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19050"/>
              <a:ext cx="2315259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6627119" y="5143500"/>
            <a:ext cx="419749" cy="419749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07328" y="5143500"/>
            <a:ext cx="419749" cy="419749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5787537" y="5143500"/>
            <a:ext cx="419749" cy="419749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2128859" y="567423"/>
            <a:ext cx="3482926" cy="935543"/>
          </a:xfrm>
          <a:custGeom>
            <a:avLst/>
            <a:gdLst/>
            <a:ahLst/>
            <a:cxnLst/>
            <a:rect r="r" b="b" t="t" l="l"/>
            <a:pathLst>
              <a:path h="935543" w="3482926">
                <a:moveTo>
                  <a:pt x="0" y="0"/>
                </a:moveTo>
                <a:lnTo>
                  <a:pt x="3482926" y="0"/>
                </a:lnTo>
                <a:lnTo>
                  <a:pt x="3482926" y="935543"/>
                </a:lnTo>
                <a:lnTo>
                  <a:pt x="0" y="93554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47" id="47"/>
          <p:cNvSpPr txBox="true"/>
          <p:nvPr/>
        </p:nvSpPr>
        <p:spPr>
          <a:xfrm rot="0">
            <a:off x="2952598" y="6727847"/>
            <a:ext cx="3701687" cy="664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Hiểu ngôn ngữ tự nhiên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Sinh văn bản trả lời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Không có state riêng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Cần được điều phối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3187598" y="5942982"/>
            <a:ext cx="2863327" cy="242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41"/>
              </a:lnSpc>
            </a:pPr>
            <a:r>
              <a:rPr lang="en-US" b="true" sz="1645" spc="-1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Foundation Model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712337" y="5942982"/>
            <a:ext cx="2863327" cy="2423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941"/>
              </a:lnSpc>
            </a:pPr>
            <a:r>
              <a:rPr lang="en-US" b="true" sz="1645" spc="-11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Harness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7292857" y="6701255"/>
            <a:ext cx="3517807" cy="664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Memory / State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Tool Use &amp; Workflow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Guardrails &amp; Verifier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Trace &amp; Logging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7292857" y="7461428"/>
            <a:ext cx="3517807" cy="6645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Catalog sản phẩm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Backend API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Frontend UI</a:t>
            </a:r>
          </a:p>
          <a:p>
            <a:pPr algn="just" marL="0" indent="0" lvl="0">
              <a:lnSpc>
                <a:spcPts val="1333"/>
              </a:lnSpc>
            </a:pPr>
            <a:r>
              <a:rPr lang="en-US" sz="1346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Database thực tế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773732" y="4678470"/>
            <a:ext cx="4100858" cy="2243954"/>
            <a:chOff x="0" y="0"/>
            <a:chExt cx="2848370" cy="15586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3146794" y="2424196"/>
            <a:ext cx="4112506" cy="6251987"/>
            <a:chOff x="0" y="0"/>
            <a:chExt cx="2462806" cy="37440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62806" cy="3744052"/>
            </a:xfrm>
            <a:custGeom>
              <a:avLst/>
              <a:gdLst/>
              <a:ahLst/>
              <a:cxnLst/>
              <a:rect r="r" b="b" t="t" l="l"/>
              <a:pathLst>
                <a:path h="3744052" w="2462806">
                  <a:moveTo>
                    <a:pt x="60241" y="0"/>
                  </a:moveTo>
                  <a:lnTo>
                    <a:pt x="2402565" y="0"/>
                  </a:lnTo>
                  <a:cubicBezTo>
                    <a:pt x="2435835" y="0"/>
                    <a:pt x="2462806" y="26971"/>
                    <a:pt x="2462806" y="60241"/>
                  </a:cubicBezTo>
                  <a:lnTo>
                    <a:pt x="2462806" y="3683811"/>
                  </a:lnTo>
                  <a:cubicBezTo>
                    <a:pt x="2462806" y="3717081"/>
                    <a:pt x="2435835" y="3744052"/>
                    <a:pt x="2402565" y="3744052"/>
                  </a:cubicBezTo>
                  <a:lnTo>
                    <a:pt x="60241" y="3744052"/>
                  </a:lnTo>
                  <a:cubicBezTo>
                    <a:pt x="26971" y="3744052"/>
                    <a:pt x="0" y="3717081"/>
                    <a:pt x="0" y="3683811"/>
                  </a:cubicBezTo>
                  <a:lnTo>
                    <a:pt x="0" y="60241"/>
                  </a:lnTo>
                  <a:cubicBezTo>
                    <a:pt x="0" y="26971"/>
                    <a:pt x="26971" y="0"/>
                    <a:pt x="60241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462806" cy="3782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436891" y="2700962"/>
            <a:ext cx="3532312" cy="2336656"/>
            <a:chOff x="0" y="0"/>
            <a:chExt cx="1607953" cy="10636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07953" cy="1063675"/>
            </a:xfrm>
            <a:custGeom>
              <a:avLst/>
              <a:gdLst/>
              <a:ahLst/>
              <a:cxnLst/>
              <a:rect r="r" b="b" t="t" l="l"/>
              <a:pathLst>
                <a:path h="1063675" w="1607953">
                  <a:moveTo>
                    <a:pt x="37260" y="0"/>
                  </a:moveTo>
                  <a:lnTo>
                    <a:pt x="1570694" y="0"/>
                  </a:lnTo>
                  <a:cubicBezTo>
                    <a:pt x="1591271" y="0"/>
                    <a:pt x="1607953" y="16682"/>
                    <a:pt x="1607953" y="37260"/>
                  </a:cubicBezTo>
                  <a:lnTo>
                    <a:pt x="1607953" y="1026416"/>
                  </a:lnTo>
                  <a:cubicBezTo>
                    <a:pt x="1607953" y="1046994"/>
                    <a:pt x="1591271" y="1063675"/>
                    <a:pt x="1570694" y="1063675"/>
                  </a:cubicBezTo>
                  <a:lnTo>
                    <a:pt x="37260" y="1063675"/>
                  </a:lnTo>
                  <a:cubicBezTo>
                    <a:pt x="16682" y="1063675"/>
                    <a:pt x="0" y="1046994"/>
                    <a:pt x="0" y="1026416"/>
                  </a:cubicBezTo>
                  <a:lnTo>
                    <a:pt x="0" y="37260"/>
                  </a:lnTo>
                  <a:cubicBezTo>
                    <a:pt x="0" y="16682"/>
                    <a:pt x="16682" y="0"/>
                    <a:pt x="3726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925" r="0" b="-925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3451179" y="5190984"/>
            <a:ext cx="3503737" cy="2880406"/>
            <a:chOff x="0" y="0"/>
            <a:chExt cx="1594946" cy="131119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594945" cy="1311197"/>
            </a:xfrm>
            <a:custGeom>
              <a:avLst/>
              <a:gdLst/>
              <a:ahLst/>
              <a:cxnLst/>
              <a:rect r="r" b="b" t="t" l="l"/>
              <a:pathLst>
                <a:path h="1311197" w="1594945">
                  <a:moveTo>
                    <a:pt x="37564" y="0"/>
                  </a:moveTo>
                  <a:lnTo>
                    <a:pt x="1557382" y="0"/>
                  </a:lnTo>
                  <a:cubicBezTo>
                    <a:pt x="1578128" y="0"/>
                    <a:pt x="1594945" y="16818"/>
                    <a:pt x="1594945" y="37564"/>
                  </a:cubicBezTo>
                  <a:lnTo>
                    <a:pt x="1594945" y="1273634"/>
                  </a:lnTo>
                  <a:cubicBezTo>
                    <a:pt x="1594945" y="1283596"/>
                    <a:pt x="1590988" y="1293151"/>
                    <a:pt x="1583943" y="1300195"/>
                  </a:cubicBezTo>
                  <a:cubicBezTo>
                    <a:pt x="1576899" y="1307240"/>
                    <a:pt x="1567344" y="1311197"/>
                    <a:pt x="1557382" y="1311197"/>
                  </a:cubicBezTo>
                  <a:lnTo>
                    <a:pt x="37564" y="1311197"/>
                  </a:lnTo>
                  <a:cubicBezTo>
                    <a:pt x="27601" y="1311197"/>
                    <a:pt x="18047" y="1307240"/>
                    <a:pt x="11002" y="1300195"/>
                  </a:cubicBezTo>
                  <a:cubicBezTo>
                    <a:pt x="3958" y="1293151"/>
                    <a:pt x="0" y="1283596"/>
                    <a:pt x="0" y="1273634"/>
                  </a:cubicBezTo>
                  <a:lnTo>
                    <a:pt x="0" y="37564"/>
                  </a:lnTo>
                  <a:cubicBezTo>
                    <a:pt x="0" y="27601"/>
                    <a:pt x="3958" y="18047"/>
                    <a:pt x="11002" y="11002"/>
                  </a:cubicBezTo>
                  <a:cubicBezTo>
                    <a:pt x="18047" y="3958"/>
                    <a:pt x="27601" y="0"/>
                    <a:pt x="37564" y="0"/>
                  </a:cubicBezTo>
                  <a:close/>
                </a:path>
              </a:pathLst>
            </a:custGeom>
            <a:blipFill>
              <a:blip r:embed="rId5"/>
              <a:stretch>
                <a:fillRect l="-825" t="0" r="-825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952598" y="2212861"/>
            <a:ext cx="8845603" cy="17221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47"/>
              </a:lnSpc>
            </a:pPr>
            <a:r>
              <a:rPr lang="en-US" b="true" sz="6714" spc="-41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HARNESS ĐÓNG GÓP</a:t>
            </a:r>
          </a:p>
          <a:p>
            <a:pPr algn="l" marL="0" indent="0" lvl="0">
              <a:lnSpc>
                <a:spcPts val="6647"/>
              </a:lnSpc>
            </a:pPr>
            <a:r>
              <a:rPr lang="en-US" b="true" sz="6714" spc="-41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TRONG AURA</a:t>
            </a:r>
          </a:p>
        </p:txBody>
      </p:sp>
      <p:sp>
        <p:nvSpPr>
          <p:cNvPr name="Freeform 23" id="23"/>
          <p:cNvSpPr/>
          <p:nvPr/>
        </p:nvSpPr>
        <p:spPr>
          <a:xfrm flipH="true" flipV="false" rot="0">
            <a:off x="10997654" y="2700962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4" id="24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7" id="27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2952598" y="4797729"/>
            <a:ext cx="2933893" cy="653335"/>
            <a:chOff x="0" y="0"/>
            <a:chExt cx="2037821" cy="45379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4273982" y="2554333"/>
            <a:ext cx="419749" cy="419749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3854191" y="2554333"/>
            <a:ext cx="419749" cy="419749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434400" y="2554333"/>
            <a:ext cx="419749" cy="419749"/>
            <a:chOff x="0" y="0"/>
            <a:chExt cx="812800" cy="812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1" id="41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0">
            <a:off x="6141714" y="4525048"/>
            <a:ext cx="1025142" cy="1025142"/>
            <a:chOff x="0" y="0"/>
            <a:chExt cx="812800" cy="8128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5E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5" id="45"/>
          <p:cNvSpPr/>
          <p:nvPr/>
        </p:nvSpPr>
        <p:spPr>
          <a:xfrm flipH="false" flipV="false" rot="0">
            <a:off x="6387001" y="4724559"/>
            <a:ext cx="487589" cy="626118"/>
          </a:xfrm>
          <a:custGeom>
            <a:avLst/>
            <a:gdLst/>
            <a:ahLst/>
            <a:cxnLst/>
            <a:rect r="r" b="b" t="t" l="l"/>
            <a:pathLst>
              <a:path h="626118" w="487589">
                <a:moveTo>
                  <a:pt x="0" y="0"/>
                </a:moveTo>
                <a:lnTo>
                  <a:pt x="487589" y="0"/>
                </a:lnTo>
                <a:lnTo>
                  <a:pt x="487589" y="626118"/>
                </a:lnTo>
                <a:lnTo>
                  <a:pt x="0" y="6261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6" id="46"/>
          <p:cNvGrpSpPr/>
          <p:nvPr/>
        </p:nvGrpSpPr>
        <p:grpSpPr>
          <a:xfrm rot="0">
            <a:off x="7585955" y="4678470"/>
            <a:ext cx="4100858" cy="2243954"/>
            <a:chOff x="0" y="0"/>
            <a:chExt cx="2848370" cy="1558603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FF6F5E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7764821" y="4797729"/>
            <a:ext cx="2933893" cy="653335"/>
            <a:chOff x="0" y="0"/>
            <a:chExt cx="2037821" cy="453793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55890" y="4525048"/>
            <a:ext cx="1025142" cy="1025142"/>
            <a:chOff x="0" y="0"/>
            <a:chExt cx="812800" cy="8128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574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11175017" y="4766550"/>
            <a:ext cx="586888" cy="542138"/>
          </a:xfrm>
          <a:custGeom>
            <a:avLst/>
            <a:gdLst/>
            <a:ahLst/>
            <a:cxnLst/>
            <a:rect r="r" b="b" t="t" l="l"/>
            <a:pathLst>
              <a:path h="542138" w="586888">
                <a:moveTo>
                  <a:pt x="0" y="0"/>
                </a:moveTo>
                <a:lnTo>
                  <a:pt x="586887" y="0"/>
                </a:lnTo>
                <a:lnTo>
                  <a:pt x="586887" y="542137"/>
                </a:lnTo>
                <a:lnTo>
                  <a:pt x="0" y="5421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2771749" y="7199671"/>
            <a:ext cx="4100858" cy="2243954"/>
            <a:chOff x="0" y="0"/>
            <a:chExt cx="2848370" cy="1558603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02388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2950615" y="7318930"/>
            <a:ext cx="2933893" cy="653335"/>
            <a:chOff x="0" y="0"/>
            <a:chExt cx="2037821" cy="453793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1" id="61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139731" y="7046249"/>
            <a:ext cx="1025142" cy="1025142"/>
            <a:chOff x="0" y="0"/>
            <a:chExt cx="812800" cy="812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5E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7583973" y="7199671"/>
            <a:ext cx="4100858" cy="2243954"/>
            <a:chOff x="0" y="0"/>
            <a:chExt cx="2848370" cy="1558603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7" id="67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7762839" y="7318930"/>
            <a:ext cx="2933893" cy="653335"/>
            <a:chOff x="0" y="0"/>
            <a:chExt cx="2037821" cy="453793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0953907" y="7046249"/>
            <a:ext cx="1025142" cy="1025142"/>
            <a:chOff x="0" y="0"/>
            <a:chExt cx="812800" cy="812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2388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74" id="74"/>
          <p:cNvSpPr/>
          <p:nvPr/>
        </p:nvSpPr>
        <p:spPr>
          <a:xfrm flipH="false" flipV="false" rot="0">
            <a:off x="11128359" y="7220700"/>
            <a:ext cx="676239" cy="676239"/>
          </a:xfrm>
          <a:custGeom>
            <a:avLst/>
            <a:gdLst/>
            <a:ahLst/>
            <a:cxnLst/>
            <a:rect r="r" b="b" t="t" l="l"/>
            <a:pathLst>
              <a:path h="676239" w="676239">
                <a:moveTo>
                  <a:pt x="0" y="0"/>
                </a:moveTo>
                <a:lnTo>
                  <a:pt x="676238" y="0"/>
                </a:lnTo>
                <a:lnTo>
                  <a:pt x="676238" y="676239"/>
                </a:lnTo>
                <a:lnTo>
                  <a:pt x="0" y="67623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5" id="75"/>
          <p:cNvSpPr/>
          <p:nvPr/>
        </p:nvSpPr>
        <p:spPr>
          <a:xfrm flipH="false" flipV="false" rot="0">
            <a:off x="6360490" y="7299472"/>
            <a:ext cx="583624" cy="518695"/>
          </a:xfrm>
          <a:custGeom>
            <a:avLst/>
            <a:gdLst/>
            <a:ahLst/>
            <a:cxnLst/>
            <a:rect r="r" b="b" t="t" l="l"/>
            <a:pathLst>
              <a:path h="518695" w="583624">
                <a:moveTo>
                  <a:pt x="0" y="0"/>
                </a:moveTo>
                <a:lnTo>
                  <a:pt x="583624" y="0"/>
                </a:lnTo>
                <a:lnTo>
                  <a:pt x="583624" y="518695"/>
                </a:lnTo>
                <a:lnTo>
                  <a:pt x="0" y="51869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6" id="76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2190765" y="632965"/>
            <a:ext cx="3488885" cy="937144"/>
          </a:xfrm>
          <a:custGeom>
            <a:avLst/>
            <a:gdLst/>
            <a:ahLst/>
            <a:cxnLst/>
            <a:rect r="r" b="b" t="t" l="l"/>
            <a:pathLst>
              <a:path h="937144" w="3488885">
                <a:moveTo>
                  <a:pt x="0" y="0"/>
                </a:moveTo>
                <a:lnTo>
                  <a:pt x="3488886" y="0"/>
                </a:lnTo>
                <a:lnTo>
                  <a:pt x="3488886" y="937144"/>
                </a:lnTo>
                <a:lnTo>
                  <a:pt x="0" y="93714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TextBox 79" id="79"/>
          <p:cNvSpPr txBox="true"/>
          <p:nvPr/>
        </p:nvSpPr>
        <p:spPr>
          <a:xfrm rot="0">
            <a:off x="3003339" y="5664960"/>
            <a:ext cx="3627456" cy="987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16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Harness duy trì AgentState qua từng lượt hội thoại. Ngữ cảnh được lưu trữ và truyền nhất quán, tránh mất thông tin giữa các bước xử lý.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3159438" y="4959677"/>
            <a:ext cx="2520213" cy="290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1"/>
              </a:lnSpc>
            </a:pPr>
            <a:r>
              <a:rPr lang="en-US" b="true" sz="1933" spc="-1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Kiểm soát Ngữ cảnh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7815562" y="5664960"/>
            <a:ext cx="3627456" cy="1019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6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Catalog là nguồn sự thật duy nhất. ProductResolver truy vấn trực tiếp, không suy đoán. Giá, spec, SKU đều bám sát dữ liệu thật.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7971662" y="4959677"/>
            <a:ext cx="2520213" cy="290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1"/>
              </a:lnSpc>
            </a:pPr>
            <a:r>
              <a:rPr lang="en-US" b="true" sz="1933" spc="-1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Dữ liệu Catalog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3001357" y="8205211"/>
            <a:ext cx="3627456" cy="9170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82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Verifier kiểm tra từng claim trước khi trả lời. Chặn hallucination, sai SKU, thiếu trường. Không có claim nào qua mà chưa được xác minh.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3157456" y="7480878"/>
            <a:ext cx="2520213" cy="290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1"/>
              </a:lnSpc>
            </a:pPr>
            <a:r>
              <a:rPr lang="en-US" b="true" sz="1933" spc="-1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Verification Claim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7813580" y="8233786"/>
            <a:ext cx="3627456" cy="804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Response Contract đảm bảo text và product cards luôn nhất quán. UI chỉ render dữ liệu qua contract đã được kiểm soát và trace.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7969679" y="7480878"/>
            <a:ext cx="2520213" cy="2906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81"/>
              </a:lnSpc>
            </a:pPr>
            <a:r>
              <a:rPr lang="en-US" b="true" sz="1933" spc="-1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Output UI Đồng bộ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2952598" y="3608193"/>
            <a:ext cx="10743143" cy="6276745"/>
            <a:chOff x="0" y="0"/>
            <a:chExt cx="6433616" cy="375887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433616" cy="3758878"/>
            </a:xfrm>
            <a:custGeom>
              <a:avLst/>
              <a:gdLst/>
              <a:ahLst/>
              <a:cxnLst/>
              <a:rect r="r" b="b" t="t" l="l"/>
              <a:pathLst>
                <a:path h="3758878" w="6433616">
                  <a:moveTo>
                    <a:pt x="23060" y="0"/>
                  </a:moveTo>
                  <a:lnTo>
                    <a:pt x="6410555" y="0"/>
                  </a:lnTo>
                  <a:cubicBezTo>
                    <a:pt x="6416672" y="0"/>
                    <a:pt x="6422537" y="2430"/>
                    <a:pt x="6426862" y="6754"/>
                  </a:cubicBezTo>
                  <a:cubicBezTo>
                    <a:pt x="6431186" y="11079"/>
                    <a:pt x="6433616" y="16944"/>
                    <a:pt x="6433616" y="23060"/>
                  </a:cubicBezTo>
                  <a:lnTo>
                    <a:pt x="6433616" y="3735818"/>
                  </a:lnTo>
                  <a:cubicBezTo>
                    <a:pt x="6433616" y="3741934"/>
                    <a:pt x="6431186" y="3747800"/>
                    <a:pt x="6426862" y="3752124"/>
                  </a:cubicBezTo>
                  <a:cubicBezTo>
                    <a:pt x="6422537" y="3756449"/>
                    <a:pt x="6416672" y="3758878"/>
                    <a:pt x="6410555" y="3758878"/>
                  </a:cubicBezTo>
                  <a:lnTo>
                    <a:pt x="23060" y="3758878"/>
                  </a:lnTo>
                  <a:cubicBezTo>
                    <a:pt x="16944" y="3758878"/>
                    <a:pt x="11079" y="3756449"/>
                    <a:pt x="6754" y="3752124"/>
                  </a:cubicBezTo>
                  <a:cubicBezTo>
                    <a:pt x="2430" y="3747800"/>
                    <a:pt x="0" y="3741934"/>
                    <a:pt x="0" y="3735818"/>
                  </a:cubicBezTo>
                  <a:lnTo>
                    <a:pt x="0" y="23060"/>
                  </a:lnTo>
                  <a:cubicBezTo>
                    <a:pt x="0" y="16944"/>
                    <a:pt x="2430" y="11079"/>
                    <a:pt x="6754" y="6754"/>
                  </a:cubicBezTo>
                  <a:cubicBezTo>
                    <a:pt x="11079" y="2430"/>
                    <a:pt x="16944" y="0"/>
                    <a:pt x="23060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6433616" cy="3796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true" flipV="false" rot="0">
            <a:off x="12614405" y="269520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4" y="0"/>
                </a:moveTo>
                <a:lnTo>
                  <a:pt x="0" y="0"/>
                </a:lnTo>
                <a:lnTo>
                  <a:pt x="0" y="818027"/>
                </a:lnTo>
                <a:lnTo>
                  <a:pt x="941614" y="818027"/>
                </a:lnTo>
                <a:lnTo>
                  <a:pt x="94161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30" id="30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3275115" y="3921512"/>
            <a:ext cx="10097061" cy="5650107"/>
            <a:chOff x="0" y="0"/>
            <a:chExt cx="3272123" cy="183101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272123" cy="1831012"/>
            </a:xfrm>
            <a:custGeom>
              <a:avLst/>
              <a:gdLst/>
              <a:ahLst/>
              <a:cxnLst/>
              <a:rect r="r" b="b" t="t" l="l"/>
              <a:pathLst>
                <a:path h="1831012" w="3272123">
                  <a:moveTo>
                    <a:pt x="13035" y="0"/>
                  </a:moveTo>
                  <a:lnTo>
                    <a:pt x="3259088" y="0"/>
                  </a:lnTo>
                  <a:cubicBezTo>
                    <a:pt x="3266287" y="0"/>
                    <a:pt x="3272123" y="5836"/>
                    <a:pt x="3272123" y="13035"/>
                  </a:cubicBezTo>
                  <a:lnTo>
                    <a:pt x="3272123" y="1817978"/>
                  </a:lnTo>
                  <a:cubicBezTo>
                    <a:pt x="3272123" y="1825177"/>
                    <a:pt x="3266287" y="1831012"/>
                    <a:pt x="3259088" y="1831012"/>
                  </a:cubicBezTo>
                  <a:lnTo>
                    <a:pt x="13035" y="1831012"/>
                  </a:lnTo>
                  <a:cubicBezTo>
                    <a:pt x="5836" y="1831012"/>
                    <a:pt x="0" y="1825177"/>
                    <a:pt x="0" y="1817978"/>
                  </a:cubicBezTo>
                  <a:lnTo>
                    <a:pt x="0" y="13035"/>
                  </a:lnTo>
                  <a:cubicBezTo>
                    <a:pt x="0" y="5836"/>
                    <a:pt x="5836" y="0"/>
                    <a:pt x="13035" y="0"/>
                  </a:cubicBezTo>
                  <a:close/>
                </a:path>
              </a:pathLst>
            </a:custGeom>
            <a:blipFill>
              <a:blip r:embed="rId12"/>
              <a:stretch>
                <a:fillRect l="0" t="-260" r="0" b="-26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33" id="33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4" id="34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2532980" y="646519"/>
            <a:ext cx="3491624" cy="937880"/>
          </a:xfrm>
          <a:custGeom>
            <a:avLst/>
            <a:gdLst/>
            <a:ahLst/>
            <a:cxnLst/>
            <a:rect r="r" b="b" t="t" l="l"/>
            <a:pathLst>
              <a:path h="937880" w="3491624">
                <a:moveTo>
                  <a:pt x="0" y="0"/>
                </a:moveTo>
                <a:lnTo>
                  <a:pt x="3491624" y="0"/>
                </a:lnTo>
                <a:lnTo>
                  <a:pt x="3491624" y="937880"/>
                </a:lnTo>
                <a:lnTo>
                  <a:pt x="0" y="93788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6" id="36"/>
          <p:cNvSpPr txBox="true"/>
          <p:nvPr/>
        </p:nvSpPr>
        <p:spPr>
          <a:xfrm rot="0">
            <a:off x="2861873" y="1974286"/>
            <a:ext cx="9848830" cy="78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6"/>
              </a:lnSpc>
            </a:pPr>
            <a:r>
              <a:rPr lang="en-US" b="true" sz="6046" spc="-3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KIẾN TRÚC TỔNG THỂ AURA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sp>
        <p:nvSpPr>
          <p:cNvPr name="AutoShape 12" id="12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3807547" y="8737679"/>
            <a:ext cx="419749" cy="419749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3387757" y="8737679"/>
            <a:ext cx="419749" cy="419749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2967966" y="8737679"/>
            <a:ext cx="419749" cy="419749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815069" y="2132359"/>
            <a:ext cx="5684689" cy="653335"/>
            <a:chOff x="0" y="0"/>
            <a:chExt cx="3948465" cy="45379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3948465" cy="453793"/>
            </a:xfrm>
            <a:custGeom>
              <a:avLst/>
              <a:gdLst/>
              <a:ahLst/>
              <a:cxnLst/>
              <a:rect r="r" b="b" t="t" l="l"/>
              <a:pathLst>
                <a:path h="453793" w="3948465">
                  <a:moveTo>
                    <a:pt x="17705" y="0"/>
                  </a:moveTo>
                  <a:lnTo>
                    <a:pt x="3930760" y="0"/>
                  </a:lnTo>
                  <a:cubicBezTo>
                    <a:pt x="3935456" y="0"/>
                    <a:pt x="3939960" y="1865"/>
                    <a:pt x="3943279" y="5186"/>
                  </a:cubicBezTo>
                  <a:cubicBezTo>
                    <a:pt x="3946600" y="8506"/>
                    <a:pt x="3948465" y="13009"/>
                    <a:pt x="3948465" y="17705"/>
                  </a:cubicBezTo>
                  <a:lnTo>
                    <a:pt x="3948465" y="436088"/>
                  </a:lnTo>
                  <a:cubicBezTo>
                    <a:pt x="3948465" y="445866"/>
                    <a:pt x="3940539" y="453793"/>
                    <a:pt x="3930760" y="453793"/>
                  </a:cubicBezTo>
                  <a:lnTo>
                    <a:pt x="17705" y="453793"/>
                  </a:lnTo>
                  <a:cubicBezTo>
                    <a:pt x="13009" y="453793"/>
                    <a:pt x="8506" y="451927"/>
                    <a:pt x="5186" y="448607"/>
                  </a:cubicBezTo>
                  <a:cubicBezTo>
                    <a:pt x="1865" y="445287"/>
                    <a:pt x="0" y="440784"/>
                    <a:pt x="0" y="436088"/>
                  </a:cubicBezTo>
                  <a:lnTo>
                    <a:pt x="0" y="17705"/>
                  </a:lnTo>
                  <a:cubicBezTo>
                    <a:pt x="0" y="13009"/>
                    <a:pt x="1865" y="8506"/>
                    <a:pt x="5186" y="5186"/>
                  </a:cubicBezTo>
                  <a:cubicBezTo>
                    <a:pt x="8506" y="1865"/>
                    <a:pt x="13009" y="0"/>
                    <a:pt x="17705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19050"/>
              <a:ext cx="3948465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29" id="29"/>
          <p:cNvSpPr/>
          <p:nvPr/>
        </p:nvSpPr>
        <p:spPr>
          <a:xfrm flipH="true" flipV="false" rot="0">
            <a:off x="14517300" y="275697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1819746" y="5794689"/>
            <a:ext cx="600181" cy="1300767"/>
            <a:chOff x="0" y="0"/>
            <a:chExt cx="523662" cy="1134927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47412" y="0"/>
              <a:ext cx="447131" cy="1134927"/>
            </a:xfrm>
            <a:custGeom>
              <a:avLst/>
              <a:gdLst/>
              <a:ahLst/>
              <a:cxnLst/>
              <a:rect r="r" b="b" t="t" l="l"/>
              <a:pathLst>
                <a:path h="1134927" w="447131">
                  <a:moveTo>
                    <a:pt x="112819" y="0"/>
                  </a:moveTo>
                  <a:lnTo>
                    <a:pt x="112819" y="0"/>
                  </a:lnTo>
                  <a:cubicBezTo>
                    <a:pt x="208923" y="0"/>
                    <a:pt x="294668" y="60372"/>
                    <a:pt x="327067" y="150851"/>
                  </a:cubicBezTo>
                  <a:lnTo>
                    <a:pt x="419717" y="409589"/>
                  </a:lnTo>
                  <a:cubicBezTo>
                    <a:pt x="456269" y="511665"/>
                    <a:pt x="456269" y="623262"/>
                    <a:pt x="419717" y="725338"/>
                  </a:cubicBezTo>
                  <a:lnTo>
                    <a:pt x="327067" y="984076"/>
                  </a:lnTo>
                  <a:cubicBezTo>
                    <a:pt x="294668" y="1074555"/>
                    <a:pt x="208923" y="1134927"/>
                    <a:pt x="112819" y="1134927"/>
                  </a:cubicBezTo>
                  <a:lnTo>
                    <a:pt x="112819" y="1134927"/>
                  </a:lnTo>
                  <a:cubicBezTo>
                    <a:pt x="76114" y="1134927"/>
                    <a:pt x="41704" y="1117071"/>
                    <a:pt x="20573" y="1087060"/>
                  </a:cubicBezTo>
                  <a:cubicBezTo>
                    <a:pt x="-558" y="1057048"/>
                    <a:pt x="-5769" y="1018632"/>
                    <a:pt x="6605" y="984076"/>
                  </a:cubicBezTo>
                  <a:lnTo>
                    <a:pt x="99256" y="725338"/>
                  </a:lnTo>
                  <a:cubicBezTo>
                    <a:pt x="135807" y="623262"/>
                    <a:pt x="135807" y="511665"/>
                    <a:pt x="99256" y="409589"/>
                  </a:cubicBezTo>
                  <a:lnTo>
                    <a:pt x="6605" y="150851"/>
                  </a:lnTo>
                  <a:cubicBezTo>
                    <a:pt x="-5769" y="116295"/>
                    <a:pt x="-558" y="77880"/>
                    <a:pt x="20573" y="47868"/>
                  </a:cubicBezTo>
                  <a:cubicBezTo>
                    <a:pt x="41704" y="17856"/>
                    <a:pt x="76114" y="0"/>
                    <a:pt x="112819" y="0"/>
                  </a:cubicBezTo>
                  <a:close/>
                </a:path>
              </a:pathLst>
            </a:custGeom>
            <a:solidFill>
              <a:srgbClr val="D1CECA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77800" y="-38100"/>
              <a:ext cx="269662" cy="11730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36" id="36"/>
          <p:cNvSpPr/>
          <p:nvPr/>
        </p:nvSpPr>
        <p:spPr>
          <a:xfrm>
            <a:off x="2887606" y="6445072"/>
            <a:ext cx="9531503" cy="0"/>
          </a:xfrm>
          <a:prstGeom prst="line">
            <a:avLst/>
          </a:prstGeom>
          <a:ln cap="flat" w="47625">
            <a:solidFill>
              <a:srgbClr val="D1CECA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7" id="37"/>
          <p:cNvGrpSpPr/>
          <p:nvPr/>
        </p:nvGrpSpPr>
        <p:grpSpPr>
          <a:xfrm rot="0">
            <a:off x="2171708" y="5554514"/>
            <a:ext cx="821817" cy="1781116"/>
            <a:chOff x="0" y="0"/>
            <a:chExt cx="523662" cy="1134927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36238" y="0"/>
              <a:ext cx="466158" cy="1134927"/>
            </a:xfrm>
            <a:custGeom>
              <a:avLst/>
              <a:gdLst/>
              <a:ahLst/>
              <a:cxnLst/>
              <a:rect r="r" b="b" t="t" l="l"/>
              <a:pathLst>
                <a:path h="1134927" w="466158">
                  <a:moveTo>
                    <a:pt x="86228" y="0"/>
                  </a:moveTo>
                  <a:lnTo>
                    <a:pt x="161757" y="0"/>
                  </a:lnTo>
                  <a:cubicBezTo>
                    <a:pt x="235211" y="0"/>
                    <a:pt x="300747" y="46143"/>
                    <a:pt x="325510" y="115297"/>
                  </a:cubicBezTo>
                  <a:lnTo>
                    <a:pt x="446138" y="452166"/>
                  </a:lnTo>
                  <a:cubicBezTo>
                    <a:pt x="472832" y="526714"/>
                    <a:pt x="472832" y="608214"/>
                    <a:pt x="446138" y="682761"/>
                  </a:cubicBezTo>
                  <a:lnTo>
                    <a:pt x="325510" y="1019630"/>
                  </a:lnTo>
                  <a:cubicBezTo>
                    <a:pt x="300747" y="1088784"/>
                    <a:pt x="235211" y="1134927"/>
                    <a:pt x="161757" y="1134927"/>
                  </a:cubicBezTo>
                  <a:lnTo>
                    <a:pt x="86228" y="1134927"/>
                  </a:lnTo>
                  <a:cubicBezTo>
                    <a:pt x="58175" y="1134927"/>
                    <a:pt x="31874" y="1121280"/>
                    <a:pt x="15724" y="1098341"/>
                  </a:cubicBezTo>
                  <a:cubicBezTo>
                    <a:pt x="-427" y="1075403"/>
                    <a:pt x="-4409" y="1046041"/>
                    <a:pt x="5048" y="1019630"/>
                  </a:cubicBezTo>
                  <a:lnTo>
                    <a:pt x="125676" y="682761"/>
                  </a:lnTo>
                  <a:cubicBezTo>
                    <a:pt x="152370" y="608214"/>
                    <a:pt x="152370" y="526714"/>
                    <a:pt x="125676" y="452166"/>
                  </a:cubicBezTo>
                  <a:lnTo>
                    <a:pt x="5048" y="115297"/>
                  </a:lnTo>
                  <a:cubicBezTo>
                    <a:pt x="-4409" y="88886"/>
                    <a:pt x="-427" y="59524"/>
                    <a:pt x="15724" y="36586"/>
                  </a:cubicBezTo>
                  <a:cubicBezTo>
                    <a:pt x="31874" y="13648"/>
                    <a:pt x="58175" y="0"/>
                    <a:pt x="86228" y="0"/>
                  </a:cubicBezTo>
                  <a:close/>
                </a:path>
              </a:pathLst>
            </a:custGeom>
            <a:solidFill>
              <a:srgbClr val="D1CECA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177800" y="-38100"/>
              <a:ext cx="269662" cy="11730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-5400000">
            <a:off x="11778386" y="5743418"/>
            <a:ext cx="1781116" cy="1403308"/>
            <a:chOff x="0" y="0"/>
            <a:chExt cx="660400" cy="520317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660400" cy="520317"/>
            </a:xfrm>
            <a:custGeom>
              <a:avLst/>
              <a:gdLst/>
              <a:ahLst/>
              <a:cxnLst/>
              <a:rect r="r" b="b" t="t" l="l"/>
              <a:pathLst>
                <a:path h="520317" w="660400">
                  <a:moveTo>
                    <a:pt x="220252" y="501248"/>
                  </a:moveTo>
                  <a:cubicBezTo>
                    <a:pt x="254109" y="512762"/>
                    <a:pt x="292600" y="520317"/>
                    <a:pt x="330378" y="520317"/>
                  </a:cubicBezTo>
                  <a:cubicBezTo>
                    <a:pt x="368157" y="520317"/>
                    <a:pt x="404509" y="513840"/>
                    <a:pt x="438009" y="502326"/>
                  </a:cubicBezTo>
                  <a:cubicBezTo>
                    <a:pt x="438723" y="501967"/>
                    <a:pt x="439435" y="501967"/>
                    <a:pt x="440148" y="501607"/>
                  </a:cubicBezTo>
                  <a:cubicBezTo>
                    <a:pt x="565955" y="455552"/>
                    <a:pt x="658618" y="333938"/>
                    <a:pt x="660400" y="198312"/>
                  </a:cubicBezTo>
                  <a:lnTo>
                    <a:pt x="660400" y="99156"/>
                  </a:lnTo>
                  <a:cubicBezTo>
                    <a:pt x="660400" y="72858"/>
                    <a:pt x="649953" y="47637"/>
                    <a:pt x="631358" y="29042"/>
                  </a:cubicBezTo>
                  <a:cubicBezTo>
                    <a:pt x="612763" y="10447"/>
                    <a:pt x="587542" y="0"/>
                    <a:pt x="561244" y="0"/>
                  </a:cubicBezTo>
                  <a:lnTo>
                    <a:pt x="99082" y="0"/>
                  </a:lnTo>
                  <a:cubicBezTo>
                    <a:pt x="44361" y="0"/>
                    <a:pt x="0" y="44361"/>
                    <a:pt x="0" y="99082"/>
                  </a:cubicBezTo>
                  <a:lnTo>
                    <a:pt x="0" y="198164"/>
                  </a:lnTo>
                  <a:cubicBezTo>
                    <a:pt x="1782" y="334657"/>
                    <a:pt x="93019" y="456272"/>
                    <a:pt x="220252" y="501248"/>
                  </a:cubicBezTo>
                  <a:lnTo>
                    <a:pt x="220252" y="501248"/>
                  </a:lnTo>
                  <a:close/>
                </a:path>
              </a:pathLst>
            </a:custGeom>
            <a:solidFill>
              <a:srgbClr val="D1CECA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660400" cy="4314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2759697" y="6055806"/>
            <a:ext cx="307124" cy="307124"/>
            <a:chOff x="0" y="0"/>
            <a:chExt cx="812800" cy="81280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9F8F5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99"/>
                </a:lnSpc>
              </a:pPr>
            </a:p>
          </p:txBody>
        </p:sp>
      </p:grpSp>
      <p:sp>
        <p:nvSpPr>
          <p:cNvPr name="AutoShape 46" id="46"/>
          <p:cNvSpPr/>
          <p:nvPr/>
        </p:nvSpPr>
        <p:spPr>
          <a:xfrm>
            <a:off x="8697006" y="5172428"/>
            <a:ext cx="0" cy="2332965"/>
          </a:xfrm>
          <a:prstGeom prst="line">
            <a:avLst/>
          </a:prstGeom>
          <a:ln cap="flat" w="47625">
            <a:solidFill>
              <a:srgbClr val="D1CECA"/>
            </a:solidFill>
            <a:prstDash val="solid"/>
            <a:headEnd type="arrow" len="sm" w="med"/>
            <a:tailEnd type="arrow" len="sm" w="med"/>
          </a:ln>
        </p:spPr>
      </p:sp>
      <p:grpSp>
        <p:nvGrpSpPr>
          <p:cNvPr name="Group 47" id="47"/>
          <p:cNvGrpSpPr/>
          <p:nvPr/>
        </p:nvGrpSpPr>
        <p:grpSpPr>
          <a:xfrm rot="0">
            <a:off x="7702434" y="7847641"/>
            <a:ext cx="2189619" cy="413642"/>
            <a:chOff x="0" y="0"/>
            <a:chExt cx="676016" cy="127707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676016" cy="127707"/>
            </a:xfrm>
            <a:custGeom>
              <a:avLst/>
              <a:gdLst/>
              <a:ahLst/>
              <a:cxnLst/>
              <a:rect r="r" b="b" t="t" l="l"/>
              <a:pathLst>
                <a:path h="127707" w="676016">
                  <a:moveTo>
                    <a:pt x="63853" y="0"/>
                  </a:moveTo>
                  <a:lnTo>
                    <a:pt x="612163" y="0"/>
                  </a:lnTo>
                  <a:cubicBezTo>
                    <a:pt x="647428" y="0"/>
                    <a:pt x="676016" y="28588"/>
                    <a:pt x="676016" y="63853"/>
                  </a:cubicBezTo>
                  <a:lnTo>
                    <a:pt x="676016" y="63853"/>
                  </a:lnTo>
                  <a:cubicBezTo>
                    <a:pt x="676016" y="80788"/>
                    <a:pt x="669289" y="97030"/>
                    <a:pt x="657314" y="109004"/>
                  </a:cubicBezTo>
                  <a:cubicBezTo>
                    <a:pt x="645339" y="120979"/>
                    <a:pt x="629098" y="127707"/>
                    <a:pt x="612163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FF6F5E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47625"/>
              <a:ext cx="676016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Query Frame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8424078" y="5633032"/>
            <a:ext cx="545857" cy="545857"/>
            <a:chOff x="0" y="0"/>
            <a:chExt cx="812800" cy="812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FF5C83"/>
            </a:solidFill>
            <a:ln cap="rnd">
              <a:noFill/>
              <a:prstDash val="solid"/>
              <a:round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03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8448451" y="6590434"/>
            <a:ext cx="545857" cy="545857"/>
            <a:chOff x="0" y="0"/>
            <a:chExt cx="812800" cy="8128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FF6F5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5" id="5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04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7779419" y="4549766"/>
            <a:ext cx="2035650" cy="413642"/>
            <a:chOff x="0" y="0"/>
            <a:chExt cx="628480" cy="127707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628480" cy="127707"/>
            </a:xfrm>
            <a:custGeom>
              <a:avLst/>
              <a:gdLst/>
              <a:ahLst/>
              <a:cxnLst/>
              <a:rect r="r" b="b" t="t" l="l"/>
              <a:pathLst>
                <a:path h="127707" w="628480">
                  <a:moveTo>
                    <a:pt x="63853" y="0"/>
                  </a:moveTo>
                  <a:lnTo>
                    <a:pt x="564627" y="0"/>
                  </a:lnTo>
                  <a:cubicBezTo>
                    <a:pt x="581562" y="0"/>
                    <a:pt x="597803" y="6727"/>
                    <a:pt x="609778" y="18702"/>
                  </a:cubicBezTo>
                  <a:cubicBezTo>
                    <a:pt x="621753" y="30677"/>
                    <a:pt x="628480" y="46918"/>
                    <a:pt x="628480" y="63853"/>
                  </a:cubicBezTo>
                  <a:lnTo>
                    <a:pt x="628480" y="63853"/>
                  </a:lnTo>
                  <a:cubicBezTo>
                    <a:pt x="628480" y="99119"/>
                    <a:pt x="599892" y="127707"/>
                    <a:pt x="564627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FF5C83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628480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Agent State</a:t>
              </a:r>
            </a:p>
          </p:txBody>
        </p:sp>
      </p:grpSp>
      <p:sp>
        <p:nvSpPr>
          <p:cNvPr name="AutoShape 59" id="59"/>
          <p:cNvSpPr/>
          <p:nvPr/>
        </p:nvSpPr>
        <p:spPr>
          <a:xfrm>
            <a:off x="11043889" y="5211870"/>
            <a:ext cx="0" cy="2302118"/>
          </a:xfrm>
          <a:prstGeom prst="line">
            <a:avLst/>
          </a:prstGeom>
          <a:ln cap="flat" w="47625">
            <a:solidFill>
              <a:srgbClr val="D1CECA"/>
            </a:solidFill>
            <a:prstDash val="solid"/>
            <a:headEnd type="arrow" len="sm" w="med"/>
            <a:tailEnd type="arrow" len="sm" w="med"/>
          </a:ln>
        </p:spPr>
      </p:sp>
      <p:grpSp>
        <p:nvGrpSpPr>
          <p:cNvPr name="Group 60" id="60"/>
          <p:cNvGrpSpPr/>
          <p:nvPr/>
        </p:nvGrpSpPr>
        <p:grpSpPr>
          <a:xfrm rot="0">
            <a:off x="9986887" y="7847641"/>
            <a:ext cx="1980403" cy="413642"/>
            <a:chOff x="0" y="0"/>
            <a:chExt cx="611423" cy="127707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611423" cy="127707"/>
            </a:xfrm>
            <a:custGeom>
              <a:avLst/>
              <a:gdLst/>
              <a:ahLst/>
              <a:cxnLst/>
              <a:rect r="r" b="b" t="t" l="l"/>
              <a:pathLst>
                <a:path h="127707" w="611423">
                  <a:moveTo>
                    <a:pt x="63853" y="0"/>
                  </a:moveTo>
                  <a:lnTo>
                    <a:pt x="547570" y="0"/>
                  </a:lnTo>
                  <a:cubicBezTo>
                    <a:pt x="564505" y="0"/>
                    <a:pt x="580746" y="6727"/>
                    <a:pt x="592721" y="18702"/>
                  </a:cubicBezTo>
                  <a:cubicBezTo>
                    <a:pt x="604696" y="30677"/>
                    <a:pt x="611423" y="46918"/>
                    <a:pt x="611423" y="63853"/>
                  </a:cubicBezTo>
                  <a:lnTo>
                    <a:pt x="611423" y="63853"/>
                  </a:lnTo>
                  <a:cubicBezTo>
                    <a:pt x="611423" y="99119"/>
                    <a:pt x="582835" y="127707"/>
                    <a:pt x="547570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B86CE0"/>
            </a:solid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47625"/>
              <a:ext cx="611423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Intent Router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0770961" y="5605533"/>
            <a:ext cx="545857" cy="545857"/>
            <a:chOff x="0" y="0"/>
            <a:chExt cx="812800" cy="812800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7678ED"/>
            </a:solidFill>
            <a:ln cap="rnd">
              <a:noFill/>
              <a:prstDash val="solid"/>
              <a:round/>
            </a:ln>
          </p:spPr>
        </p:sp>
        <p:sp>
          <p:nvSpPr>
            <p:cNvPr name="TextBox 65" id="6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01</a:t>
              </a:r>
            </a:p>
          </p:txBody>
        </p:sp>
      </p:grpSp>
      <p:grpSp>
        <p:nvGrpSpPr>
          <p:cNvPr name="Group 66" id="66"/>
          <p:cNvGrpSpPr/>
          <p:nvPr/>
        </p:nvGrpSpPr>
        <p:grpSpPr>
          <a:xfrm rot="0">
            <a:off x="10770961" y="6590434"/>
            <a:ext cx="545857" cy="545857"/>
            <a:chOff x="0" y="0"/>
            <a:chExt cx="812800" cy="812800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B86CE0"/>
            </a:solidFill>
            <a:ln cap="rnd">
              <a:noFill/>
              <a:prstDash val="solid"/>
              <a:round/>
            </a:ln>
          </p:spPr>
        </p:sp>
        <p:sp>
          <p:nvSpPr>
            <p:cNvPr name="TextBox 68" id="6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02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9993500" y="4575697"/>
            <a:ext cx="2100778" cy="413642"/>
            <a:chOff x="0" y="0"/>
            <a:chExt cx="648588" cy="127707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0"/>
              <a:ext cx="648588" cy="127707"/>
            </a:xfrm>
            <a:custGeom>
              <a:avLst/>
              <a:gdLst/>
              <a:ahLst/>
              <a:cxnLst/>
              <a:rect r="r" b="b" t="t" l="l"/>
              <a:pathLst>
                <a:path h="127707" w="648588">
                  <a:moveTo>
                    <a:pt x="63853" y="0"/>
                  </a:moveTo>
                  <a:lnTo>
                    <a:pt x="584734" y="0"/>
                  </a:lnTo>
                  <a:cubicBezTo>
                    <a:pt x="601669" y="0"/>
                    <a:pt x="617911" y="6727"/>
                    <a:pt x="629885" y="18702"/>
                  </a:cubicBezTo>
                  <a:cubicBezTo>
                    <a:pt x="641860" y="30677"/>
                    <a:pt x="648588" y="46918"/>
                    <a:pt x="648588" y="63853"/>
                  </a:cubicBezTo>
                  <a:lnTo>
                    <a:pt x="648588" y="63853"/>
                  </a:lnTo>
                  <a:cubicBezTo>
                    <a:pt x="648588" y="99119"/>
                    <a:pt x="620000" y="127707"/>
                    <a:pt x="584734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7678ED"/>
            </a:solidFill>
          </p:spPr>
        </p:sp>
        <p:sp>
          <p:nvSpPr>
            <p:cNvPr name="TextBox 71" id="71"/>
            <p:cNvSpPr txBox="true"/>
            <p:nvPr/>
          </p:nvSpPr>
          <p:spPr>
            <a:xfrm>
              <a:off x="0" y="-47625"/>
              <a:ext cx="648588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User Question</a:t>
              </a:r>
            </a:p>
          </p:txBody>
        </p:sp>
      </p:grpSp>
      <p:sp>
        <p:nvSpPr>
          <p:cNvPr name="AutoShape 72" id="72"/>
          <p:cNvSpPr/>
          <p:nvPr/>
        </p:nvSpPr>
        <p:spPr>
          <a:xfrm>
            <a:off x="6433367" y="5310577"/>
            <a:ext cx="0" cy="2165589"/>
          </a:xfrm>
          <a:prstGeom prst="line">
            <a:avLst/>
          </a:prstGeom>
          <a:ln cap="flat" w="47625">
            <a:solidFill>
              <a:srgbClr val="D1CECA"/>
            </a:solidFill>
            <a:prstDash val="solid"/>
            <a:headEnd type="arrow" len="sm" w="med"/>
            <a:tailEnd type="arrow" len="sm" w="med"/>
          </a:ln>
        </p:spPr>
      </p:sp>
      <p:grpSp>
        <p:nvGrpSpPr>
          <p:cNvPr name="Group 73" id="73"/>
          <p:cNvGrpSpPr/>
          <p:nvPr/>
        </p:nvGrpSpPr>
        <p:grpSpPr>
          <a:xfrm rot="0">
            <a:off x="5438695" y="7847641"/>
            <a:ext cx="2168906" cy="413642"/>
            <a:chOff x="0" y="0"/>
            <a:chExt cx="669621" cy="127707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669621" cy="127707"/>
            </a:xfrm>
            <a:custGeom>
              <a:avLst/>
              <a:gdLst/>
              <a:ahLst/>
              <a:cxnLst/>
              <a:rect r="r" b="b" t="t" l="l"/>
              <a:pathLst>
                <a:path h="127707" w="669621">
                  <a:moveTo>
                    <a:pt x="63853" y="0"/>
                  </a:moveTo>
                  <a:lnTo>
                    <a:pt x="605768" y="0"/>
                  </a:lnTo>
                  <a:cubicBezTo>
                    <a:pt x="641033" y="0"/>
                    <a:pt x="669621" y="28588"/>
                    <a:pt x="669621" y="63853"/>
                  </a:cubicBezTo>
                  <a:lnTo>
                    <a:pt x="669621" y="63853"/>
                  </a:lnTo>
                  <a:cubicBezTo>
                    <a:pt x="669621" y="80788"/>
                    <a:pt x="662894" y="97030"/>
                    <a:pt x="650919" y="109004"/>
                  </a:cubicBezTo>
                  <a:cubicBezTo>
                    <a:pt x="638944" y="120979"/>
                    <a:pt x="622703" y="127707"/>
                    <a:pt x="605768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FFA600"/>
            </a:solid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47625"/>
              <a:ext cx="669621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C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t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al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o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g R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e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t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ri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eval</a:t>
              </a:r>
            </a:p>
          </p:txBody>
        </p:sp>
      </p:grpSp>
      <p:grpSp>
        <p:nvGrpSpPr>
          <p:cNvPr name="Group 76" id="76"/>
          <p:cNvGrpSpPr/>
          <p:nvPr/>
        </p:nvGrpSpPr>
        <p:grpSpPr>
          <a:xfrm rot="0">
            <a:off x="5438695" y="4525459"/>
            <a:ext cx="2035460" cy="413642"/>
            <a:chOff x="0" y="0"/>
            <a:chExt cx="628421" cy="127707"/>
          </a:xfrm>
        </p:grpSpPr>
        <p:sp>
          <p:nvSpPr>
            <p:cNvPr name="Freeform 77" id="77"/>
            <p:cNvSpPr/>
            <p:nvPr/>
          </p:nvSpPr>
          <p:spPr>
            <a:xfrm flipH="false" flipV="false" rot="0">
              <a:off x="0" y="0"/>
              <a:ext cx="628421" cy="127707"/>
            </a:xfrm>
            <a:custGeom>
              <a:avLst/>
              <a:gdLst/>
              <a:ahLst/>
              <a:cxnLst/>
              <a:rect r="r" b="b" t="t" l="l"/>
              <a:pathLst>
                <a:path h="127707" w="628421">
                  <a:moveTo>
                    <a:pt x="63853" y="0"/>
                  </a:moveTo>
                  <a:lnTo>
                    <a:pt x="564568" y="0"/>
                  </a:lnTo>
                  <a:cubicBezTo>
                    <a:pt x="581503" y="0"/>
                    <a:pt x="597744" y="6727"/>
                    <a:pt x="609719" y="18702"/>
                  </a:cubicBezTo>
                  <a:cubicBezTo>
                    <a:pt x="621694" y="30677"/>
                    <a:pt x="628421" y="46918"/>
                    <a:pt x="628421" y="63853"/>
                  </a:cubicBezTo>
                  <a:lnTo>
                    <a:pt x="628421" y="63853"/>
                  </a:lnTo>
                  <a:cubicBezTo>
                    <a:pt x="628421" y="99119"/>
                    <a:pt x="599833" y="127707"/>
                    <a:pt x="564568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78" id="78"/>
            <p:cNvSpPr txBox="true"/>
            <p:nvPr/>
          </p:nvSpPr>
          <p:spPr>
            <a:xfrm>
              <a:off x="0" y="-47625"/>
              <a:ext cx="628421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Product Resolver</a:t>
              </a:r>
            </a:p>
          </p:txBody>
        </p:sp>
      </p:grpSp>
      <p:grpSp>
        <p:nvGrpSpPr>
          <p:cNvPr name="Group 79" id="79"/>
          <p:cNvGrpSpPr/>
          <p:nvPr/>
        </p:nvGrpSpPr>
        <p:grpSpPr>
          <a:xfrm rot="0">
            <a:off x="6163721" y="5674958"/>
            <a:ext cx="545857" cy="545857"/>
            <a:chOff x="0" y="0"/>
            <a:chExt cx="812800" cy="812800"/>
          </a:xfrm>
        </p:grpSpPr>
        <p:sp>
          <p:nvSpPr>
            <p:cNvPr name="Freeform 80" id="8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FF8A38"/>
            </a:solidFill>
            <a:ln cap="rnd">
              <a:noFill/>
              <a:prstDash val="solid"/>
              <a:round/>
            </a:ln>
          </p:spPr>
        </p:sp>
        <p:sp>
          <p:nvSpPr>
            <p:cNvPr name="TextBox 81" id="8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05</a:t>
              </a:r>
            </a:p>
          </p:txBody>
        </p:sp>
      </p:grpSp>
      <p:grpSp>
        <p:nvGrpSpPr>
          <p:cNvPr name="Group 82" id="82"/>
          <p:cNvGrpSpPr/>
          <p:nvPr/>
        </p:nvGrpSpPr>
        <p:grpSpPr>
          <a:xfrm rot="0">
            <a:off x="6149753" y="6590434"/>
            <a:ext cx="545857" cy="545857"/>
            <a:chOff x="0" y="0"/>
            <a:chExt cx="812800" cy="81280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FFA6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84" id="8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06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2853562" y="4544987"/>
            <a:ext cx="2282659" cy="413642"/>
            <a:chOff x="0" y="0"/>
            <a:chExt cx="704741" cy="127707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704741" cy="127707"/>
            </a:xfrm>
            <a:custGeom>
              <a:avLst/>
              <a:gdLst/>
              <a:ahLst/>
              <a:cxnLst/>
              <a:rect r="r" b="b" t="t" l="l"/>
              <a:pathLst>
                <a:path h="127707" w="704741">
                  <a:moveTo>
                    <a:pt x="63853" y="0"/>
                  </a:moveTo>
                  <a:lnTo>
                    <a:pt x="640888" y="0"/>
                  </a:lnTo>
                  <a:cubicBezTo>
                    <a:pt x="676153" y="0"/>
                    <a:pt x="704741" y="28588"/>
                    <a:pt x="704741" y="63853"/>
                  </a:cubicBezTo>
                  <a:lnTo>
                    <a:pt x="704741" y="63853"/>
                  </a:lnTo>
                  <a:cubicBezTo>
                    <a:pt x="704741" y="80788"/>
                    <a:pt x="698014" y="97030"/>
                    <a:pt x="686039" y="109004"/>
                  </a:cubicBezTo>
                  <a:cubicBezTo>
                    <a:pt x="674064" y="120979"/>
                    <a:pt x="657823" y="127707"/>
                    <a:pt x="640888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704741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Evid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en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ce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 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Ledg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e</a:t>
              </a: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r </a:t>
              </a:r>
            </a:p>
          </p:txBody>
        </p:sp>
      </p:grpSp>
      <p:sp>
        <p:nvSpPr>
          <p:cNvPr name="AutoShape 88" id="88"/>
          <p:cNvSpPr/>
          <p:nvPr/>
        </p:nvSpPr>
        <p:spPr>
          <a:xfrm>
            <a:off x="3993610" y="5339804"/>
            <a:ext cx="0" cy="2165589"/>
          </a:xfrm>
          <a:prstGeom prst="line">
            <a:avLst/>
          </a:prstGeom>
          <a:ln cap="flat" w="47625">
            <a:solidFill>
              <a:srgbClr val="D1CECA"/>
            </a:solidFill>
            <a:prstDash val="solid"/>
            <a:headEnd type="arrow" len="sm" w="med"/>
            <a:tailEnd type="arrow" len="sm" w="med"/>
          </a:ln>
        </p:spPr>
      </p:sp>
      <p:grpSp>
        <p:nvGrpSpPr>
          <p:cNvPr name="Group 89" id="89"/>
          <p:cNvGrpSpPr/>
          <p:nvPr/>
        </p:nvGrpSpPr>
        <p:grpSpPr>
          <a:xfrm rot="0">
            <a:off x="3177841" y="7847641"/>
            <a:ext cx="1958380" cy="413642"/>
            <a:chOff x="0" y="0"/>
            <a:chExt cx="604624" cy="127707"/>
          </a:xfrm>
        </p:grpSpPr>
        <p:sp>
          <p:nvSpPr>
            <p:cNvPr name="Freeform 90" id="90"/>
            <p:cNvSpPr/>
            <p:nvPr/>
          </p:nvSpPr>
          <p:spPr>
            <a:xfrm flipH="false" flipV="false" rot="0">
              <a:off x="0" y="0"/>
              <a:ext cx="604624" cy="127707"/>
            </a:xfrm>
            <a:custGeom>
              <a:avLst/>
              <a:gdLst/>
              <a:ahLst/>
              <a:cxnLst/>
              <a:rect r="r" b="b" t="t" l="l"/>
              <a:pathLst>
                <a:path h="127707" w="604624">
                  <a:moveTo>
                    <a:pt x="63853" y="0"/>
                  </a:moveTo>
                  <a:lnTo>
                    <a:pt x="540771" y="0"/>
                  </a:lnTo>
                  <a:cubicBezTo>
                    <a:pt x="557706" y="0"/>
                    <a:pt x="573947" y="6727"/>
                    <a:pt x="585922" y="18702"/>
                  </a:cubicBezTo>
                  <a:cubicBezTo>
                    <a:pt x="597897" y="30677"/>
                    <a:pt x="604624" y="46918"/>
                    <a:pt x="604624" y="63853"/>
                  </a:cubicBezTo>
                  <a:lnTo>
                    <a:pt x="604624" y="63853"/>
                  </a:lnTo>
                  <a:cubicBezTo>
                    <a:pt x="604624" y="99119"/>
                    <a:pt x="576036" y="127707"/>
                    <a:pt x="540771" y="127707"/>
                  </a:cubicBezTo>
                  <a:lnTo>
                    <a:pt x="63853" y="127707"/>
                  </a:lnTo>
                  <a:cubicBezTo>
                    <a:pt x="28588" y="127707"/>
                    <a:pt x="0" y="99119"/>
                    <a:pt x="0" y="63853"/>
                  </a:cubicBezTo>
                  <a:lnTo>
                    <a:pt x="0" y="63853"/>
                  </a:lnTo>
                  <a:cubicBezTo>
                    <a:pt x="0" y="28588"/>
                    <a:pt x="28588" y="0"/>
                    <a:pt x="63853" y="0"/>
                  </a:cubicBezTo>
                  <a:close/>
                </a:path>
              </a:pathLst>
            </a:custGeom>
            <a:solidFill>
              <a:srgbClr val="FFA600"/>
            </a:solidFill>
          </p:spPr>
        </p:sp>
        <p:sp>
          <p:nvSpPr>
            <p:cNvPr name="TextBox 91" id="91"/>
            <p:cNvSpPr txBox="true"/>
            <p:nvPr/>
          </p:nvSpPr>
          <p:spPr>
            <a:xfrm>
              <a:off x="0" y="-47625"/>
              <a:ext cx="604624" cy="17533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Verifier</a:t>
              </a:r>
            </a:p>
          </p:txBody>
        </p:sp>
      </p:grpSp>
      <p:grpSp>
        <p:nvGrpSpPr>
          <p:cNvPr name="Group 92" id="92"/>
          <p:cNvGrpSpPr/>
          <p:nvPr/>
        </p:nvGrpSpPr>
        <p:grpSpPr>
          <a:xfrm rot="0">
            <a:off x="3720681" y="5674958"/>
            <a:ext cx="545857" cy="545857"/>
            <a:chOff x="0" y="0"/>
            <a:chExt cx="812800" cy="81280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FF8A38"/>
            </a:solidFill>
            <a:ln cap="rnd">
              <a:noFill/>
              <a:prstDash val="solid"/>
              <a:round/>
            </a:ln>
          </p:spPr>
        </p:sp>
        <p:sp>
          <p:nvSpPr>
            <p:cNvPr name="TextBox 94" id="9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07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3720681" y="6575226"/>
            <a:ext cx="545857" cy="545857"/>
            <a:chOff x="0" y="0"/>
            <a:chExt cx="812800" cy="81280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lnTo>
                    <a:pt x="406400" y="0"/>
                  </a:lnTo>
                  <a:close/>
                </a:path>
              </a:pathLst>
            </a:custGeom>
            <a:solidFill>
              <a:srgbClr val="FFA600"/>
            </a:solidFill>
            <a:ln cap="rnd">
              <a:noFill/>
              <a:prstDash val="solid"/>
              <a:round/>
            </a:ln>
          </p:spPr>
        </p:sp>
        <p:sp>
          <p:nvSpPr>
            <p:cNvPr name="TextBox 97" id="9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 strike="noStrike" u="none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08</a:t>
              </a:r>
            </a:p>
          </p:txBody>
        </p:sp>
      </p:grpSp>
      <p:sp>
        <p:nvSpPr>
          <p:cNvPr name="Freeform 98" id="98"/>
          <p:cNvSpPr/>
          <p:nvPr/>
        </p:nvSpPr>
        <p:spPr>
          <a:xfrm flipH="false" flipV="false" rot="0">
            <a:off x="2171708" y="664698"/>
            <a:ext cx="3494167" cy="938563"/>
          </a:xfrm>
          <a:custGeom>
            <a:avLst/>
            <a:gdLst/>
            <a:ahLst/>
            <a:cxnLst/>
            <a:rect r="r" b="b" t="t" l="l"/>
            <a:pathLst>
              <a:path h="938563" w="3494167">
                <a:moveTo>
                  <a:pt x="0" y="0"/>
                </a:moveTo>
                <a:lnTo>
                  <a:pt x="3494167" y="0"/>
                </a:lnTo>
                <a:lnTo>
                  <a:pt x="3494167" y="938563"/>
                </a:lnTo>
                <a:lnTo>
                  <a:pt x="0" y="93856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99" id="99"/>
          <p:cNvSpPr txBox="true"/>
          <p:nvPr/>
        </p:nvSpPr>
        <p:spPr>
          <a:xfrm rot="0">
            <a:off x="2952598" y="2174761"/>
            <a:ext cx="6913914" cy="1317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048"/>
              </a:lnSpc>
            </a:pPr>
            <a:r>
              <a:rPr lang="en-US" b="true" sz="5099" spc="-31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PIPELINE</a:t>
            </a:r>
          </a:p>
          <a:p>
            <a:pPr algn="l" marL="0" indent="0" lvl="0">
              <a:lnSpc>
                <a:spcPts val="5048"/>
              </a:lnSpc>
            </a:pPr>
            <a:r>
              <a:rPr lang="en-US" b="true" sz="5099" spc="-31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AI ADVISOR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9302658" y="3711566"/>
            <a:ext cx="6631582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739"/>
              </a:lnSpc>
            </a:pPr>
            <a:r>
              <a:rPr lang="en-US" sz="1449" spc="-53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Pipeline giúp debug, test và cải tiến từng bước. Mỗi giai đoạn độc lập, có trace và có thể kiểm thử riêng biệt.</a:t>
            </a:r>
          </a:p>
        </p:txBody>
      </p:sp>
      <p:sp>
        <p:nvSpPr>
          <p:cNvPr name="TextBox 101" id="101"/>
          <p:cNvSpPr txBox="true"/>
          <p:nvPr/>
        </p:nvSpPr>
        <p:spPr>
          <a:xfrm rot="0">
            <a:off x="10188415" y="2296425"/>
            <a:ext cx="5449688" cy="193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57"/>
              </a:lnSpc>
            </a:pPr>
            <a:r>
              <a:rPr lang="en-US" b="true" sz="1319" spc="-9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Luồng xử lý từng bước có kiểm soát: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9804768" y="1784440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6"/>
                </a:lnTo>
                <a:lnTo>
                  <a:pt x="941613" y="818026"/>
                </a:lnTo>
                <a:lnTo>
                  <a:pt x="94161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3485552" y="3295598"/>
            <a:ext cx="11385694" cy="5240116"/>
          </a:xfrm>
          <a:custGeom>
            <a:avLst/>
            <a:gdLst/>
            <a:ahLst/>
            <a:cxnLst/>
            <a:rect r="r" b="b" t="t" l="l"/>
            <a:pathLst>
              <a:path h="5240116" w="11385694">
                <a:moveTo>
                  <a:pt x="0" y="0"/>
                </a:moveTo>
                <a:lnTo>
                  <a:pt x="11385695" y="0"/>
                </a:lnTo>
                <a:lnTo>
                  <a:pt x="11385695" y="5240117"/>
                </a:lnTo>
                <a:lnTo>
                  <a:pt x="0" y="524011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924143" y="444417"/>
            <a:ext cx="3467251" cy="931333"/>
          </a:xfrm>
          <a:custGeom>
            <a:avLst/>
            <a:gdLst/>
            <a:ahLst/>
            <a:cxnLst/>
            <a:rect r="r" b="b" t="t" l="l"/>
            <a:pathLst>
              <a:path h="931333" w="3467251">
                <a:moveTo>
                  <a:pt x="0" y="0"/>
                </a:moveTo>
                <a:lnTo>
                  <a:pt x="3467251" y="0"/>
                </a:lnTo>
                <a:lnTo>
                  <a:pt x="3467251" y="931332"/>
                </a:lnTo>
                <a:lnTo>
                  <a:pt x="0" y="93133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2157436" y="1403531"/>
            <a:ext cx="9848830" cy="78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6"/>
              </a:lnSpc>
            </a:pPr>
            <a:r>
              <a:rPr lang="en-US" b="true" sz="6046" spc="-3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GIAO DIỆN CỦA AURA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0007769" y="1427234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6"/>
                </a:lnTo>
                <a:lnTo>
                  <a:pt x="941613" y="818026"/>
                </a:lnTo>
                <a:lnTo>
                  <a:pt x="94161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4866229" y="2654511"/>
            <a:ext cx="9025239" cy="6539296"/>
          </a:xfrm>
          <a:custGeom>
            <a:avLst/>
            <a:gdLst/>
            <a:ahLst/>
            <a:cxnLst/>
            <a:rect r="r" b="b" t="t" l="l"/>
            <a:pathLst>
              <a:path h="6539296" w="9025239">
                <a:moveTo>
                  <a:pt x="0" y="0"/>
                </a:moveTo>
                <a:lnTo>
                  <a:pt x="9025240" y="0"/>
                </a:lnTo>
                <a:lnTo>
                  <a:pt x="9025240" y="6539296"/>
                </a:lnTo>
                <a:lnTo>
                  <a:pt x="0" y="653929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-4203" r="0" b="-4203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924143" y="492948"/>
            <a:ext cx="3478244" cy="934286"/>
          </a:xfrm>
          <a:custGeom>
            <a:avLst/>
            <a:gdLst/>
            <a:ahLst/>
            <a:cxnLst/>
            <a:rect r="r" b="b" t="t" l="l"/>
            <a:pathLst>
              <a:path h="934286" w="3478244">
                <a:moveTo>
                  <a:pt x="0" y="0"/>
                </a:moveTo>
                <a:lnTo>
                  <a:pt x="3478244" y="0"/>
                </a:lnTo>
                <a:lnTo>
                  <a:pt x="3478244" y="934286"/>
                </a:lnTo>
                <a:lnTo>
                  <a:pt x="0" y="93428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2085721" y="1189200"/>
            <a:ext cx="9848830" cy="78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6"/>
              </a:lnSpc>
            </a:pPr>
            <a:r>
              <a:rPr lang="en-US" b="true" sz="6046" spc="-3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GIAO DIỆN CỦA AURA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0007769" y="1427234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6"/>
                </a:lnTo>
                <a:lnTo>
                  <a:pt x="941613" y="818026"/>
                </a:lnTo>
                <a:lnTo>
                  <a:pt x="94161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1924143" y="492948"/>
            <a:ext cx="3478244" cy="934286"/>
          </a:xfrm>
          <a:custGeom>
            <a:avLst/>
            <a:gdLst/>
            <a:ahLst/>
            <a:cxnLst/>
            <a:rect r="r" b="b" t="t" l="l"/>
            <a:pathLst>
              <a:path h="934286" w="3478244">
                <a:moveTo>
                  <a:pt x="0" y="0"/>
                </a:moveTo>
                <a:lnTo>
                  <a:pt x="3478244" y="0"/>
                </a:lnTo>
                <a:lnTo>
                  <a:pt x="3478244" y="934286"/>
                </a:lnTo>
                <a:lnTo>
                  <a:pt x="0" y="93428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4952378" y="2614225"/>
            <a:ext cx="8628194" cy="6536073"/>
          </a:xfrm>
          <a:custGeom>
            <a:avLst/>
            <a:gdLst/>
            <a:ahLst/>
            <a:cxnLst/>
            <a:rect r="r" b="b" t="t" l="l"/>
            <a:pathLst>
              <a:path h="6536073" w="8628194">
                <a:moveTo>
                  <a:pt x="0" y="0"/>
                </a:moveTo>
                <a:lnTo>
                  <a:pt x="8628193" y="0"/>
                </a:lnTo>
                <a:lnTo>
                  <a:pt x="8628193" y="6536073"/>
                </a:lnTo>
                <a:lnTo>
                  <a:pt x="0" y="653607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2085721" y="1189200"/>
            <a:ext cx="9848830" cy="78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6"/>
              </a:lnSpc>
            </a:pPr>
            <a:r>
              <a:rPr lang="en-US" b="true" sz="6046" spc="-3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GIAO DIỆN CỦA AURA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0722138" y="2076319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4" y="0"/>
                </a:moveTo>
                <a:lnTo>
                  <a:pt x="0" y="0"/>
                </a:lnTo>
                <a:lnTo>
                  <a:pt x="0" y="818027"/>
                </a:lnTo>
                <a:lnTo>
                  <a:pt x="941614" y="818027"/>
                </a:lnTo>
                <a:lnTo>
                  <a:pt x="94161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3" id="13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6713219" y="3080429"/>
            <a:ext cx="2969295" cy="6542514"/>
          </a:xfrm>
          <a:custGeom>
            <a:avLst/>
            <a:gdLst/>
            <a:ahLst/>
            <a:cxnLst/>
            <a:rect r="r" b="b" t="t" l="l"/>
            <a:pathLst>
              <a:path h="6542514" w="2969295">
                <a:moveTo>
                  <a:pt x="0" y="0"/>
                </a:moveTo>
                <a:lnTo>
                  <a:pt x="2969295" y="0"/>
                </a:lnTo>
                <a:lnTo>
                  <a:pt x="2969295" y="6542514"/>
                </a:lnTo>
                <a:lnTo>
                  <a:pt x="0" y="654251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0515211" y="3080429"/>
            <a:ext cx="2986222" cy="6540906"/>
          </a:xfrm>
          <a:custGeom>
            <a:avLst/>
            <a:gdLst/>
            <a:ahLst/>
            <a:cxnLst/>
            <a:rect r="r" b="b" t="t" l="l"/>
            <a:pathLst>
              <a:path h="6540906" w="2986222">
                <a:moveTo>
                  <a:pt x="0" y="0"/>
                </a:moveTo>
                <a:lnTo>
                  <a:pt x="2986222" y="0"/>
                </a:lnTo>
                <a:lnTo>
                  <a:pt x="2986222" y="6540906"/>
                </a:lnTo>
                <a:lnTo>
                  <a:pt x="0" y="654090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32" id="32"/>
          <p:cNvSpPr/>
          <p:nvPr/>
        </p:nvSpPr>
        <p:spPr>
          <a:xfrm flipH="false" flipV="false" rot="0">
            <a:off x="3025638" y="3106637"/>
            <a:ext cx="2979468" cy="6536073"/>
          </a:xfrm>
          <a:custGeom>
            <a:avLst/>
            <a:gdLst/>
            <a:ahLst/>
            <a:cxnLst/>
            <a:rect r="r" b="b" t="t" l="l"/>
            <a:pathLst>
              <a:path h="6536073" w="2979468">
                <a:moveTo>
                  <a:pt x="0" y="0"/>
                </a:moveTo>
                <a:lnTo>
                  <a:pt x="2979469" y="0"/>
                </a:lnTo>
                <a:lnTo>
                  <a:pt x="2979469" y="6536073"/>
                </a:lnTo>
                <a:lnTo>
                  <a:pt x="0" y="653607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33" id="33"/>
          <p:cNvSpPr/>
          <p:nvPr/>
        </p:nvSpPr>
        <p:spPr>
          <a:xfrm flipH="false" flipV="false" rot="0">
            <a:off x="2009784" y="629287"/>
            <a:ext cx="3502578" cy="940822"/>
          </a:xfrm>
          <a:custGeom>
            <a:avLst/>
            <a:gdLst/>
            <a:ahLst/>
            <a:cxnLst/>
            <a:rect r="r" b="b" t="t" l="l"/>
            <a:pathLst>
              <a:path h="940822" w="3502578">
                <a:moveTo>
                  <a:pt x="0" y="0"/>
                </a:moveTo>
                <a:lnTo>
                  <a:pt x="3502578" y="0"/>
                </a:lnTo>
                <a:lnTo>
                  <a:pt x="3502578" y="940822"/>
                </a:lnTo>
                <a:lnTo>
                  <a:pt x="0" y="94082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34" id="34"/>
          <p:cNvSpPr txBox="true"/>
          <p:nvPr/>
        </p:nvSpPr>
        <p:spPr>
          <a:xfrm rot="0">
            <a:off x="2952598" y="2031700"/>
            <a:ext cx="9848830" cy="7899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86"/>
              </a:lnSpc>
            </a:pPr>
            <a:r>
              <a:rPr lang="en-US" b="true" sz="6046" spc="-37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GIAO DIỆN CỦA AURA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91925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2058115" y="5751211"/>
            <a:ext cx="5201185" cy="2924972"/>
            <a:chOff x="0" y="0"/>
            <a:chExt cx="3114770" cy="1751643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14771" cy="1751643"/>
            </a:xfrm>
            <a:custGeom>
              <a:avLst/>
              <a:gdLst/>
              <a:ahLst/>
              <a:cxnLst/>
              <a:rect r="r" b="b" t="t" l="l"/>
              <a:pathLst>
                <a:path h="1751643" w="3114771">
                  <a:moveTo>
                    <a:pt x="47632" y="0"/>
                  </a:moveTo>
                  <a:lnTo>
                    <a:pt x="3067139" y="0"/>
                  </a:lnTo>
                  <a:cubicBezTo>
                    <a:pt x="3079772" y="0"/>
                    <a:pt x="3091887" y="5018"/>
                    <a:pt x="3100819" y="13951"/>
                  </a:cubicBezTo>
                  <a:cubicBezTo>
                    <a:pt x="3109752" y="22884"/>
                    <a:pt x="3114771" y="34999"/>
                    <a:pt x="3114771" y="47632"/>
                  </a:cubicBezTo>
                  <a:lnTo>
                    <a:pt x="3114771" y="1704011"/>
                  </a:lnTo>
                  <a:cubicBezTo>
                    <a:pt x="3114771" y="1716643"/>
                    <a:pt x="3109752" y="1728759"/>
                    <a:pt x="3100819" y="1737691"/>
                  </a:cubicBezTo>
                  <a:cubicBezTo>
                    <a:pt x="3091887" y="1746624"/>
                    <a:pt x="3079772" y="1751643"/>
                    <a:pt x="3067139" y="1751643"/>
                  </a:cubicBezTo>
                  <a:lnTo>
                    <a:pt x="47632" y="1751643"/>
                  </a:lnTo>
                  <a:cubicBezTo>
                    <a:pt x="34999" y="1751643"/>
                    <a:pt x="22884" y="1746624"/>
                    <a:pt x="13951" y="1737691"/>
                  </a:cubicBezTo>
                  <a:cubicBezTo>
                    <a:pt x="5018" y="1728759"/>
                    <a:pt x="0" y="1716643"/>
                    <a:pt x="0" y="1704011"/>
                  </a:cubicBezTo>
                  <a:lnTo>
                    <a:pt x="0" y="47632"/>
                  </a:lnTo>
                  <a:cubicBezTo>
                    <a:pt x="0" y="34999"/>
                    <a:pt x="5018" y="22884"/>
                    <a:pt x="13951" y="13951"/>
                  </a:cubicBezTo>
                  <a:cubicBezTo>
                    <a:pt x="22884" y="5018"/>
                    <a:pt x="34999" y="0"/>
                    <a:pt x="47632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114770" cy="178974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2375322" y="6029222"/>
            <a:ext cx="1785539" cy="2096766"/>
            <a:chOff x="0" y="0"/>
            <a:chExt cx="812800" cy="95447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954475"/>
            </a:xfrm>
            <a:custGeom>
              <a:avLst/>
              <a:gdLst/>
              <a:ahLst/>
              <a:cxnLst/>
              <a:rect r="r" b="b" t="t" l="l"/>
              <a:pathLst>
                <a:path h="954475" w="812800">
                  <a:moveTo>
                    <a:pt x="73710" y="0"/>
                  </a:moveTo>
                  <a:lnTo>
                    <a:pt x="739090" y="0"/>
                  </a:lnTo>
                  <a:cubicBezTo>
                    <a:pt x="758639" y="0"/>
                    <a:pt x="777387" y="7766"/>
                    <a:pt x="791211" y="21589"/>
                  </a:cubicBezTo>
                  <a:cubicBezTo>
                    <a:pt x="805034" y="35413"/>
                    <a:pt x="812800" y="54161"/>
                    <a:pt x="812800" y="73710"/>
                  </a:cubicBezTo>
                  <a:lnTo>
                    <a:pt x="812800" y="880764"/>
                  </a:lnTo>
                  <a:cubicBezTo>
                    <a:pt x="812800" y="900314"/>
                    <a:pt x="805034" y="919062"/>
                    <a:pt x="791211" y="932885"/>
                  </a:cubicBezTo>
                  <a:cubicBezTo>
                    <a:pt x="777387" y="946709"/>
                    <a:pt x="758639" y="954475"/>
                    <a:pt x="739090" y="954475"/>
                  </a:cubicBezTo>
                  <a:lnTo>
                    <a:pt x="73710" y="954475"/>
                  </a:lnTo>
                  <a:cubicBezTo>
                    <a:pt x="54161" y="954475"/>
                    <a:pt x="35413" y="946709"/>
                    <a:pt x="21589" y="932885"/>
                  </a:cubicBezTo>
                  <a:cubicBezTo>
                    <a:pt x="7766" y="919062"/>
                    <a:pt x="0" y="900314"/>
                    <a:pt x="0" y="880764"/>
                  </a:cubicBezTo>
                  <a:lnTo>
                    <a:pt x="0" y="73710"/>
                  </a:lnTo>
                  <a:cubicBezTo>
                    <a:pt x="0" y="54161"/>
                    <a:pt x="7766" y="35413"/>
                    <a:pt x="21589" y="21589"/>
                  </a:cubicBezTo>
                  <a:cubicBezTo>
                    <a:pt x="35413" y="7766"/>
                    <a:pt x="54161" y="0"/>
                    <a:pt x="7371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2647" r="0" b="-2647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14394969" y="6029222"/>
            <a:ext cx="2585224" cy="2096766"/>
            <a:chOff x="0" y="0"/>
            <a:chExt cx="1176827" cy="954475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176827" cy="954475"/>
            </a:xfrm>
            <a:custGeom>
              <a:avLst/>
              <a:gdLst/>
              <a:ahLst/>
              <a:cxnLst/>
              <a:rect r="r" b="b" t="t" l="l"/>
              <a:pathLst>
                <a:path h="954475" w="1176827">
                  <a:moveTo>
                    <a:pt x="50910" y="0"/>
                  </a:moveTo>
                  <a:lnTo>
                    <a:pt x="1125917" y="0"/>
                  </a:lnTo>
                  <a:cubicBezTo>
                    <a:pt x="1154034" y="0"/>
                    <a:pt x="1176827" y="22793"/>
                    <a:pt x="1176827" y="50910"/>
                  </a:cubicBezTo>
                  <a:lnTo>
                    <a:pt x="1176827" y="903565"/>
                  </a:lnTo>
                  <a:cubicBezTo>
                    <a:pt x="1176827" y="917067"/>
                    <a:pt x="1171463" y="930016"/>
                    <a:pt x="1161916" y="939564"/>
                  </a:cubicBezTo>
                  <a:cubicBezTo>
                    <a:pt x="1152369" y="949111"/>
                    <a:pt x="1139420" y="954475"/>
                    <a:pt x="1125917" y="954475"/>
                  </a:cubicBezTo>
                  <a:lnTo>
                    <a:pt x="50910" y="954475"/>
                  </a:lnTo>
                  <a:cubicBezTo>
                    <a:pt x="37408" y="954475"/>
                    <a:pt x="24458" y="949111"/>
                    <a:pt x="14911" y="939564"/>
                  </a:cubicBezTo>
                  <a:cubicBezTo>
                    <a:pt x="5364" y="930016"/>
                    <a:pt x="0" y="917067"/>
                    <a:pt x="0" y="903565"/>
                  </a:cubicBezTo>
                  <a:lnTo>
                    <a:pt x="0" y="50910"/>
                  </a:lnTo>
                  <a:cubicBezTo>
                    <a:pt x="0" y="37408"/>
                    <a:pt x="5364" y="24458"/>
                    <a:pt x="14911" y="14911"/>
                  </a:cubicBezTo>
                  <a:cubicBezTo>
                    <a:pt x="24458" y="5364"/>
                    <a:pt x="37408" y="0"/>
                    <a:pt x="50910" y="0"/>
                  </a:cubicBezTo>
                  <a:close/>
                </a:path>
              </a:pathLst>
            </a:custGeom>
            <a:blipFill>
              <a:blip r:embed="rId5"/>
              <a:stretch>
                <a:fillRect l="-142" t="0" r="-142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TextBox 19" id="19"/>
          <p:cNvSpPr txBox="true"/>
          <p:nvPr/>
        </p:nvSpPr>
        <p:spPr>
          <a:xfrm rot="0">
            <a:off x="2952598" y="2212861"/>
            <a:ext cx="7623065" cy="17433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726"/>
              </a:lnSpc>
            </a:pPr>
            <a:r>
              <a:rPr lang="en-US" b="true" sz="6794" spc="-421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QUERYFRAME</a:t>
            </a:r>
          </a:p>
          <a:p>
            <a:pPr algn="l" marL="0" indent="0" lvl="0">
              <a:lnSpc>
                <a:spcPts val="6726"/>
              </a:lnSpc>
            </a:pPr>
            <a:r>
              <a:rPr lang="en-US" b="true" sz="6794" spc="-421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BỘ LỌC AI HÓA</a:t>
            </a:r>
          </a:p>
        </p:txBody>
      </p:sp>
      <p:sp>
        <p:nvSpPr>
          <p:cNvPr name="Freeform 20" id="20"/>
          <p:cNvSpPr/>
          <p:nvPr/>
        </p:nvSpPr>
        <p:spPr>
          <a:xfrm flipH="true" flipV="false" rot="0">
            <a:off x="10104857" y="3688715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1" id="21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2" id="22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3" id="23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2121219" y="2424196"/>
            <a:ext cx="5138081" cy="2967819"/>
            <a:chOff x="0" y="0"/>
            <a:chExt cx="1176827" cy="67975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76827" cy="679750"/>
            </a:xfrm>
            <a:custGeom>
              <a:avLst/>
              <a:gdLst/>
              <a:ahLst/>
              <a:cxnLst/>
              <a:rect r="r" b="b" t="t" l="l"/>
              <a:pathLst>
                <a:path h="679750" w="1176827">
                  <a:moveTo>
                    <a:pt x="25615" y="0"/>
                  </a:moveTo>
                  <a:lnTo>
                    <a:pt x="1151212" y="0"/>
                  </a:lnTo>
                  <a:cubicBezTo>
                    <a:pt x="1158005" y="0"/>
                    <a:pt x="1164521" y="2699"/>
                    <a:pt x="1169324" y="7502"/>
                  </a:cubicBezTo>
                  <a:cubicBezTo>
                    <a:pt x="1174128" y="12306"/>
                    <a:pt x="1176827" y="18822"/>
                    <a:pt x="1176827" y="25615"/>
                  </a:cubicBezTo>
                  <a:lnTo>
                    <a:pt x="1176827" y="654135"/>
                  </a:lnTo>
                  <a:cubicBezTo>
                    <a:pt x="1176827" y="660928"/>
                    <a:pt x="1174128" y="667444"/>
                    <a:pt x="1169324" y="672247"/>
                  </a:cubicBezTo>
                  <a:cubicBezTo>
                    <a:pt x="1164521" y="677051"/>
                    <a:pt x="1158005" y="679750"/>
                    <a:pt x="1151212" y="679750"/>
                  </a:cubicBezTo>
                  <a:lnTo>
                    <a:pt x="25615" y="679750"/>
                  </a:lnTo>
                  <a:cubicBezTo>
                    <a:pt x="18822" y="679750"/>
                    <a:pt x="12306" y="677051"/>
                    <a:pt x="7502" y="672247"/>
                  </a:cubicBezTo>
                  <a:cubicBezTo>
                    <a:pt x="2699" y="667444"/>
                    <a:pt x="0" y="660928"/>
                    <a:pt x="0" y="654135"/>
                  </a:cubicBezTo>
                  <a:lnTo>
                    <a:pt x="0" y="25615"/>
                  </a:lnTo>
                  <a:cubicBezTo>
                    <a:pt x="0" y="18822"/>
                    <a:pt x="2699" y="12306"/>
                    <a:pt x="7502" y="7502"/>
                  </a:cubicBezTo>
                  <a:cubicBezTo>
                    <a:pt x="12306" y="2699"/>
                    <a:pt x="18822" y="0"/>
                    <a:pt x="25615" y="0"/>
                  </a:cubicBezTo>
                  <a:close/>
                </a:path>
              </a:pathLst>
            </a:custGeom>
            <a:blipFill>
              <a:blip r:embed="rId10"/>
              <a:stretch>
                <a:fillRect l="-667" t="0" r="-667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8" id="28"/>
          <p:cNvGrpSpPr/>
          <p:nvPr/>
        </p:nvGrpSpPr>
        <p:grpSpPr>
          <a:xfrm rot="0">
            <a:off x="2952598" y="5781033"/>
            <a:ext cx="3333328" cy="653335"/>
            <a:chOff x="0" y="0"/>
            <a:chExt cx="2315259" cy="453793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315259" cy="453793"/>
            </a:xfrm>
            <a:custGeom>
              <a:avLst/>
              <a:gdLst/>
              <a:ahLst/>
              <a:cxnLst/>
              <a:rect r="r" b="b" t="t" l="l"/>
              <a:pathLst>
                <a:path h="453793" w="2315259">
                  <a:moveTo>
                    <a:pt x="30194" y="0"/>
                  </a:moveTo>
                  <a:lnTo>
                    <a:pt x="2285066" y="0"/>
                  </a:lnTo>
                  <a:cubicBezTo>
                    <a:pt x="2301741" y="0"/>
                    <a:pt x="2315259" y="13518"/>
                    <a:pt x="2315259" y="30194"/>
                  </a:cubicBezTo>
                  <a:lnTo>
                    <a:pt x="2315259" y="423599"/>
                  </a:lnTo>
                  <a:cubicBezTo>
                    <a:pt x="2315259" y="431607"/>
                    <a:pt x="2312078" y="439287"/>
                    <a:pt x="2306416" y="444949"/>
                  </a:cubicBezTo>
                  <a:cubicBezTo>
                    <a:pt x="2300753" y="450612"/>
                    <a:pt x="2293074" y="453793"/>
                    <a:pt x="2285066" y="453793"/>
                  </a:cubicBezTo>
                  <a:lnTo>
                    <a:pt x="30194" y="453793"/>
                  </a:lnTo>
                  <a:cubicBezTo>
                    <a:pt x="22186" y="453793"/>
                    <a:pt x="14506" y="450612"/>
                    <a:pt x="8843" y="444949"/>
                  </a:cubicBezTo>
                  <a:cubicBezTo>
                    <a:pt x="3181" y="439287"/>
                    <a:pt x="0" y="431607"/>
                    <a:pt x="0" y="423599"/>
                  </a:cubicBezTo>
                  <a:lnTo>
                    <a:pt x="0" y="30194"/>
                  </a:lnTo>
                  <a:cubicBezTo>
                    <a:pt x="0" y="13518"/>
                    <a:pt x="13518" y="0"/>
                    <a:pt x="30194" y="0"/>
                  </a:cubicBezTo>
                  <a:close/>
                </a:path>
              </a:pathLst>
            </a:custGeom>
            <a:solidFill>
              <a:srgbClr val="EB574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19050"/>
              <a:ext cx="2315259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477336" y="5781033"/>
            <a:ext cx="3333328" cy="653335"/>
            <a:chOff x="0" y="0"/>
            <a:chExt cx="2315259" cy="45379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315259" cy="453793"/>
            </a:xfrm>
            <a:custGeom>
              <a:avLst/>
              <a:gdLst/>
              <a:ahLst/>
              <a:cxnLst/>
              <a:rect r="r" b="b" t="t" l="l"/>
              <a:pathLst>
                <a:path h="453793" w="2315259">
                  <a:moveTo>
                    <a:pt x="30194" y="0"/>
                  </a:moveTo>
                  <a:lnTo>
                    <a:pt x="2285066" y="0"/>
                  </a:lnTo>
                  <a:cubicBezTo>
                    <a:pt x="2301741" y="0"/>
                    <a:pt x="2315259" y="13518"/>
                    <a:pt x="2315259" y="30194"/>
                  </a:cubicBezTo>
                  <a:lnTo>
                    <a:pt x="2315259" y="423599"/>
                  </a:lnTo>
                  <a:cubicBezTo>
                    <a:pt x="2315259" y="431607"/>
                    <a:pt x="2312078" y="439287"/>
                    <a:pt x="2306416" y="444949"/>
                  </a:cubicBezTo>
                  <a:cubicBezTo>
                    <a:pt x="2300753" y="450612"/>
                    <a:pt x="2293074" y="453793"/>
                    <a:pt x="2285066" y="453793"/>
                  </a:cubicBezTo>
                  <a:lnTo>
                    <a:pt x="30194" y="453793"/>
                  </a:lnTo>
                  <a:cubicBezTo>
                    <a:pt x="22186" y="453793"/>
                    <a:pt x="14506" y="450612"/>
                    <a:pt x="8843" y="444949"/>
                  </a:cubicBezTo>
                  <a:cubicBezTo>
                    <a:pt x="3181" y="439287"/>
                    <a:pt x="0" y="431607"/>
                    <a:pt x="0" y="423599"/>
                  </a:cubicBezTo>
                  <a:lnTo>
                    <a:pt x="0" y="30194"/>
                  </a:lnTo>
                  <a:cubicBezTo>
                    <a:pt x="0" y="13518"/>
                    <a:pt x="13518" y="0"/>
                    <a:pt x="3019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19050"/>
              <a:ext cx="2315259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6627119" y="5143500"/>
            <a:ext cx="419749" cy="419749"/>
            <a:chOff x="0" y="0"/>
            <a:chExt cx="812800" cy="8128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6207328" y="5143500"/>
            <a:ext cx="419749" cy="419749"/>
            <a:chOff x="0" y="0"/>
            <a:chExt cx="812800" cy="8128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5787537" y="5143500"/>
            <a:ext cx="419749" cy="419749"/>
            <a:chOff x="0" y="0"/>
            <a:chExt cx="812800" cy="8128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4" id="44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5" id="45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6" id="46"/>
          <p:cNvSpPr/>
          <p:nvPr/>
        </p:nvSpPr>
        <p:spPr>
          <a:xfrm flipH="false" flipV="false" rot="0">
            <a:off x="2035705" y="637420"/>
            <a:ext cx="3472298" cy="932688"/>
          </a:xfrm>
          <a:custGeom>
            <a:avLst/>
            <a:gdLst/>
            <a:ahLst/>
            <a:cxnLst/>
            <a:rect r="r" b="b" t="t" l="l"/>
            <a:pathLst>
              <a:path h="932688" w="3472298">
                <a:moveTo>
                  <a:pt x="0" y="0"/>
                </a:moveTo>
                <a:lnTo>
                  <a:pt x="3472298" y="0"/>
                </a:lnTo>
                <a:lnTo>
                  <a:pt x="3472298" y="932689"/>
                </a:lnTo>
                <a:lnTo>
                  <a:pt x="0" y="932689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TextBox 47" id="47"/>
          <p:cNvSpPr txBox="true"/>
          <p:nvPr/>
        </p:nvSpPr>
        <p:spPr>
          <a:xfrm rot="0">
            <a:off x="2952598" y="6756422"/>
            <a:ext cx="3701687" cy="1314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"Laptop Dell dưới 20 triệu để học lập trình"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→ Ngôn ngữ tự nhiên, không theo schema catalog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→ QueryFrame chuyển đổi thành ràng buộc có cấu trúc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3187598" y="5952507"/>
            <a:ext cx="2863327" cy="319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53"/>
              </a:lnSpc>
            </a:pPr>
            <a:r>
              <a:rPr lang="en-US" b="true" sz="2163" spc="-15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Câu hỏi người dùng: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7712337" y="5952507"/>
            <a:ext cx="2863327" cy="319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553"/>
              </a:lnSpc>
            </a:pPr>
            <a:r>
              <a:rPr lang="en-US" b="true" sz="2163" spc="-15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QueryFrame Output: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7292857" y="6729830"/>
            <a:ext cx="3517807" cy="15339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category: Laptop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brand: Dell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budget_max: 20.000.000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use_case: programming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• requested_attributes: RAM, SSD, CPU</a:t>
            </a:r>
          </a:p>
          <a:p>
            <a:pPr algn="just" marL="0" indent="0" lvl="0">
              <a:lnSpc>
                <a:spcPts val="1782"/>
              </a:lnSpc>
            </a:pPr>
          </a:p>
        </p:txBody>
      </p:sp>
      <p:sp>
        <p:nvSpPr>
          <p:cNvPr name="TextBox 51" id="51"/>
          <p:cNvSpPr txBox="true"/>
          <p:nvPr/>
        </p:nvSpPr>
        <p:spPr>
          <a:xfrm rot="0">
            <a:off x="7292857" y="8294322"/>
            <a:ext cx="3517807" cy="4385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= &gt;</a:t>
            </a: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Giảm mơ hồ • Dễ retrieval</a:t>
            </a:r>
          </a:p>
          <a:p>
            <a:pPr algn="just" marL="0" indent="0" lvl="0">
              <a:lnSpc>
                <a:spcPts val="1782"/>
              </a:lnSpc>
            </a:pPr>
            <a:r>
              <a:rPr lang="en-US" sz="1800" spc="-66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= &gt;Dễ kiểm tra và bảo trì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84820" y="5848675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1993201" y="3104220"/>
            <a:ext cx="5266099" cy="5571963"/>
            <a:chOff x="0" y="0"/>
            <a:chExt cx="3153645" cy="3336814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153645" cy="3336813"/>
            </a:xfrm>
            <a:custGeom>
              <a:avLst/>
              <a:gdLst/>
              <a:ahLst/>
              <a:cxnLst/>
              <a:rect r="r" b="b" t="t" l="l"/>
              <a:pathLst>
                <a:path h="3336813" w="3153645">
                  <a:moveTo>
                    <a:pt x="47045" y="0"/>
                  </a:moveTo>
                  <a:lnTo>
                    <a:pt x="3106600" y="0"/>
                  </a:lnTo>
                  <a:cubicBezTo>
                    <a:pt x="3119077" y="0"/>
                    <a:pt x="3131044" y="4956"/>
                    <a:pt x="3139866" y="13779"/>
                  </a:cubicBezTo>
                  <a:cubicBezTo>
                    <a:pt x="3148689" y="22602"/>
                    <a:pt x="3153645" y="34568"/>
                    <a:pt x="3153645" y="47045"/>
                  </a:cubicBezTo>
                  <a:lnTo>
                    <a:pt x="3153645" y="3289769"/>
                  </a:lnTo>
                  <a:cubicBezTo>
                    <a:pt x="3153645" y="3302246"/>
                    <a:pt x="3148689" y="3314212"/>
                    <a:pt x="3139866" y="3323034"/>
                  </a:cubicBezTo>
                  <a:cubicBezTo>
                    <a:pt x="3131044" y="3331857"/>
                    <a:pt x="3119077" y="3336813"/>
                    <a:pt x="3106600" y="3336813"/>
                  </a:cubicBezTo>
                  <a:lnTo>
                    <a:pt x="47045" y="3336813"/>
                  </a:lnTo>
                  <a:cubicBezTo>
                    <a:pt x="34568" y="3336813"/>
                    <a:pt x="22602" y="3331857"/>
                    <a:pt x="13779" y="3323034"/>
                  </a:cubicBezTo>
                  <a:cubicBezTo>
                    <a:pt x="4956" y="3314212"/>
                    <a:pt x="0" y="3302246"/>
                    <a:pt x="0" y="3289769"/>
                  </a:cubicBezTo>
                  <a:lnTo>
                    <a:pt x="0" y="47045"/>
                  </a:lnTo>
                  <a:cubicBezTo>
                    <a:pt x="0" y="34568"/>
                    <a:pt x="4956" y="22602"/>
                    <a:pt x="13779" y="13779"/>
                  </a:cubicBezTo>
                  <a:cubicBezTo>
                    <a:pt x="22602" y="4956"/>
                    <a:pt x="34568" y="0"/>
                    <a:pt x="47045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3153645" cy="33749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true" flipV="false" rot="0">
            <a:off x="10333694" y="2496069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4" y="0"/>
                </a:moveTo>
                <a:lnTo>
                  <a:pt x="0" y="0"/>
                </a:lnTo>
                <a:lnTo>
                  <a:pt x="0" y="818026"/>
                </a:lnTo>
                <a:lnTo>
                  <a:pt x="941614" y="818026"/>
                </a:lnTo>
                <a:lnTo>
                  <a:pt x="94161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6" id="16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9" id="19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16839551" y="2247599"/>
            <a:ext cx="419749" cy="419749"/>
            <a:chOff x="0" y="0"/>
            <a:chExt cx="812800" cy="8128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16419760" y="2247599"/>
            <a:ext cx="419749" cy="41974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5999969" y="2247599"/>
            <a:ext cx="419749" cy="419749"/>
            <a:chOff x="0" y="0"/>
            <a:chExt cx="81280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30" id="30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12375567" y="5848675"/>
            <a:ext cx="4501367" cy="2180472"/>
            <a:chOff x="0" y="0"/>
            <a:chExt cx="2049080" cy="992578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049080" cy="992578"/>
            </a:xfrm>
            <a:custGeom>
              <a:avLst/>
              <a:gdLst/>
              <a:ahLst/>
              <a:cxnLst/>
              <a:rect r="r" b="b" t="t" l="l"/>
              <a:pathLst>
                <a:path h="992578" w="2049080">
                  <a:moveTo>
                    <a:pt x="29238" y="0"/>
                  </a:moveTo>
                  <a:lnTo>
                    <a:pt x="2019841" y="0"/>
                  </a:lnTo>
                  <a:cubicBezTo>
                    <a:pt x="2035989" y="0"/>
                    <a:pt x="2049080" y="13090"/>
                    <a:pt x="2049080" y="29238"/>
                  </a:cubicBezTo>
                  <a:lnTo>
                    <a:pt x="2049080" y="963340"/>
                  </a:lnTo>
                  <a:cubicBezTo>
                    <a:pt x="2049080" y="979488"/>
                    <a:pt x="2035989" y="992578"/>
                    <a:pt x="2019841" y="992578"/>
                  </a:cubicBezTo>
                  <a:lnTo>
                    <a:pt x="29238" y="992578"/>
                  </a:lnTo>
                  <a:cubicBezTo>
                    <a:pt x="13090" y="992578"/>
                    <a:pt x="0" y="979488"/>
                    <a:pt x="0" y="963340"/>
                  </a:cubicBezTo>
                  <a:lnTo>
                    <a:pt x="0" y="29238"/>
                  </a:lnTo>
                  <a:cubicBezTo>
                    <a:pt x="0" y="13090"/>
                    <a:pt x="13090" y="0"/>
                    <a:pt x="29238" y="0"/>
                  </a:cubicBezTo>
                  <a:close/>
                </a:path>
              </a:pathLst>
            </a:custGeom>
            <a:blipFill>
              <a:blip r:embed="rId12"/>
              <a:stretch>
                <a:fillRect l="0" t="-8835" r="0" b="-8835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2952598" y="3773055"/>
            <a:ext cx="3974300" cy="5066145"/>
            <a:chOff x="0" y="0"/>
            <a:chExt cx="2380041" cy="3033901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380041" cy="3033901"/>
            </a:xfrm>
            <a:custGeom>
              <a:avLst/>
              <a:gdLst/>
              <a:ahLst/>
              <a:cxnLst/>
              <a:rect r="r" b="b" t="t" l="l"/>
              <a:pathLst>
                <a:path h="3033901" w="2380041">
                  <a:moveTo>
                    <a:pt x="62336" y="0"/>
                  </a:moveTo>
                  <a:lnTo>
                    <a:pt x="2317705" y="0"/>
                  </a:lnTo>
                  <a:cubicBezTo>
                    <a:pt x="2352132" y="0"/>
                    <a:pt x="2380041" y="27909"/>
                    <a:pt x="2380041" y="62336"/>
                  </a:cubicBezTo>
                  <a:lnTo>
                    <a:pt x="2380041" y="2971565"/>
                  </a:lnTo>
                  <a:cubicBezTo>
                    <a:pt x="2380041" y="3005992"/>
                    <a:pt x="2352132" y="3033901"/>
                    <a:pt x="2317705" y="3033901"/>
                  </a:cubicBezTo>
                  <a:lnTo>
                    <a:pt x="62336" y="3033901"/>
                  </a:lnTo>
                  <a:cubicBezTo>
                    <a:pt x="27909" y="3033901"/>
                    <a:pt x="0" y="3005992"/>
                    <a:pt x="0" y="2971565"/>
                  </a:cubicBezTo>
                  <a:lnTo>
                    <a:pt x="0" y="62336"/>
                  </a:lnTo>
                  <a:cubicBezTo>
                    <a:pt x="0" y="27909"/>
                    <a:pt x="27909" y="0"/>
                    <a:pt x="62336" y="0"/>
                  </a:cubicBezTo>
                  <a:close/>
                </a:path>
              </a:pathLst>
            </a:custGeom>
            <a:solidFill>
              <a:srgbClr val="FFF3C2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2380041" cy="30720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926898" y="3773055"/>
            <a:ext cx="3974300" cy="5066145"/>
            <a:chOff x="0" y="0"/>
            <a:chExt cx="2380041" cy="3033901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380041" cy="3033901"/>
            </a:xfrm>
            <a:custGeom>
              <a:avLst/>
              <a:gdLst/>
              <a:ahLst/>
              <a:cxnLst/>
              <a:rect r="r" b="b" t="t" l="l"/>
              <a:pathLst>
                <a:path h="3033901" w="2380041">
                  <a:moveTo>
                    <a:pt x="62336" y="0"/>
                  </a:moveTo>
                  <a:lnTo>
                    <a:pt x="2317705" y="0"/>
                  </a:lnTo>
                  <a:cubicBezTo>
                    <a:pt x="2352132" y="0"/>
                    <a:pt x="2380041" y="27909"/>
                    <a:pt x="2380041" y="62336"/>
                  </a:cubicBezTo>
                  <a:lnTo>
                    <a:pt x="2380041" y="2971565"/>
                  </a:lnTo>
                  <a:cubicBezTo>
                    <a:pt x="2380041" y="3005992"/>
                    <a:pt x="2352132" y="3033901"/>
                    <a:pt x="2317705" y="3033901"/>
                  </a:cubicBezTo>
                  <a:lnTo>
                    <a:pt x="62336" y="3033901"/>
                  </a:lnTo>
                  <a:cubicBezTo>
                    <a:pt x="27909" y="3033901"/>
                    <a:pt x="0" y="3005992"/>
                    <a:pt x="0" y="2971565"/>
                  </a:cubicBezTo>
                  <a:lnTo>
                    <a:pt x="0" y="62336"/>
                  </a:lnTo>
                  <a:cubicBezTo>
                    <a:pt x="0" y="27909"/>
                    <a:pt x="27909" y="0"/>
                    <a:pt x="62336" y="0"/>
                  </a:cubicBezTo>
                  <a:close/>
                </a:path>
              </a:pathLst>
            </a:custGeom>
            <a:solidFill>
              <a:srgbClr val="FFF3C2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2380041" cy="30720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12375567" y="3491149"/>
            <a:ext cx="4501367" cy="2180472"/>
            <a:chOff x="0" y="0"/>
            <a:chExt cx="2049080" cy="992578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2049080" cy="992578"/>
            </a:xfrm>
            <a:custGeom>
              <a:avLst/>
              <a:gdLst/>
              <a:ahLst/>
              <a:cxnLst/>
              <a:rect r="r" b="b" t="t" l="l"/>
              <a:pathLst>
                <a:path h="992578" w="2049080">
                  <a:moveTo>
                    <a:pt x="29238" y="0"/>
                  </a:moveTo>
                  <a:lnTo>
                    <a:pt x="2019841" y="0"/>
                  </a:lnTo>
                  <a:cubicBezTo>
                    <a:pt x="2035989" y="0"/>
                    <a:pt x="2049080" y="13090"/>
                    <a:pt x="2049080" y="29238"/>
                  </a:cubicBezTo>
                  <a:lnTo>
                    <a:pt x="2049080" y="963340"/>
                  </a:lnTo>
                  <a:cubicBezTo>
                    <a:pt x="2049080" y="979488"/>
                    <a:pt x="2035989" y="992578"/>
                    <a:pt x="2019841" y="992578"/>
                  </a:cubicBezTo>
                  <a:lnTo>
                    <a:pt x="29238" y="992578"/>
                  </a:lnTo>
                  <a:cubicBezTo>
                    <a:pt x="13090" y="992578"/>
                    <a:pt x="0" y="979488"/>
                    <a:pt x="0" y="963340"/>
                  </a:cubicBezTo>
                  <a:lnTo>
                    <a:pt x="0" y="29238"/>
                  </a:lnTo>
                  <a:cubicBezTo>
                    <a:pt x="0" y="13090"/>
                    <a:pt x="13090" y="0"/>
                    <a:pt x="29238" y="0"/>
                  </a:cubicBezTo>
                  <a:close/>
                </a:path>
              </a:pathLst>
            </a:custGeom>
            <a:blipFill>
              <a:blip r:embed="rId13"/>
              <a:stretch>
                <a:fillRect l="0" t="-8835" r="0" b="-8835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41" id="41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2" id="42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3" id="43"/>
          <p:cNvSpPr/>
          <p:nvPr/>
        </p:nvSpPr>
        <p:spPr>
          <a:xfrm flipH="false" flipV="false" rot="0">
            <a:off x="2165313" y="741457"/>
            <a:ext cx="3474097" cy="933172"/>
          </a:xfrm>
          <a:custGeom>
            <a:avLst/>
            <a:gdLst/>
            <a:ahLst/>
            <a:cxnLst/>
            <a:rect r="r" b="b" t="t" l="l"/>
            <a:pathLst>
              <a:path h="933172" w="3474097">
                <a:moveTo>
                  <a:pt x="0" y="0"/>
                </a:moveTo>
                <a:lnTo>
                  <a:pt x="3474097" y="0"/>
                </a:lnTo>
                <a:lnTo>
                  <a:pt x="3474097" y="933172"/>
                </a:lnTo>
                <a:lnTo>
                  <a:pt x="0" y="933172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TextBox 44" id="44"/>
          <p:cNvSpPr txBox="true"/>
          <p:nvPr/>
        </p:nvSpPr>
        <p:spPr>
          <a:xfrm rot="0">
            <a:off x="2987076" y="2342849"/>
            <a:ext cx="6961996" cy="609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576"/>
              </a:lnSpc>
            </a:pPr>
            <a:r>
              <a:rPr lang="en-US" b="true" sz="4623" spc="-28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AGENTSTATE &amp; RESOLVER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3411421" y="4372362"/>
            <a:ext cx="3056653" cy="33989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Hội thoại ví dụ: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User: "Cho tôi 3 laptop Dell dưới 20 triệu."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AI: "Gợi ý A, B, C."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User: "Mẫu thứ hai có hợp lập trình không?"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AgentState lưu: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candidate_codes: [A, B, C]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focused_product: B</a:t>
            </a:r>
          </a:p>
          <a:p>
            <a:pPr algn="just" marL="0" indent="0" lvl="0">
              <a:lnSpc>
                <a:spcPts val="2772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conversation_turn: 3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7385721" y="4353312"/>
            <a:ext cx="3056653" cy="3304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ProductResolver: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"mẫu thứ hai"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→ product_code = B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Ánh xạ tham chiếu: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Vị trí thứ tự → SKU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Tên gợi nhớ → code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Ngữ cảnh trước → state</a:t>
            </a:r>
          </a:p>
          <a:p>
            <a:pPr algn="just" marL="0" indent="0" lvl="0">
              <a:lnSpc>
                <a:spcPts val="2988"/>
              </a:lnSpc>
            </a:pPr>
            <a:r>
              <a:rPr lang="en-US" sz="1800" spc="-66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Kết quả: AI không mất ngữ cảnh qua nhiều lượt hội thoại.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607177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2773732" y="4678470"/>
            <a:ext cx="4100858" cy="2243954"/>
            <a:chOff x="0" y="0"/>
            <a:chExt cx="2848370" cy="15586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13809D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5" id="15"/>
          <p:cNvGrpSpPr/>
          <p:nvPr/>
        </p:nvGrpSpPr>
        <p:grpSpPr>
          <a:xfrm rot="0">
            <a:off x="13146794" y="2424196"/>
            <a:ext cx="4112506" cy="6251987"/>
            <a:chOff x="0" y="0"/>
            <a:chExt cx="2462806" cy="374405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62806" cy="3744052"/>
            </a:xfrm>
            <a:custGeom>
              <a:avLst/>
              <a:gdLst/>
              <a:ahLst/>
              <a:cxnLst/>
              <a:rect r="r" b="b" t="t" l="l"/>
              <a:pathLst>
                <a:path h="3744052" w="2462806">
                  <a:moveTo>
                    <a:pt x="60241" y="0"/>
                  </a:moveTo>
                  <a:lnTo>
                    <a:pt x="2402565" y="0"/>
                  </a:lnTo>
                  <a:cubicBezTo>
                    <a:pt x="2435835" y="0"/>
                    <a:pt x="2462806" y="26971"/>
                    <a:pt x="2462806" y="60241"/>
                  </a:cubicBezTo>
                  <a:lnTo>
                    <a:pt x="2462806" y="3683811"/>
                  </a:lnTo>
                  <a:cubicBezTo>
                    <a:pt x="2462806" y="3717081"/>
                    <a:pt x="2435835" y="3744052"/>
                    <a:pt x="2402565" y="3744052"/>
                  </a:cubicBezTo>
                  <a:lnTo>
                    <a:pt x="60241" y="3744052"/>
                  </a:lnTo>
                  <a:cubicBezTo>
                    <a:pt x="26971" y="3744052"/>
                    <a:pt x="0" y="3717081"/>
                    <a:pt x="0" y="3683811"/>
                  </a:cubicBezTo>
                  <a:lnTo>
                    <a:pt x="0" y="60241"/>
                  </a:lnTo>
                  <a:cubicBezTo>
                    <a:pt x="0" y="26971"/>
                    <a:pt x="26971" y="0"/>
                    <a:pt x="60241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2462806" cy="37821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3436891" y="2700962"/>
            <a:ext cx="3532312" cy="2336656"/>
            <a:chOff x="0" y="0"/>
            <a:chExt cx="1607953" cy="10636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607953" cy="1063675"/>
            </a:xfrm>
            <a:custGeom>
              <a:avLst/>
              <a:gdLst/>
              <a:ahLst/>
              <a:cxnLst/>
              <a:rect r="r" b="b" t="t" l="l"/>
              <a:pathLst>
                <a:path h="1063675" w="1607953">
                  <a:moveTo>
                    <a:pt x="37260" y="0"/>
                  </a:moveTo>
                  <a:lnTo>
                    <a:pt x="1570694" y="0"/>
                  </a:lnTo>
                  <a:cubicBezTo>
                    <a:pt x="1591271" y="0"/>
                    <a:pt x="1607953" y="16682"/>
                    <a:pt x="1607953" y="37260"/>
                  </a:cubicBezTo>
                  <a:lnTo>
                    <a:pt x="1607953" y="1026416"/>
                  </a:lnTo>
                  <a:cubicBezTo>
                    <a:pt x="1607953" y="1046994"/>
                    <a:pt x="1591271" y="1063675"/>
                    <a:pt x="1570694" y="1063675"/>
                  </a:cubicBezTo>
                  <a:lnTo>
                    <a:pt x="37260" y="1063675"/>
                  </a:lnTo>
                  <a:cubicBezTo>
                    <a:pt x="16682" y="1063675"/>
                    <a:pt x="0" y="1046994"/>
                    <a:pt x="0" y="1026416"/>
                  </a:cubicBezTo>
                  <a:lnTo>
                    <a:pt x="0" y="37260"/>
                  </a:lnTo>
                  <a:cubicBezTo>
                    <a:pt x="0" y="16682"/>
                    <a:pt x="16682" y="0"/>
                    <a:pt x="37260" y="0"/>
                  </a:cubicBezTo>
                  <a:close/>
                </a:path>
              </a:pathLst>
            </a:custGeom>
            <a:blipFill>
              <a:blip r:embed="rId4"/>
              <a:stretch>
                <a:fillRect l="0" t="-925" r="0" b="-925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13451179" y="5190984"/>
            <a:ext cx="3503737" cy="2880406"/>
            <a:chOff x="0" y="0"/>
            <a:chExt cx="1594946" cy="131119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594945" cy="1311197"/>
            </a:xfrm>
            <a:custGeom>
              <a:avLst/>
              <a:gdLst/>
              <a:ahLst/>
              <a:cxnLst/>
              <a:rect r="r" b="b" t="t" l="l"/>
              <a:pathLst>
                <a:path h="1311197" w="1594945">
                  <a:moveTo>
                    <a:pt x="37564" y="0"/>
                  </a:moveTo>
                  <a:lnTo>
                    <a:pt x="1557382" y="0"/>
                  </a:lnTo>
                  <a:cubicBezTo>
                    <a:pt x="1578128" y="0"/>
                    <a:pt x="1594945" y="16818"/>
                    <a:pt x="1594945" y="37564"/>
                  </a:cubicBezTo>
                  <a:lnTo>
                    <a:pt x="1594945" y="1273634"/>
                  </a:lnTo>
                  <a:cubicBezTo>
                    <a:pt x="1594945" y="1283596"/>
                    <a:pt x="1590988" y="1293151"/>
                    <a:pt x="1583943" y="1300195"/>
                  </a:cubicBezTo>
                  <a:cubicBezTo>
                    <a:pt x="1576899" y="1307240"/>
                    <a:pt x="1567344" y="1311197"/>
                    <a:pt x="1557382" y="1311197"/>
                  </a:cubicBezTo>
                  <a:lnTo>
                    <a:pt x="37564" y="1311197"/>
                  </a:lnTo>
                  <a:cubicBezTo>
                    <a:pt x="27601" y="1311197"/>
                    <a:pt x="18047" y="1307240"/>
                    <a:pt x="11002" y="1300195"/>
                  </a:cubicBezTo>
                  <a:cubicBezTo>
                    <a:pt x="3958" y="1293151"/>
                    <a:pt x="0" y="1283596"/>
                    <a:pt x="0" y="1273634"/>
                  </a:cubicBezTo>
                  <a:lnTo>
                    <a:pt x="0" y="37564"/>
                  </a:lnTo>
                  <a:cubicBezTo>
                    <a:pt x="0" y="27601"/>
                    <a:pt x="3958" y="18047"/>
                    <a:pt x="11002" y="11002"/>
                  </a:cubicBezTo>
                  <a:cubicBezTo>
                    <a:pt x="18047" y="3958"/>
                    <a:pt x="27601" y="0"/>
                    <a:pt x="37564" y="0"/>
                  </a:cubicBezTo>
                  <a:close/>
                </a:path>
              </a:pathLst>
            </a:custGeom>
            <a:blipFill>
              <a:blip r:embed="rId5"/>
              <a:stretch>
                <a:fillRect l="-825" t="0" r="-825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2952598" y="2231911"/>
            <a:ext cx="8845603" cy="1998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704"/>
              </a:lnSpc>
            </a:pPr>
            <a:r>
              <a:rPr lang="en-US" b="true" sz="7782" spc="-482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EVIDENCE LEDGER</a:t>
            </a:r>
          </a:p>
          <a:p>
            <a:pPr algn="l" marL="0" indent="0" lvl="0">
              <a:lnSpc>
                <a:spcPts val="7704"/>
              </a:lnSpc>
            </a:pPr>
            <a:r>
              <a:rPr lang="en-US" b="true" sz="7782" spc="-482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&amp; VERIFIER</a:t>
            </a:r>
          </a:p>
        </p:txBody>
      </p:sp>
      <p:sp>
        <p:nvSpPr>
          <p:cNvPr name="Freeform 23" id="23"/>
          <p:cNvSpPr/>
          <p:nvPr/>
        </p:nvSpPr>
        <p:spPr>
          <a:xfrm flipH="true" flipV="false" rot="0">
            <a:off x="11494972" y="301547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4" y="0"/>
                </a:moveTo>
                <a:lnTo>
                  <a:pt x="0" y="0"/>
                </a:lnTo>
                <a:lnTo>
                  <a:pt x="0" y="818027"/>
                </a:lnTo>
                <a:lnTo>
                  <a:pt x="941614" y="818027"/>
                </a:lnTo>
                <a:lnTo>
                  <a:pt x="941614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24" id="24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7" id="27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2952598" y="4797729"/>
            <a:ext cx="2933893" cy="653335"/>
            <a:chOff x="0" y="0"/>
            <a:chExt cx="2037821" cy="45379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4273982" y="2554333"/>
            <a:ext cx="419749" cy="419749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3854191" y="2554333"/>
            <a:ext cx="419749" cy="419749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434400" y="2554333"/>
            <a:ext cx="419749" cy="419749"/>
            <a:chOff x="0" y="0"/>
            <a:chExt cx="812800" cy="812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1" id="41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2" id="42"/>
          <p:cNvGrpSpPr/>
          <p:nvPr/>
        </p:nvGrpSpPr>
        <p:grpSpPr>
          <a:xfrm rot="0">
            <a:off x="6141714" y="4525048"/>
            <a:ext cx="1025142" cy="1025142"/>
            <a:chOff x="0" y="0"/>
            <a:chExt cx="812800" cy="8128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5E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5" id="45"/>
          <p:cNvSpPr/>
          <p:nvPr/>
        </p:nvSpPr>
        <p:spPr>
          <a:xfrm flipH="false" flipV="false" rot="0">
            <a:off x="6387001" y="4724559"/>
            <a:ext cx="487589" cy="626118"/>
          </a:xfrm>
          <a:custGeom>
            <a:avLst/>
            <a:gdLst/>
            <a:ahLst/>
            <a:cxnLst/>
            <a:rect r="r" b="b" t="t" l="l"/>
            <a:pathLst>
              <a:path h="626118" w="487589">
                <a:moveTo>
                  <a:pt x="0" y="0"/>
                </a:moveTo>
                <a:lnTo>
                  <a:pt x="487589" y="0"/>
                </a:lnTo>
                <a:lnTo>
                  <a:pt x="487589" y="626118"/>
                </a:lnTo>
                <a:lnTo>
                  <a:pt x="0" y="6261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6" id="46"/>
          <p:cNvGrpSpPr/>
          <p:nvPr/>
        </p:nvGrpSpPr>
        <p:grpSpPr>
          <a:xfrm rot="0">
            <a:off x="7585955" y="4678470"/>
            <a:ext cx="4100858" cy="2243954"/>
            <a:chOff x="0" y="0"/>
            <a:chExt cx="2848370" cy="1558603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1D648E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8" id="48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7764821" y="4797729"/>
            <a:ext cx="2933893" cy="653335"/>
            <a:chOff x="0" y="0"/>
            <a:chExt cx="2037821" cy="453793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955890" y="4525048"/>
            <a:ext cx="1025142" cy="1025142"/>
            <a:chOff x="0" y="0"/>
            <a:chExt cx="812800" cy="8128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574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4" id="5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55" id="55"/>
          <p:cNvSpPr/>
          <p:nvPr/>
        </p:nvSpPr>
        <p:spPr>
          <a:xfrm flipH="false" flipV="false" rot="0">
            <a:off x="11175017" y="4766550"/>
            <a:ext cx="586888" cy="542138"/>
          </a:xfrm>
          <a:custGeom>
            <a:avLst/>
            <a:gdLst/>
            <a:ahLst/>
            <a:cxnLst/>
            <a:rect r="r" b="b" t="t" l="l"/>
            <a:pathLst>
              <a:path h="542138" w="586888">
                <a:moveTo>
                  <a:pt x="0" y="0"/>
                </a:moveTo>
                <a:lnTo>
                  <a:pt x="586887" y="0"/>
                </a:lnTo>
                <a:lnTo>
                  <a:pt x="586887" y="542137"/>
                </a:lnTo>
                <a:lnTo>
                  <a:pt x="0" y="5421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6" id="56"/>
          <p:cNvGrpSpPr/>
          <p:nvPr/>
        </p:nvGrpSpPr>
        <p:grpSpPr>
          <a:xfrm rot="0">
            <a:off x="2771749" y="7199671"/>
            <a:ext cx="4100858" cy="2243954"/>
            <a:chOff x="0" y="0"/>
            <a:chExt cx="2848370" cy="1558603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02388C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58" id="58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2950615" y="7318930"/>
            <a:ext cx="2933893" cy="653335"/>
            <a:chOff x="0" y="0"/>
            <a:chExt cx="2037821" cy="453793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1" id="61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6139731" y="7046249"/>
            <a:ext cx="1025142" cy="1025142"/>
            <a:chOff x="0" y="0"/>
            <a:chExt cx="812800" cy="812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6F5E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4" id="64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7583973" y="7199671"/>
            <a:ext cx="4100858" cy="2243954"/>
            <a:chOff x="0" y="0"/>
            <a:chExt cx="2848370" cy="1558603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2848370" cy="1558603"/>
            </a:xfrm>
            <a:custGeom>
              <a:avLst/>
              <a:gdLst/>
              <a:ahLst/>
              <a:cxnLst/>
              <a:rect r="r" b="b" t="t" l="l"/>
              <a:pathLst>
                <a:path h="1558603" w="2848370">
                  <a:moveTo>
                    <a:pt x="24542" y="0"/>
                  </a:moveTo>
                  <a:lnTo>
                    <a:pt x="2823827" y="0"/>
                  </a:lnTo>
                  <a:cubicBezTo>
                    <a:pt x="2837381" y="0"/>
                    <a:pt x="2848370" y="10988"/>
                    <a:pt x="2848370" y="24542"/>
                  </a:cubicBezTo>
                  <a:lnTo>
                    <a:pt x="2848370" y="1534061"/>
                  </a:lnTo>
                  <a:cubicBezTo>
                    <a:pt x="2848370" y="1540570"/>
                    <a:pt x="2845784" y="1546812"/>
                    <a:pt x="2841181" y="1551415"/>
                  </a:cubicBezTo>
                  <a:cubicBezTo>
                    <a:pt x="2836579" y="1556017"/>
                    <a:pt x="2830336" y="1558603"/>
                    <a:pt x="2823827" y="1558603"/>
                  </a:cubicBezTo>
                  <a:lnTo>
                    <a:pt x="24542" y="1558603"/>
                  </a:lnTo>
                  <a:cubicBezTo>
                    <a:pt x="18033" y="1558603"/>
                    <a:pt x="11791" y="1556017"/>
                    <a:pt x="7188" y="1551415"/>
                  </a:cubicBezTo>
                  <a:cubicBezTo>
                    <a:pt x="2586" y="1546812"/>
                    <a:pt x="0" y="1540570"/>
                    <a:pt x="0" y="1534061"/>
                  </a:cubicBezTo>
                  <a:lnTo>
                    <a:pt x="0" y="24542"/>
                  </a:lnTo>
                  <a:cubicBezTo>
                    <a:pt x="0" y="18033"/>
                    <a:pt x="2586" y="11791"/>
                    <a:pt x="7188" y="7188"/>
                  </a:cubicBezTo>
                  <a:cubicBezTo>
                    <a:pt x="11791" y="2586"/>
                    <a:pt x="18033" y="0"/>
                    <a:pt x="24542" y="0"/>
                  </a:cubicBezTo>
                  <a:close/>
                </a:path>
              </a:pathLst>
            </a:custGeom>
            <a:solidFill>
              <a:srgbClr val="0B1046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67" id="67"/>
            <p:cNvSpPr txBox="true"/>
            <p:nvPr/>
          </p:nvSpPr>
          <p:spPr>
            <a:xfrm>
              <a:off x="0" y="19050"/>
              <a:ext cx="2848370" cy="153955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7762839" y="7318930"/>
            <a:ext cx="2933893" cy="653335"/>
            <a:chOff x="0" y="0"/>
            <a:chExt cx="2037821" cy="453793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0" id="70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10953907" y="7046249"/>
            <a:ext cx="1025142" cy="1025142"/>
            <a:chOff x="0" y="0"/>
            <a:chExt cx="812800" cy="812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2388C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73" id="73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74" id="74"/>
          <p:cNvSpPr/>
          <p:nvPr/>
        </p:nvSpPr>
        <p:spPr>
          <a:xfrm flipH="false" flipV="false" rot="0">
            <a:off x="11128359" y="7220700"/>
            <a:ext cx="676239" cy="676239"/>
          </a:xfrm>
          <a:custGeom>
            <a:avLst/>
            <a:gdLst/>
            <a:ahLst/>
            <a:cxnLst/>
            <a:rect r="r" b="b" t="t" l="l"/>
            <a:pathLst>
              <a:path h="676239" w="676239">
                <a:moveTo>
                  <a:pt x="0" y="0"/>
                </a:moveTo>
                <a:lnTo>
                  <a:pt x="676238" y="0"/>
                </a:lnTo>
                <a:lnTo>
                  <a:pt x="676238" y="676239"/>
                </a:lnTo>
                <a:lnTo>
                  <a:pt x="0" y="67623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5" id="75"/>
          <p:cNvSpPr/>
          <p:nvPr/>
        </p:nvSpPr>
        <p:spPr>
          <a:xfrm flipH="false" flipV="false" rot="0">
            <a:off x="6360490" y="7299472"/>
            <a:ext cx="583624" cy="518695"/>
          </a:xfrm>
          <a:custGeom>
            <a:avLst/>
            <a:gdLst/>
            <a:ahLst/>
            <a:cxnLst/>
            <a:rect r="r" b="b" t="t" l="l"/>
            <a:pathLst>
              <a:path h="518695" w="583624">
                <a:moveTo>
                  <a:pt x="0" y="0"/>
                </a:moveTo>
                <a:lnTo>
                  <a:pt x="583624" y="0"/>
                </a:lnTo>
                <a:lnTo>
                  <a:pt x="583624" y="518695"/>
                </a:lnTo>
                <a:lnTo>
                  <a:pt x="0" y="518695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6" id="76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7" id="77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8" id="78"/>
          <p:cNvSpPr/>
          <p:nvPr/>
        </p:nvSpPr>
        <p:spPr>
          <a:xfrm flipH="false" flipV="false" rot="0">
            <a:off x="1924143" y="688935"/>
            <a:ext cx="3510317" cy="942901"/>
          </a:xfrm>
          <a:custGeom>
            <a:avLst/>
            <a:gdLst/>
            <a:ahLst/>
            <a:cxnLst/>
            <a:rect r="r" b="b" t="t" l="l"/>
            <a:pathLst>
              <a:path h="942901" w="3510317">
                <a:moveTo>
                  <a:pt x="0" y="0"/>
                </a:moveTo>
                <a:lnTo>
                  <a:pt x="3510317" y="0"/>
                </a:lnTo>
                <a:lnTo>
                  <a:pt x="3510317" y="942901"/>
                </a:lnTo>
                <a:lnTo>
                  <a:pt x="0" y="94290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</p:sp>
      <p:sp>
        <p:nvSpPr>
          <p:cNvPr name="TextBox 79" id="79"/>
          <p:cNvSpPr txBox="true"/>
          <p:nvPr/>
        </p:nvSpPr>
        <p:spPr>
          <a:xfrm rot="0">
            <a:off x="3003339" y="5712585"/>
            <a:ext cx="3627456" cy="804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Ghi nhận từng sản phẩm: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product_code, brand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price, specs, source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missing_fields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3159438" y="4969202"/>
            <a:ext cx="2520213" cy="300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31"/>
              </a:lnSpc>
            </a:pPr>
            <a:r>
              <a:rPr lang="en-US" b="true" sz="2060" spc="-1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Evidence Ledger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7815562" y="5712585"/>
            <a:ext cx="3627456" cy="804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Kiểm tra toàn bộ claim trước khi trả lời: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Đối chiếu catalog thật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Chặn output sai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Gắn cờ thiếu dữ liệu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7971662" y="4969202"/>
            <a:ext cx="2520213" cy="300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31"/>
              </a:lnSpc>
            </a:pPr>
            <a:r>
              <a:rPr lang="en-US" b="true" sz="2060" spc="-1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Verifier Engine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3001357" y="8233786"/>
            <a:ext cx="3627456" cy="804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Các lỗi bị chặn: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unsupported_claim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product_not_found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missing_field_not_disclosed</a:t>
            </a:r>
          </a:p>
        </p:txBody>
      </p:sp>
      <p:sp>
        <p:nvSpPr>
          <p:cNvPr name="TextBox 84" id="84"/>
          <p:cNvSpPr txBox="true"/>
          <p:nvPr/>
        </p:nvSpPr>
        <p:spPr>
          <a:xfrm rot="0">
            <a:off x="3157456" y="7490403"/>
            <a:ext cx="2520213" cy="300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31"/>
              </a:lnSpc>
            </a:pPr>
            <a:r>
              <a:rPr lang="en-US" b="true" sz="2060" spc="-1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Blocked: Claim Sai</a:t>
            </a:r>
          </a:p>
        </p:txBody>
      </p:sp>
      <p:sp>
        <p:nvSpPr>
          <p:cNvPr name="TextBox 85" id="85"/>
          <p:cNvSpPr txBox="true"/>
          <p:nvPr/>
        </p:nvSpPr>
        <p:spPr>
          <a:xfrm rot="0">
            <a:off x="7813580" y="8233786"/>
            <a:ext cx="3627456" cy="804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Các lỗi bị chặn: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constraint_mismatch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answer_cards_mismatch</a:t>
            </a:r>
          </a:p>
          <a:p>
            <a:pPr algn="just" marL="0" indent="0" lvl="0">
              <a:lnSpc>
                <a:spcPts val="1584"/>
              </a:lnSpc>
            </a:pPr>
            <a:r>
              <a:rPr lang="en-US" sz="1600" spc="-5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Không đồng bộ UI</a:t>
            </a:r>
          </a:p>
        </p:txBody>
      </p:sp>
      <p:sp>
        <p:nvSpPr>
          <p:cNvPr name="TextBox 86" id="86"/>
          <p:cNvSpPr txBox="true"/>
          <p:nvPr/>
        </p:nvSpPr>
        <p:spPr>
          <a:xfrm rot="0">
            <a:off x="7969679" y="7490403"/>
            <a:ext cx="2520213" cy="300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31"/>
              </a:lnSpc>
            </a:pPr>
            <a:r>
              <a:rPr lang="en-US" b="true" sz="2060" spc="-14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Blocked: Mismatch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36305" y="4662997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1253471" y="4998657"/>
            <a:ext cx="3517176" cy="4183273"/>
            <a:chOff x="0" y="0"/>
            <a:chExt cx="2106289" cy="250518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06288" cy="2505186"/>
            </a:xfrm>
            <a:custGeom>
              <a:avLst/>
              <a:gdLst/>
              <a:ahLst/>
              <a:cxnLst/>
              <a:rect r="r" b="b" t="t" l="l"/>
              <a:pathLst>
                <a:path h="2505186" w="2106288">
                  <a:moveTo>
                    <a:pt x="70438" y="0"/>
                  </a:moveTo>
                  <a:lnTo>
                    <a:pt x="2035851" y="0"/>
                  </a:lnTo>
                  <a:cubicBezTo>
                    <a:pt x="2074752" y="0"/>
                    <a:pt x="2106288" y="31536"/>
                    <a:pt x="2106288" y="70438"/>
                  </a:cubicBezTo>
                  <a:lnTo>
                    <a:pt x="2106288" y="2434748"/>
                  </a:lnTo>
                  <a:cubicBezTo>
                    <a:pt x="2106288" y="2453430"/>
                    <a:pt x="2098867" y="2471346"/>
                    <a:pt x="2085658" y="2484555"/>
                  </a:cubicBezTo>
                  <a:cubicBezTo>
                    <a:pt x="2072448" y="2497765"/>
                    <a:pt x="2054532" y="2505186"/>
                    <a:pt x="2035851" y="2505186"/>
                  </a:cubicBezTo>
                  <a:lnTo>
                    <a:pt x="70438" y="2505186"/>
                  </a:lnTo>
                  <a:cubicBezTo>
                    <a:pt x="31536" y="2505186"/>
                    <a:pt x="0" y="2473650"/>
                    <a:pt x="0" y="2434748"/>
                  </a:cubicBezTo>
                  <a:lnTo>
                    <a:pt x="0" y="70438"/>
                  </a:lnTo>
                  <a:cubicBezTo>
                    <a:pt x="0" y="31536"/>
                    <a:pt x="31536" y="0"/>
                    <a:pt x="70438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106289" cy="25432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AutoShape 15" id="15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true" flipV="false" rot="9212324">
            <a:off x="10028505" y="4589643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4" y="0"/>
                </a:moveTo>
                <a:lnTo>
                  <a:pt x="0" y="0"/>
                </a:lnTo>
                <a:lnTo>
                  <a:pt x="0" y="818027"/>
                </a:lnTo>
                <a:lnTo>
                  <a:pt x="941614" y="818027"/>
                </a:lnTo>
                <a:lnTo>
                  <a:pt x="941614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3187091" y="555407"/>
            <a:ext cx="3517176" cy="4183273"/>
            <a:chOff x="0" y="0"/>
            <a:chExt cx="2106289" cy="250518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06288" cy="2505186"/>
            </a:xfrm>
            <a:custGeom>
              <a:avLst/>
              <a:gdLst/>
              <a:ahLst/>
              <a:cxnLst/>
              <a:rect r="r" b="b" t="t" l="l"/>
              <a:pathLst>
                <a:path h="2505186" w="2106288">
                  <a:moveTo>
                    <a:pt x="70438" y="0"/>
                  </a:moveTo>
                  <a:lnTo>
                    <a:pt x="2035851" y="0"/>
                  </a:lnTo>
                  <a:cubicBezTo>
                    <a:pt x="2074752" y="0"/>
                    <a:pt x="2106288" y="31536"/>
                    <a:pt x="2106288" y="70438"/>
                  </a:cubicBezTo>
                  <a:lnTo>
                    <a:pt x="2106288" y="2434748"/>
                  </a:lnTo>
                  <a:cubicBezTo>
                    <a:pt x="2106288" y="2453430"/>
                    <a:pt x="2098867" y="2471346"/>
                    <a:pt x="2085658" y="2484555"/>
                  </a:cubicBezTo>
                  <a:cubicBezTo>
                    <a:pt x="2072448" y="2497765"/>
                    <a:pt x="2054532" y="2505186"/>
                    <a:pt x="2035851" y="2505186"/>
                  </a:cubicBezTo>
                  <a:lnTo>
                    <a:pt x="70438" y="2505186"/>
                  </a:lnTo>
                  <a:cubicBezTo>
                    <a:pt x="31536" y="2505186"/>
                    <a:pt x="0" y="2473650"/>
                    <a:pt x="0" y="2434748"/>
                  </a:cubicBezTo>
                  <a:lnTo>
                    <a:pt x="0" y="70438"/>
                  </a:lnTo>
                  <a:cubicBezTo>
                    <a:pt x="0" y="31536"/>
                    <a:pt x="31536" y="0"/>
                    <a:pt x="70438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2106289" cy="25432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957996" y="7877928"/>
            <a:ext cx="390249" cy="454108"/>
            <a:chOff x="0" y="0"/>
            <a:chExt cx="69850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45987"/>
              <a:ext cx="698500" cy="720825"/>
            </a:xfrm>
            <a:custGeom>
              <a:avLst/>
              <a:gdLst/>
              <a:ahLst/>
              <a:cxnLst/>
              <a:rect r="r" b="b" t="t" l="l"/>
              <a:pathLst>
                <a:path h="720825" w="698500">
                  <a:moveTo>
                    <a:pt x="496609" y="39749"/>
                  </a:moveTo>
                  <a:lnTo>
                    <a:pt x="551141" y="71477"/>
                  </a:lnTo>
                  <a:cubicBezTo>
                    <a:pt x="642374" y="124558"/>
                    <a:pt x="698500" y="222147"/>
                    <a:pt x="698500" y="327699"/>
                  </a:cubicBezTo>
                  <a:lnTo>
                    <a:pt x="698500" y="393127"/>
                  </a:lnTo>
                  <a:cubicBezTo>
                    <a:pt x="698500" y="498678"/>
                    <a:pt x="642374" y="596268"/>
                    <a:pt x="551141" y="649349"/>
                  </a:cubicBezTo>
                  <a:lnTo>
                    <a:pt x="496609" y="681077"/>
                  </a:lnTo>
                  <a:cubicBezTo>
                    <a:pt x="405518" y="734075"/>
                    <a:pt x="292982" y="734075"/>
                    <a:pt x="201891" y="681077"/>
                  </a:cubicBezTo>
                  <a:lnTo>
                    <a:pt x="147359" y="649349"/>
                  </a:lnTo>
                  <a:cubicBezTo>
                    <a:pt x="56126" y="596268"/>
                    <a:pt x="0" y="498678"/>
                    <a:pt x="0" y="393127"/>
                  </a:cubicBezTo>
                  <a:lnTo>
                    <a:pt x="0" y="327699"/>
                  </a:lnTo>
                  <a:cubicBezTo>
                    <a:pt x="0" y="222147"/>
                    <a:pt x="56126" y="124558"/>
                    <a:pt x="147359" y="71477"/>
                  </a:cubicBezTo>
                  <a:lnTo>
                    <a:pt x="201891" y="39749"/>
                  </a:lnTo>
                  <a:cubicBezTo>
                    <a:pt x="292982" y="-13249"/>
                    <a:pt x="405518" y="-13249"/>
                    <a:pt x="496609" y="3974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0279224" y="7151367"/>
            <a:ext cx="390249" cy="454108"/>
            <a:chOff x="0" y="0"/>
            <a:chExt cx="6985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45987"/>
              <a:ext cx="698500" cy="720825"/>
            </a:xfrm>
            <a:custGeom>
              <a:avLst/>
              <a:gdLst/>
              <a:ahLst/>
              <a:cxnLst/>
              <a:rect r="r" b="b" t="t" l="l"/>
              <a:pathLst>
                <a:path h="720825" w="698500">
                  <a:moveTo>
                    <a:pt x="496609" y="39749"/>
                  </a:moveTo>
                  <a:lnTo>
                    <a:pt x="551141" y="71477"/>
                  </a:lnTo>
                  <a:cubicBezTo>
                    <a:pt x="642374" y="124558"/>
                    <a:pt x="698500" y="222147"/>
                    <a:pt x="698500" y="327699"/>
                  </a:cubicBezTo>
                  <a:lnTo>
                    <a:pt x="698500" y="393127"/>
                  </a:lnTo>
                  <a:cubicBezTo>
                    <a:pt x="698500" y="498678"/>
                    <a:pt x="642374" y="596268"/>
                    <a:pt x="551141" y="649349"/>
                  </a:cubicBezTo>
                  <a:lnTo>
                    <a:pt x="496609" y="681077"/>
                  </a:lnTo>
                  <a:cubicBezTo>
                    <a:pt x="405518" y="734075"/>
                    <a:pt x="292982" y="734075"/>
                    <a:pt x="201891" y="681077"/>
                  </a:cubicBezTo>
                  <a:lnTo>
                    <a:pt x="147359" y="649349"/>
                  </a:lnTo>
                  <a:cubicBezTo>
                    <a:pt x="56126" y="596268"/>
                    <a:pt x="0" y="498678"/>
                    <a:pt x="0" y="393127"/>
                  </a:cubicBezTo>
                  <a:lnTo>
                    <a:pt x="0" y="327699"/>
                  </a:lnTo>
                  <a:cubicBezTo>
                    <a:pt x="0" y="222147"/>
                    <a:pt x="56126" y="124558"/>
                    <a:pt x="147359" y="71477"/>
                  </a:cubicBezTo>
                  <a:lnTo>
                    <a:pt x="201891" y="39749"/>
                  </a:lnTo>
                  <a:cubicBezTo>
                    <a:pt x="292982" y="-13249"/>
                    <a:pt x="405518" y="-13249"/>
                    <a:pt x="496609" y="3974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Freeform 33" id="33"/>
          <p:cNvSpPr/>
          <p:nvPr/>
        </p:nvSpPr>
        <p:spPr>
          <a:xfrm flipH="false" flipV="false" rot="0">
            <a:off x="6206650" y="6731419"/>
            <a:ext cx="3430547" cy="3143238"/>
          </a:xfrm>
          <a:custGeom>
            <a:avLst/>
            <a:gdLst/>
            <a:ahLst/>
            <a:cxnLst/>
            <a:rect r="r" b="b" t="t" l="l"/>
            <a:pathLst>
              <a:path h="3143238" w="3430547">
                <a:moveTo>
                  <a:pt x="0" y="0"/>
                </a:moveTo>
                <a:lnTo>
                  <a:pt x="3430546" y="0"/>
                </a:lnTo>
                <a:lnTo>
                  <a:pt x="3430546" y="3143238"/>
                </a:lnTo>
                <a:lnTo>
                  <a:pt x="0" y="314323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4" id="34"/>
          <p:cNvGrpSpPr/>
          <p:nvPr/>
        </p:nvGrpSpPr>
        <p:grpSpPr>
          <a:xfrm rot="0">
            <a:off x="2304352" y="9445229"/>
            <a:ext cx="4104592" cy="141418"/>
            <a:chOff x="0" y="0"/>
            <a:chExt cx="2196097" cy="75663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196097" cy="75663"/>
            </a:xfrm>
            <a:custGeom>
              <a:avLst/>
              <a:gdLst/>
              <a:ahLst/>
              <a:cxnLst/>
              <a:rect r="r" b="b" t="t" l="l"/>
              <a:pathLst>
                <a:path h="75663" w="2196097">
                  <a:moveTo>
                    <a:pt x="37832" y="0"/>
                  </a:moveTo>
                  <a:lnTo>
                    <a:pt x="2158265" y="0"/>
                  </a:lnTo>
                  <a:cubicBezTo>
                    <a:pt x="2168299" y="0"/>
                    <a:pt x="2177922" y="3986"/>
                    <a:pt x="2185016" y="11081"/>
                  </a:cubicBezTo>
                  <a:cubicBezTo>
                    <a:pt x="2192111" y="18175"/>
                    <a:pt x="2196097" y="27798"/>
                    <a:pt x="2196097" y="37832"/>
                  </a:cubicBezTo>
                  <a:lnTo>
                    <a:pt x="2196097" y="37832"/>
                  </a:lnTo>
                  <a:cubicBezTo>
                    <a:pt x="2196097" y="58726"/>
                    <a:pt x="2179159" y="75663"/>
                    <a:pt x="2158265" y="75663"/>
                  </a:cubicBezTo>
                  <a:lnTo>
                    <a:pt x="37832" y="75663"/>
                  </a:lnTo>
                  <a:cubicBezTo>
                    <a:pt x="16938" y="75663"/>
                    <a:pt x="0" y="58726"/>
                    <a:pt x="0" y="37832"/>
                  </a:cubicBezTo>
                  <a:lnTo>
                    <a:pt x="0" y="37832"/>
                  </a:lnTo>
                  <a:cubicBezTo>
                    <a:pt x="0" y="16938"/>
                    <a:pt x="16938" y="0"/>
                    <a:pt x="37832" y="0"/>
                  </a:cubicBezTo>
                  <a:close/>
                </a:path>
              </a:pathLst>
            </a:custGeom>
            <a:solidFill>
              <a:srgbClr val="6BB3FF"/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2196097" cy="1042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40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056398" y="9445229"/>
            <a:ext cx="1930373" cy="141418"/>
            <a:chOff x="0" y="0"/>
            <a:chExt cx="1032816" cy="75663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1032816" cy="75663"/>
            </a:xfrm>
            <a:custGeom>
              <a:avLst/>
              <a:gdLst/>
              <a:ahLst/>
              <a:cxnLst/>
              <a:rect r="r" b="b" t="t" l="l"/>
              <a:pathLst>
                <a:path h="75663" w="1032816">
                  <a:moveTo>
                    <a:pt x="37832" y="0"/>
                  </a:moveTo>
                  <a:lnTo>
                    <a:pt x="994984" y="0"/>
                  </a:lnTo>
                  <a:cubicBezTo>
                    <a:pt x="1015878" y="0"/>
                    <a:pt x="1032816" y="16938"/>
                    <a:pt x="1032816" y="37832"/>
                  </a:cubicBezTo>
                  <a:lnTo>
                    <a:pt x="1032816" y="37832"/>
                  </a:lnTo>
                  <a:cubicBezTo>
                    <a:pt x="1032816" y="47865"/>
                    <a:pt x="1028830" y="57488"/>
                    <a:pt x="1021735" y="64583"/>
                  </a:cubicBezTo>
                  <a:cubicBezTo>
                    <a:pt x="1014640" y="71678"/>
                    <a:pt x="1005018" y="75663"/>
                    <a:pt x="994984" y="75663"/>
                  </a:cubicBezTo>
                  <a:lnTo>
                    <a:pt x="37832" y="75663"/>
                  </a:lnTo>
                  <a:cubicBezTo>
                    <a:pt x="16938" y="75663"/>
                    <a:pt x="0" y="58726"/>
                    <a:pt x="0" y="37832"/>
                  </a:cubicBezTo>
                  <a:lnTo>
                    <a:pt x="0" y="37832"/>
                  </a:lnTo>
                  <a:cubicBezTo>
                    <a:pt x="0" y="16938"/>
                    <a:pt x="16938" y="0"/>
                    <a:pt x="37832" y="0"/>
                  </a:cubicBezTo>
                  <a:close/>
                </a:path>
              </a:pathLst>
            </a:custGeom>
            <a:solidFill>
              <a:srgbClr val="6BB3FF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28575"/>
              <a:ext cx="1032816" cy="10423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40"/>
                </a:lnSpc>
              </a:pPr>
            </a:p>
          </p:txBody>
        </p:sp>
      </p:grpSp>
      <p:sp>
        <p:nvSpPr>
          <p:cNvPr name="Freeform 40" id="40"/>
          <p:cNvSpPr/>
          <p:nvPr/>
        </p:nvSpPr>
        <p:spPr>
          <a:xfrm flipH="false" flipV="false" rot="5400000">
            <a:off x="3046999" y="9243867"/>
            <a:ext cx="671751" cy="589829"/>
          </a:xfrm>
          <a:custGeom>
            <a:avLst/>
            <a:gdLst/>
            <a:ahLst/>
            <a:cxnLst/>
            <a:rect r="r" b="b" t="t" l="l"/>
            <a:pathLst>
              <a:path h="589829" w="671751">
                <a:moveTo>
                  <a:pt x="0" y="0"/>
                </a:moveTo>
                <a:lnTo>
                  <a:pt x="671751" y="0"/>
                </a:lnTo>
                <a:lnTo>
                  <a:pt x="671751" y="589830"/>
                </a:lnTo>
                <a:lnTo>
                  <a:pt x="0" y="58983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2000"/>
            </a:blip>
            <a:stretch>
              <a:fillRect l="-680" t="0" r="-68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1" id="41"/>
          <p:cNvGrpSpPr/>
          <p:nvPr/>
        </p:nvGrpSpPr>
        <p:grpSpPr>
          <a:xfrm rot="0">
            <a:off x="3127485" y="9202906"/>
            <a:ext cx="510779" cy="594362"/>
            <a:chOff x="0" y="0"/>
            <a:chExt cx="698500" cy="812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35136"/>
              <a:ext cx="698500" cy="742529"/>
            </a:xfrm>
            <a:custGeom>
              <a:avLst/>
              <a:gdLst/>
              <a:ahLst/>
              <a:cxnLst/>
              <a:rect r="r" b="b" t="t" l="l"/>
              <a:pathLst>
                <a:path h="742529" w="698500">
                  <a:moveTo>
                    <a:pt x="461837" y="30369"/>
                  </a:moveTo>
                  <a:lnTo>
                    <a:pt x="585913" y="102559"/>
                  </a:lnTo>
                  <a:cubicBezTo>
                    <a:pt x="655618" y="143115"/>
                    <a:pt x="698500" y="217676"/>
                    <a:pt x="698500" y="298320"/>
                  </a:cubicBezTo>
                  <a:lnTo>
                    <a:pt x="698500" y="444208"/>
                  </a:lnTo>
                  <a:cubicBezTo>
                    <a:pt x="698500" y="524852"/>
                    <a:pt x="655618" y="599413"/>
                    <a:pt x="585913" y="639969"/>
                  </a:cubicBezTo>
                  <a:lnTo>
                    <a:pt x="461837" y="712159"/>
                  </a:lnTo>
                  <a:cubicBezTo>
                    <a:pt x="392240" y="752652"/>
                    <a:pt x="306260" y="752652"/>
                    <a:pt x="236663" y="712159"/>
                  </a:cubicBezTo>
                  <a:lnTo>
                    <a:pt x="112587" y="639969"/>
                  </a:lnTo>
                  <a:cubicBezTo>
                    <a:pt x="42882" y="599413"/>
                    <a:pt x="0" y="524852"/>
                    <a:pt x="0" y="444208"/>
                  </a:cubicBezTo>
                  <a:lnTo>
                    <a:pt x="0" y="298320"/>
                  </a:lnTo>
                  <a:cubicBezTo>
                    <a:pt x="0" y="217676"/>
                    <a:pt x="42882" y="143115"/>
                    <a:pt x="112587" y="102559"/>
                  </a:cubicBezTo>
                  <a:lnTo>
                    <a:pt x="236663" y="30369"/>
                  </a:lnTo>
                  <a:cubicBezTo>
                    <a:pt x="306260" y="-10124"/>
                    <a:pt x="392240" y="-10124"/>
                    <a:pt x="461837" y="3036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3186841" y="9271975"/>
            <a:ext cx="392068" cy="456224"/>
            <a:chOff x="0" y="0"/>
            <a:chExt cx="698500" cy="812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22887"/>
              <a:ext cx="698500" cy="767026"/>
            </a:xfrm>
            <a:custGeom>
              <a:avLst/>
              <a:gdLst/>
              <a:ahLst/>
              <a:cxnLst/>
              <a:rect r="r" b="b" t="t" l="l"/>
              <a:pathLst>
                <a:path h="767026" w="698500">
                  <a:moveTo>
                    <a:pt x="422588" y="19782"/>
                  </a:moveTo>
                  <a:lnTo>
                    <a:pt x="625162" y="137644"/>
                  </a:lnTo>
                  <a:cubicBezTo>
                    <a:pt x="670567" y="164061"/>
                    <a:pt x="698500" y="212630"/>
                    <a:pt x="698500" y="265161"/>
                  </a:cubicBezTo>
                  <a:lnTo>
                    <a:pt x="698500" y="501865"/>
                  </a:lnTo>
                  <a:cubicBezTo>
                    <a:pt x="698500" y="554396"/>
                    <a:pt x="670567" y="602965"/>
                    <a:pt x="625162" y="629382"/>
                  </a:cubicBezTo>
                  <a:lnTo>
                    <a:pt x="422588" y="747244"/>
                  </a:lnTo>
                  <a:cubicBezTo>
                    <a:pt x="377253" y="773620"/>
                    <a:pt x="321247" y="773620"/>
                    <a:pt x="275912" y="747244"/>
                  </a:cubicBezTo>
                  <a:lnTo>
                    <a:pt x="73338" y="629382"/>
                  </a:lnTo>
                  <a:cubicBezTo>
                    <a:pt x="27933" y="602965"/>
                    <a:pt x="0" y="554396"/>
                    <a:pt x="0" y="501865"/>
                  </a:cubicBezTo>
                  <a:lnTo>
                    <a:pt x="0" y="265161"/>
                  </a:lnTo>
                  <a:cubicBezTo>
                    <a:pt x="0" y="212630"/>
                    <a:pt x="27933" y="164061"/>
                    <a:pt x="73338" y="137644"/>
                  </a:cubicBezTo>
                  <a:lnTo>
                    <a:pt x="275912" y="19782"/>
                  </a:lnTo>
                  <a:cubicBezTo>
                    <a:pt x="321247" y="-6594"/>
                    <a:pt x="377253" y="-6594"/>
                    <a:pt x="422588" y="19782"/>
                  </a:cubicBezTo>
                  <a:close/>
                </a:path>
              </a:pathLst>
            </a:custGeom>
            <a:solidFill>
              <a:srgbClr val="AB87FF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5400000">
            <a:off x="5137598" y="9243867"/>
            <a:ext cx="671751" cy="589829"/>
          </a:xfrm>
          <a:custGeom>
            <a:avLst/>
            <a:gdLst/>
            <a:ahLst/>
            <a:cxnLst/>
            <a:rect r="r" b="b" t="t" l="l"/>
            <a:pathLst>
              <a:path h="589829" w="671751">
                <a:moveTo>
                  <a:pt x="0" y="0"/>
                </a:moveTo>
                <a:lnTo>
                  <a:pt x="671752" y="0"/>
                </a:lnTo>
                <a:lnTo>
                  <a:pt x="671752" y="589830"/>
                </a:lnTo>
                <a:lnTo>
                  <a:pt x="0" y="58983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2000"/>
            </a:blip>
            <a:stretch>
              <a:fillRect l="-680" t="0" r="-68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48" id="48"/>
          <p:cNvGrpSpPr/>
          <p:nvPr/>
        </p:nvGrpSpPr>
        <p:grpSpPr>
          <a:xfrm rot="0">
            <a:off x="5218084" y="9202906"/>
            <a:ext cx="510779" cy="594362"/>
            <a:chOff x="0" y="0"/>
            <a:chExt cx="698500" cy="81280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35136"/>
              <a:ext cx="698500" cy="742529"/>
            </a:xfrm>
            <a:custGeom>
              <a:avLst/>
              <a:gdLst/>
              <a:ahLst/>
              <a:cxnLst/>
              <a:rect r="r" b="b" t="t" l="l"/>
              <a:pathLst>
                <a:path h="742529" w="698500">
                  <a:moveTo>
                    <a:pt x="461837" y="30369"/>
                  </a:moveTo>
                  <a:lnTo>
                    <a:pt x="585913" y="102559"/>
                  </a:lnTo>
                  <a:cubicBezTo>
                    <a:pt x="655618" y="143115"/>
                    <a:pt x="698500" y="217676"/>
                    <a:pt x="698500" y="298320"/>
                  </a:cubicBezTo>
                  <a:lnTo>
                    <a:pt x="698500" y="444208"/>
                  </a:lnTo>
                  <a:cubicBezTo>
                    <a:pt x="698500" y="524852"/>
                    <a:pt x="655618" y="599413"/>
                    <a:pt x="585913" y="639969"/>
                  </a:cubicBezTo>
                  <a:lnTo>
                    <a:pt x="461837" y="712159"/>
                  </a:lnTo>
                  <a:cubicBezTo>
                    <a:pt x="392240" y="752652"/>
                    <a:pt x="306260" y="752652"/>
                    <a:pt x="236663" y="712159"/>
                  </a:cubicBezTo>
                  <a:lnTo>
                    <a:pt x="112587" y="639969"/>
                  </a:lnTo>
                  <a:cubicBezTo>
                    <a:pt x="42882" y="599413"/>
                    <a:pt x="0" y="524852"/>
                    <a:pt x="0" y="444208"/>
                  </a:cubicBezTo>
                  <a:lnTo>
                    <a:pt x="0" y="298320"/>
                  </a:lnTo>
                  <a:cubicBezTo>
                    <a:pt x="0" y="217676"/>
                    <a:pt x="42882" y="143115"/>
                    <a:pt x="112587" y="102559"/>
                  </a:cubicBezTo>
                  <a:lnTo>
                    <a:pt x="236663" y="30369"/>
                  </a:lnTo>
                  <a:cubicBezTo>
                    <a:pt x="306260" y="-10124"/>
                    <a:pt x="392240" y="-10124"/>
                    <a:pt x="461837" y="3036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50" id="50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5277440" y="9271975"/>
            <a:ext cx="392068" cy="456224"/>
            <a:chOff x="0" y="0"/>
            <a:chExt cx="698500" cy="812800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22887"/>
              <a:ext cx="698500" cy="767026"/>
            </a:xfrm>
            <a:custGeom>
              <a:avLst/>
              <a:gdLst/>
              <a:ahLst/>
              <a:cxnLst/>
              <a:rect r="r" b="b" t="t" l="l"/>
              <a:pathLst>
                <a:path h="767026" w="698500">
                  <a:moveTo>
                    <a:pt x="422588" y="19782"/>
                  </a:moveTo>
                  <a:lnTo>
                    <a:pt x="625162" y="137644"/>
                  </a:lnTo>
                  <a:cubicBezTo>
                    <a:pt x="670567" y="164061"/>
                    <a:pt x="698500" y="212630"/>
                    <a:pt x="698500" y="265161"/>
                  </a:cubicBezTo>
                  <a:lnTo>
                    <a:pt x="698500" y="501865"/>
                  </a:lnTo>
                  <a:cubicBezTo>
                    <a:pt x="698500" y="554396"/>
                    <a:pt x="670567" y="602965"/>
                    <a:pt x="625162" y="629382"/>
                  </a:cubicBezTo>
                  <a:lnTo>
                    <a:pt x="422588" y="747244"/>
                  </a:lnTo>
                  <a:cubicBezTo>
                    <a:pt x="377253" y="773620"/>
                    <a:pt x="321247" y="773620"/>
                    <a:pt x="275912" y="747244"/>
                  </a:cubicBezTo>
                  <a:lnTo>
                    <a:pt x="73338" y="629382"/>
                  </a:lnTo>
                  <a:cubicBezTo>
                    <a:pt x="27933" y="602965"/>
                    <a:pt x="0" y="554396"/>
                    <a:pt x="0" y="501865"/>
                  </a:cubicBezTo>
                  <a:lnTo>
                    <a:pt x="0" y="265161"/>
                  </a:lnTo>
                  <a:cubicBezTo>
                    <a:pt x="0" y="212630"/>
                    <a:pt x="27933" y="164061"/>
                    <a:pt x="73338" y="137644"/>
                  </a:cubicBezTo>
                  <a:lnTo>
                    <a:pt x="275912" y="19782"/>
                  </a:lnTo>
                  <a:cubicBezTo>
                    <a:pt x="321247" y="-6594"/>
                    <a:pt x="377253" y="-6594"/>
                    <a:pt x="422588" y="19782"/>
                  </a:cubicBezTo>
                  <a:close/>
                </a:path>
              </a:pathLst>
            </a:custGeom>
            <a:solidFill>
              <a:srgbClr val="F27EDD"/>
            </a:solidFill>
          </p:spPr>
        </p:sp>
        <p:sp>
          <p:nvSpPr>
            <p:cNvPr name="TextBox 53" id="53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Freeform 54" id="54"/>
          <p:cNvSpPr/>
          <p:nvPr/>
        </p:nvSpPr>
        <p:spPr>
          <a:xfrm flipH="false" flipV="false" rot="5400000">
            <a:off x="9854615" y="9243867"/>
            <a:ext cx="671751" cy="589829"/>
          </a:xfrm>
          <a:custGeom>
            <a:avLst/>
            <a:gdLst/>
            <a:ahLst/>
            <a:cxnLst/>
            <a:rect r="r" b="b" t="t" l="l"/>
            <a:pathLst>
              <a:path h="589829" w="671751">
                <a:moveTo>
                  <a:pt x="0" y="0"/>
                </a:moveTo>
                <a:lnTo>
                  <a:pt x="671751" y="0"/>
                </a:lnTo>
                <a:lnTo>
                  <a:pt x="671751" y="589830"/>
                </a:lnTo>
                <a:lnTo>
                  <a:pt x="0" y="58983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2000"/>
            </a:blip>
            <a:stretch>
              <a:fillRect l="-680" t="0" r="-68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55" id="55"/>
          <p:cNvGrpSpPr/>
          <p:nvPr/>
        </p:nvGrpSpPr>
        <p:grpSpPr>
          <a:xfrm rot="0">
            <a:off x="9935101" y="9202906"/>
            <a:ext cx="510779" cy="594362"/>
            <a:chOff x="0" y="0"/>
            <a:chExt cx="698500" cy="81280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35136"/>
              <a:ext cx="698500" cy="742529"/>
            </a:xfrm>
            <a:custGeom>
              <a:avLst/>
              <a:gdLst/>
              <a:ahLst/>
              <a:cxnLst/>
              <a:rect r="r" b="b" t="t" l="l"/>
              <a:pathLst>
                <a:path h="742529" w="698500">
                  <a:moveTo>
                    <a:pt x="461837" y="30369"/>
                  </a:moveTo>
                  <a:lnTo>
                    <a:pt x="585913" y="102559"/>
                  </a:lnTo>
                  <a:cubicBezTo>
                    <a:pt x="655618" y="143115"/>
                    <a:pt x="698500" y="217676"/>
                    <a:pt x="698500" y="298320"/>
                  </a:cubicBezTo>
                  <a:lnTo>
                    <a:pt x="698500" y="444208"/>
                  </a:lnTo>
                  <a:cubicBezTo>
                    <a:pt x="698500" y="524852"/>
                    <a:pt x="655618" y="599413"/>
                    <a:pt x="585913" y="639969"/>
                  </a:cubicBezTo>
                  <a:lnTo>
                    <a:pt x="461837" y="712159"/>
                  </a:lnTo>
                  <a:cubicBezTo>
                    <a:pt x="392240" y="752652"/>
                    <a:pt x="306260" y="752652"/>
                    <a:pt x="236663" y="712159"/>
                  </a:cubicBezTo>
                  <a:lnTo>
                    <a:pt x="112587" y="639969"/>
                  </a:lnTo>
                  <a:cubicBezTo>
                    <a:pt x="42882" y="599413"/>
                    <a:pt x="0" y="524852"/>
                    <a:pt x="0" y="444208"/>
                  </a:cubicBezTo>
                  <a:lnTo>
                    <a:pt x="0" y="298320"/>
                  </a:lnTo>
                  <a:cubicBezTo>
                    <a:pt x="0" y="217676"/>
                    <a:pt x="42882" y="143115"/>
                    <a:pt x="112587" y="102559"/>
                  </a:cubicBezTo>
                  <a:lnTo>
                    <a:pt x="236663" y="30369"/>
                  </a:lnTo>
                  <a:cubicBezTo>
                    <a:pt x="306260" y="-10124"/>
                    <a:pt x="392240" y="-10124"/>
                    <a:pt x="461837" y="3036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57" id="57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9994457" y="9271975"/>
            <a:ext cx="392068" cy="456224"/>
            <a:chOff x="0" y="0"/>
            <a:chExt cx="698500" cy="812800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22887"/>
              <a:ext cx="698500" cy="767026"/>
            </a:xfrm>
            <a:custGeom>
              <a:avLst/>
              <a:gdLst/>
              <a:ahLst/>
              <a:cxnLst/>
              <a:rect r="r" b="b" t="t" l="l"/>
              <a:pathLst>
                <a:path h="767026" w="698500">
                  <a:moveTo>
                    <a:pt x="422588" y="19782"/>
                  </a:moveTo>
                  <a:lnTo>
                    <a:pt x="625162" y="137644"/>
                  </a:lnTo>
                  <a:cubicBezTo>
                    <a:pt x="670567" y="164061"/>
                    <a:pt x="698500" y="212630"/>
                    <a:pt x="698500" y="265161"/>
                  </a:cubicBezTo>
                  <a:lnTo>
                    <a:pt x="698500" y="501865"/>
                  </a:lnTo>
                  <a:cubicBezTo>
                    <a:pt x="698500" y="554396"/>
                    <a:pt x="670567" y="602965"/>
                    <a:pt x="625162" y="629382"/>
                  </a:cubicBezTo>
                  <a:lnTo>
                    <a:pt x="422588" y="747244"/>
                  </a:lnTo>
                  <a:cubicBezTo>
                    <a:pt x="377253" y="773620"/>
                    <a:pt x="321247" y="773620"/>
                    <a:pt x="275912" y="747244"/>
                  </a:cubicBezTo>
                  <a:lnTo>
                    <a:pt x="73338" y="629382"/>
                  </a:lnTo>
                  <a:cubicBezTo>
                    <a:pt x="27933" y="602965"/>
                    <a:pt x="0" y="554396"/>
                    <a:pt x="0" y="501865"/>
                  </a:cubicBezTo>
                  <a:lnTo>
                    <a:pt x="0" y="265161"/>
                  </a:lnTo>
                  <a:cubicBezTo>
                    <a:pt x="0" y="212630"/>
                    <a:pt x="27933" y="164061"/>
                    <a:pt x="73338" y="137644"/>
                  </a:cubicBezTo>
                  <a:lnTo>
                    <a:pt x="275912" y="19782"/>
                  </a:lnTo>
                  <a:cubicBezTo>
                    <a:pt x="321247" y="-6594"/>
                    <a:pt x="377253" y="-6594"/>
                    <a:pt x="422588" y="19782"/>
                  </a:cubicBezTo>
                  <a:close/>
                </a:path>
              </a:pathLst>
            </a:custGeom>
            <a:solidFill>
              <a:srgbClr val="FFD500"/>
            </a:solidFill>
          </p:spPr>
        </p:sp>
        <p:sp>
          <p:nvSpPr>
            <p:cNvPr name="TextBox 60" id="60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Freeform 61" id="61"/>
          <p:cNvSpPr/>
          <p:nvPr/>
        </p:nvSpPr>
        <p:spPr>
          <a:xfrm flipH="false" flipV="false" rot="5400000">
            <a:off x="8745121" y="7714517"/>
            <a:ext cx="671751" cy="589829"/>
          </a:xfrm>
          <a:custGeom>
            <a:avLst/>
            <a:gdLst/>
            <a:ahLst/>
            <a:cxnLst/>
            <a:rect r="r" b="b" t="t" l="l"/>
            <a:pathLst>
              <a:path h="589829" w="671751">
                <a:moveTo>
                  <a:pt x="0" y="0"/>
                </a:moveTo>
                <a:lnTo>
                  <a:pt x="671752" y="0"/>
                </a:lnTo>
                <a:lnTo>
                  <a:pt x="671752" y="589829"/>
                </a:lnTo>
                <a:lnTo>
                  <a:pt x="0" y="58982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2000"/>
            </a:blip>
            <a:stretch>
              <a:fillRect l="-680" t="0" r="-68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2" id="62"/>
          <p:cNvGrpSpPr/>
          <p:nvPr/>
        </p:nvGrpSpPr>
        <p:grpSpPr>
          <a:xfrm rot="0">
            <a:off x="8825607" y="7708677"/>
            <a:ext cx="510779" cy="594362"/>
            <a:chOff x="0" y="0"/>
            <a:chExt cx="698500" cy="812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35136"/>
              <a:ext cx="698500" cy="742529"/>
            </a:xfrm>
            <a:custGeom>
              <a:avLst/>
              <a:gdLst/>
              <a:ahLst/>
              <a:cxnLst/>
              <a:rect r="r" b="b" t="t" l="l"/>
              <a:pathLst>
                <a:path h="742529" w="698500">
                  <a:moveTo>
                    <a:pt x="461837" y="30369"/>
                  </a:moveTo>
                  <a:lnTo>
                    <a:pt x="585913" y="102559"/>
                  </a:lnTo>
                  <a:cubicBezTo>
                    <a:pt x="655618" y="143115"/>
                    <a:pt x="698500" y="217676"/>
                    <a:pt x="698500" y="298320"/>
                  </a:cubicBezTo>
                  <a:lnTo>
                    <a:pt x="698500" y="444208"/>
                  </a:lnTo>
                  <a:cubicBezTo>
                    <a:pt x="698500" y="524852"/>
                    <a:pt x="655618" y="599413"/>
                    <a:pt x="585913" y="639969"/>
                  </a:cubicBezTo>
                  <a:lnTo>
                    <a:pt x="461837" y="712159"/>
                  </a:lnTo>
                  <a:cubicBezTo>
                    <a:pt x="392240" y="752652"/>
                    <a:pt x="306260" y="752652"/>
                    <a:pt x="236663" y="712159"/>
                  </a:cubicBezTo>
                  <a:lnTo>
                    <a:pt x="112587" y="639969"/>
                  </a:lnTo>
                  <a:cubicBezTo>
                    <a:pt x="42882" y="599413"/>
                    <a:pt x="0" y="524852"/>
                    <a:pt x="0" y="444208"/>
                  </a:cubicBezTo>
                  <a:lnTo>
                    <a:pt x="0" y="298320"/>
                  </a:lnTo>
                  <a:cubicBezTo>
                    <a:pt x="0" y="217676"/>
                    <a:pt x="42882" y="143115"/>
                    <a:pt x="112587" y="102559"/>
                  </a:cubicBezTo>
                  <a:lnTo>
                    <a:pt x="236663" y="30369"/>
                  </a:lnTo>
                  <a:cubicBezTo>
                    <a:pt x="306260" y="-10124"/>
                    <a:pt x="392240" y="-10124"/>
                    <a:pt x="461837" y="3036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8884963" y="7761207"/>
            <a:ext cx="392068" cy="456224"/>
            <a:chOff x="0" y="0"/>
            <a:chExt cx="698500" cy="8128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22887"/>
              <a:ext cx="698500" cy="767026"/>
            </a:xfrm>
            <a:custGeom>
              <a:avLst/>
              <a:gdLst/>
              <a:ahLst/>
              <a:cxnLst/>
              <a:rect r="r" b="b" t="t" l="l"/>
              <a:pathLst>
                <a:path h="767026" w="698500">
                  <a:moveTo>
                    <a:pt x="422588" y="19782"/>
                  </a:moveTo>
                  <a:lnTo>
                    <a:pt x="625162" y="137644"/>
                  </a:lnTo>
                  <a:cubicBezTo>
                    <a:pt x="670567" y="164061"/>
                    <a:pt x="698500" y="212630"/>
                    <a:pt x="698500" y="265161"/>
                  </a:cubicBezTo>
                  <a:lnTo>
                    <a:pt x="698500" y="501865"/>
                  </a:lnTo>
                  <a:cubicBezTo>
                    <a:pt x="698500" y="554396"/>
                    <a:pt x="670567" y="602965"/>
                    <a:pt x="625162" y="629382"/>
                  </a:cubicBezTo>
                  <a:lnTo>
                    <a:pt x="422588" y="747244"/>
                  </a:lnTo>
                  <a:cubicBezTo>
                    <a:pt x="377253" y="773620"/>
                    <a:pt x="321247" y="773620"/>
                    <a:pt x="275912" y="747244"/>
                  </a:cubicBezTo>
                  <a:lnTo>
                    <a:pt x="73338" y="629382"/>
                  </a:lnTo>
                  <a:cubicBezTo>
                    <a:pt x="27933" y="602965"/>
                    <a:pt x="0" y="554396"/>
                    <a:pt x="0" y="501865"/>
                  </a:cubicBezTo>
                  <a:lnTo>
                    <a:pt x="0" y="265161"/>
                  </a:lnTo>
                  <a:cubicBezTo>
                    <a:pt x="0" y="212630"/>
                    <a:pt x="27933" y="164061"/>
                    <a:pt x="73338" y="137644"/>
                  </a:cubicBezTo>
                  <a:lnTo>
                    <a:pt x="275912" y="19782"/>
                  </a:lnTo>
                  <a:cubicBezTo>
                    <a:pt x="321247" y="-6594"/>
                    <a:pt x="377253" y="-6594"/>
                    <a:pt x="422588" y="19782"/>
                  </a:cubicBezTo>
                  <a:close/>
                </a:path>
              </a:pathLst>
            </a:custGeom>
            <a:solidFill>
              <a:srgbClr val="FF94A0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Freeform 68" id="68"/>
          <p:cNvSpPr/>
          <p:nvPr/>
        </p:nvSpPr>
        <p:spPr>
          <a:xfrm flipH="false" flipV="false" rot="5400000">
            <a:off x="6328458" y="7714517"/>
            <a:ext cx="671751" cy="589829"/>
          </a:xfrm>
          <a:custGeom>
            <a:avLst/>
            <a:gdLst/>
            <a:ahLst/>
            <a:cxnLst/>
            <a:rect r="r" b="b" t="t" l="l"/>
            <a:pathLst>
              <a:path h="589829" w="671751">
                <a:moveTo>
                  <a:pt x="0" y="0"/>
                </a:moveTo>
                <a:lnTo>
                  <a:pt x="671751" y="0"/>
                </a:lnTo>
                <a:lnTo>
                  <a:pt x="671751" y="589829"/>
                </a:lnTo>
                <a:lnTo>
                  <a:pt x="0" y="58982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2000"/>
            </a:blip>
            <a:stretch>
              <a:fillRect l="-680" t="0" r="-68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69" id="69"/>
          <p:cNvGrpSpPr/>
          <p:nvPr/>
        </p:nvGrpSpPr>
        <p:grpSpPr>
          <a:xfrm rot="0">
            <a:off x="6408943" y="7673556"/>
            <a:ext cx="510779" cy="594362"/>
            <a:chOff x="0" y="0"/>
            <a:chExt cx="698500" cy="812800"/>
          </a:xfrm>
        </p:grpSpPr>
        <p:sp>
          <p:nvSpPr>
            <p:cNvPr name="Freeform 70" id="70"/>
            <p:cNvSpPr/>
            <p:nvPr/>
          </p:nvSpPr>
          <p:spPr>
            <a:xfrm flipH="false" flipV="false" rot="0">
              <a:off x="0" y="35136"/>
              <a:ext cx="698500" cy="742529"/>
            </a:xfrm>
            <a:custGeom>
              <a:avLst/>
              <a:gdLst/>
              <a:ahLst/>
              <a:cxnLst/>
              <a:rect r="r" b="b" t="t" l="l"/>
              <a:pathLst>
                <a:path h="742529" w="698500">
                  <a:moveTo>
                    <a:pt x="461837" y="30369"/>
                  </a:moveTo>
                  <a:lnTo>
                    <a:pt x="585913" y="102559"/>
                  </a:lnTo>
                  <a:cubicBezTo>
                    <a:pt x="655618" y="143115"/>
                    <a:pt x="698500" y="217676"/>
                    <a:pt x="698500" y="298320"/>
                  </a:cubicBezTo>
                  <a:lnTo>
                    <a:pt x="698500" y="444208"/>
                  </a:lnTo>
                  <a:cubicBezTo>
                    <a:pt x="698500" y="524852"/>
                    <a:pt x="655618" y="599413"/>
                    <a:pt x="585913" y="639969"/>
                  </a:cubicBezTo>
                  <a:lnTo>
                    <a:pt x="461837" y="712159"/>
                  </a:lnTo>
                  <a:cubicBezTo>
                    <a:pt x="392240" y="752652"/>
                    <a:pt x="306260" y="752652"/>
                    <a:pt x="236663" y="712159"/>
                  </a:cubicBezTo>
                  <a:lnTo>
                    <a:pt x="112587" y="639969"/>
                  </a:lnTo>
                  <a:cubicBezTo>
                    <a:pt x="42882" y="599413"/>
                    <a:pt x="0" y="524852"/>
                    <a:pt x="0" y="444208"/>
                  </a:cubicBezTo>
                  <a:lnTo>
                    <a:pt x="0" y="298320"/>
                  </a:lnTo>
                  <a:cubicBezTo>
                    <a:pt x="0" y="217676"/>
                    <a:pt x="42882" y="143115"/>
                    <a:pt x="112587" y="102559"/>
                  </a:cubicBezTo>
                  <a:lnTo>
                    <a:pt x="236663" y="30369"/>
                  </a:lnTo>
                  <a:cubicBezTo>
                    <a:pt x="306260" y="-10124"/>
                    <a:pt x="392240" y="-10124"/>
                    <a:pt x="461837" y="3036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71" id="71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6468299" y="7742624"/>
            <a:ext cx="392068" cy="456224"/>
            <a:chOff x="0" y="0"/>
            <a:chExt cx="698500" cy="81280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22887"/>
              <a:ext cx="698500" cy="767026"/>
            </a:xfrm>
            <a:custGeom>
              <a:avLst/>
              <a:gdLst/>
              <a:ahLst/>
              <a:cxnLst/>
              <a:rect r="r" b="b" t="t" l="l"/>
              <a:pathLst>
                <a:path h="767026" w="698500">
                  <a:moveTo>
                    <a:pt x="422588" y="19782"/>
                  </a:moveTo>
                  <a:lnTo>
                    <a:pt x="625162" y="137644"/>
                  </a:lnTo>
                  <a:cubicBezTo>
                    <a:pt x="670567" y="164061"/>
                    <a:pt x="698500" y="212630"/>
                    <a:pt x="698500" y="265161"/>
                  </a:cubicBezTo>
                  <a:lnTo>
                    <a:pt x="698500" y="501865"/>
                  </a:lnTo>
                  <a:cubicBezTo>
                    <a:pt x="698500" y="554396"/>
                    <a:pt x="670567" y="602965"/>
                    <a:pt x="625162" y="629382"/>
                  </a:cubicBezTo>
                  <a:lnTo>
                    <a:pt x="422588" y="747244"/>
                  </a:lnTo>
                  <a:cubicBezTo>
                    <a:pt x="377253" y="773620"/>
                    <a:pt x="321247" y="773620"/>
                    <a:pt x="275912" y="747244"/>
                  </a:cubicBezTo>
                  <a:lnTo>
                    <a:pt x="73338" y="629382"/>
                  </a:lnTo>
                  <a:cubicBezTo>
                    <a:pt x="27933" y="602965"/>
                    <a:pt x="0" y="554396"/>
                    <a:pt x="0" y="501865"/>
                  </a:cubicBezTo>
                  <a:lnTo>
                    <a:pt x="0" y="265161"/>
                  </a:lnTo>
                  <a:cubicBezTo>
                    <a:pt x="0" y="212630"/>
                    <a:pt x="27933" y="164061"/>
                    <a:pt x="73338" y="137644"/>
                  </a:cubicBezTo>
                  <a:lnTo>
                    <a:pt x="275912" y="19782"/>
                  </a:lnTo>
                  <a:cubicBezTo>
                    <a:pt x="321247" y="-6594"/>
                    <a:pt x="377253" y="-6594"/>
                    <a:pt x="422588" y="19782"/>
                  </a:cubicBezTo>
                  <a:close/>
                </a:path>
              </a:pathLst>
            </a:custGeom>
            <a:solidFill>
              <a:srgbClr val="FFB376"/>
            </a:solidFill>
          </p:spPr>
        </p:sp>
        <p:sp>
          <p:nvSpPr>
            <p:cNvPr name="TextBox 74" id="74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TextBox 75" id="75"/>
          <p:cNvSpPr txBox="true"/>
          <p:nvPr/>
        </p:nvSpPr>
        <p:spPr>
          <a:xfrm rot="0">
            <a:off x="5227604" y="7191778"/>
            <a:ext cx="1582749" cy="8679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"/>
              </a:lnSpc>
            </a:pP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Nếu phát hiện lỗi hoặc thiếu dữ liệu, hệ thống khô</a:t>
            </a: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ng trả lời bừa mà chuyển sang phản hồi an toàn.</a:t>
            </a:r>
          </a:p>
          <a:p>
            <a:pPr algn="ctr">
              <a:lnSpc>
                <a:spcPts val="1176"/>
              </a:lnSpc>
            </a:pPr>
          </a:p>
          <a:p>
            <a:pPr algn="ctr">
              <a:lnSpc>
                <a:spcPts val="1176"/>
              </a:lnSpc>
            </a:pPr>
          </a:p>
        </p:txBody>
      </p:sp>
      <p:grpSp>
        <p:nvGrpSpPr>
          <p:cNvPr name="Group 76" id="76"/>
          <p:cNvGrpSpPr/>
          <p:nvPr/>
        </p:nvGrpSpPr>
        <p:grpSpPr>
          <a:xfrm rot="0">
            <a:off x="4175380" y="9128175"/>
            <a:ext cx="490658" cy="775526"/>
            <a:chOff x="0" y="0"/>
            <a:chExt cx="654211" cy="1034034"/>
          </a:xfrm>
        </p:grpSpPr>
        <p:grpSp>
          <p:nvGrpSpPr>
            <p:cNvPr name="Group 77" id="77"/>
            <p:cNvGrpSpPr/>
            <p:nvPr/>
          </p:nvGrpSpPr>
          <p:grpSpPr>
            <a:xfrm rot="2700000">
              <a:off x="-21676" y="224735"/>
              <a:ext cx="713748" cy="188557"/>
              <a:chOff x="0" y="0"/>
              <a:chExt cx="286410" cy="75663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0" y="0"/>
                <a:ext cx="286410" cy="75663"/>
              </a:xfrm>
              <a:custGeom>
                <a:avLst/>
                <a:gdLst/>
                <a:ahLst/>
                <a:cxnLst/>
                <a:rect r="r" b="b" t="t" l="l"/>
                <a:pathLst>
                  <a:path h="75663" w="286410">
                    <a:moveTo>
                      <a:pt x="37832" y="0"/>
                    </a:moveTo>
                    <a:lnTo>
                      <a:pt x="248578" y="0"/>
                    </a:lnTo>
                    <a:cubicBezTo>
                      <a:pt x="269472" y="0"/>
                      <a:pt x="286410" y="16938"/>
                      <a:pt x="286410" y="37832"/>
                    </a:cubicBezTo>
                    <a:lnTo>
                      <a:pt x="286410" y="37832"/>
                    </a:lnTo>
                    <a:cubicBezTo>
                      <a:pt x="286410" y="47865"/>
                      <a:pt x="282424" y="57488"/>
                      <a:pt x="275329" y="64583"/>
                    </a:cubicBezTo>
                    <a:cubicBezTo>
                      <a:pt x="268234" y="71678"/>
                      <a:pt x="258612" y="75663"/>
                      <a:pt x="248578" y="75663"/>
                    </a:cubicBezTo>
                    <a:lnTo>
                      <a:pt x="37832" y="75663"/>
                    </a:lnTo>
                    <a:cubicBezTo>
                      <a:pt x="16938" y="75663"/>
                      <a:pt x="0" y="58726"/>
                      <a:pt x="0" y="37832"/>
                    </a:cubicBezTo>
                    <a:lnTo>
                      <a:pt x="0" y="37832"/>
                    </a:lnTo>
                    <a:cubicBezTo>
                      <a:pt x="0" y="16938"/>
                      <a:pt x="16938" y="0"/>
                      <a:pt x="37832" y="0"/>
                    </a:cubicBezTo>
                    <a:close/>
                  </a:path>
                </a:pathLst>
              </a:custGeom>
              <a:solidFill>
                <a:srgbClr val="6BB3FF"/>
              </a:solidFill>
            </p:spPr>
          </p:sp>
          <p:sp>
            <p:nvSpPr>
              <p:cNvPr name="TextBox 79" id="79"/>
              <p:cNvSpPr txBox="true"/>
              <p:nvPr/>
            </p:nvSpPr>
            <p:spPr>
              <a:xfrm>
                <a:off x="0" y="-28575"/>
                <a:ext cx="286410" cy="10423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40"/>
                  </a:lnSpc>
                </a:pPr>
              </a:p>
            </p:txBody>
          </p:sp>
        </p:grpSp>
        <p:grpSp>
          <p:nvGrpSpPr>
            <p:cNvPr name="Group 80" id="80"/>
            <p:cNvGrpSpPr/>
            <p:nvPr/>
          </p:nvGrpSpPr>
          <p:grpSpPr>
            <a:xfrm rot="-2700000">
              <a:off x="-41213" y="612650"/>
              <a:ext cx="736637" cy="188557"/>
              <a:chOff x="0" y="0"/>
              <a:chExt cx="295594" cy="75663"/>
            </a:xfrm>
          </p:grpSpPr>
          <p:sp>
            <p:nvSpPr>
              <p:cNvPr name="Freeform 81" id="81"/>
              <p:cNvSpPr/>
              <p:nvPr/>
            </p:nvSpPr>
            <p:spPr>
              <a:xfrm flipH="false" flipV="false" rot="0">
                <a:off x="0" y="0"/>
                <a:ext cx="295594" cy="75663"/>
              </a:xfrm>
              <a:custGeom>
                <a:avLst/>
                <a:gdLst/>
                <a:ahLst/>
                <a:cxnLst/>
                <a:rect r="r" b="b" t="t" l="l"/>
                <a:pathLst>
                  <a:path h="75663" w="295594">
                    <a:moveTo>
                      <a:pt x="37832" y="0"/>
                    </a:moveTo>
                    <a:lnTo>
                      <a:pt x="257763" y="0"/>
                    </a:lnTo>
                    <a:cubicBezTo>
                      <a:pt x="267796" y="0"/>
                      <a:pt x="277419" y="3986"/>
                      <a:pt x="284514" y="11081"/>
                    </a:cubicBezTo>
                    <a:cubicBezTo>
                      <a:pt x="291609" y="18175"/>
                      <a:pt x="295594" y="27798"/>
                      <a:pt x="295594" y="37832"/>
                    </a:cubicBezTo>
                    <a:lnTo>
                      <a:pt x="295594" y="37832"/>
                    </a:lnTo>
                    <a:cubicBezTo>
                      <a:pt x="295594" y="58726"/>
                      <a:pt x="278657" y="75663"/>
                      <a:pt x="257763" y="75663"/>
                    </a:cubicBezTo>
                    <a:lnTo>
                      <a:pt x="37832" y="75663"/>
                    </a:lnTo>
                    <a:cubicBezTo>
                      <a:pt x="16938" y="75663"/>
                      <a:pt x="0" y="58726"/>
                      <a:pt x="0" y="37832"/>
                    </a:cubicBezTo>
                    <a:lnTo>
                      <a:pt x="0" y="37832"/>
                    </a:lnTo>
                    <a:cubicBezTo>
                      <a:pt x="0" y="16938"/>
                      <a:pt x="16938" y="0"/>
                      <a:pt x="37832" y="0"/>
                    </a:cubicBezTo>
                    <a:close/>
                  </a:path>
                </a:pathLst>
              </a:custGeom>
              <a:solidFill>
                <a:srgbClr val="6BB3FF"/>
              </a:solidFill>
            </p:spPr>
          </p:sp>
          <p:sp>
            <p:nvSpPr>
              <p:cNvPr name="TextBox 82" id="82"/>
              <p:cNvSpPr txBox="true"/>
              <p:nvPr/>
            </p:nvSpPr>
            <p:spPr>
              <a:xfrm>
                <a:off x="0" y="-28575"/>
                <a:ext cx="295594" cy="10423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240"/>
                  </a:lnSpc>
                </a:pPr>
              </a:p>
            </p:txBody>
          </p:sp>
        </p:grpSp>
      </p:grpSp>
      <p:sp>
        <p:nvSpPr>
          <p:cNvPr name="Freeform 83" id="83"/>
          <p:cNvSpPr/>
          <p:nvPr/>
        </p:nvSpPr>
        <p:spPr>
          <a:xfrm flipH="false" flipV="false" rot="0">
            <a:off x="3291757" y="9384930"/>
            <a:ext cx="182236" cy="230314"/>
          </a:xfrm>
          <a:custGeom>
            <a:avLst/>
            <a:gdLst/>
            <a:ahLst/>
            <a:cxnLst/>
            <a:rect r="r" b="b" t="t" l="l"/>
            <a:pathLst>
              <a:path h="230314" w="182236">
                <a:moveTo>
                  <a:pt x="0" y="0"/>
                </a:moveTo>
                <a:lnTo>
                  <a:pt x="182236" y="0"/>
                </a:lnTo>
                <a:lnTo>
                  <a:pt x="182236" y="230314"/>
                </a:lnTo>
                <a:lnTo>
                  <a:pt x="0" y="230314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4" id="84"/>
          <p:cNvSpPr/>
          <p:nvPr/>
        </p:nvSpPr>
        <p:spPr>
          <a:xfrm flipH="false" flipV="false" rot="0">
            <a:off x="8941212" y="7855579"/>
            <a:ext cx="230371" cy="211077"/>
          </a:xfrm>
          <a:custGeom>
            <a:avLst/>
            <a:gdLst/>
            <a:ahLst/>
            <a:cxnLst/>
            <a:rect r="r" b="b" t="t" l="l"/>
            <a:pathLst>
              <a:path h="211077" w="230371">
                <a:moveTo>
                  <a:pt x="0" y="0"/>
                </a:moveTo>
                <a:lnTo>
                  <a:pt x="230371" y="0"/>
                </a:lnTo>
                <a:lnTo>
                  <a:pt x="230371" y="211078"/>
                </a:lnTo>
                <a:lnTo>
                  <a:pt x="0" y="21107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5" id="85"/>
          <p:cNvSpPr/>
          <p:nvPr/>
        </p:nvSpPr>
        <p:spPr>
          <a:xfrm flipH="false" flipV="false" rot="0">
            <a:off x="6549176" y="7855579"/>
            <a:ext cx="230314" cy="230314"/>
          </a:xfrm>
          <a:custGeom>
            <a:avLst/>
            <a:gdLst/>
            <a:ahLst/>
            <a:cxnLst/>
            <a:rect r="r" b="b" t="t" l="l"/>
            <a:pathLst>
              <a:path h="230314" w="230314">
                <a:moveTo>
                  <a:pt x="0" y="0"/>
                </a:moveTo>
                <a:lnTo>
                  <a:pt x="230314" y="0"/>
                </a:lnTo>
                <a:lnTo>
                  <a:pt x="230314" y="230315"/>
                </a:lnTo>
                <a:lnTo>
                  <a:pt x="0" y="230315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6" id="86"/>
          <p:cNvSpPr/>
          <p:nvPr/>
        </p:nvSpPr>
        <p:spPr>
          <a:xfrm flipH="false" flipV="false" rot="0">
            <a:off x="10075458" y="9385054"/>
            <a:ext cx="230066" cy="230066"/>
          </a:xfrm>
          <a:custGeom>
            <a:avLst/>
            <a:gdLst/>
            <a:ahLst/>
            <a:cxnLst/>
            <a:rect r="r" b="b" t="t" l="l"/>
            <a:pathLst>
              <a:path h="230066" w="230066">
                <a:moveTo>
                  <a:pt x="0" y="0"/>
                </a:moveTo>
                <a:lnTo>
                  <a:pt x="230065" y="0"/>
                </a:lnTo>
                <a:lnTo>
                  <a:pt x="230065" y="230066"/>
                </a:lnTo>
                <a:lnTo>
                  <a:pt x="0" y="230066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7" id="87"/>
          <p:cNvSpPr/>
          <p:nvPr/>
        </p:nvSpPr>
        <p:spPr>
          <a:xfrm flipH="false" flipV="false" rot="0">
            <a:off x="5358317" y="9384930"/>
            <a:ext cx="230314" cy="230314"/>
          </a:xfrm>
          <a:custGeom>
            <a:avLst/>
            <a:gdLst/>
            <a:ahLst/>
            <a:cxnLst/>
            <a:rect r="r" b="b" t="t" l="l"/>
            <a:pathLst>
              <a:path h="230314" w="230314">
                <a:moveTo>
                  <a:pt x="0" y="0"/>
                </a:moveTo>
                <a:lnTo>
                  <a:pt x="230314" y="0"/>
                </a:lnTo>
                <a:lnTo>
                  <a:pt x="230314" y="230314"/>
                </a:lnTo>
                <a:lnTo>
                  <a:pt x="0" y="230314"/>
                </a:lnTo>
                <a:lnTo>
                  <a:pt x="0" y="0"/>
                </a:lnTo>
                <a:close/>
              </a:path>
            </a:pathLst>
          </a:custGeom>
          <a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8" id="88"/>
          <p:cNvGrpSpPr/>
          <p:nvPr/>
        </p:nvGrpSpPr>
        <p:grpSpPr>
          <a:xfrm rot="0">
            <a:off x="8138239" y="6722592"/>
            <a:ext cx="510779" cy="594362"/>
            <a:chOff x="0" y="0"/>
            <a:chExt cx="698500" cy="812800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35136"/>
              <a:ext cx="698500" cy="742529"/>
            </a:xfrm>
            <a:custGeom>
              <a:avLst/>
              <a:gdLst/>
              <a:ahLst/>
              <a:cxnLst/>
              <a:rect r="r" b="b" t="t" l="l"/>
              <a:pathLst>
                <a:path h="742529" w="698500">
                  <a:moveTo>
                    <a:pt x="461837" y="30369"/>
                  </a:moveTo>
                  <a:lnTo>
                    <a:pt x="585913" y="102559"/>
                  </a:lnTo>
                  <a:cubicBezTo>
                    <a:pt x="655618" y="143115"/>
                    <a:pt x="698500" y="217676"/>
                    <a:pt x="698500" y="298320"/>
                  </a:cubicBezTo>
                  <a:lnTo>
                    <a:pt x="698500" y="444208"/>
                  </a:lnTo>
                  <a:cubicBezTo>
                    <a:pt x="698500" y="524852"/>
                    <a:pt x="655618" y="599413"/>
                    <a:pt x="585913" y="639969"/>
                  </a:cubicBezTo>
                  <a:lnTo>
                    <a:pt x="461837" y="712159"/>
                  </a:lnTo>
                  <a:cubicBezTo>
                    <a:pt x="392240" y="752652"/>
                    <a:pt x="306260" y="752652"/>
                    <a:pt x="236663" y="712159"/>
                  </a:cubicBezTo>
                  <a:lnTo>
                    <a:pt x="112587" y="639969"/>
                  </a:lnTo>
                  <a:cubicBezTo>
                    <a:pt x="42882" y="599413"/>
                    <a:pt x="0" y="524852"/>
                    <a:pt x="0" y="444208"/>
                  </a:cubicBezTo>
                  <a:lnTo>
                    <a:pt x="0" y="298320"/>
                  </a:lnTo>
                  <a:cubicBezTo>
                    <a:pt x="0" y="217676"/>
                    <a:pt x="42882" y="143115"/>
                    <a:pt x="112587" y="102559"/>
                  </a:cubicBezTo>
                  <a:lnTo>
                    <a:pt x="236663" y="30369"/>
                  </a:lnTo>
                  <a:cubicBezTo>
                    <a:pt x="306260" y="-10124"/>
                    <a:pt x="392240" y="-10124"/>
                    <a:pt x="461837" y="30369"/>
                  </a:cubicBezTo>
                  <a:close/>
                </a:path>
              </a:pathLst>
            </a:custGeom>
            <a:solidFill>
              <a:srgbClr val="FCFDFE"/>
            </a:solidFill>
          </p:spPr>
        </p:sp>
        <p:sp>
          <p:nvSpPr>
            <p:cNvPr name="TextBox 90" id="90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grpSp>
        <p:nvGrpSpPr>
          <p:cNvPr name="Group 91" id="91"/>
          <p:cNvGrpSpPr/>
          <p:nvPr/>
        </p:nvGrpSpPr>
        <p:grpSpPr>
          <a:xfrm rot="0">
            <a:off x="8197594" y="6791661"/>
            <a:ext cx="392068" cy="456224"/>
            <a:chOff x="0" y="0"/>
            <a:chExt cx="698500" cy="812800"/>
          </a:xfrm>
        </p:grpSpPr>
        <p:sp>
          <p:nvSpPr>
            <p:cNvPr name="Freeform 92" id="92"/>
            <p:cNvSpPr/>
            <p:nvPr/>
          </p:nvSpPr>
          <p:spPr>
            <a:xfrm flipH="false" flipV="false" rot="0">
              <a:off x="0" y="22887"/>
              <a:ext cx="698500" cy="767026"/>
            </a:xfrm>
            <a:custGeom>
              <a:avLst/>
              <a:gdLst/>
              <a:ahLst/>
              <a:cxnLst/>
              <a:rect r="r" b="b" t="t" l="l"/>
              <a:pathLst>
                <a:path h="767026" w="698500">
                  <a:moveTo>
                    <a:pt x="422588" y="19782"/>
                  </a:moveTo>
                  <a:lnTo>
                    <a:pt x="625162" y="137644"/>
                  </a:lnTo>
                  <a:cubicBezTo>
                    <a:pt x="670567" y="164061"/>
                    <a:pt x="698500" y="212630"/>
                    <a:pt x="698500" y="265161"/>
                  </a:cubicBezTo>
                  <a:lnTo>
                    <a:pt x="698500" y="501865"/>
                  </a:lnTo>
                  <a:cubicBezTo>
                    <a:pt x="698500" y="554396"/>
                    <a:pt x="670567" y="602965"/>
                    <a:pt x="625162" y="629382"/>
                  </a:cubicBezTo>
                  <a:lnTo>
                    <a:pt x="422588" y="747244"/>
                  </a:lnTo>
                  <a:cubicBezTo>
                    <a:pt x="377253" y="773620"/>
                    <a:pt x="321247" y="773620"/>
                    <a:pt x="275912" y="747244"/>
                  </a:cubicBezTo>
                  <a:lnTo>
                    <a:pt x="73338" y="629382"/>
                  </a:lnTo>
                  <a:cubicBezTo>
                    <a:pt x="27933" y="602965"/>
                    <a:pt x="0" y="554396"/>
                    <a:pt x="0" y="501865"/>
                  </a:cubicBezTo>
                  <a:lnTo>
                    <a:pt x="0" y="265161"/>
                  </a:lnTo>
                  <a:cubicBezTo>
                    <a:pt x="0" y="212630"/>
                    <a:pt x="27933" y="164061"/>
                    <a:pt x="73338" y="137644"/>
                  </a:cubicBezTo>
                  <a:lnTo>
                    <a:pt x="275912" y="19782"/>
                  </a:lnTo>
                  <a:cubicBezTo>
                    <a:pt x="321247" y="-6594"/>
                    <a:pt x="377253" y="-6594"/>
                    <a:pt x="422588" y="19782"/>
                  </a:cubicBezTo>
                  <a:close/>
                </a:path>
              </a:pathLst>
            </a:custGeom>
            <a:solidFill>
              <a:srgbClr val="FF94A0"/>
            </a:solidFill>
          </p:spPr>
        </p:sp>
        <p:sp>
          <p:nvSpPr>
            <p:cNvPr name="TextBox 93" id="93"/>
            <p:cNvSpPr txBox="true"/>
            <p:nvPr/>
          </p:nvSpPr>
          <p:spPr>
            <a:xfrm>
              <a:off x="0" y="92075"/>
              <a:ext cx="698500" cy="581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88"/>
                </a:lnSpc>
              </a:pPr>
            </a:p>
          </p:txBody>
        </p:sp>
      </p:grpSp>
      <p:sp>
        <p:nvSpPr>
          <p:cNvPr name="Freeform 94" id="94"/>
          <p:cNvSpPr/>
          <p:nvPr/>
        </p:nvSpPr>
        <p:spPr>
          <a:xfrm flipH="false" flipV="false" rot="0">
            <a:off x="8278443" y="6914234"/>
            <a:ext cx="230371" cy="211077"/>
          </a:xfrm>
          <a:custGeom>
            <a:avLst/>
            <a:gdLst/>
            <a:ahLst/>
            <a:cxnLst/>
            <a:rect r="r" b="b" t="t" l="l"/>
            <a:pathLst>
              <a:path h="211077" w="230371">
                <a:moveTo>
                  <a:pt x="0" y="0"/>
                </a:moveTo>
                <a:lnTo>
                  <a:pt x="230371" y="0"/>
                </a:lnTo>
                <a:lnTo>
                  <a:pt x="230371" y="211078"/>
                </a:lnTo>
                <a:lnTo>
                  <a:pt x="0" y="211078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5" id="95"/>
          <p:cNvSpPr/>
          <p:nvPr/>
        </p:nvSpPr>
        <p:spPr>
          <a:xfrm flipH="false" flipV="false" rot="0">
            <a:off x="2091862" y="644949"/>
            <a:ext cx="3496769" cy="939262"/>
          </a:xfrm>
          <a:custGeom>
            <a:avLst/>
            <a:gdLst/>
            <a:ahLst/>
            <a:cxnLst/>
            <a:rect r="r" b="b" t="t" l="l"/>
            <a:pathLst>
              <a:path h="939262" w="3496769">
                <a:moveTo>
                  <a:pt x="0" y="0"/>
                </a:moveTo>
                <a:lnTo>
                  <a:pt x="3496769" y="0"/>
                </a:lnTo>
                <a:lnTo>
                  <a:pt x="3496769" y="939262"/>
                </a:lnTo>
                <a:lnTo>
                  <a:pt x="0" y="939262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  <p:sp>
        <p:nvSpPr>
          <p:cNvPr name="Freeform 96" id="96"/>
          <p:cNvSpPr/>
          <p:nvPr/>
        </p:nvSpPr>
        <p:spPr>
          <a:xfrm flipH="false" flipV="false" rot="-3592644">
            <a:off x="14492829" y="4658103"/>
            <a:ext cx="2538923" cy="2462755"/>
          </a:xfrm>
          <a:custGeom>
            <a:avLst/>
            <a:gdLst/>
            <a:ahLst/>
            <a:cxnLst/>
            <a:rect r="r" b="b" t="t" l="l"/>
            <a:pathLst>
              <a:path h="2462755" w="2538923">
                <a:moveTo>
                  <a:pt x="0" y="0"/>
                </a:moveTo>
                <a:lnTo>
                  <a:pt x="2538923" y="0"/>
                </a:lnTo>
                <a:lnTo>
                  <a:pt x="2538923" y="2462755"/>
                </a:lnTo>
                <a:lnTo>
                  <a:pt x="0" y="2462755"/>
                </a:lnTo>
                <a:lnTo>
                  <a:pt x="0" y="0"/>
                </a:lnTo>
                <a:close/>
              </a:path>
            </a:pathLst>
          </a:custGeom>
          <a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7" id="97"/>
          <p:cNvSpPr txBox="true"/>
          <p:nvPr/>
        </p:nvSpPr>
        <p:spPr>
          <a:xfrm rot="0">
            <a:off x="2952598" y="2203336"/>
            <a:ext cx="6913914" cy="2203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766"/>
              </a:lnSpc>
            </a:pPr>
            <a:r>
              <a:rPr lang="en-US" b="true" sz="5824" spc="-361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RESPONSE CONTRACT, TRACE &amp; KIỂM THỬ</a:t>
            </a:r>
          </a:p>
        </p:txBody>
      </p:sp>
      <p:sp>
        <p:nvSpPr>
          <p:cNvPr name="TextBox 98" id="98"/>
          <p:cNvSpPr txBox="true"/>
          <p:nvPr/>
        </p:nvSpPr>
        <p:spPr>
          <a:xfrm rot="0">
            <a:off x="11146712" y="9245843"/>
            <a:ext cx="3915739" cy="5027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336"/>
              </a:lnSpc>
            </a:pPr>
            <a:r>
              <a:rPr lang="en-US" sz="1349" spc="-49">
                <a:solidFill>
                  <a:srgbClr val="424141"/>
                </a:solidFill>
                <a:latin typeface="Canva Sans"/>
                <a:ea typeface="Canva Sans"/>
                <a:cs typeface="Canva Sans"/>
                <a:sym typeface="Canva Sans"/>
              </a:rPr>
              <a:t>Contract đảm bảo output có cấu trúc, trace giúp debug từng bước, test layers kiểm soát chất lượng toàn pipeline.</a:t>
            </a:r>
          </a:p>
        </p:txBody>
      </p:sp>
      <p:sp>
        <p:nvSpPr>
          <p:cNvPr name="TextBox 99" id="99"/>
          <p:cNvSpPr txBox="true"/>
          <p:nvPr/>
        </p:nvSpPr>
        <p:spPr>
          <a:xfrm rot="0">
            <a:off x="11613928" y="5161633"/>
            <a:ext cx="2760139" cy="183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492"/>
              </a:lnSpc>
            </a:pPr>
            <a:r>
              <a:rPr lang="en-US" b="true" sz="1507" spc="-55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RESPONSE CONTRACT FIELDS</a:t>
            </a:r>
          </a:p>
        </p:txBody>
      </p:sp>
      <p:sp>
        <p:nvSpPr>
          <p:cNvPr name="TextBox 100" id="100"/>
          <p:cNvSpPr txBox="true"/>
          <p:nvPr/>
        </p:nvSpPr>
        <p:spPr>
          <a:xfrm rot="0">
            <a:off x="11512623" y="5349479"/>
            <a:ext cx="2966710" cy="409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</a:t>
            </a: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answer_text :Là câu trả lời chính của AI Advisor dưới dạng văn bản.</a:t>
            </a:r>
          </a:p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·related_products :Là danh sách sản phẩm liên quan đến câu trả lời</a:t>
            </a:r>
          </a:p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·display_specs:Là các thông số cần ưu tiên hiển thị trên Product Card.</a:t>
            </a:r>
          </a:p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·missing_fields :Là các thông tin mà catalog đang thiếu</a:t>
            </a:r>
          </a:p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·verification:Là kết quả kiểm chứng của Verifier.</a:t>
            </a:r>
          </a:p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·conversation_state:Là trạng thái hội thoại được cập nhật sau lượt trả lời.</a:t>
            </a:r>
          </a:p>
          <a:p>
            <a:pPr algn="just" marL="0" indent="0" lvl="0">
              <a:lnSpc>
                <a:spcPts val="2039"/>
              </a:lnSpc>
            </a:pPr>
            <a:r>
              <a:rPr lang="en-US" sz="1200" spc="-4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·decision_trace: Là nhật ký xử lý của pipeline AI Advisor.</a:t>
            </a:r>
          </a:p>
          <a:p>
            <a:pPr algn="just" marL="0" indent="0" lvl="0">
              <a:lnSpc>
                <a:spcPts val="2039"/>
              </a:lnSpc>
            </a:pPr>
          </a:p>
          <a:p>
            <a:pPr algn="just" marL="0" indent="0" lvl="0">
              <a:lnSpc>
                <a:spcPts val="2039"/>
              </a:lnSpc>
            </a:pPr>
          </a:p>
        </p:txBody>
      </p:sp>
      <p:sp>
        <p:nvSpPr>
          <p:cNvPr name="TextBox 101" id="101"/>
          <p:cNvSpPr txBox="true"/>
          <p:nvPr/>
        </p:nvSpPr>
        <p:spPr>
          <a:xfrm rot="0">
            <a:off x="13827260" y="845620"/>
            <a:ext cx="3178571" cy="183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492"/>
              </a:lnSpc>
            </a:pPr>
            <a:r>
              <a:rPr lang="en-US" b="true" sz="1507" spc="-55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TEST LAYERS (6 TẦNG)</a:t>
            </a:r>
          </a:p>
        </p:txBody>
      </p:sp>
      <p:sp>
        <p:nvSpPr>
          <p:cNvPr name="TextBox 102" id="102"/>
          <p:cNvSpPr txBox="true"/>
          <p:nvPr/>
        </p:nvSpPr>
        <p:spPr>
          <a:xfrm rot="0">
            <a:off x="13404867" y="1118621"/>
            <a:ext cx="3081623" cy="34583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966"/>
              </a:lnSpc>
            </a:pP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 </a:t>
            </a: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API contract : Kiểm tra backend có trả đúng format cho FE hay không</a:t>
            </a:r>
          </a:p>
          <a:p>
            <a:pPr algn="just" marL="0" indent="0" lvl="0">
              <a:lnSpc>
                <a:spcPts val="1966"/>
              </a:lnSpc>
            </a:pP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 Catalog/search : Kiểm tra dữ liệu dialog và chức năng tìm kiếm sản phẩm → đảm bảo catalog là nguồn dữ liệu đáng tin</a:t>
            </a:r>
          </a:p>
          <a:p>
            <a:pPr algn="just" marL="0" indent="0" lvl="0">
              <a:lnSpc>
                <a:spcPts val="1966"/>
              </a:lnSpc>
            </a:pP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 QueryFrame/resolver : Kiểm tra hệ thống có hiểu đúng câu hỏi tự nhiên không </a:t>
            </a:r>
          </a:p>
          <a:p>
            <a:pPr algn="just" marL="0" indent="0" lvl="0">
              <a:lnSpc>
                <a:spcPts val="1966"/>
              </a:lnSpc>
            </a:pP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 Verifier : Kiểm tra bộ kiểm chứng có bắt được lỗi của AI không</a:t>
            </a:r>
          </a:p>
          <a:p>
            <a:pPr algn="just" marL="0" indent="0" lvl="0">
              <a:lnSpc>
                <a:spcPts val="1966"/>
              </a:lnSpc>
            </a:pP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 Scenario dialogue : Kiểm thử kịch bản hội thoại thực tế nhiều lượt</a:t>
            </a:r>
          </a:p>
          <a:p>
            <a:pPr algn="just" marL="0" indent="0" lvl="0">
              <a:lnSpc>
                <a:spcPts val="1966"/>
              </a:lnSpc>
            </a:pPr>
            <a:r>
              <a:rPr lang="en-US" sz="1268" spc="-4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· Trace evaluation : Đánh giá toàn bộ vết xử lí của 1 lượt hỏi đáp → khi trả lời sai lỗi nằm ở bước nào để debug và cải thiện</a:t>
            </a:r>
          </a:p>
        </p:txBody>
      </p:sp>
      <p:sp>
        <p:nvSpPr>
          <p:cNvPr name="TextBox 103" id="103"/>
          <p:cNvSpPr txBox="true"/>
          <p:nvPr/>
        </p:nvSpPr>
        <p:spPr>
          <a:xfrm rot="0">
            <a:off x="4677194" y="8426286"/>
            <a:ext cx="1592560" cy="16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"/>
              </a:lnSpc>
            </a:pP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Plan</a:t>
            </a:r>
          </a:p>
        </p:txBody>
      </p:sp>
      <p:sp>
        <p:nvSpPr>
          <p:cNvPr name="TextBox 104" id="104"/>
          <p:cNvSpPr txBox="true"/>
          <p:nvPr/>
        </p:nvSpPr>
        <p:spPr>
          <a:xfrm rot="0">
            <a:off x="8804940" y="7050737"/>
            <a:ext cx="1592560" cy="16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"/>
              </a:lnSpc>
            </a:pP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Retrieve</a:t>
            </a:r>
          </a:p>
        </p:txBody>
      </p:sp>
      <p:sp>
        <p:nvSpPr>
          <p:cNvPr name="TextBox 105" id="105"/>
          <p:cNvSpPr txBox="true"/>
          <p:nvPr/>
        </p:nvSpPr>
        <p:spPr>
          <a:xfrm rot="0">
            <a:off x="4677194" y="8642156"/>
            <a:ext cx="1592560" cy="287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"/>
              </a:lnSpc>
            </a:pP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Hệ thống quyết</a:t>
            </a: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định cần làm gì tiếp theo.</a:t>
            </a:r>
          </a:p>
        </p:txBody>
      </p:sp>
      <p:sp>
        <p:nvSpPr>
          <p:cNvPr name="TextBox 106" id="106"/>
          <p:cNvSpPr txBox="true"/>
          <p:nvPr/>
        </p:nvSpPr>
        <p:spPr>
          <a:xfrm rot="0">
            <a:off x="9394210" y="8642156"/>
            <a:ext cx="1592560" cy="43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"/>
              </a:lnSpc>
            </a:pP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Khi </a:t>
            </a: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mọi thứ hợp lệ, hệ thống mới trả response cuối về frontend.</a:t>
            </a:r>
          </a:p>
        </p:txBody>
      </p:sp>
      <p:sp>
        <p:nvSpPr>
          <p:cNvPr name="TextBox 107" id="107"/>
          <p:cNvSpPr txBox="true"/>
          <p:nvPr/>
        </p:nvSpPr>
        <p:spPr>
          <a:xfrm rot="0">
            <a:off x="5227604" y="7000723"/>
            <a:ext cx="1582749" cy="16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"/>
              </a:lnSpc>
            </a:pP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Recover</a:t>
            </a:r>
          </a:p>
        </p:txBody>
      </p:sp>
      <p:sp>
        <p:nvSpPr>
          <p:cNvPr name="TextBox 108" id="108"/>
          <p:cNvSpPr txBox="true"/>
          <p:nvPr/>
        </p:nvSpPr>
        <p:spPr>
          <a:xfrm rot="0">
            <a:off x="9394210" y="8496806"/>
            <a:ext cx="1580420" cy="16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"/>
              </a:lnSpc>
            </a:pP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Commit</a:t>
            </a:r>
          </a:p>
        </p:txBody>
      </p:sp>
      <p:sp>
        <p:nvSpPr>
          <p:cNvPr name="TextBox 109" id="109"/>
          <p:cNvSpPr txBox="true"/>
          <p:nvPr/>
        </p:nvSpPr>
        <p:spPr>
          <a:xfrm rot="0">
            <a:off x="8856119" y="7191778"/>
            <a:ext cx="1449405" cy="577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"/>
              </a:lnSpc>
            </a:pP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Hệ thống đi lấy dữ liệu thật từ c</a:t>
            </a: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atalog.</a:t>
            </a:r>
          </a:p>
          <a:p>
            <a:pPr algn="ctr">
              <a:lnSpc>
                <a:spcPts val="1176"/>
              </a:lnSpc>
            </a:pPr>
          </a:p>
          <a:p>
            <a:pPr algn="ctr">
              <a:lnSpc>
                <a:spcPts val="1176"/>
              </a:lnSpc>
            </a:pPr>
          </a:p>
        </p:txBody>
      </p:sp>
      <p:sp>
        <p:nvSpPr>
          <p:cNvPr name="TextBox 110" id="110"/>
          <p:cNvSpPr txBox="true"/>
          <p:nvPr/>
        </p:nvSpPr>
        <p:spPr>
          <a:xfrm rot="0">
            <a:off x="2590369" y="8426286"/>
            <a:ext cx="1585011" cy="16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"/>
              </a:lnSpc>
            </a:pP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Perceiv</a:t>
            </a: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</a:t>
            </a:r>
          </a:p>
        </p:txBody>
      </p:sp>
      <p:sp>
        <p:nvSpPr>
          <p:cNvPr name="TextBox 111" id="111"/>
          <p:cNvSpPr txBox="true"/>
          <p:nvPr/>
        </p:nvSpPr>
        <p:spPr>
          <a:xfrm rot="0">
            <a:off x="2590369" y="8642156"/>
            <a:ext cx="1585011" cy="432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"/>
              </a:lnSpc>
            </a:pP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Hệ thống nhận câu hỏi</a:t>
            </a: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người dùng và đọc ngữ cảnh hội thoại hiện tại.</a:t>
            </a:r>
          </a:p>
        </p:txBody>
      </p:sp>
      <p:sp>
        <p:nvSpPr>
          <p:cNvPr name="TextBox 112" id="112"/>
          <p:cNvSpPr txBox="true"/>
          <p:nvPr/>
        </p:nvSpPr>
        <p:spPr>
          <a:xfrm rot="0">
            <a:off x="7799452" y="6098703"/>
            <a:ext cx="1580420" cy="160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3"/>
              </a:lnSpc>
            </a:pPr>
            <a:r>
              <a:rPr lang="en-US" sz="945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Verify </a:t>
            </a:r>
          </a:p>
        </p:txBody>
      </p:sp>
      <p:sp>
        <p:nvSpPr>
          <p:cNvPr name="TextBox 113" id="113"/>
          <p:cNvSpPr txBox="true"/>
          <p:nvPr/>
        </p:nvSpPr>
        <p:spPr>
          <a:xfrm rot="0">
            <a:off x="7795492" y="6239743"/>
            <a:ext cx="1580420" cy="2877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76"/>
              </a:lnSpc>
            </a:pP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Hệ thống kiểm tra câu trả lờ</a:t>
            </a:r>
            <a:r>
              <a:rPr lang="en-US" sz="84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 nháp có đúng không.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37195" y="7171131"/>
            <a:ext cx="1387838" cy="961005"/>
            <a:chOff x="0" y="0"/>
            <a:chExt cx="365521" cy="253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745908" y="4782705"/>
            <a:ext cx="4513392" cy="3893478"/>
            <a:chOff x="0" y="0"/>
            <a:chExt cx="2702880" cy="2331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702880" cy="2331640"/>
            </a:xfrm>
            <a:custGeom>
              <a:avLst/>
              <a:gdLst/>
              <a:ahLst/>
              <a:cxnLst/>
              <a:rect r="r" b="b" t="t" l="l"/>
              <a:pathLst>
                <a:path h="2331640" w="2702880">
                  <a:moveTo>
                    <a:pt x="54890" y="0"/>
                  </a:moveTo>
                  <a:lnTo>
                    <a:pt x="2647990" y="0"/>
                  </a:lnTo>
                  <a:cubicBezTo>
                    <a:pt x="2678305" y="0"/>
                    <a:pt x="2702880" y="24575"/>
                    <a:pt x="2702880" y="54890"/>
                  </a:cubicBezTo>
                  <a:lnTo>
                    <a:pt x="2702880" y="2276750"/>
                  </a:lnTo>
                  <a:cubicBezTo>
                    <a:pt x="2702880" y="2307065"/>
                    <a:pt x="2678305" y="2331640"/>
                    <a:pt x="2647990" y="2331640"/>
                  </a:cubicBezTo>
                  <a:lnTo>
                    <a:pt x="54890" y="2331640"/>
                  </a:lnTo>
                  <a:cubicBezTo>
                    <a:pt x="24575" y="2331640"/>
                    <a:pt x="0" y="2307065"/>
                    <a:pt x="0" y="2276750"/>
                  </a:cubicBezTo>
                  <a:lnTo>
                    <a:pt x="0" y="54890"/>
                  </a:lnTo>
                  <a:cubicBezTo>
                    <a:pt x="0" y="24575"/>
                    <a:pt x="24575" y="0"/>
                    <a:pt x="54890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2702880" cy="2369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2952598" y="2222386"/>
            <a:ext cx="11673652" cy="18589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131"/>
              </a:lnSpc>
            </a:pPr>
            <a:r>
              <a:rPr lang="en-US" b="true" sz="7203" spc="-44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KẾT LUẬN &amp;</a:t>
            </a:r>
          </a:p>
          <a:p>
            <a:pPr algn="l" marL="0" indent="0" lvl="0">
              <a:lnSpc>
                <a:spcPts val="7131"/>
              </a:lnSpc>
            </a:pPr>
            <a:r>
              <a:rPr lang="en-US" b="true" sz="7203" spc="-446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HƯỚNG PHÁT TRIỂN</a:t>
            </a:r>
          </a:p>
        </p:txBody>
      </p:sp>
      <p:sp>
        <p:nvSpPr>
          <p:cNvPr name="Freeform 17" id="17"/>
          <p:cNvSpPr/>
          <p:nvPr/>
        </p:nvSpPr>
        <p:spPr>
          <a:xfrm flipH="true" flipV="false" rot="0">
            <a:off x="11618850" y="308044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8" id="18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1" id="21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6839551" y="2894346"/>
            <a:ext cx="419749" cy="419749"/>
            <a:chOff x="0" y="0"/>
            <a:chExt cx="812800" cy="8128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419760" y="2894346"/>
            <a:ext cx="419749" cy="419749"/>
            <a:chOff x="0" y="0"/>
            <a:chExt cx="812800" cy="8128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5999969" y="2894346"/>
            <a:ext cx="419749" cy="419749"/>
            <a:chOff x="0" y="0"/>
            <a:chExt cx="812800" cy="8128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DE59"/>
            </a:solidFill>
            <a:ln w="19050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31" id="31"/>
            <p:cNvSpPr txBox="true"/>
            <p:nvPr/>
          </p:nvSpPr>
          <p:spPr>
            <a:xfrm>
              <a:off x="76200" y="95250"/>
              <a:ext cx="660400" cy="641350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13073621" y="5031037"/>
            <a:ext cx="3857966" cy="3140036"/>
            <a:chOff x="0" y="0"/>
            <a:chExt cx="1756195" cy="142938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756195" cy="1429384"/>
            </a:xfrm>
            <a:custGeom>
              <a:avLst/>
              <a:gdLst/>
              <a:ahLst/>
              <a:cxnLst/>
              <a:rect r="r" b="b" t="t" l="l"/>
              <a:pathLst>
                <a:path h="1429384" w="1756195">
                  <a:moveTo>
                    <a:pt x="34115" y="0"/>
                  </a:moveTo>
                  <a:lnTo>
                    <a:pt x="1722081" y="0"/>
                  </a:lnTo>
                  <a:cubicBezTo>
                    <a:pt x="1740922" y="0"/>
                    <a:pt x="1756195" y="15274"/>
                    <a:pt x="1756195" y="34115"/>
                  </a:cubicBezTo>
                  <a:lnTo>
                    <a:pt x="1756195" y="1395270"/>
                  </a:lnTo>
                  <a:cubicBezTo>
                    <a:pt x="1756195" y="1404317"/>
                    <a:pt x="1752601" y="1412994"/>
                    <a:pt x="1746203" y="1419392"/>
                  </a:cubicBezTo>
                  <a:cubicBezTo>
                    <a:pt x="1739805" y="1425790"/>
                    <a:pt x="1731128" y="1429384"/>
                    <a:pt x="1722081" y="1429384"/>
                  </a:cubicBezTo>
                  <a:lnTo>
                    <a:pt x="34115" y="1429384"/>
                  </a:lnTo>
                  <a:cubicBezTo>
                    <a:pt x="25067" y="1429384"/>
                    <a:pt x="16390" y="1425790"/>
                    <a:pt x="9992" y="1419392"/>
                  </a:cubicBezTo>
                  <a:cubicBezTo>
                    <a:pt x="3594" y="1412994"/>
                    <a:pt x="0" y="1404317"/>
                    <a:pt x="0" y="1395270"/>
                  </a:cubicBezTo>
                  <a:lnTo>
                    <a:pt x="0" y="34115"/>
                  </a:lnTo>
                  <a:cubicBezTo>
                    <a:pt x="0" y="25067"/>
                    <a:pt x="3594" y="16390"/>
                    <a:pt x="9992" y="9992"/>
                  </a:cubicBezTo>
                  <a:cubicBezTo>
                    <a:pt x="16390" y="3594"/>
                    <a:pt x="25067" y="0"/>
                    <a:pt x="34115" y="0"/>
                  </a:cubicBezTo>
                  <a:close/>
                </a:path>
              </a:pathLst>
            </a:custGeom>
            <a:blipFill>
              <a:blip r:embed="rId14"/>
              <a:stretch>
                <a:fillRect l="-318" t="0" r="-318" b="0"/>
              </a:stretch>
            </a:blipFill>
            <a:ln w="9525" cap="sq">
              <a:solidFill>
                <a:srgbClr val="424141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2952598" y="4782705"/>
            <a:ext cx="8845603" cy="1899500"/>
            <a:chOff x="0" y="0"/>
            <a:chExt cx="5297259" cy="113753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297258" cy="1137530"/>
            </a:xfrm>
            <a:custGeom>
              <a:avLst/>
              <a:gdLst/>
              <a:ahLst/>
              <a:cxnLst/>
              <a:rect r="r" b="b" t="t" l="l"/>
              <a:pathLst>
                <a:path h="1137530" w="5297258">
                  <a:moveTo>
                    <a:pt x="28007" y="0"/>
                  </a:moveTo>
                  <a:lnTo>
                    <a:pt x="5269251" y="0"/>
                  </a:lnTo>
                  <a:cubicBezTo>
                    <a:pt x="5284719" y="0"/>
                    <a:pt x="5297258" y="12539"/>
                    <a:pt x="5297258" y="28007"/>
                  </a:cubicBezTo>
                  <a:lnTo>
                    <a:pt x="5297258" y="1109523"/>
                  </a:lnTo>
                  <a:cubicBezTo>
                    <a:pt x="5297258" y="1124991"/>
                    <a:pt x="5284719" y="1137530"/>
                    <a:pt x="5269251" y="1137530"/>
                  </a:cubicBezTo>
                  <a:lnTo>
                    <a:pt x="28007" y="1137530"/>
                  </a:lnTo>
                  <a:cubicBezTo>
                    <a:pt x="12539" y="1137530"/>
                    <a:pt x="0" y="1124991"/>
                    <a:pt x="0" y="1109523"/>
                  </a:cubicBezTo>
                  <a:lnTo>
                    <a:pt x="0" y="28007"/>
                  </a:lnTo>
                  <a:cubicBezTo>
                    <a:pt x="0" y="12539"/>
                    <a:pt x="12539" y="0"/>
                    <a:pt x="28007" y="0"/>
                  </a:cubicBezTo>
                  <a:close/>
                </a:path>
              </a:pathLst>
            </a:custGeom>
            <a:solidFill>
              <a:srgbClr val="FF6F5E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5297259" cy="11756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3203955" y="4662997"/>
            <a:ext cx="2933893" cy="653335"/>
            <a:chOff x="0" y="0"/>
            <a:chExt cx="2037821" cy="45379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037821" cy="453793"/>
            </a:xfrm>
            <a:custGeom>
              <a:avLst/>
              <a:gdLst/>
              <a:ahLst/>
              <a:cxnLst/>
              <a:rect r="r" b="b" t="t" l="l"/>
              <a:pathLst>
                <a:path h="453793" w="2037821">
                  <a:moveTo>
                    <a:pt x="34304" y="0"/>
                  </a:moveTo>
                  <a:lnTo>
                    <a:pt x="2003516" y="0"/>
                  </a:lnTo>
                  <a:cubicBezTo>
                    <a:pt x="2012614" y="0"/>
                    <a:pt x="2021340" y="3614"/>
                    <a:pt x="2027773" y="10047"/>
                  </a:cubicBezTo>
                  <a:cubicBezTo>
                    <a:pt x="2034206" y="16481"/>
                    <a:pt x="2037821" y="25206"/>
                    <a:pt x="2037821" y="34304"/>
                  </a:cubicBezTo>
                  <a:lnTo>
                    <a:pt x="2037821" y="419488"/>
                  </a:lnTo>
                  <a:cubicBezTo>
                    <a:pt x="2037821" y="438434"/>
                    <a:pt x="2022462" y="453793"/>
                    <a:pt x="2003516" y="453793"/>
                  </a:cubicBezTo>
                  <a:lnTo>
                    <a:pt x="34304" y="453793"/>
                  </a:lnTo>
                  <a:cubicBezTo>
                    <a:pt x="15359" y="453793"/>
                    <a:pt x="0" y="438434"/>
                    <a:pt x="0" y="419488"/>
                  </a:cubicBezTo>
                  <a:lnTo>
                    <a:pt x="0" y="34304"/>
                  </a:lnTo>
                  <a:cubicBezTo>
                    <a:pt x="0" y="15359"/>
                    <a:pt x="15359" y="0"/>
                    <a:pt x="34304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19050"/>
              <a:ext cx="2037821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952598" y="7242240"/>
            <a:ext cx="8845603" cy="2001884"/>
            <a:chOff x="0" y="0"/>
            <a:chExt cx="5297259" cy="1198844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5297258" cy="1198844"/>
            </a:xfrm>
            <a:custGeom>
              <a:avLst/>
              <a:gdLst/>
              <a:ahLst/>
              <a:cxnLst/>
              <a:rect r="r" b="b" t="t" l="l"/>
              <a:pathLst>
                <a:path h="1198844" w="5297258">
                  <a:moveTo>
                    <a:pt x="28007" y="0"/>
                  </a:moveTo>
                  <a:lnTo>
                    <a:pt x="5269251" y="0"/>
                  </a:lnTo>
                  <a:cubicBezTo>
                    <a:pt x="5284719" y="0"/>
                    <a:pt x="5297258" y="12539"/>
                    <a:pt x="5297258" y="28007"/>
                  </a:cubicBezTo>
                  <a:lnTo>
                    <a:pt x="5297258" y="1170836"/>
                  </a:lnTo>
                  <a:cubicBezTo>
                    <a:pt x="5297258" y="1186305"/>
                    <a:pt x="5284719" y="1198844"/>
                    <a:pt x="5269251" y="1198844"/>
                  </a:cubicBezTo>
                  <a:lnTo>
                    <a:pt x="28007" y="1198844"/>
                  </a:lnTo>
                  <a:cubicBezTo>
                    <a:pt x="12539" y="1198844"/>
                    <a:pt x="0" y="1186305"/>
                    <a:pt x="0" y="1170836"/>
                  </a:cubicBezTo>
                  <a:lnTo>
                    <a:pt x="0" y="28007"/>
                  </a:lnTo>
                  <a:cubicBezTo>
                    <a:pt x="0" y="12539"/>
                    <a:pt x="12539" y="0"/>
                    <a:pt x="28007" y="0"/>
                  </a:cubicBezTo>
                  <a:close/>
                </a:path>
              </a:pathLst>
            </a:custGeom>
            <a:solidFill>
              <a:srgbClr val="EB574C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38100"/>
              <a:ext cx="5297259" cy="123694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3203955" y="7122532"/>
            <a:ext cx="3450330" cy="653335"/>
            <a:chOff x="0" y="0"/>
            <a:chExt cx="2396526" cy="45379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396526" cy="453793"/>
            </a:xfrm>
            <a:custGeom>
              <a:avLst/>
              <a:gdLst/>
              <a:ahLst/>
              <a:cxnLst/>
              <a:rect r="r" b="b" t="t" l="l"/>
              <a:pathLst>
                <a:path h="453793" w="2396526">
                  <a:moveTo>
                    <a:pt x="29170" y="0"/>
                  </a:moveTo>
                  <a:lnTo>
                    <a:pt x="2367357" y="0"/>
                  </a:lnTo>
                  <a:cubicBezTo>
                    <a:pt x="2383467" y="0"/>
                    <a:pt x="2396526" y="13060"/>
                    <a:pt x="2396526" y="29170"/>
                  </a:cubicBezTo>
                  <a:lnTo>
                    <a:pt x="2396526" y="424623"/>
                  </a:lnTo>
                  <a:cubicBezTo>
                    <a:pt x="2396526" y="440733"/>
                    <a:pt x="2383467" y="453793"/>
                    <a:pt x="2367357" y="453793"/>
                  </a:cubicBezTo>
                  <a:lnTo>
                    <a:pt x="29170" y="453793"/>
                  </a:lnTo>
                  <a:cubicBezTo>
                    <a:pt x="13060" y="453793"/>
                    <a:pt x="0" y="440733"/>
                    <a:pt x="0" y="424623"/>
                  </a:cubicBezTo>
                  <a:lnTo>
                    <a:pt x="0" y="29170"/>
                  </a:lnTo>
                  <a:cubicBezTo>
                    <a:pt x="0" y="13060"/>
                    <a:pt x="13060" y="0"/>
                    <a:pt x="29170" y="0"/>
                  </a:cubicBezTo>
                  <a:close/>
                </a:path>
              </a:pathLst>
            </a:custGeom>
            <a:solidFill>
              <a:srgbClr val="FFDE59"/>
            </a:solidFill>
            <a:ln w="9525" cap="sq">
              <a:solidFill>
                <a:srgbClr val="424141"/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0" y="19050"/>
              <a:ext cx="2396526" cy="434743"/>
            </a:xfrm>
            <a:prstGeom prst="rect">
              <a:avLst/>
            </a:prstGeom>
          </p:spPr>
          <p:txBody>
            <a:bodyPr anchor="ctr" rtlCol="false" tIns="39013" lIns="39013" bIns="39013" rIns="39013"/>
            <a:lstStyle/>
            <a:p>
              <a:pPr algn="ctr" marL="0" indent="0" lvl="0">
                <a:lnSpc>
                  <a:spcPts val="1297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8" id="48"/>
          <p:cNvSpPr/>
          <p:nvPr/>
        </p:nvSpPr>
        <p:spPr>
          <a:xfrm flipH="false" flipV="false" rot="0">
            <a:off x="2035705" y="624264"/>
            <a:ext cx="3498695" cy="939779"/>
          </a:xfrm>
          <a:custGeom>
            <a:avLst/>
            <a:gdLst/>
            <a:ahLst/>
            <a:cxnLst/>
            <a:rect r="r" b="b" t="t" l="l"/>
            <a:pathLst>
              <a:path h="939779" w="3498695">
                <a:moveTo>
                  <a:pt x="0" y="0"/>
                </a:moveTo>
                <a:lnTo>
                  <a:pt x="3498696" y="0"/>
                </a:lnTo>
                <a:lnTo>
                  <a:pt x="3498696" y="939779"/>
                </a:lnTo>
                <a:lnTo>
                  <a:pt x="0" y="93977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TextBox 49" id="49"/>
          <p:cNvSpPr txBox="true"/>
          <p:nvPr/>
        </p:nvSpPr>
        <p:spPr>
          <a:xfrm rot="0">
            <a:off x="12412675" y="8679394"/>
            <a:ext cx="1249380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237"/>
              </a:lnSpc>
            </a:pPr>
            <a:r>
              <a:rPr lang="en-US" sz="1864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Repo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3376352" y="5429147"/>
            <a:ext cx="7998094" cy="5836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329357" indent="-164679" lvl="1">
              <a:lnSpc>
                <a:spcPts val="1510"/>
              </a:lnSpc>
              <a:buAutoNum type="arabicPeriod" startAt="1"/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AURA giải quyết tư vấn sản phẩm công nghệ bằng AI có kiểm soát.</a:t>
            </a:r>
          </a:p>
          <a:p>
            <a:pPr algn="just" marL="329357" indent="-164679" lvl="1">
              <a:lnSpc>
                <a:spcPts val="1510"/>
              </a:lnSpc>
              <a:buAutoNum type="arabicPeriod" startAt="1"/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Harness Engineering là đóng góp kỹ thuật trung tâm của hệ thống.</a:t>
            </a:r>
          </a:p>
          <a:p>
            <a:pPr algn="just" marL="329357" indent="-164679" lvl="1">
              <a:lnSpc>
                <a:spcPts val="1510"/>
              </a:lnSpc>
              <a:buAutoNum type="arabicPeriod" startAt="1"/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Hệ thống đảm bảo grounding, verification, UI consistency và traceability.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3410795" y="4815421"/>
            <a:ext cx="2520213" cy="29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0"/>
              </a:lnSpc>
            </a:pPr>
            <a:r>
              <a:rPr lang="en-US" b="true" sz="1864" spc="-1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Kết luận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3203955" y="7946666"/>
            <a:ext cx="8069254" cy="393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10"/>
              </a:lnSpc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Mở rộng catalog &amp; database production.</a:t>
            </a:r>
          </a:p>
          <a:p>
            <a:pPr algn="just" marL="0" indent="0" lvl="0">
              <a:lnSpc>
                <a:spcPts val="1510"/>
              </a:lnSpc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Hybrid/vector retrieval nâng cao.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3410795" y="7274956"/>
            <a:ext cx="2959894" cy="290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0"/>
              </a:lnSpc>
            </a:pPr>
            <a:r>
              <a:rPr lang="en-US" b="true" sz="1864" spc="-13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Roadmap phát triển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3203955" y="8518547"/>
            <a:ext cx="8069254" cy="393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1510"/>
              </a:lnSpc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Dashboard trace &amp; evaluation.</a:t>
            </a:r>
          </a:p>
          <a:p>
            <a:pPr algn="just" marL="0" indent="0" lvl="0">
              <a:lnSpc>
                <a:spcPts val="1510"/>
              </a:lnSpc>
            </a:pPr>
            <a:r>
              <a:rPr lang="en-US" sz="1525" spc="-56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• Cá nhân hóa recommendation &amp; monitoring.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B57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09814" y="167020"/>
            <a:ext cx="2323166" cy="9952960"/>
            <a:chOff x="0" y="0"/>
            <a:chExt cx="611863" cy="262135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11863" cy="2621356"/>
            </a:xfrm>
            <a:custGeom>
              <a:avLst/>
              <a:gdLst/>
              <a:ahLst/>
              <a:cxnLst/>
              <a:rect r="r" b="b" t="t" l="l"/>
              <a:pathLst>
                <a:path h="2621356" w="611863">
                  <a:moveTo>
                    <a:pt x="166624" y="0"/>
                  </a:moveTo>
                  <a:lnTo>
                    <a:pt x="445238" y="0"/>
                  </a:lnTo>
                  <a:cubicBezTo>
                    <a:pt x="537262" y="0"/>
                    <a:pt x="611863" y="74600"/>
                    <a:pt x="611863" y="166624"/>
                  </a:cubicBezTo>
                  <a:lnTo>
                    <a:pt x="611863" y="2454731"/>
                  </a:lnTo>
                  <a:cubicBezTo>
                    <a:pt x="611863" y="2546755"/>
                    <a:pt x="537262" y="2621356"/>
                    <a:pt x="445238" y="2621356"/>
                  </a:cubicBezTo>
                  <a:lnTo>
                    <a:pt x="166624" y="2621356"/>
                  </a:lnTo>
                  <a:cubicBezTo>
                    <a:pt x="74600" y="2621356"/>
                    <a:pt x="0" y="2546755"/>
                    <a:pt x="0" y="2454731"/>
                  </a:cubicBezTo>
                  <a:lnTo>
                    <a:pt x="0" y="166624"/>
                  </a:lnTo>
                  <a:cubicBezTo>
                    <a:pt x="0" y="74600"/>
                    <a:pt x="74600" y="0"/>
                    <a:pt x="166624" y="0"/>
                  </a:cubicBezTo>
                  <a:close/>
                </a:path>
              </a:pathLst>
            </a:custGeom>
            <a:solidFill>
              <a:srgbClr val="FF8A38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611863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597652" y="167020"/>
            <a:ext cx="16414232" cy="9952960"/>
            <a:chOff x="0" y="0"/>
            <a:chExt cx="4323090" cy="262135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323090" cy="2621356"/>
            </a:xfrm>
            <a:custGeom>
              <a:avLst/>
              <a:gdLst/>
              <a:ahLst/>
              <a:cxnLst/>
              <a:rect r="r" b="b" t="t" l="l"/>
              <a:pathLst>
                <a:path h="2621356" w="4323090">
                  <a:moveTo>
                    <a:pt x="23583" y="0"/>
                  </a:moveTo>
                  <a:lnTo>
                    <a:pt x="4299507" y="0"/>
                  </a:lnTo>
                  <a:cubicBezTo>
                    <a:pt x="4312532" y="0"/>
                    <a:pt x="4323090" y="10558"/>
                    <a:pt x="4323090" y="23583"/>
                  </a:cubicBezTo>
                  <a:lnTo>
                    <a:pt x="4323090" y="2597773"/>
                  </a:lnTo>
                  <a:cubicBezTo>
                    <a:pt x="4323090" y="2610797"/>
                    <a:pt x="4312532" y="2621356"/>
                    <a:pt x="4299507" y="2621356"/>
                  </a:cubicBezTo>
                  <a:lnTo>
                    <a:pt x="23583" y="2621356"/>
                  </a:lnTo>
                  <a:cubicBezTo>
                    <a:pt x="10558" y="2621356"/>
                    <a:pt x="0" y="2610797"/>
                    <a:pt x="0" y="2597773"/>
                  </a:cubicBezTo>
                  <a:lnTo>
                    <a:pt x="0" y="23583"/>
                  </a:lnTo>
                  <a:cubicBezTo>
                    <a:pt x="0" y="10558"/>
                    <a:pt x="10558" y="0"/>
                    <a:pt x="23583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4323090" cy="26594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893194" y="-738207"/>
            <a:ext cx="6754060" cy="7420411"/>
            <a:chOff x="0" y="0"/>
            <a:chExt cx="4044722" cy="44437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044722" cy="4443771"/>
            </a:xfrm>
            <a:custGeom>
              <a:avLst/>
              <a:gdLst/>
              <a:ahLst/>
              <a:cxnLst/>
              <a:rect r="r" b="b" t="t" l="l"/>
              <a:pathLst>
                <a:path h="4443771" w="4044722">
                  <a:moveTo>
                    <a:pt x="36680" y="0"/>
                  </a:moveTo>
                  <a:lnTo>
                    <a:pt x="4008042" y="0"/>
                  </a:lnTo>
                  <a:cubicBezTo>
                    <a:pt x="4028300" y="0"/>
                    <a:pt x="4044722" y="16422"/>
                    <a:pt x="4044722" y="36680"/>
                  </a:cubicBezTo>
                  <a:lnTo>
                    <a:pt x="4044722" y="4407091"/>
                  </a:lnTo>
                  <a:cubicBezTo>
                    <a:pt x="4044722" y="4416819"/>
                    <a:pt x="4040858" y="4426149"/>
                    <a:pt x="4033979" y="4433028"/>
                  </a:cubicBezTo>
                  <a:cubicBezTo>
                    <a:pt x="4027100" y="4439907"/>
                    <a:pt x="4017770" y="4443771"/>
                    <a:pt x="4008042" y="4443771"/>
                  </a:cubicBezTo>
                  <a:lnTo>
                    <a:pt x="36680" y="4443771"/>
                  </a:lnTo>
                  <a:cubicBezTo>
                    <a:pt x="16422" y="4443771"/>
                    <a:pt x="0" y="4427349"/>
                    <a:pt x="0" y="4407091"/>
                  </a:cubicBezTo>
                  <a:lnTo>
                    <a:pt x="0" y="36680"/>
                  </a:lnTo>
                  <a:cubicBezTo>
                    <a:pt x="0" y="26952"/>
                    <a:pt x="3865" y="17622"/>
                    <a:pt x="10743" y="10743"/>
                  </a:cubicBezTo>
                  <a:cubicBezTo>
                    <a:pt x="17622" y="3865"/>
                    <a:pt x="26952" y="0"/>
                    <a:pt x="36680" y="0"/>
                  </a:cubicBezTo>
                  <a:close/>
                </a:path>
              </a:pathLst>
            </a:custGeom>
            <a:solidFill>
              <a:srgbClr val="FF6F5E"/>
            </a:solidFill>
            <a:ln w="9525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4044722" cy="448187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1540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628726" y="2424196"/>
            <a:ext cx="680025" cy="680025"/>
          </a:xfrm>
          <a:custGeom>
            <a:avLst/>
            <a:gdLst/>
            <a:ahLst/>
            <a:cxnLst/>
            <a:rect r="r" b="b" t="t" l="l"/>
            <a:pathLst>
              <a:path h="680025" w="680025">
                <a:moveTo>
                  <a:pt x="0" y="0"/>
                </a:moveTo>
                <a:lnTo>
                  <a:pt x="680025" y="0"/>
                </a:lnTo>
                <a:lnTo>
                  <a:pt x="680025" y="680024"/>
                </a:lnTo>
                <a:lnTo>
                  <a:pt x="0" y="6800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680211" y="4944284"/>
            <a:ext cx="550013" cy="456288"/>
          </a:xfrm>
          <a:custGeom>
            <a:avLst/>
            <a:gdLst/>
            <a:ahLst/>
            <a:cxnLst/>
            <a:rect r="r" b="b" t="t" l="l"/>
            <a:pathLst>
              <a:path h="456288" w="550013">
                <a:moveTo>
                  <a:pt x="0" y="0"/>
                </a:moveTo>
                <a:lnTo>
                  <a:pt x="550013" y="0"/>
                </a:lnTo>
                <a:lnTo>
                  <a:pt x="550013" y="456288"/>
                </a:lnTo>
                <a:lnTo>
                  <a:pt x="0" y="4562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-20013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1338426" y="1244010"/>
            <a:ext cx="5863597" cy="5255299"/>
            <a:chOff x="0" y="0"/>
            <a:chExt cx="1644736" cy="147410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644735" cy="1474109"/>
            </a:xfrm>
            <a:custGeom>
              <a:avLst/>
              <a:gdLst/>
              <a:ahLst/>
              <a:cxnLst/>
              <a:rect r="r" b="b" t="t" l="l"/>
              <a:pathLst>
                <a:path h="1474109" w="1644735">
                  <a:moveTo>
                    <a:pt x="473267" y="77131"/>
                  </a:moveTo>
                  <a:lnTo>
                    <a:pt x="404467" y="249131"/>
                  </a:lnTo>
                  <a:cubicBezTo>
                    <a:pt x="385834" y="295713"/>
                    <a:pt x="340719" y="326259"/>
                    <a:pt x="290548" y="326262"/>
                  </a:cubicBezTo>
                  <a:lnTo>
                    <a:pt x="122702" y="326262"/>
                  </a:lnTo>
                  <a:cubicBezTo>
                    <a:pt x="54936" y="326262"/>
                    <a:pt x="1" y="381197"/>
                    <a:pt x="0" y="448963"/>
                  </a:cubicBezTo>
                  <a:lnTo>
                    <a:pt x="0" y="1351408"/>
                  </a:lnTo>
                  <a:cubicBezTo>
                    <a:pt x="1" y="1419174"/>
                    <a:pt x="54936" y="1474109"/>
                    <a:pt x="122702" y="1474109"/>
                  </a:cubicBezTo>
                  <a:lnTo>
                    <a:pt x="1522033" y="1474109"/>
                  </a:lnTo>
                  <a:cubicBezTo>
                    <a:pt x="1589799" y="1474109"/>
                    <a:pt x="1644734" y="1419174"/>
                    <a:pt x="1644735" y="1351408"/>
                  </a:cubicBezTo>
                  <a:lnTo>
                    <a:pt x="1644735" y="122701"/>
                  </a:lnTo>
                  <a:cubicBezTo>
                    <a:pt x="1644734" y="54935"/>
                    <a:pt x="1589799" y="1"/>
                    <a:pt x="1522034" y="0"/>
                  </a:cubicBezTo>
                  <a:lnTo>
                    <a:pt x="587191" y="0"/>
                  </a:lnTo>
                  <a:cubicBezTo>
                    <a:pt x="537018" y="0"/>
                    <a:pt x="491900" y="30547"/>
                    <a:pt x="473267" y="77131"/>
                  </a:cubicBezTo>
                  <a:close/>
                </a:path>
              </a:pathLst>
            </a:custGeom>
            <a:blipFill>
              <a:blip r:embed="rId6"/>
              <a:stretch>
                <a:fillRect l="0" t="-5787" r="0" b="-5787"/>
              </a:stretch>
            </a:blipFill>
            <a:ln w="38100" cap="sq">
              <a:solidFill>
                <a:srgbClr val="424141"/>
              </a:solidFill>
              <a:prstDash val="solid"/>
              <a:miter/>
            </a:ln>
          </p:spPr>
        </p:sp>
      </p:grpSp>
      <p:sp>
        <p:nvSpPr>
          <p:cNvPr name="Freeform 15" id="15"/>
          <p:cNvSpPr/>
          <p:nvPr/>
        </p:nvSpPr>
        <p:spPr>
          <a:xfrm flipH="true" flipV="false" rot="0">
            <a:off x="9219285" y="3057747"/>
            <a:ext cx="941613" cy="818027"/>
          </a:xfrm>
          <a:custGeom>
            <a:avLst/>
            <a:gdLst/>
            <a:ahLst/>
            <a:cxnLst/>
            <a:rect r="r" b="b" t="t" l="l"/>
            <a:pathLst>
              <a:path h="818027" w="941613">
                <a:moveTo>
                  <a:pt x="941613" y="0"/>
                </a:moveTo>
                <a:lnTo>
                  <a:pt x="0" y="0"/>
                </a:lnTo>
                <a:lnTo>
                  <a:pt x="0" y="818027"/>
                </a:lnTo>
                <a:lnTo>
                  <a:pt x="941613" y="818027"/>
                </a:lnTo>
                <a:lnTo>
                  <a:pt x="94161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6" id="16"/>
          <p:cNvGrpSpPr/>
          <p:nvPr/>
        </p:nvGrpSpPr>
        <p:grpSpPr>
          <a:xfrm rot="-144823">
            <a:off x="2256675" y="4078185"/>
            <a:ext cx="6467525" cy="1419194"/>
            <a:chOff x="0" y="0"/>
            <a:chExt cx="1617968" cy="35503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617968" cy="355037"/>
            </a:xfrm>
            <a:custGeom>
              <a:avLst/>
              <a:gdLst/>
              <a:ahLst/>
              <a:cxnLst/>
              <a:rect r="r" b="b" t="t" l="l"/>
              <a:pathLst>
                <a:path h="355037" w="1617968">
                  <a:moveTo>
                    <a:pt x="75414" y="0"/>
                  </a:moveTo>
                  <a:lnTo>
                    <a:pt x="1542554" y="0"/>
                  </a:lnTo>
                  <a:cubicBezTo>
                    <a:pt x="1584204" y="0"/>
                    <a:pt x="1617968" y="33764"/>
                    <a:pt x="1617968" y="75414"/>
                  </a:cubicBezTo>
                  <a:lnTo>
                    <a:pt x="1617968" y="279623"/>
                  </a:lnTo>
                  <a:cubicBezTo>
                    <a:pt x="1617968" y="299624"/>
                    <a:pt x="1610022" y="318806"/>
                    <a:pt x="1595879" y="332949"/>
                  </a:cubicBezTo>
                  <a:cubicBezTo>
                    <a:pt x="1581736" y="347092"/>
                    <a:pt x="1562555" y="355037"/>
                    <a:pt x="1542554" y="355037"/>
                  </a:cubicBezTo>
                  <a:lnTo>
                    <a:pt x="75414" y="355037"/>
                  </a:lnTo>
                  <a:cubicBezTo>
                    <a:pt x="55413" y="355037"/>
                    <a:pt x="36231" y="347092"/>
                    <a:pt x="22088" y="332949"/>
                  </a:cubicBezTo>
                  <a:cubicBezTo>
                    <a:pt x="7945" y="318806"/>
                    <a:pt x="0" y="299624"/>
                    <a:pt x="0" y="279623"/>
                  </a:cubicBezTo>
                  <a:lnTo>
                    <a:pt x="0" y="75414"/>
                  </a:lnTo>
                  <a:cubicBezTo>
                    <a:pt x="0" y="55413"/>
                    <a:pt x="7945" y="36231"/>
                    <a:pt x="22088" y="22088"/>
                  </a:cubicBezTo>
                  <a:cubicBezTo>
                    <a:pt x="36231" y="7945"/>
                    <a:pt x="55413" y="0"/>
                    <a:pt x="75414" y="0"/>
                  </a:cubicBezTo>
                  <a:close/>
                </a:path>
              </a:pathLst>
            </a:custGeom>
            <a:solidFill>
              <a:srgbClr val="EB574C"/>
            </a:solidFill>
            <a:ln w="19050" cap="rnd">
              <a:solidFill>
                <a:srgbClr val="424141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617968" cy="3931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</a:pPr>
            </a:p>
          </p:txBody>
        </p:sp>
      </p:grpSp>
      <p:sp>
        <p:nvSpPr>
          <p:cNvPr name="AutoShape 19" id="19"/>
          <p:cNvSpPr/>
          <p:nvPr/>
        </p:nvSpPr>
        <p:spPr>
          <a:xfrm>
            <a:off x="628726" y="1279706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>
            <a:off x="628726" y="1427234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1" id="21"/>
          <p:cNvSpPr/>
          <p:nvPr/>
        </p:nvSpPr>
        <p:spPr>
          <a:xfrm>
            <a:off x="628726" y="1570109"/>
            <a:ext cx="550013" cy="0"/>
          </a:xfrm>
          <a:prstGeom prst="line">
            <a:avLst/>
          </a:prstGeom>
          <a:ln cap="flat" w="4762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22" id="22"/>
          <p:cNvSpPr/>
          <p:nvPr/>
        </p:nvSpPr>
        <p:spPr>
          <a:xfrm flipH="false" flipV="false" rot="0">
            <a:off x="628726" y="602922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3"/>
                </a:lnTo>
                <a:lnTo>
                  <a:pt x="0" y="6529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6942804" y="8770163"/>
            <a:ext cx="281761" cy="281761"/>
          </a:xfrm>
          <a:custGeom>
            <a:avLst/>
            <a:gdLst/>
            <a:ahLst/>
            <a:cxnLst/>
            <a:rect r="r" b="b" t="t" l="l"/>
            <a:pathLst>
              <a:path h="281761" w="281761">
                <a:moveTo>
                  <a:pt x="0" y="0"/>
                </a:moveTo>
                <a:lnTo>
                  <a:pt x="281761" y="0"/>
                </a:lnTo>
                <a:lnTo>
                  <a:pt x="281761" y="281761"/>
                </a:lnTo>
                <a:lnTo>
                  <a:pt x="0" y="28176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446720" y="8468781"/>
            <a:ext cx="1387838" cy="961005"/>
            <a:chOff x="0" y="0"/>
            <a:chExt cx="365521" cy="253104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65521" cy="253104"/>
            </a:xfrm>
            <a:custGeom>
              <a:avLst/>
              <a:gdLst/>
              <a:ahLst/>
              <a:cxnLst/>
              <a:rect r="r" b="b" t="t" l="l"/>
              <a:pathLst>
                <a:path h="253104" w="365521">
                  <a:moveTo>
                    <a:pt x="126552" y="0"/>
                  </a:moveTo>
                  <a:lnTo>
                    <a:pt x="238969" y="0"/>
                  </a:lnTo>
                  <a:cubicBezTo>
                    <a:pt x="308862" y="0"/>
                    <a:pt x="365521" y="56659"/>
                    <a:pt x="365521" y="126552"/>
                  </a:cubicBezTo>
                  <a:lnTo>
                    <a:pt x="365521" y="126552"/>
                  </a:lnTo>
                  <a:cubicBezTo>
                    <a:pt x="365521" y="196445"/>
                    <a:pt x="308862" y="253104"/>
                    <a:pt x="238969" y="253104"/>
                  </a:cubicBezTo>
                  <a:lnTo>
                    <a:pt x="126552" y="253104"/>
                  </a:lnTo>
                  <a:cubicBezTo>
                    <a:pt x="56659" y="253104"/>
                    <a:pt x="0" y="196445"/>
                    <a:pt x="0" y="126552"/>
                  </a:cubicBezTo>
                  <a:lnTo>
                    <a:pt x="0" y="126552"/>
                  </a:lnTo>
                  <a:cubicBezTo>
                    <a:pt x="0" y="56659"/>
                    <a:pt x="56659" y="0"/>
                    <a:pt x="12655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365521" cy="2912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628726" y="8621062"/>
            <a:ext cx="652982" cy="652982"/>
          </a:xfrm>
          <a:custGeom>
            <a:avLst/>
            <a:gdLst/>
            <a:ahLst/>
            <a:cxnLst/>
            <a:rect r="r" b="b" t="t" l="l"/>
            <a:pathLst>
              <a:path h="652982" w="652982">
                <a:moveTo>
                  <a:pt x="0" y="0"/>
                </a:moveTo>
                <a:lnTo>
                  <a:pt x="652983" y="0"/>
                </a:lnTo>
                <a:lnTo>
                  <a:pt x="652983" y="652982"/>
                </a:lnTo>
                <a:lnTo>
                  <a:pt x="0" y="65298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0429145" y="1336014"/>
            <a:ext cx="909280" cy="909280"/>
          </a:xfrm>
          <a:custGeom>
            <a:avLst/>
            <a:gdLst/>
            <a:ahLst/>
            <a:cxnLst/>
            <a:rect r="r" b="b" t="t" l="l"/>
            <a:pathLst>
              <a:path h="909280" w="909280">
                <a:moveTo>
                  <a:pt x="0" y="0"/>
                </a:moveTo>
                <a:lnTo>
                  <a:pt x="909281" y="0"/>
                </a:lnTo>
                <a:lnTo>
                  <a:pt x="909281" y="909280"/>
                </a:lnTo>
                <a:lnTo>
                  <a:pt x="0" y="909280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628726" y="7339018"/>
            <a:ext cx="652982" cy="625231"/>
          </a:xfrm>
          <a:custGeom>
            <a:avLst/>
            <a:gdLst/>
            <a:ahLst/>
            <a:cxnLst/>
            <a:rect r="r" b="b" t="t" l="l"/>
            <a:pathLst>
              <a:path h="625231" w="652982">
                <a:moveTo>
                  <a:pt x="0" y="0"/>
                </a:moveTo>
                <a:lnTo>
                  <a:pt x="652983" y="0"/>
                </a:lnTo>
                <a:lnTo>
                  <a:pt x="652983" y="625231"/>
                </a:lnTo>
                <a:lnTo>
                  <a:pt x="0" y="625231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/>
          <p:cNvSpPr/>
          <p:nvPr/>
        </p:nvSpPr>
        <p:spPr>
          <a:xfrm flipH="false" flipV="false" rot="0">
            <a:off x="695867" y="3769890"/>
            <a:ext cx="545744" cy="545744"/>
          </a:xfrm>
          <a:custGeom>
            <a:avLst/>
            <a:gdLst/>
            <a:ahLst/>
            <a:cxnLst/>
            <a:rect r="r" b="b" t="t" l="l"/>
            <a:pathLst>
              <a:path h="545744" w="545744">
                <a:moveTo>
                  <a:pt x="0" y="0"/>
                </a:moveTo>
                <a:lnTo>
                  <a:pt x="545743" y="0"/>
                </a:lnTo>
                <a:lnTo>
                  <a:pt x="545743" y="545744"/>
                </a:lnTo>
                <a:lnTo>
                  <a:pt x="0" y="545744"/>
                </a:lnTo>
                <a:lnTo>
                  <a:pt x="0" y="0"/>
                </a:lnTo>
                <a:close/>
              </a:path>
            </a:pathLst>
          </a:custGeom>
          <a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/>
          <p:cNvSpPr/>
          <p:nvPr/>
        </p:nvSpPr>
        <p:spPr>
          <a:xfrm flipH="false" flipV="false" rot="0">
            <a:off x="1908175" y="636208"/>
            <a:ext cx="3476810" cy="933900"/>
          </a:xfrm>
          <a:custGeom>
            <a:avLst/>
            <a:gdLst/>
            <a:ahLst/>
            <a:cxnLst/>
            <a:rect r="r" b="b" t="t" l="l"/>
            <a:pathLst>
              <a:path h="933900" w="3476810">
                <a:moveTo>
                  <a:pt x="0" y="0"/>
                </a:moveTo>
                <a:lnTo>
                  <a:pt x="3476810" y="0"/>
                </a:lnTo>
                <a:lnTo>
                  <a:pt x="3476810" y="933901"/>
                </a:lnTo>
                <a:lnTo>
                  <a:pt x="0" y="93390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908175" y="2083044"/>
            <a:ext cx="7921546" cy="1541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5940"/>
              </a:lnSpc>
            </a:pPr>
            <a:r>
              <a:rPr lang="en-US" b="true" sz="6000" spc="-372">
                <a:solidFill>
                  <a:srgbClr val="42414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CẢM ƠN THẦY VÀ MỌI NGƯỜI</a:t>
            </a:r>
          </a:p>
        </p:txBody>
      </p:sp>
      <p:sp>
        <p:nvSpPr>
          <p:cNvPr name="TextBox 33" id="33"/>
          <p:cNvSpPr txBox="true"/>
          <p:nvPr/>
        </p:nvSpPr>
        <p:spPr>
          <a:xfrm rot="-158741">
            <a:off x="2375516" y="4485830"/>
            <a:ext cx="6489155" cy="71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441"/>
              </a:lnSpc>
            </a:pPr>
            <a:r>
              <a:rPr lang="en-US" sz="5496" spc="-21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DAHNkPYYmCo</dc:identifier>
  <dcterms:modified xsi:type="dcterms:W3CDTF">2011-08-01T06:04:30Z</dcterms:modified>
  <cp:revision>1</cp:revision>
  <dc:title>AURA AI Sales Advisor: Harnessed Control
</dc:title>
</cp:coreProperties>
</file>