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Aptos Bold" panose="020B0604020202020204" charset="0"/>
      <p:regular r:id="rId21"/>
    </p:embeddedFont>
    <p:embeddedFont>
      <p:font typeface="TT Hoves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239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8.svg"/><Relationship Id="rId7" Type="http://schemas.openxmlformats.org/officeDocument/2006/relationships/image" Target="../media/image7.sv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9.svg"/><Relationship Id="rId5" Type="http://schemas.openxmlformats.org/officeDocument/2006/relationships/image" Target="../media/image14.png"/><Relationship Id="rId10" Type="http://schemas.openxmlformats.org/officeDocument/2006/relationships/image" Target="../media/image1.svg"/><Relationship Id="rId4" Type="http://schemas.openxmlformats.org/officeDocument/2006/relationships/image" Target="../media/image10.sv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image" Target="../media/image9.sv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svg"/><Relationship Id="rId5" Type="http://schemas.openxmlformats.org/officeDocument/2006/relationships/image" Target="../media/image7.svg"/><Relationship Id="rId10" Type="http://schemas.openxmlformats.org/officeDocument/2006/relationships/image" Target="../media/image12.svg"/><Relationship Id="rId4" Type="http://schemas.openxmlformats.org/officeDocument/2006/relationships/image" Target="../media/image17.png"/><Relationship Id="rId9" Type="http://schemas.openxmlformats.org/officeDocument/2006/relationships/image" Target="../media/image3.svg"/></Relationships>
</file>

<file path=ppt/slides/_rels/slide4.xml.rels><?xml version="1.0" encoding="UTF-8" standalone="yes"?>
<Relationships xmlns="http://schemas.openxmlformats.org/package/2006/relationships"><Relationship Id="rId8" Type="http://schemas.openxmlformats.org/officeDocument/2006/relationships/image" Target="../media/image3.svg"/><Relationship Id="rId13" Type="http://schemas.openxmlformats.org/officeDocument/2006/relationships/image" Target="../media/image12.svg"/><Relationship Id="rId3" Type="http://schemas.openxmlformats.org/officeDocument/2006/relationships/image" Target="../media/image19.png"/><Relationship Id="rId7" Type="http://schemas.openxmlformats.org/officeDocument/2006/relationships/image" Target="../media/image10.svg"/><Relationship Id="rId12" Type="http://schemas.openxmlformats.org/officeDocument/2006/relationships/image" Target="../media/image24.sv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23.svg"/><Relationship Id="rId5" Type="http://schemas.openxmlformats.org/officeDocument/2006/relationships/image" Target="../media/image7.svg"/><Relationship Id="rId15" Type="http://schemas.openxmlformats.org/officeDocument/2006/relationships/image" Target="../media/image9.svg"/><Relationship Id="rId10" Type="http://schemas.openxmlformats.org/officeDocument/2006/relationships/image" Target="../media/image22.svg"/><Relationship Id="rId4" Type="http://schemas.openxmlformats.org/officeDocument/2006/relationships/image" Target="../media/image20.png"/><Relationship Id="rId9" Type="http://schemas.openxmlformats.org/officeDocument/2006/relationships/image" Target="../media/image21.svg"/><Relationship Id="rId14" Type="http://schemas.openxmlformats.org/officeDocument/2006/relationships/image" Target="../media/image1.svg"/></Relationships>
</file>

<file path=ppt/slides/_rels/slide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7.svg"/><Relationship Id="rId7" Type="http://schemas.openxmlformats.org/officeDocument/2006/relationships/image" Target="../media/image25.pn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3.svg"/><Relationship Id="rId11" Type="http://schemas.openxmlformats.org/officeDocument/2006/relationships/image" Target="../media/image9.svg"/><Relationship Id="rId5" Type="http://schemas.openxmlformats.org/officeDocument/2006/relationships/image" Target="../media/image10.svg"/><Relationship Id="rId10" Type="http://schemas.openxmlformats.org/officeDocument/2006/relationships/image" Target="../media/image1.svg"/><Relationship Id="rId4" Type="http://schemas.openxmlformats.org/officeDocument/2006/relationships/image" Target="../media/image8.svg"/><Relationship Id="rId9" Type="http://schemas.openxmlformats.org/officeDocument/2006/relationships/image" Target="../media/image12.svg"/></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30.png"/><Relationship Id="rId3" Type="http://schemas.openxmlformats.org/officeDocument/2006/relationships/image" Target="../media/image2.svg"/><Relationship Id="rId7" Type="http://schemas.openxmlformats.org/officeDocument/2006/relationships/image" Target="../media/image8.svg"/><Relationship Id="rId12" Type="http://schemas.openxmlformats.org/officeDocument/2006/relationships/image" Target="../media/image9.svg"/><Relationship Id="rId17" Type="http://schemas.openxmlformats.org/officeDocument/2006/relationships/image" Target="../media/image34.png"/><Relationship Id="rId2" Type="http://schemas.openxmlformats.org/officeDocument/2006/relationships/image" Target="../media/image27.svg"/><Relationship Id="rId16"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29.png"/><Relationship Id="rId15" Type="http://schemas.openxmlformats.org/officeDocument/2006/relationships/image" Target="../media/image32.png"/><Relationship Id="rId10" Type="http://schemas.openxmlformats.org/officeDocument/2006/relationships/image" Target="../media/image3.svg"/><Relationship Id="rId4" Type="http://schemas.openxmlformats.org/officeDocument/2006/relationships/image" Target="../media/image28.png"/><Relationship Id="rId9" Type="http://schemas.openxmlformats.org/officeDocument/2006/relationships/image" Target="../media/image11.svg"/><Relationship Id="rId14" Type="http://schemas.openxmlformats.org/officeDocument/2006/relationships/image" Target="../media/image31.png"/></Relationships>
</file>

<file path=ppt/slides/_rels/slide7.xml.rels><?xml version="1.0" encoding="UTF-8" standalone="yes"?>
<Relationships xmlns="http://schemas.openxmlformats.org/package/2006/relationships"><Relationship Id="rId8" Type="http://schemas.openxmlformats.org/officeDocument/2006/relationships/image" Target="../media/image3.svg"/><Relationship Id="rId13" Type="http://schemas.openxmlformats.org/officeDocument/2006/relationships/image" Target="../media/image12.svg"/><Relationship Id="rId3" Type="http://schemas.openxmlformats.org/officeDocument/2006/relationships/image" Target="../media/image35.png"/><Relationship Id="rId7" Type="http://schemas.openxmlformats.org/officeDocument/2006/relationships/image" Target="../media/image10.svg"/><Relationship Id="rId12" Type="http://schemas.openxmlformats.org/officeDocument/2006/relationships/image" Target="../media/image24.sv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23.svg"/><Relationship Id="rId5" Type="http://schemas.openxmlformats.org/officeDocument/2006/relationships/image" Target="../media/image7.svg"/><Relationship Id="rId15" Type="http://schemas.openxmlformats.org/officeDocument/2006/relationships/image" Target="../media/image37.png"/><Relationship Id="rId10" Type="http://schemas.openxmlformats.org/officeDocument/2006/relationships/image" Target="../media/image22.svg"/><Relationship Id="rId4" Type="http://schemas.openxmlformats.org/officeDocument/2006/relationships/image" Target="../media/image36.png"/><Relationship Id="rId9" Type="http://schemas.openxmlformats.org/officeDocument/2006/relationships/image" Target="../media/image21.svg"/><Relationship Id="rId14" Type="http://schemas.openxmlformats.org/officeDocument/2006/relationships/image" Target="../media/image1.svg"/></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38.pn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0.svg"/><Relationship Id="rId10" Type="http://schemas.openxmlformats.org/officeDocument/2006/relationships/image" Target="../media/image37.png"/><Relationship Id="rId4" Type="http://schemas.openxmlformats.org/officeDocument/2006/relationships/image" Target="../media/image8.svg"/><Relationship Id="rId9" Type="http://schemas.openxmlformats.org/officeDocument/2006/relationships/image" Target="../media/image1.svg"/></Relationships>
</file>

<file path=ppt/slides/_rels/slide9.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10.svg"/><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svg"/><Relationship Id="rId7" Type="http://schemas.openxmlformats.org/officeDocument/2006/relationships/image" Target="../media/image12.sv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0.svg"/><Relationship Id="rId10" Type="http://schemas.openxmlformats.org/officeDocument/2006/relationships/image" Target="../media/image37.png"/><Relationship Id="rId4" Type="http://schemas.openxmlformats.org/officeDocument/2006/relationships/image" Target="../media/image8.svg"/><Relationship Id="rId9" Type="http://schemas.openxmlformats.org/officeDocument/2006/relationships/image" Target="../media/image39.png"/></Relationships>
</file>

<file path=ppt/slides/_rels/slide11.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svg"/><Relationship Id="rId7" Type="http://schemas.openxmlformats.org/officeDocument/2006/relationships/image" Target="../media/image12.sv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0.svg"/><Relationship Id="rId10" Type="http://schemas.openxmlformats.org/officeDocument/2006/relationships/image" Target="../media/image37.png"/><Relationship Id="rId4" Type="http://schemas.openxmlformats.org/officeDocument/2006/relationships/image" Target="../media/image8.svg"/><Relationship Id="rId9"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svg"/><Relationship Id="rId7" Type="http://schemas.openxmlformats.org/officeDocument/2006/relationships/image" Target="../media/image12.sv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0.svg"/><Relationship Id="rId10" Type="http://schemas.openxmlformats.org/officeDocument/2006/relationships/image" Target="../media/image41.png"/><Relationship Id="rId4" Type="http://schemas.openxmlformats.org/officeDocument/2006/relationships/image" Target="../media/image8.svg"/><Relationship Id="rId9"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7.svg"/><Relationship Id="rId7" Type="http://schemas.openxmlformats.org/officeDocument/2006/relationships/image" Target="../media/image12.svg"/><Relationship Id="rId12" Type="http://schemas.openxmlformats.org/officeDocument/2006/relationships/image" Target="../media/image37.pn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3.svg"/><Relationship Id="rId11" Type="http://schemas.openxmlformats.org/officeDocument/2006/relationships/image" Target="../media/image44.png"/><Relationship Id="rId5" Type="http://schemas.openxmlformats.org/officeDocument/2006/relationships/image" Target="../media/image10.svg"/><Relationship Id="rId10" Type="http://schemas.openxmlformats.org/officeDocument/2006/relationships/image" Target="../media/image43.png"/><Relationship Id="rId4" Type="http://schemas.openxmlformats.org/officeDocument/2006/relationships/image" Target="../media/image8.svg"/><Relationship Id="rId9" Type="http://schemas.openxmlformats.org/officeDocument/2006/relationships/image" Target="../media/image42.png"/></Relationships>
</file>

<file path=ppt/slides/_rels/slide1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45.png"/><Relationship Id="rId7" Type="http://schemas.openxmlformats.org/officeDocument/2006/relationships/image" Target="../media/image47.png"/><Relationship Id="rId12" Type="http://schemas.openxmlformats.org/officeDocument/2006/relationships/image" Target="../media/image37.pn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svg"/><Relationship Id="rId5" Type="http://schemas.openxmlformats.org/officeDocument/2006/relationships/image" Target="../media/image7.svg"/><Relationship Id="rId10" Type="http://schemas.openxmlformats.org/officeDocument/2006/relationships/image" Target="../media/image12.svg"/><Relationship Id="rId4" Type="http://schemas.openxmlformats.org/officeDocument/2006/relationships/image" Target="../media/image46.png"/><Relationship Id="rId9" Type="http://schemas.openxmlformats.org/officeDocument/2006/relationships/image" Target="../media/image3.svg"/></Relationships>
</file>

<file path=ppt/slides/_rels/slide1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7.svg"/><Relationship Id="rId7" Type="http://schemas.openxmlformats.org/officeDocument/2006/relationships/image" Target="../media/image49.pn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3.svg"/><Relationship Id="rId11" Type="http://schemas.openxmlformats.org/officeDocument/2006/relationships/image" Target="../media/image37.png"/><Relationship Id="rId5" Type="http://schemas.openxmlformats.org/officeDocument/2006/relationships/image" Target="../media/image10.svg"/><Relationship Id="rId10" Type="http://schemas.openxmlformats.org/officeDocument/2006/relationships/image" Target="../media/image1.svg"/><Relationship Id="rId4" Type="http://schemas.openxmlformats.org/officeDocument/2006/relationships/image" Target="../media/image48.svg"/><Relationship Id="rId9" Type="http://schemas.openxmlformats.org/officeDocument/2006/relationships/image" Target="../media/image12.svg"/></Relationships>
</file>

<file path=ppt/slides/_rels/slide16.xml.rels><?xml version="1.0" encoding="UTF-8" standalone="yes"?>
<Relationships xmlns="http://schemas.openxmlformats.org/package/2006/relationships"><Relationship Id="rId8" Type="http://schemas.openxmlformats.org/officeDocument/2006/relationships/image" Target="../media/image3.svg"/><Relationship Id="rId13" Type="http://schemas.openxmlformats.org/officeDocument/2006/relationships/image" Target="../media/image12.svg"/><Relationship Id="rId3" Type="http://schemas.openxmlformats.org/officeDocument/2006/relationships/image" Target="../media/image51.png"/><Relationship Id="rId7" Type="http://schemas.openxmlformats.org/officeDocument/2006/relationships/image" Target="../media/image10.svg"/><Relationship Id="rId12" Type="http://schemas.openxmlformats.org/officeDocument/2006/relationships/image" Target="../media/image24.sv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23.svg"/><Relationship Id="rId5" Type="http://schemas.openxmlformats.org/officeDocument/2006/relationships/image" Target="../media/image7.svg"/><Relationship Id="rId15" Type="http://schemas.openxmlformats.org/officeDocument/2006/relationships/image" Target="../media/image37.png"/><Relationship Id="rId10" Type="http://schemas.openxmlformats.org/officeDocument/2006/relationships/image" Target="../media/image22.svg"/><Relationship Id="rId4" Type="http://schemas.openxmlformats.org/officeDocument/2006/relationships/image" Target="../media/image52.png"/><Relationship Id="rId9" Type="http://schemas.openxmlformats.org/officeDocument/2006/relationships/image" Target="../media/image21.svg"/><Relationship Id="rId14" Type="http://schemas.openxmlformats.org/officeDocument/2006/relationships/image" Target="../media/image1.svg"/></Relationships>
</file>

<file path=ppt/slides/_rels/slide17.xml.rels><?xml version="1.0" encoding="UTF-8" standalone="yes"?>
<Relationships xmlns="http://schemas.openxmlformats.org/package/2006/relationships"><Relationship Id="rId8" Type="http://schemas.openxmlformats.org/officeDocument/2006/relationships/image" Target="../media/image1.svg"/><Relationship Id="rId13" Type="http://schemas.openxmlformats.org/officeDocument/2006/relationships/image" Target="../media/image57.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56.svg"/><Relationship Id="rId17" Type="http://schemas.openxmlformats.org/officeDocument/2006/relationships/image" Target="../media/image60.svg"/><Relationship Id="rId2" Type="http://schemas.openxmlformats.org/officeDocument/2006/relationships/image" Target="../media/image13.svg"/><Relationship Id="rId16"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3.svg"/><Relationship Id="rId11" Type="http://schemas.openxmlformats.org/officeDocument/2006/relationships/image" Target="../media/image55.svg"/><Relationship Id="rId5" Type="http://schemas.openxmlformats.org/officeDocument/2006/relationships/image" Target="../media/image7.svg"/><Relationship Id="rId15" Type="http://schemas.openxmlformats.org/officeDocument/2006/relationships/image" Target="../media/image59.svg"/><Relationship Id="rId10" Type="http://schemas.openxmlformats.org/officeDocument/2006/relationships/image" Target="../media/image54.png"/><Relationship Id="rId4" Type="http://schemas.openxmlformats.org/officeDocument/2006/relationships/image" Target="../media/image10.svg"/><Relationship Id="rId9" Type="http://schemas.openxmlformats.org/officeDocument/2006/relationships/image" Target="../media/image53.svg"/><Relationship Id="rId14" Type="http://schemas.openxmlformats.org/officeDocument/2006/relationships/image" Target="../media/image58.svg"/></Relationships>
</file>

<file path=ppt/slides/_rels/slide18.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2.svg"/><Relationship Id="rId7" Type="http://schemas.openxmlformats.org/officeDocument/2006/relationships/image" Target="../media/image61.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8.svg"/><Relationship Id="rId10" Type="http://schemas.openxmlformats.org/officeDocument/2006/relationships/image" Target="../media/image37.png"/><Relationship Id="rId4" Type="http://schemas.openxmlformats.org/officeDocument/2006/relationships/image" Target="../media/image7.svg"/><Relationship Id="rId9" Type="http://schemas.openxmlformats.org/officeDocument/2006/relationships/image" Target="../media/image12.svg"/></Relationships>
</file>

<file path=ppt/slides/_rels/slide19.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2.svg"/><Relationship Id="rId7" Type="http://schemas.openxmlformats.org/officeDocument/2006/relationships/image" Target="../media/image64.svg"/><Relationship Id="rId12" Type="http://schemas.openxmlformats.org/officeDocument/2006/relationships/image" Target="../media/image37.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2.svg"/><Relationship Id="rId5" Type="http://schemas.openxmlformats.org/officeDocument/2006/relationships/image" Target="../media/image7.svg"/><Relationship Id="rId10" Type="http://schemas.openxmlformats.org/officeDocument/2006/relationships/image" Target="../media/image3.svg"/><Relationship Id="rId4" Type="http://schemas.openxmlformats.org/officeDocument/2006/relationships/image" Target="../media/image63.pn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484820" y="946731"/>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607177"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2" name="Freeform 12"/>
          <p:cNvSpPr/>
          <p:nvPr/>
        </p:nvSpPr>
        <p:spPr>
          <a:xfrm>
            <a:off x="693732"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3"/>
                </a:ext>
              </a:extLst>
            </a:blip>
            <a:stretch>
              <a:fillRect r="-20013"/>
            </a:stretch>
          </a:blipFill>
        </p:spPr>
        <p:txBody>
          <a:bodyPr/>
          <a:lstStyle/>
          <a:p>
            <a:endParaRPr lang="en-US"/>
          </a:p>
        </p:txBody>
      </p:sp>
      <p:sp>
        <p:nvSpPr>
          <p:cNvPr id="13" name="Freeform 13"/>
          <p:cNvSpPr/>
          <p:nvPr/>
        </p:nvSpPr>
        <p:spPr>
          <a:xfrm>
            <a:off x="642247"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4" name="Group 14"/>
          <p:cNvGrpSpPr/>
          <p:nvPr/>
        </p:nvGrpSpPr>
        <p:grpSpPr>
          <a:xfrm>
            <a:off x="12058255" y="1244010"/>
            <a:ext cx="5203361" cy="5400761"/>
            <a:chOff x="0" y="0"/>
            <a:chExt cx="1459540" cy="1514911"/>
          </a:xfrm>
        </p:grpSpPr>
        <p:sp>
          <p:nvSpPr>
            <p:cNvPr id="15" name="Freeform 15"/>
            <p:cNvSpPr/>
            <p:nvPr/>
          </p:nvSpPr>
          <p:spPr>
            <a:xfrm>
              <a:off x="0" y="0"/>
              <a:ext cx="1459539" cy="1514911"/>
            </a:xfrm>
            <a:custGeom>
              <a:avLst/>
              <a:gdLst/>
              <a:ahLst/>
              <a:cxnLst/>
              <a:rect l="l" t="t" r="r" b="b"/>
              <a:pathLst>
                <a:path w="1459539" h="1514911">
                  <a:moveTo>
                    <a:pt x="473267" y="77131"/>
                  </a:moveTo>
                  <a:lnTo>
                    <a:pt x="404467" y="249131"/>
                  </a:lnTo>
                  <a:cubicBezTo>
                    <a:pt x="385834" y="295713"/>
                    <a:pt x="340719" y="326259"/>
                    <a:pt x="290548" y="326262"/>
                  </a:cubicBezTo>
                  <a:lnTo>
                    <a:pt x="122702" y="326262"/>
                  </a:lnTo>
                  <a:cubicBezTo>
                    <a:pt x="54936" y="326262"/>
                    <a:pt x="1" y="381197"/>
                    <a:pt x="0" y="448963"/>
                  </a:cubicBezTo>
                  <a:lnTo>
                    <a:pt x="0" y="1392210"/>
                  </a:lnTo>
                  <a:cubicBezTo>
                    <a:pt x="1" y="1459976"/>
                    <a:pt x="54936" y="1514911"/>
                    <a:pt x="122702" y="1514911"/>
                  </a:cubicBezTo>
                  <a:lnTo>
                    <a:pt x="1336837" y="1514911"/>
                  </a:lnTo>
                  <a:cubicBezTo>
                    <a:pt x="1404603" y="1514911"/>
                    <a:pt x="1459538" y="1459976"/>
                    <a:pt x="1459539" y="1392210"/>
                  </a:cubicBezTo>
                  <a:lnTo>
                    <a:pt x="1459539" y="122701"/>
                  </a:lnTo>
                  <a:cubicBezTo>
                    <a:pt x="1459538" y="54935"/>
                    <a:pt x="1404604" y="1"/>
                    <a:pt x="1336838" y="0"/>
                  </a:cubicBezTo>
                  <a:lnTo>
                    <a:pt x="587191" y="0"/>
                  </a:lnTo>
                  <a:cubicBezTo>
                    <a:pt x="537018" y="0"/>
                    <a:pt x="491900" y="30547"/>
                    <a:pt x="473267" y="77131"/>
                  </a:cubicBezTo>
                  <a:close/>
                </a:path>
              </a:pathLst>
            </a:custGeom>
            <a:blipFill>
              <a:blip r:embed="rId5"/>
              <a:stretch>
                <a:fillRect l="-1896" r="-1896"/>
              </a:stretch>
            </a:blipFill>
            <a:ln w="38100" cap="sq">
              <a:solidFill>
                <a:srgbClr val="424141"/>
              </a:solidFill>
              <a:prstDash val="solid"/>
              <a:miter/>
            </a:ln>
          </p:spPr>
          <p:txBody>
            <a:bodyPr/>
            <a:lstStyle/>
            <a:p>
              <a:endParaRPr lang="en-US"/>
            </a:p>
          </p:txBody>
        </p:sp>
      </p:grpSp>
      <p:grpSp>
        <p:nvGrpSpPr>
          <p:cNvPr id="16" name="Group 16"/>
          <p:cNvGrpSpPr/>
          <p:nvPr/>
        </p:nvGrpSpPr>
        <p:grpSpPr>
          <a:xfrm>
            <a:off x="12058115" y="5751211"/>
            <a:ext cx="5201185" cy="2924972"/>
            <a:chOff x="0" y="0"/>
            <a:chExt cx="3114770" cy="1751643"/>
          </a:xfrm>
        </p:grpSpPr>
        <p:sp>
          <p:nvSpPr>
            <p:cNvPr id="17" name="Freeform 17"/>
            <p:cNvSpPr/>
            <p:nvPr/>
          </p:nvSpPr>
          <p:spPr>
            <a:xfrm>
              <a:off x="0" y="0"/>
              <a:ext cx="3114771" cy="1751643"/>
            </a:xfrm>
            <a:custGeom>
              <a:avLst/>
              <a:gdLst/>
              <a:ahLst/>
              <a:cxnLst/>
              <a:rect l="l" t="t" r="r" b="b"/>
              <a:pathLst>
                <a:path w="3114771" h="1751643">
                  <a:moveTo>
                    <a:pt x="47632" y="0"/>
                  </a:moveTo>
                  <a:lnTo>
                    <a:pt x="3067139" y="0"/>
                  </a:lnTo>
                  <a:cubicBezTo>
                    <a:pt x="3079772" y="0"/>
                    <a:pt x="3091887" y="5018"/>
                    <a:pt x="3100819" y="13951"/>
                  </a:cubicBezTo>
                  <a:cubicBezTo>
                    <a:pt x="3109752" y="22884"/>
                    <a:pt x="3114771" y="34999"/>
                    <a:pt x="3114771" y="47632"/>
                  </a:cubicBezTo>
                  <a:lnTo>
                    <a:pt x="3114771" y="1704011"/>
                  </a:lnTo>
                  <a:cubicBezTo>
                    <a:pt x="3114771" y="1716643"/>
                    <a:pt x="3109752" y="1728759"/>
                    <a:pt x="3100819" y="1737691"/>
                  </a:cubicBezTo>
                  <a:cubicBezTo>
                    <a:pt x="3091887" y="1746624"/>
                    <a:pt x="3079772" y="1751643"/>
                    <a:pt x="3067139" y="1751643"/>
                  </a:cubicBezTo>
                  <a:lnTo>
                    <a:pt x="47632" y="1751643"/>
                  </a:lnTo>
                  <a:cubicBezTo>
                    <a:pt x="34999" y="1751643"/>
                    <a:pt x="22884" y="1746624"/>
                    <a:pt x="13951" y="1737691"/>
                  </a:cubicBezTo>
                  <a:cubicBezTo>
                    <a:pt x="5018" y="1728759"/>
                    <a:pt x="0" y="1716643"/>
                    <a:pt x="0" y="1704011"/>
                  </a:cubicBezTo>
                  <a:lnTo>
                    <a:pt x="0" y="47632"/>
                  </a:lnTo>
                  <a:cubicBezTo>
                    <a:pt x="0" y="34999"/>
                    <a:pt x="5018" y="22884"/>
                    <a:pt x="13951" y="13951"/>
                  </a:cubicBezTo>
                  <a:cubicBezTo>
                    <a:pt x="22884" y="5018"/>
                    <a:pt x="34999" y="0"/>
                    <a:pt x="47632" y="0"/>
                  </a:cubicBezTo>
                  <a:close/>
                </a:path>
              </a:pathLst>
            </a:custGeom>
            <a:solidFill>
              <a:srgbClr val="FF6F5E"/>
            </a:solidFill>
            <a:ln w="9525" cap="rnd">
              <a:solidFill>
                <a:srgbClr val="424141"/>
              </a:solidFill>
              <a:prstDash val="solid"/>
              <a:round/>
            </a:ln>
          </p:spPr>
          <p:txBody>
            <a:bodyPr/>
            <a:lstStyle/>
            <a:p>
              <a:endParaRPr lang="en-US"/>
            </a:p>
          </p:txBody>
        </p:sp>
        <p:sp>
          <p:nvSpPr>
            <p:cNvPr id="18" name="TextBox 18"/>
            <p:cNvSpPr txBox="1"/>
            <p:nvPr/>
          </p:nvSpPr>
          <p:spPr>
            <a:xfrm>
              <a:off x="0" y="-38100"/>
              <a:ext cx="3114770" cy="1789743"/>
            </a:xfrm>
            <a:prstGeom prst="rect">
              <a:avLst/>
            </a:prstGeom>
          </p:spPr>
          <p:txBody>
            <a:bodyPr lIns="50800" tIns="50800" rIns="50800" bIns="50800" rtlCol="0" anchor="ctr"/>
            <a:lstStyle/>
            <a:p>
              <a:pPr marL="0" lvl="0" indent="0" algn="ctr">
                <a:lnSpc>
                  <a:spcPts val="1540"/>
                </a:lnSpc>
              </a:pPr>
              <a:endParaRPr/>
            </a:p>
          </p:txBody>
        </p:sp>
      </p:grpSp>
      <p:grpSp>
        <p:nvGrpSpPr>
          <p:cNvPr id="19" name="Group 19"/>
          <p:cNvGrpSpPr/>
          <p:nvPr/>
        </p:nvGrpSpPr>
        <p:grpSpPr>
          <a:xfrm>
            <a:off x="12375322" y="6029222"/>
            <a:ext cx="1785539" cy="2096766"/>
            <a:chOff x="0" y="0"/>
            <a:chExt cx="812800" cy="954475"/>
          </a:xfrm>
        </p:grpSpPr>
        <p:sp>
          <p:nvSpPr>
            <p:cNvPr id="20" name="Freeform 20"/>
            <p:cNvSpPr/>
            <p:nvPr/>
          </p:nvSpPr>
          <p:spPr>
            <a:xfrm>
              <a:off x="0" y="0"/>
              <a:ext cx="812800" cy="954475"/>
            </a:xfrm>
            <a:custGeom>
              <a:avLst/>
              <a:gdLst/>
              <a:ahLst/>
              <a:cxnLst/>
              <a:rect l="l" t="t" r="r" b="b"/>
              <a:pathLst>
                <a:path w="812800" h="954475">
                  <a:moveTo>
                    <a:pt x="73710" y="0"/>
                  </a:moveTo>
                  <a:lnTo>
                    <a:pt x="739090" y="0"/>
                  </a:lnTo>
                  <a:cubicBezTo>
                    <a:pt x="758639" y="0"/>
                    <a:pt x="777387" y="7766"/>
                    <a:pt x="791211" y="21589"/>
                  </a:cubicBezTo>
                  <a:cubicBezTo>
                    <a:pt x="805034" y="35413"/>
                    <a:pt x="812800" y="54161"/>
                    <a:pt x="812800" y="73710"/>
                  </a:cubicBezTo>
                  <a:lnTo>
                    <a:pt x="812800" y="880764"/>
                  </a:lnTo>
                  <a:cubicBezTo>
                    <a:pt x="812800" y="900314"/>
                    <a:pt x="805034" y="919062"/>
                    <a:pt x="791211" y="932885"/>
                  </a:cubicBezTo>
                  <a:cubicBezTo>
                    <a:pt x="777387" y="946709"/>
                    <a:pt x="758639" y="954475"/>
                    <a:pt x="739090" y="954475"/>
                  </a:cubicBezTo>
                  <a:lnTo>
                    <a:pt x="73710" y="954475"/>
                  </a:lnTo>
                  <a:cubicBezTo>
                    <a:pt x="54161" y="954475"/>
                    <a:pt x="35413" y="946709"/>
                    <a:pt x="21589" y="932885"/>
                  </a:cubicBezTo>
                  <a:cubicBezTo>
                    <a:pt x="7766" y="919062"/>
                    <a:pt x="0" y="900314"/>
                    <a:pt x="0" y="880764"/>
                  </a:cubicBezTo>
                  <a:lnTo>
                    <a:pt x="0" y="73710"/>
                  </a:lnTo>
                  <a:cubicBezTo>
                    <a:pt x="0" y="54161"/>
                    <a:pt x="7766" y="35413"/>
                    <a:pt x="21589" y="21589"/>
                  </a:cubicBezTo>
                  <a:cubicBezTo>
                    <a:pt x="35413" y="7766"/>
                    <a:pt x="54161" y="0"/>
                    <a:pt x="73710" y="0"/>
                  </a:cubicBezTo>
                  <a:close/>
                </a:path>
              </a:pathLst>
            </a:custGeom>
            <a:blipFill>
              <a:blip r:embed="rId6"/>
              <a:stretch>
                <a:fillRect t="-2647" b="-2647"/>
              </a:stretch>
            </a:blipFill>
            <a:ln w="9525" cap="sq">
              <a:solidFill>
                <a:srgbClr val="424141"/>
              </a:solidFill>
              <a:prstDash val="solid"/>
              <a:miter/>
            </a:ln>
          </p:spPr>
          <p:txBody>
            <a:bodyPr/>
            <a:lstStyle/>
            <a:p>
              <a:endParaRPr lang="en-US"/>
            </a:p>
          </p:txBody>
        </p:sp>
      </p:grpSp>
      <p:grpSp>
        <p:nvGrpSpPr>
          <p:cNvPr id="21" name="Group 21"/>
          <p:cNvGrpSpPr/>
          <p:nvPr/>
        </p:nvGrpSpPr>
        <p:grpSpPr>
          <a:xfrm>
            <a:off x="14394969" y="6029222"/>
            <a:ext cx="2585224" cy="2096766"/>
            <a:chOff x="0" y="0"/>
            <a:chExt cx="1176827" cy="954475"/>
          </a:xfrm>
        </p:grpSpPr>
        <p:sp>
          <p:nvSpPr>
            <p:cNvPr id="22" name="Freeform 22"/>
            <p:cNvSpPr/>
            <p:nvPr/>
          </p:nvSpPr>
          <p:spPr>
            <a:xfrm>
              <a:off x="0" y="0"/>
              <a:ext cx="1176827" cy="954475"/>
            </a:xfrm>
            <a:custGeom>
              <a:avLst/>
              <a:gdLst/>
              <a:ahLst/>
              <a:cxnLst/>
              <a:rect l="l" t="t" r="r" b="b"/>
              <a:pathLst>
                <a:path w="1176827" h="954475">
                  <a:moveTo>
                    <a:pt x="50910" y="0"/>
                  </a:moveTo>
                  <a:lnTo>
                    <a:pt x="1125917" y="0"/>
                  </a:lnTo>
                  <a:cubicBezTo>
                    <a:pt x="1154034" y="0"/>
                    <a:pt x="1176827" y="22793"/>
                    <a:pt x="1176827" y="50910"/>
                  </a:cubicBezTo>
                  <a:lnTo>
                    <a:pt x="1176827" y="903565"/>
                  </a:lnTo>
                  <a:cubicBezTo>
                    <a:pt x="1176827" y="917067"/>
                    <a:pt x="1171463" y="930016"/>
                    <a:pt x="1161916" y="939564"/>
                  </a:cubicBezTo>
                  <a:cubicBezTo>
                    <a:pt x="1152369" y="949111"/>
                    <a:pt x="1139420" y="954475"/>
                    <a:pt x="1125917" y="954475"/>
                  </a:cubicBezTo>
                  <a:lnTo>
                    <a:pt x="50910" y="954475"/>
                  </a:lnTo>
                  <a:cubicBezTo>
                    <a:pt x="37408" y="954475"/>
                    <a:pt x="24458" y="949111"/>
                    <a:pt x="14911" y="939564"/>
                  </a:cubicBezTo>
                  <a:cubicBezTo>
                    <a:pt x="5364" y="930016"/>
                    <a:pt x="0" y="917067"/>
                    <a:pt x="0" y="903565"/>
                  </a:cubicBezTo>
                  <a:lnTo>
                    <a:pt x="0" y="50910"/>
                  </a:lnTo>
                  <a:cubicBezTo>
                    <a:pt x="0" y="37408"/>
                    <a:pt x="5364" y="24458"/>
                    <a:pt x="14911" y="14911"/>
                  </a:cubicBezTo>
                  <a:cubicBezTo>
                    <a:pt x="24458" y="5364"/>
                    <a:pt x="37408" y="0"/>
                    <a:pt x="50910" y="0"/>
                  </a:cubicBezTo>
                  <a:close/>
                </a:path>
              </a:pathLst>
            </a:custGeom>
            <a:blipFill>
              <a:blip r:embed="rId7"/>
              <a:stretch>
                <a:fillRect l="-142" r="-142"/>
              </a:stretch>
            </a:blipFill>
            <a:ln w="9525" cap="sq">
              <a:solidFill>
                <a:srgbClr val="424141"/>
              </a:solidFill>
              <a:prstDash val="solid"/>
              <a:miter/>
            </a:ln>
          </p:spPr>
          <p:txBody>
            <a:bodyPr/>
            <a:lstStyle/>
            <a:p>
              <a:endParaRPr lang="en-US"/>
            </a:p>
          </p:txBody>
        </p:sp>
      </p:grpSp>
      <p:sp>
        <p:nvSpPr>
          <p:cNvPr id="23" name="Freeform 23"/>
          <p:cNvSpPr/>
          <p:nvPr/>
        </p:nvSpPr>
        <p:spPr>
          <a:xfrm flipH="1">
            <a:off x="7993168" y="7651633"/>
            <a:ext cx="941613" cy="818027"/>
          </a:xfrm>
          <a:custGeom>
            <a:avLst/>
            <a:gdLst/>
            <a:ahLst/>
            <a:cxnLst/>
            <a:rect l="l" t="t" r="r" b="b"/>
            <a:pathLst>
              <a:path w="941613" h="818027">
                <a:moveTo>
                  <a:pt x="941613" y="0"/>
                </a:moveTo>
                <a:lnTo>
                  <a:pt x="0" y="0"/>
                </a:lnTo>
                <a:lnTo>
                  <a:pt x="0" y="818027"/>
                </a:lnTo>
                <a:lnTo>
                  <a:pt x="941613" y="818027"/>
                </a:lnTo>
                <a:lnTo>
                  <a:pt x="941613"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4" name="TextBox 24"/>
          <p:cNvSpPr txBox="1"/>
          <p:nvPr/>
        </p:nvSpPr>
        <p:spPr>
          <a:xfrm>
            <a:off x="2952598" y="2270011"/>
            <a:ext cx="8583230" cy="2528261"/>
          </a:xfrm>
          <a:prstGeom prst="rect">
            <a:avLst/>
          </a:prstGeom>
        </p:spPr>
        <p:txBody>
          <a:bodyPr lIns="0" tIns="0" rIns="0" bIns="0" rtlCol="0" anchor="t">
            <a:spAutoFit/>
          </a:bodyPr>
          <a:lstStyle/>
          <a:p>
            <a:pPr marL="0" lvl="0" indent="0" algn="l">
              <a:lnSpc>
                <a:spcPts val="9699"/>
              </a:lnSpc>
            </a:pPr>
            <a:r>
              <a:rPr lang="en-US" sz="9797" b="1" spc="-607">
                <a:solidFill>
                  <a:srgbClr val="424141"/>
                </a:solidFill>
                <a:latin typeface="Aptos Bold"/>
                <a:ea typeface="Aptos Bold"/>
                <a:cs typeface="Aptos Bold"/>
                <a:sym typeface="Aptos Bold"/>
              </a:rPr>
              <a:t>AURA AI SALES ADVISOR</a:t>
            </a:r>
          </a:p>
        </p:txBody>
      </p:sp>
      <p:grpSp>
        <p:nvGrpSpPr>
          <p:cNvPr id="25" name="Group 25"/>
          <p:cNvGrpSpPr/>
          <p:nvPr/>
        </p:nvGrpSpPr>
        <p:grpSpPr>
          <a:xfrm rot="-144823">
            <a:off x="2985422" y="6135391"/>
            <a:ext cx="6281683" cy="1419194"/>
            <a:chOff x="0" y="0"/>
            <a:chExt cx="1571476" cy="355037"/>
          </a:xfrm>
        </p:grpSpPr>
        <p:sp>
          <p:nvSpPr>
            <p:cNvPr id="26" name="Freeform 26"/>
            <p:cNvSpPr/>
            <p:nvPr/>
          </p:nvSpPr>
          <p:spPr>
            <a:xfrm>
              <a:off x="0" y="0"/>
              <a:ext cx="1571476" cy="355037"/>
            </a:xfrm>
            <a:custGeom>
              <a:avLst/>
              <a:gdLst/>
              <a:ahLst/>
              <a:cxnLst/>
              <a:rect l="l" t="t" r="r" b="b"/>
              <a:pathLst>
                <a:path w="1571476" h="355037">
                  <a:moveTo>
                    <a:pt x="77645" y="0"/>
                  </a:moveTo>
                  <a:lnTo>
                    <a:pt x="1493831" y="0"/>
                  </a:lnTo>
                  <a:cubicBezTo>
                    <a:pt x="1536713" y="0"/>
                    <a:pt x="1571476" y="34763"/>
                    <a:pt x="1571476" y="77645"/>
                  </a:cubicBezTo>
                  <a:lnTo>
                    <a:pt x="1571476" y="277392"/>
                  </a:lnTo>
                  <a:cubicBezTo>
                    <a:pt x="1571476" y="297985"/>
                    <a:pt x="1563295" y="317734"/>
                    <a:pt x="1548734" y="332295"/>
                  </a:cubicBezTo>
                  <a:cubicBezTo>
                    <a:pt x="1534173" y="346857"/>
                    <a:pt x="1514424" y="355037"/>
                    <a:pt x="1493831" y="355037"/>
                  </a:cubicBezTo>
                  <a:lnTo>
                    <a:pt x="77645" y="355037"/>
                  </a:lnTo>
                  <a:cubicBezTo>
                    <a:pt x="57052" y="355037"/>
                    <a:pt x="37303" y="346857"/>
                    <a:pt x="22742" y="332295"/>
                  </a:cubicBezTo>
                  <a:cubicBezTo>
                    <a:pt x="8180" y="317734"/>
                    <a:pt x="0" y="297985"/>
                    <a:pt x="0" y="277392"/>
                  </a:cubicBezTo>
                  <a:lnTo>
                    <a:pt x="0" y="77645"/>
                  </a:lnTo>
                  <a:cubicBezTo>
                    <a:pt x="0" y="57052"/>
                    <a:pt x="8180" y="37303"/>
                    <a:pt x="22742" y="22742"/>
                  </a:cubicBezTo>
                  <a:cubicBezTo>
                    <a:pt x="37303" y="8180"/>
                    <a:pt x="57052" y="0"/>
                    <a:pt x="77645" y="0"/>
                  </a:cubicBezTo>
                  <a:close/>
                </a:path>
              </a:pathLst>
            </a:custGeom>
            <a:solidFill>
              <a:srgbClr val="EB574C"/>
            </a:solidFill>
            <a:ln w="19050" cap="rnd">
              <a:solidFill>
                <a:srgbClr val="424141"/>
              </a:solidFill>
              <a:prstDash val="solid"/>
              <a:round/>
            </a:ln>
          </p:spPr>
          <p:txBody>
            <a:bodyPr/>
            <a:lstStyle/>
            <a:p>
              <a:endParaRPr lang="en-US"/>
            </a:p>
          </p:txBody>
        </p:sp>
        <p:sp>
          <p:nvSpPr>
            <p:cNvPr id="27" name="TextBox 27"/>
            <p:cNvSpPr txBox="1"/>
            <p:nvPr/>
          </p:nvSpPr>
          <p:spPr>
            <a:xfrm>
              <a:off x="0" y="-38100"/>
              <a:ext cx="1571476" cy="393137"/>
            </a:xfrm>
            <a:prstGeom prst="rect">
              <a:avLst/>
            </a:prstGeom>
          </p:spPr>
          <p:txBody>
            <a:bodyPr lIns="50800" tIns="50800" rIns="50800" bIns="50800" rtlCol="0" anchor="ctr"/>
            <a:lstStyle/>
            <a:p>
              <a:pPr marL="0" lvl="0" indent="0" algn="ctr">
                <a:lnSpc>
                  <a:spcPts val="2659"/>
                </a:lnSpc>
              </a:pPr>
              <a:endParaRPr/>
            </a:p>
          </p:txBody>
        </p:sp>
      </p:grpSp>
      <p:sp>
        <p:nvSpPr>
          <p:cNvPr id="28" name="AutoShape 28"/>
          <p:cNvSpPr/>
          <p:nvPr/>
        </p:nvSpPr>
        <p:spPr>
          <a:xfrm>
            <a:off x="628726" y="1279706"/>
            <a:ext cx="550013" cy="0"/>
          </a:xfrm>
          <a:prstGeom prst="line">
            <a:avLst/>
          </a:prstGeom>
          <a:ln w="47625" cap="flat">
            <a:solidFill>
              <a:srgbClr val="FF6F5E"/>
            </a:solidFill>
            <a:prstDash val="solid"/>
            <a:headEnd type="none" w="sm" len="sm"/>
            <a:tailEnd type="none" w="sm" len="sm"/>
          </a:ln>
        </p:spPr>
        <p:txBody>
          <a:bodyPr/>
          <a:lstStyle/>
          <a:p>
            <a:endParaRPr lang="en-US"/>
          </a:p>
        </p:txBody>
      </p:sp>
      <p:sp>
        <p:nvSpPr>
          <p:cNvPr id="29" name="AutoShape 29"/>
          <p:cNvSpPr/>
          <p:nvPr/>
        </p:nvSpPr>
        <p:spPr>
          <a:xfrm>
            <a:off x="628726" y="1427234"/>
            <a:ext cx="550013" cy="0"/>
          </a:xfrm>
          <a:prstGeom prst="line">
            <a:avLst/>
          </a:prstGeom>
          <a:ln w="47625" cap="flat">
            <a:solidFill>
              <a:srgbClr val="FF6F5E"/>
            </a:solidFill>
            <a:prstDash val="solid"/>
            <a:headEnd type="none" w="sm" len="sm"/>
            <a:tailEnd type="none" w="sm" len="sm"/>
          </a:ln>
        </p:spPr>
        <p:txBody>
          <a:bodyPr/>
          <a:lstStyle/>
          <a:p>
            <a:endParaRPr lang="en-US"/>
          </a:p>
        </p:txBody>
      </p:sp>
      <p:sp>
        <p:nvSpPr>
          <p:cNvPr id="30" name="AutoShape 30"/>
          <p:cNvSpPr/>
          <p:nvPr/>
        </p:nvSpPr>
        <p:spPr>
          <a:xfrm>
            <a:off x="628726" y="1570109"/>
            <a:ext cx="550013" cy="0"/>
          </a:xfrm>
          <a:prstGeom prst="line">
            <a:avLst/>
          </a:prstGeom>
          <a:ln w="47625" cap="flat">
            <a:solidFill>
              <a:srgbClr val="FF6F5E"/>
            </a:solidFill>
            <a:prstDash val="solid"/>
            <a:headEnd type="none" w="sm" len="sm"/>
            <a:tailEnd type="none" w="sm" len="sm"/>
          </a:ln>
        </p:spPr>
        <p:txBody>
          <a:bodyPr/>
          <a:lstStyle/>
          <a:p>
            <a:endParaRPr lang="en-US"/>
          </a:p>
        </p:txBody>
      </p:sp>
      <p:sp>
        <p:nvSpPr>
          <p:cNvPr id="31" name="Freeform 31"/>
          <p:cNvSpPr/>
          <p:nvPr/>
        </p:nvSpPr>
        <p:spPr>
          <a:xfrm>
            <a:off x="642247"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32" name="Freeform 32"/>
          <p:cNvSpPr/>
          <p:nvPr/>
        </p:nvSpPr>
        <p:spPr>
          <a:xfrm>
            <a:off x="2630081" y="749094"/>
            <a:ext cx="645033" cy="494917"/>
          </a:xfrm>
          <a:custGeom>
            <a:avLst/>
            <a:gdLst/>
            <a:ahLst/>
            <a:cxnLst/>
            <a:rect l="l" t="t" r="r" b="b"/>
            <a:pathLst>
              <a:path w="645033" h="494917">
                <a:moveTo>
                  <a:pt x="0" y="0"/>
                </a:moveTo>
                <a:lnTo>
                  <a:pt x="645034" y="0"/>
                </a:lnTo>
                <a:lnTo>
                  <a:pt x="645034" y="494916"/>
                </a:lnTo>
                <a:lnTo>
                  <a:pt x="0" y="494916"/>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33" name="Freeform 33"/>
          <p:cNvSpPr/>
          <p:nvPr/>
        </p:nvSpPr>
        <p:spPr>
          <a:xfrm>
            <a:off x="642247"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4" name="Freeform 34"/>
          <p:cNvSpPr/>
          <p:nvPr/>
        </p:nvSpPr>
        <p:spPr>
          <a:xfrm>
            <a:off x="10864771" y="1738927"/>
            <a:ext cx="805826" cy="805826"/>
          </a:xfrm>
          <a:custGeom>
            <a:avLst/>
            <a:gdLst/>
            <a:ahLst/>
            <a:cxnLst/>
            <a:rect l="l" t="t" r="r" b="b"/>
            <a:pathLst>
              <a:path w="805826" h="805826">
                <a:moveTo>
                  <a:pt x="0" y="0"/>
                </a:moveTo>
                <a:lnTo>
                  <a:pt x="805826" y="0"/>
                </a:lnTo>
                <a:lnTo>
                  <a:pt x="805826" y="805826"/>
                </a:lnTo>
                <a:lnTo>
                  <a:pt x="0" y="805826"/>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35" name="Freeform 35"/>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6" name="TextBox 36"/>
          <p:cNvSpPr txBox="1"/>
          <p:nvPr/>
        </p:nvSpPr>
        <p:spPr>
          <a:xfrm rot="-158741">
            <a:off x="2828280" y="6535732"/>
            <a:ext cx="6302388" cy="723175"/>
          </a:xfrm>
          <a:prstGeom prst="rect">
            <a:avLst/>
          </a:prstGeom>
        </p:spPr>
        <p:txBody>
          <a:bodyPr lIns="0" tIns="0" rIns="0" bIns="0" rtlCol="0" anchor="t">
            <a:spAutoFit/>
          </a:bodyPr>
          <a:lstStyle/>
          <a:p>
            <a:pPr marL="0" lvl="0" indent="0" algn="ctr">
              <a:lnSpc>
                <a:spcPts val="5421"/>
              </a:lnSpc>
            </a:pPr>
            <a:r>
              <a:rPr lang="en-US" sz="5476" spc="-219">
                <a:solidFill>
                  <a:srgbClr val="FFFFFF"/>
                </a:solidFill>
                <a:latin typeface="Aptos"/>
                <a:ea typeface="Aptos"/>
                <a:cs typeface="Aptos"/>
                <a:sym typeface="Aptos"/>
              </a:rPr>
              <a:t>Harness Engineering</a:t>
            </a:r>
          </a:p>
        </p:txBody>
      </p:sp>
      <p:sp>
        <p:nvSpPr>
          <p:cNvPr id="37" name="TextBox 37"/>
          <p:cNvSpPr txBox="1"/>
          <p:nvPr/>
        </p:nvSpPr>
        <p:spPr>
          <a:xfrm>
            <a:off x="3488365" y="884121"/>
            <a:ext cx="1535587" cy="262962"/>
          </a:xfrm>
          <a:prstGeom prst="rect">
            <a:avLst/>
          </a:prstGeom>
        </p:spPr>
        <p:txBody>
          <a:bodyPr lIns="0" tIns="0" rIns="0" bIns="0" rtlCol="0" anchor="t">
            <a:spAutoFit/>
          </a:bodyPr>
          <a:lstStyle/>
          <a:p>
            <a:pPr marL="0" lvl="0" indent="0" algn="l">
              <a:lnSpc>
                <a:spcPts val="1982"/>
              </a:lnSpc>
            </a:pPr>
            <a:r>
              <a:rPr lang="en-US" sz="2002" spc="-74">
                <a:solidFill>
                  <a:srgbClr val="424141"/>
                </a:solidFill>
                <a:latin typeface="Aptos"/>
                <a:ea typeface="Aptos"/>
                <a:cs typeface="Aptos"/>
                <a:sym typeface="Aptos"/>
              </a:rPr>
              <a:t>AURA</a:t>
            </a:r>
          </a:p>
        </p:txBody>
      </p:sp>
      <p:sp>
        <p:nvSpPr>
          <p:cNvPr id="38" name="TextBox 38"/>
          <p:cNvSpPr txBox="1"/>
          <p:nvPr/>
        </p:nvSpPr>
        <p:spPr>
          <a:xfrm>
            <a:off x="4256158" y="884121"/>
            <a:ext cx="1535587" cy="262962"/>
          </a:xfrm>
          <a:prstGeom prst="rect">
            <a:avLst/>
          </a:prstGeom>
        </p:spPr>
        <p:txBody>
          <a:bodyPr lIns="0" tIns="0" rIns="0" bIns="0" rtlCol="0" anchor="t">
            <a:spAutoFit/>
          </a:bodyPr>
          <a:lstStyle/>
          <a:p>
            <a:pPr marL="0" lvl="0" indent="0" algn="l">
              <a:lnSpc>
                <a:spcPts val="1982"/>
              </a:lnSpc>
            </a:pPr>
            <a:r>
              <a:rPr lang="en-US" sz="2002" b="1" spc="-74">
                <a:solidFill>
                  <a:srgbClr val="424141"/>
                </a:solidFill>
                <a:latin typeface="Aptos Bold"/>
                <a:ea typeface="Aptos Bold"/>
                <a:cs typeface="Aptos Bold"/>
                <a:sym typeface="Aptos Bold"/>
              </a:rPr>
              <a:t>AI Advisor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715"/>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grpSp>
        <p:nvGrpSpPr>
          <p:cNvPr id="12" name="Group 12"/>
          <p:cNvGrpSpPr/>
          <p:nvPr/>
        </p:nvGrpSpPr>
        <p:grpSpPr>
          <a:xfrm>
            <a:off x="10756419" y="2269014"/>
            <a:ext cx="7255465" cy="6407169"/>
            <a:chOff x="0" y="0"/>
            <a:chExt cx="5071437" cy="3836984"/>
          </a:xfrm>
        </p:grpSpPr>
        <p:sp>
          <p:nvSpPr>
            <p:cNvPr id="13" name="Freeform 13"/>
            <p:cNvSpPr/>
            <p:nvPr/>
          </p:nvSpPr>
          <p:spPr>
            <a:xfrm>
              <a:off x="0" y="0"/>
              <a:ext cx="5071437" cy="3836984"/>
            </a:xfrm>
            <a:custGeom>
              <a:avLst/>
              <a:gdLst/>
              <a:ahLst/>
              <a:cxnLst/>
              <a:rect l="l" t="t" r="r" b="b"/>
              <a:pathLst>
                <a:path w="5071437" h="3836984">
                  <a:moveTo>
                    <a:pt x="29254" y="0"/>
                  </a:moveTo>
                  <a:lnTo>
                    <a:pt x="5042183" y="0"/>
                  </a:lnTo>
                  <a:cubicBezTo>
                    <a:pt x="5049942" y="0"/>
                    <a:pt x="5057383" y="3082"/>
                    <a:pt x="5062869" y="8568"/>
                  </a:cubicBezTo>
                  <a:cubicBezTo>
                    <a:pt x="5068355" y="14055"/>
                    <a:pt x="5071437" y="21496"/>
                    <a:pt x="5071437" y="29254"/>
                  </a:cubicBezTo>
                  <a:lnTo>
                    <a:pt x="5071437" y="3807729"/>
                  </a:lnTo>
                  <a:cubicBezTo>
                    <a:pt x="5071437" y="3823886"/>
                    <a:pt x="5058340" y="3836984"/>
                    <a:pt x="5042183" y="3836984"/>
                  </a:cubicBezTo>
                  <a:lnTo>
                    <a:pt x="29254" y="3836984"/>
                  </a:lnTo>
                  <a:cubicBezTo>
                    <a:pt x="13098" y="3836984"/>
                    <a:pt x="0" y="3823886"/>
                    <a:pt x="0" y="3807729"/>
                  </a:cubicBezTo>
                  <a:lnTo>
                    <a:pt x="0" y="29254"/>
                  </a:lnTo>
                  <a:cubicBezTo>
                    <a:pt x="0" y="13098"/>
                    <a:pt x="13098" y="0"/>
                    <a:pt x="29254" y="0"/>
                  </a:cubicBezTo>
                  <a:close/>
                </a:path>
              </a:pathLst>
            </a:custGeom>
            <a:solidFill>
              <a:srgbClr val="FF6F5E"/>
            </a:solidFill>
            <a:ln w="9525" cap="rnd">
              <a:solidFill>
                <a:srgbClr val="424141"/>
              </a:solidFill>
              <a:prstDash val="solid"/>
              <a:round/>
            </a:ln>
          </p:spPr>
          <p:txBody>
            <a:bodyPr/>
            <a:lstStyle/>
            <a:p>
              <a:endParaRPr lang="en-US"/>
            </a:p>
          </p:txBody>
        </p:sp>
        <p:sp>
          <p:nvSpPr>
            <p:cNvPr id="14" name="TextBox 14"/>
            <p:cNvSpPr txBox="1"/>
            <p:nvPr/>
          </p:nvSpPr>
          <p:spPr>
            <a:xfrm>
              <a:off x="0" y="-38100"/>
              <a:ext cx="5071437" cy="3875084"/>
            </a:xfrm>
            <a:prstGeom prst="rect">
              <a:avLst/>
            </a:prstGeom>
          </p:spPr>
          <p:txBody>
            <a:bodyPr lIns="50800" tIns="50800" rIns="50800" bIns="50800" rtlCol="0" anchor="ctr"/>
            <a:lstStyle/>
            <a:p>
              <a:pPr marL="0" lvl="0" indent="0" algn="ctr">
                <a:lnSpc>
                  <a:spcPts val="1540"/>
                </a:lnSpc>
              </a:pPr>
              <a:endParaRPr/>
            </a:p>
          </p:txBody>
        </p:sp>
      </p:grpSp>
      <p:sp>
        <p:nvSpPr>
          <p:cNvPr id="15" name="AutoShape 15"/>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6" name="AutoShape 16"/>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7" name="AutoShape 17"/>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8" name="Freeform 18"/>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20" name="Group 20"/>
          <p:cNvGrpSpPr/>
          <p:nvPr/>
        </p:nvGrpSpPr>
        <p:grpSpPr>
          <a:xfrm>
            <a:off x="2952598" y="7025030"/>
            <a:ext cx="5684689" cy="1922523"/>
            <a:chOff x="0" y="0"/>
            <a:chExt cx="3404320" cy="1151318"/>
          </a:xfrm>
        </p:grpSpPr>
        <p:sp>
          <p:nvSpPr>
            <p:cNvPr id="21" name="Freeform 21"/>
            <p:cNvSpPr/>
            <p:nvPr/>
          </p:nvSpPr>
          <p:spPr>
            <a:xfrm>
              <a:off x="0" y="0"/>
              <a:ext cx="3404320" cy="1151318"/>
            </a:xfrm>
            <a:custGeom>
              <a:avLst/>
              <a:gdLst/>
              <a:ahLst/>
              <a:cxnLst/>
              <a:rect l="l" t="t" r="r" b="b"/>
              <a:pathLst>
                <a:path w="3404320" h="1151318">
                  <a:moveTo>
                    <a:pt x="43580" y="0"/>
                  </a:moveTo>
                  <a:lnTo>
                    <a:pt x="3360740" y="0"/>
                  </a:lnTo>
                  <a:cubicBezTo>
                    <a:pt x="3372298" y="0"/>
                    <a:pt x="3383383" y="4592"/>
                    <a:pt x="3391556" y="12764"/>
                  </a:cubicBezTo>
                  <a:cubicBezTo>
                    <a:pt x="3399729" y="20937"/>
                    <a:pt x="3404320" y="32022"/>
                    <a:pt x="3404320" y="43580"/>
                  </a:cubicBezTo>
                  <a:lnTo>
                    <a:pt x="3404320" y="1107738"/>
                  </a:lnTo>
                  <a:cubicBezTo>
                    <a:pt x="3404320" y="1119296"/>
                    <a:pt x="3399729" y="1130381"/>
                    <a:pt x="3391556" y="1138554"/>
                  </a:cubicBezTo>
                  <a:cubicBezTo>
                    <a:pt x="3383383" y="1146727"/>
                    <a:pt x="3372298" y="1151318"/>
                    <a:pt x="3360740" y="1151318"/>
                  </a:cubicBezTo>
                  <a:lnTo>
                    <a:pt x="43580" y="1151318"/>
                  </a:lnTo>
                  <a:cubicBezTo>
                    <a:pt x="32022" y="1151318"/>
                    <a:pt x="20937" y="1146727"/>
                    <a:pt x="12764" y="1138554"/>
                  </a:cubicBezTo>
                  <a:cubicBezTo>
                    <a:pt x="4592" y="1130381"/>
                    <a:pt x="0" y="1119296"/>
                    <a:pt x="0" y="1107738"/>
                  </a:cubicBezTo>
                  <a:lnTo>
                    <a:pt x="0" y="43580"/>
                  </a:lnTo>
                  <a:cubicBezTo>
                    <a:pt x="0" y="32022"/>
                    <a:pt x="4592" y="20937"/>
                    <a:pt x="12764" y="12764"/>
                  </a:cubicBezTo>
                  <a:cubicBezTo>
                    <a:pt x="20937" y="4592"/>
                    <a:pt x="32022" y="0"/>
                    <a:pt x="43580" y="0"/>
                  </a:cubicBezTo>
                  <a:close/>
                </a:path>
              </a:pathLst>
            </a:custGeom>
            <a:solidFill>
              <a:srgbClr val="EB574C"/>
            </a:solidFill>
            <a:ln w="9525" cap="rnd">
              <a:solidFill>
                <a:srgbClr val="424141"/>
              </a:solidFill>
              <a:prstDash val="solid"/>
              <a:round/>
            </a:ln>
          </p:spPr>
          <p:txBody>
            <a:bodyPr/>
            <a:lstStyle/>
            <a:p>
              <a:endParaRPr lang="en-US"/>
            </a:p>
          </p:txBody>
        </p:sp>
        <p:sp>
          <p:nvSpPr>
            <p:cNvPr id="22" name="TextBox 22"/>
            <p:cNvSpPr txBox="1"/>
            <p:nvPr/>
          </p:nvSpPr>
          <p:spPr>
            <a:xfrm>
              <a:off x="0" y="-38100"/>
              <a:ext cx="3404320" cy="1189418"/>
            </a:xfrm>
            <a:prstGeom prst="rect">
              <a:avLst/>
            </a:prstGeom>
          </p:spPr>
          <p:txBody>
            <a:bodyPr lIns="50800" tIns="50800" rIns="50800" bIns="50800" rtlCol="0" anchor="ctr"/>
            <a:lstStyle/>
            <a:p>
              <a:pPr marL="0" lvl="0" indent="0" algn="ctr">
                <a:lnSpc>
                  <a:spcPts val="1540"/>
                </a:lnSpc>
              </a:pPr>
              <a:endParaRPr/>
            </a:p>
          </p:txBody>
        </p:sp>
      </p:grpSp>
      <p:grpSp>
        <p:nvGrpSpPr>
          <p:cNvPr id="23" name="Group 23"/>
          <p:cNvGrpSpPr/>
          <p:nvPr/>
        </p:nvGrpSpPr>
        <p:grpSpPr>
          <a:xfrm>
            <a:off x="3299292" y="7207761"/>
            <a:ext cx="1951523" cy="1378161"/>
            <a:chOff x="0" y="0"/>
            <a:chExt cx="888358" cy="627356"/>
          </a:xfrm>
        </p:grpSpPr>
        <p:sp>
          <p:nvSpPr>
            <p:cNvPr id="24" name="Freeform 24"/>
            <p:cNvSpPr/>
            <p:nvPr/>
          </p:nvSpPr>
          <p:spPr>
            <a:xfrm>
              <a:off x="0" y="0"/>
              <a:ext cx="888358" cy="627356"/>
            </a:xfrm>
            <a:custGeom>
              <a:avLst/>
              <a:gdLst/>
              <a:ahLst/>
              <a:cxnLst/>
              <a:rect l="l" t="t" r="r" b="b"/>
              <a:pathLst>
                <a:path w="888358" h="627356">
                  <a:moveTo>
                    <a:pt x="67441" y="0"/>
                  </a:moveTo>
                  <a:lnTo>
                    <a:pt x="820917" y="0"/>
                  </a:lnTo>
                  <a:cubicBezTo>
                    <a:pt x="838804" y="0"/>
                    <a:pt x="855958" y="7105"/>
                    <a:pt x="868605" y="19753"/>
                  </a:cubicBezTo>
                  <a:cubicBezTo>
                    <a:pt x="881253" y="32401"/>
                    <a:pt x="888358" y="49555"/>
                    <a:pt x="888358" y="67441"/>
                  </a:cubicBezTo>
                  <a:lnTo>
                    <a:pt x="888358" y="559915"/>
                  </a:lnTo>
                  <a:cubicBezTo>
                    <a:pt x="888358" y="577802"/>
                    <a:pt x="881253" y="594956"/>
                    <a:pt x="868605" y="607603"/>
                  </a:cubicBezTo>
                  <a:cubicBezTo>
                    <a:pt x="855958" y="620251"/>
                    <a:pt x="838804" y="627356"/>
                    <a:pt x="820917" y="627356"/>
                  </a:cubicBezTo>
                  <a:lnTo>
                    <a:pt x="67441" y="627356"/>
                  </a:lnTo>
                  <a:cubicBezTo>
                    <a:pt x="49555" y="627356"/>
                    <a:pt x="32401" y="620251"/>
                    <a:pt x="19753" y="607603"/>
                  </a:cubicBezTo>
                  <a:cubicBezTo>
                    <a:pt x="7105" y="594956"/>
                    <a:pt x="0" y="577802"/>
                    <a:pt x="0" y="559915"/>
                  </a:cubicBezTo>
                  <a:lnTo>
                    <a:pt x="0" y="67441"/>
                  </a:lnTo>
                  <a:cubicBezTo>
                    <a:pt x="0" y="49555"/>
                    <a:pt x="7105" y="32401"/>
                    <a:pt x="19753" y="19753"/>
                  </a:cubicBezTo>
                  <a:cubicBezTo>
                    <a:pt x="32401" y="7105"/>
                    <a:pt x="49555" y="0"/>
                    <a:pt x="67441" y="0"/>
                  </a:cubicBezTo>
                  <a:close/>
                </a:path>
              </a:pathLst>
            </a:custGeom>
            <a:blipFill>
              <a:blip r:embed="rId5"/>
              <a:stretch>
                <a:fillRect t="-2835" b="-2835"/>
              </a:stretch>
            </a:blipFill>
            <a:ln w="9525" cap="sq">
              <a:solidFill>
                <a:srgbClr val="424141"/>
              </a:solidFill>
              <a:prstDash val="solid"/>
              <a:miter/>
            </a:ln>
          </p:spPr>
          <p:txBody>
            <a:bodyPr/>
            <a:lstStyle/>
            <a:p>
              <a:endParaRPr lang="en-US"/>
            </a:p>
          </p:txBody>
        </p:sp>
      </p:grpSp>
      <p:grpSp>
        <p:nvGrpSpPr>
          <p:cNvPr id="25" name="Group 25"/>
          <p:cNvGrpSpPr/>
          <p:nvPr/>
        </p:nvGrpSpPr>
        <p:grpSpPr>
          <a:xfrm>
            <a:off x="5506686" y="7207761"/>
            <a:ext cx="2825548" cy="1378161"/>
            <a:chOff x="0" y="0"/>
            <a:chExt cx="1286225" cy="627356"/>
          </a:xfrm>
        </p:grpSpPr>
        <p:sp>
          <p:nvSpPr>
            <p:cNvPr id="26" name="Freeform 26"/>
            <p:cNvSpPr/>
            <p:nvPr/>
          </p:nvSpPr>
          <p:spPr>
            <a:xfrm>
              <a:off x="0" y="0"/>
              <a:ext cx="1286225" cy="627356"/>
            </a:xfrm>
            <a:custGeom>
              <a:avLst/>
              <a:gdLst/>
              <a:ahLst/>
              <a:cxnLst/>
              <a:rect l="l" t="t" r="r" b="b"/>
              <a:pathLst>
                <a:path w="1286225" h="627356">
                  <a:moveTo>
                    <a:pt x="46580" y="0"/>
                  </a:moveTo>
                  <a:lnTo>
                    <a:pt x="1239646" y="0"/>
                  </a:lnTo>
                  <a:cubicBezTo>
                    <a:pt x="1265371" y="0"/>
                    <a:pt x="1286225" y="20854"/>
                    <a:pt x="1286225" y="46580"/>
                  </a:cubicBezTo>
                  <a:lnTo>
                    <a:pt x="1286225" y="580777"/>
                  </a:lnTo>
                  <a:cubicBezTo>
                    <a:pt x="1286225" y="606502"/>
                    <a:pt x="1265371" y="627356"/>
                    <a:pt x="1239646" y="627356"/>
                  </a:cubicBezTo>
                  <a:lnTo>
                    <a:pt x="46580" y="627356"/>
                  </a:lnTo>
                  <a:cubicBezTo>
                    <a:pt x="20854" y="627356"/>
                    <a:pt x="0" y="606502"/>
                    <a:pt x="0" y="580777"/>
                  </a:cubicBezTo>
                  <a:lnTo>
                    <a:pt x="0" y="46580"/>
                  </a:lnTo>
                  <a:cubicBezTo>
                    <a:pt x="0" y="20854"/>
                    <a:pt x="20854" y="0"/>
                    <a:pt x="46580" y="0"/>
                  </a:cubicBezTo>
                  <a:close/>
                </a:path>
              </a:pathLst>
            </a:custGeom>
            <a:blipFill>
              <a:blip r:embed="rId6"/>
              <a:stretch>
                <a:fillRect t="-8431" b="-8431"/>
              </a:stretch>
            </a:blipFill>
            <a:ln w="9525" cap="sq">
              <a:solidFill>
                <a:srgbClr val="424141"/>
              </a:solidFill>
              <a:prstDash val="solid"/>
              <a:miter/>
            </a:ln>
          </p:spPr>
          <p:txBody>
            <a:bodyPr/>
            <a:lstStyle/>
            <a:p>
              <a:endParaRPr lang="en-US"/>
            </a:p>
          </p:txBody>
        </p:sp>
      </p:grpSp>
      <p:grpSp>
        <p:nvGrpSpPr>
          <p:cNvPr id="27" name="Group 27"/>
          <p:cNvGrpSpPr/>
          <p:nvPr/>
        </p:nvGrpSpPr>
        <p:grpSpPr>
          <a:xfrm>
            <a:off x="3807547" y="8737679"/>
            <a:ext cx="419749" cy="419749"/>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9" name="TextBox 29"/>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30" name="Group 30"/>
          <p:cNvGrpSpPr/>
          <p:nvPr/>
        </p:nvGrpSpPr>
        <p:grpSpPr>
          <a:xfrm>
            <a:off x="3387757" y="8737679"/>
            <a:ext cx="419749" cy="419749"/>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32" name="TextBox 32"/>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33" name="Group 33"/>
          <p:cNvGrpSpPr/>
          <p:nvPr/>
        </p:nvGrpSpPr>
        <p:grpSpPr>
          <a:xfrm>
            <a:off x="2967966" y="8737679"/>
            <a:ext cx="419749" cy="419749"/>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35" name="TextBox 35"/>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36" name="Group 36"/>
          <p:cNvGrpSpPr/>
          <p:nvPr/>
        </p:nvGrpSpPr>
        <p:grpSpPr>
          <a:xfrm>
            <a:off x="2210463" y="3826472"/>
            <a:ext cx="5684689" cy="653335"/>
            <a:chOff x="0" y="0"/>
            <a:chExt cx="3948465" cy="453793"/>
          </a:xfrm>
        </p:grpSpPr>
        <p:sp>
          <p:nvSpPr>
            <p:cNvPr id="37" name="Freeform 37"/>
            <p:cNvSpPr/>
            <p:nvPr/>
          </p:nvSpPr>
          <p:spPr>
            <a:xfrm>
              <a:off x="0" y="0"/>
              <a:ext cx="3948465" cy="453793"/>
            </a:xfrm>
            <a:custGeom>
              <a:avLst/>
              <a:gdLst/>
              <a:ahLst/>
              <a:cxnLst/>
              <a:rect l="l" t="t" r="r" b="b"/>
              <a:pathLst>
                <a:path w="3948465" h="453793">
                  <a:moveTo>
                    <a:pt x="17705" y="0"/>
                  </a:moveTo>
                  <a:lnTo>
                    <a:pt x="3930760" y="0"/>
                  </a:lnTo>
                  <a:cubicBezTo>
                    <a:pt x="3935456" y="0"/>
                    <a:pt x="3939960" y="1865"/>
                    <a:pt x="3943279" y="5186"/>
                  </a:cubicBezTo>
                  <a:cubicBezTo>
                    <a:pt x="3946600" y="8506"/>
                    <a:pt x="3948465" y="13009"/>
                    <a:pt x="3948465" y="17705"/>
                  </a:cubicBezTo>
                  <a:lnTo>
                    <a:pt x="3948465" y="436088"/>
                  </a:lnTo>
                  <a:cubicBezTo>
                    <a:pt x="3948465" y="445866"/>
                    <a:pt x="3940539" y="453793"/>
                    <a:pt x="3930760" y="453793"/>
                  </a:cubicBezTo>
                  <a:lnTo>
                    <a:pt x="17705" y="453793"/>
                  </a:lnTo>
                  <a:cubicBezTo>
                    <a:pt x="13009" y="453793"/>
                    <a:pt x="8506" y="451927"/>
                    <a:pt x="5186" y="448607"/>
                  </a:cubicBezTo>
                  <a:cubicBezTo>
                    <a:pt x="1865" y="445287"/>
                    <a:pt x="0" y="440784"/>
                    <a:pt x="0" y="436088"/>
                  </a:cubicBezTo>
                  <a:lnTo>
                    <a:pt x="0" y="17705"/>
                  </a:lnTo>
                  <a:cubicBezTo>
                    <a:pt x="0" y="13009"/>
                    <a:pt x="1865" y="8506"/>
                    <a:pt x="5186" y="5186"/>
                  </a:cubicBezTo>
                  <a:cubicBezTo>
                    <a:pt x="8506" y="1865"/>
                    <a:pt x="13009" y="0"/>
                    <a:pt x="17705" y="0"/>
                  </a:cubicBezTo>
                  <a:close/>
                </a:path>
              </a:pathLst>
            </a:custGeom>
            <a:solidFill>
              <a:srgbClr val="FFDE59"/>
            </a:solidFill>
            <a:ln w="9525" cap="sq">
              <a:solidFill>
                <a:srgbClr val="424141"/>
              </a:solidFill>
              <a:prstDash val="solid"/>
              <a:miter/>
            </a:ln>
          </p:spPr>
          <p:txBody>
            <a:bodyPr/>
            <a:lstStyle/>
            <a:p>
              <a:endParaRPr lang="en-US"/>
            </a:p>
          </p:txBody>
        </p:sp>
        <p:sp>
          <p:nvSpPr>
            <p:cNvPr id="38" name="TextBox 38"/>
            <p:cNvSpPr txBox="1"/>
            <p:nvPr/>
          </p:nvSpPr>
          <p:spPr>
            <a:xfrm>
              <a:off x="0" y="28575"/>
              <a:ext cx="3948465" cy="425218"/>
            </a:xfrm>
            <a:prstGeom prst="rect">
              <a:avLst/>
            </a:prstGeom>
          </p:spPr>
          <p:txBody>
            <a:bodyPr lIns="39013" tIns="39013" rIns="39013" bIns="39013" rtlCol="0" anchor="ctr"/>
            <a:lstStyle/>
            <a:p>
              <a:pPr marL="0" lvl="0" indent="0" algn="ctr">
                <a:lnSpc>
                  <a:spcPts val="1297"/>
                </a:lnSpc>
              </a:pPr>
              <a:endParaRPr/>
            </a:p>
          </p:txBody>
        </p:sp>
      </p:grpSp>
      <p:sp>
        <p:nvSpPr>
          <p:cNvPr id="39" name="TextBox 39"/>
          <p:cNvSpPr txBox="1"/>
          <p:nvPr/>
        </p:nvSpPr>
        <p:spPr>
          <a:xfrm>
            <a:off x="2337985" y="2008902"/>
            <a:ext cx="6913914" cy="789922"/>
          </a:xfrm>
          <a:prstGeom prst="rect">
            <a:avLst/>
          </a:prstGeom>
        </p:spPr>
        <p:txBody>
          <a:bodyPr lIns="0" tIns="0" rIns="0" bIns="0" rtlCol="0" anchor="t">
            <a:spAutoFit/>
          </a:bodyPr>
          <a:lstStyle/>
          <a:p>
            <a:pPr marL="0" lvl="0" indent="0" algn="l">
              <a:lnSpc>
                <a:spcPts val="5986"/>
              </a:lnSpc>
            </a:pPr>
            <a:r>
              <a:rPr lang="en-US" sz="6046" b="1" spc="-374">
                <a:solidFill>
                  <a:srgbClr val="424141"/>
                </a:solidFill>
                <a:latin typeface="Aptos Bold"/>
                <a:ea typeface="Aptos Bold"/>
                <a:cs typeface="Aptos Bold"/>
                <a:sym typeface="Aptos Bold"/>
              </a:rPr>
              <a:t>VẤN ĐỀ THỰC TẾ</a:t>
            </a:r>
          </a:p>
        </p:txBody>
      </p:sp>
      <p:sp>
        <p:nvSpPr>
          <p:cNvPr id="40" name="Freeform 40"/>
          <p:cNvSpPr/>
          <p:nvPr/>
        </p:nvSpPr>
        <p:spPr>
          <a:xfrm flipH="1">
            <a:off x="8310286" y="2695207"/>
            <a:ext cx="941613" cy="818027"/>
          </a:xfrm>
          <a:custGeom>
            <a:avLst/>
            <a:gdLst/>
            <a:ahLst/>
            <a:cxnLst/>
            <a:rect l="l" t="t" r="r" b="b"/>
            <a:pathLst>
              <a:path w="941613" h="818027">
                <a:moveTo>
                  <a:pt x="941613" y="0"/>
                </a:moveTo>
                <a:lnTo>
                  <a:pt x="0" y="0"/>
                </a:lnTo>
                <a:lnTo>
                  <a:pt x="0" y="818027"/>
                </a:lnTo>
                <a:lnTo>
                  <a:pt x="941613" y="818027"/>
                </a:lnTo>
                <a:lnTo>
                  <a:pt x="941613"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41" name="Freeform 41"/>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42" name="TextBox 42"/>
          <p:cNvSpPr txBox="1"/>
          <p:nvPr/>
        </p:nvSpPr>
        <p:spPr>
          <a:xfrm>
            <a:off x="1924143" y="5317275"/>
            <a:ext cx="8690075" cy="203263"/>
          </a:xfrm>
          <a:prstGeom prst="rect">
            <a:avLst/>
          </a:prstGeom>
        </p:spPr>
        <p:txBody>
          <a:bodyPr lIns="0" tIns="0" rIns="0" bIns="0" rtlCol="0" anchor="t">
            <a:spAutoFit/>
          </a:bodyPr>
          <a:lstStyle/>
          <a:p>
            <a:pPr marL="0" lvl="0" indent="0" algn="just">
              <a:lnSpc>
                <a:spcPts val="1534"/>
              </a:lnSpc>
            </a:pPr>
            <a:r>
              <a:rPr lang="en-US" sz="1549" spc="-57">
                <a:solidFill>
                  <a:srgbClr val="424141"/>
                </a:solidFill>
                <a:latin typeface="Aptos"/>
                <a:ea typeface="Aptos"/>
                <a:cs typeface="Aptos"/>
                <a:sym typeface="Aptos"/>
              </a:rPr>
              <a:t>"Tôi cần laptop dưới 20 triệu để học lập trình" — Nhu cầu tự nhiên không khớp với schema catalog.</a:t>
            </a:r>
          </a:p>
        </p:txBody>
      </p:sp>
      <p:sp>
        <p:nvSpPr>
          <p:cNvPr id="43" name="TextBox 43"/>
          <p:cNvSpPr txBox="1"/>
          <p:nvPr/>
        </p:nvSpPr>
        <p:spPr>
          <a:xfrm>
            <a:off x="2967966" y="754549"/>
            <a:ext cx="1535587" cy="274151"/>
          </a:xfrm>
          <a:prstGeom prst="rect">
            <a:avLst/>
          </a:prstGeom>
        </p:spPr>
        <p:txBody>
          <a:bodyPr lIns="0" tIns="0" rIns="0" bIns="0" rtlCol="0" anchor="t">
            <a:spAutoFit/>
          </a:bodyPr>
          <a:lstStyle/>
          <a:p>
            <a:pPr marL="0" lvl="0" indent="0" algn="l">
              <a:lnSpc>
                <a:spcPts val="2044"/>
              </a:lnSpc>
            </a:pPr>
            <a:r>
              <a:rPr lang="en-US" sz="2065" spc="-76">
                <a:solidFill>
                  <a:srgbClr val="424141"/>
                </a:solidFill>
                <a:latin typeface="Aptos"/>
                <a:ea typeface="Aptos"/>
                <a:cs typeface="Aptos"/>
                <a:sym typeface="Aptos"/>
              </a:rPr>
              <a:t>AURA AI</a:t>
            </a:r>
          </a:p>
        </p:txBody>
      </p:sp>
      <p:sp>
        <p:nvSpPr>
          <p:cNvPr id="44" name="TextBox 44"/>
          <p:cNvSpPr txBox="1"/>
          <p:nvPr/>
        </p:nvSpPr>
        <p:spPr>
          <a:xfrm>
            <a:off x="4017422" y="754549"/>
            <a:ext cx="1950330" cy="274151"/>
          </a:xfrm>
          <a:prstGeom prst="rect">
            <a:avLst/>
          </a:prstGeom>
        </p:spPr>
        <p:txBody>
          <a:bodyPr lIns="0" tIns="0" rIns="0" bIns="0" rtlCol="0" anchor="t">
            <a:spAutoFit/>
          </a:bodyPr>
          <a:lstStyle/>
          <a:p>
            <a:pPr marL="0" lvl="0" indent="0" algn="l">
              <a:lnSpc>
                <a:spcPts val="2044"/>
              </a:lnSpc>
            </a:pPr>
            <a:r>
              <a:rPr lang="en-US" sz="2065" b="1" spc="-76">
                <a:solidFill>
                  <a:srgbClr val="424141"/>
                </a:solidFill>
                <a:latin typeface="Aptos Bold"/>
                <a:ea typeface="Aptos Bold"/>
                <a:cs typeface="Aptos Bold"/>
                <a:sym typeface="Aptos Bold"/>
              </a:rPr>
              <a:t>Sales Advisor</a:t>
            </a:r>
          </a:p>
        </p:txBody>
      </p:sp>
      <p:sp>
        <p:nvSpPr>
          <p:cNvPr id="45" name="TextBox 45"/>
          <p:cNvSpPr txBox="1"/>
          <p:nvPr/>
        </p:nvSpPr>
        <p:spPr>
          <a:xfrm>
            <a:off x="2445464" y="3967813"/>
            <a:ext cx="5449688" cy="232575"/>
          </a:xfrm>
          <a:prstGeom prst="rect">
            <a:avLst/>
          </a:prstGeom>
        </p:spPr>
        <p:txBody>
          <a:bodyPr lIns="0" tIns="0" rIns="0" bIns="0" rtlCol="0" anchor="t">
            <a:spAutoFit/>
          </a:bodyPr>
          <a:lstStyle/>
          <a:p>
            <a:pPr marL="0" lvl="0" indent="0" algn="ctr">
              <a:lnSpc>
                <a:spcPts val="1846"/>
              </a:lnSpc>
            </a:pPr>
            <a:r>
              <a:rPr lang="en-US" sz="1565" b="1" spc="-10">
                <a:solidFill>
                  <a:srgbClr val="424141"/>
                </a:solidFill>
                <a:latin typeface="Aptos Bold"/>
                <a:ea typeface="Aptos Bold"/>
                <a:cs typeface="Aptos Bold"/>
                <a:sym typeface="Aptos Bold"/>
              </a:rPr>
              <a:t>Người dùng khó chọn sản phẩm công nghệ:</a:t>
            </a:r>
          </a:p>
        </p:txBody>
      </p:sp>
      <p:sp>
        <p:nvSpPr>
          <p:cNvPr id="46" name="TextBox 46"/>
          <p:cNvSpPr txBox="1"/>
          <p:nvPr/>
        </p:nvSpPr>
        <p:spPr>
          <a:xfrm>
            <a:off x="11316817" y="2927481"/>
            <a:ext cx="3178571" cy="215858"/>
          </a:xfrm>
          <a:prstGeom prst="rect">
            <a:avLst/>
          </a:prstGeom>
        </p:spPr>
        <p:txBody>
          <a:bodyPr lIns="0" tIns="0" rIns="0" bIns="0" rtlCol="0" anchor="t">
            <a:spAutoFit/>
          </a:bodyPr>
          <a:lstStyle/>
          <a:p>
            <a:pPr marL="0" lvl="0" indent="0" algn="just">
              <a:lnSpc>
                <a:spcPts val="1648"/>
              </a:lnSpc>
            </a:pPr>
            <a:r>
              <a:rPr lang="en-US" sz="1665" b="1" spc="-61">
                <a:solidFill>
                  <a:srgbClr val="FFFFFF"/>
                </a:solidFill>
                <a:latin typeface="Aptos Bold"/>
                <a:ea typeface="Aptos Bold"/>
                <a:cs typeface="Aptos Bold"/>
                <a:sym typeface="Aptos Bold"/>
              </a:rPr>
              <a:t>QUÁ NHIỀU LỰA CHỌN</a:t>
            </a:r>
          </a:p>
        </p:txBody>
      </p:sp>
      <p:sp>
        <p:nvSpPr>
          <p:cNvPr id="47" name="TextBox 47"/>
          <p:cNvSpPr txBox="1"/>
          <p:nvPr/>
        </p:nvSpPr>
        <p:spPr>
          <a:xfrm>
            <a:off x="11316817" y="3235922"/>
            <a:ext cx="5942483" cy="470408"/>
          </a:xfrm>
          <a:prstGeom prst="rect">
            <a:avLst/>
          </a:prstGeom>
        </p:spPr>
        <p:txBody>
          <a:bodyPr lIns="0" tIns="0" rIns="0" bIns="0" rtlCol="0" anchor="t">
            <a:spAutoFit/>
          </a:bodyPr>
          <a:lstStyle/>
          <a:p>
            <a:pPr marL="0" lvl="0" indent="0" algn="just">
              <a:lnSpc>
                <a:spcPts val="1875"/>
              </a:lnSpc>
            </a:pPr>
            <a:r>
              <a:rPr lang="en-US" sz="1399" spc="-51">
                <a:solidFill>
                  <a:srgbClr val="FFFFFF"/>
                </a:solidFill>
                <a:latin typeface="Aptos"/>
                <a:ea typeface="Aptos"/>
                <a:cs typeface="Aptos"/>
                <a:sym typeface="Aptos"/>
              </a:rPr>
              <a:t>Hàng trăm model, cấu hình và mức giá khác nhau khiến người dùng không biết bắt đầu từ đâu khi tìm kiếm sản phẩm phù hợp.</a:t>
            </a:r>
          </a:p>
        </p:txBody>
      </p:sp>
      <p:sp>
        <p:nvSpPr>
          <p:cNvPr id="48" name="TextBox 48"/>
          <p:cNvSpPr txBox="1"/>
          <p:nvPr/>
        </p:nvSpPr>
        <p:spPr>
          <a:xfrm>
            <a:off x="11316817" y="4603085"/>
            <a:ext cx="3969176" cy="215858"/>
          </a:xfrm>
          <a:prstGeom prst="rect">
            <a:avLst/>
          </a:prstGeom>
        </p:spPr>
        <p:txBody>
          <a:bodyPr lIns="0" tIns="0" rIns="0" bIns="0" rtlCol="0" anchor="t">
            <a:spAutoFit/>
          </a:bodyPr>
          <a:lstStyle/>
          <a:p>
            <a:pPr marL="0" lvl="0" indent="0" algn="just">
              <a:lnSpc>
                <a:spcPts val="1648"/>
              </a:lnSpc>
            </a:pPr>
            <a:r>
              <a:rPr lang="en-US" sz="1665" b="1" spc="-61">
                <a:solidFill>
                  <a:srgbClr val="FFFFFF"/>
                </a:solidFill>
                <a:latin typeface="Aptos Bold"/>
                <a:ea typeface="Aptos Bold"/>
                <a:cs typeface="Aptos Bold"/>
                <a:sym typeface="Aptos Bold"/>
              </a:rPr>
              <a:t>THÔNG SỐ KỸ THUẬT PHỨC TẠP</a:t>
            </a:r>
          </a:p>
        </p:txBody>
      </p:sp>
      <p:sp>
        <p:nvSpPr>
          <p:cNvPr id="49" name="TextBox 49"/>
          <p:cNvSpPr txBox="1"/>
          <p:nvPr/>
        </p:nvSpPr>
        <p:spPr>
          <a:xfrm>
            <a:off x="11316817" y="4916304"/>
            <a:ext cx="5942483" cy="488315"/>
          </a:xfrm>
          <a:prstGeom prst="rect">
            <a:avLst/>
          </a:prstGeom>
        </p:spPr>
        <p:txBody>
          <a:bodyPr lIns="0" tIns="0" rIns="0" bIns="0" rtlCol="0" anchor="t">
            <a:spAutoFit/>
          </a:bodyPr>
          <a:lstStyle/>
          <a:p>
            <a:pPr marL="0" lvl="0" indent="0" algn="just">
              <a:lnSpc>
                <a:spcPts val="1959"/>
              </a:lnSpc>
            </a:pPr>
            <a:r>
              <a:rPr lang="en-US" sz="1399" spc="-51">
                <a:solidFill>
                  <a:srgbClr val="FFFFFF"/>
                </a:solidFill>
                <a:latin typeface="Aptos"/>
                <a:ea typeface="Aptos"/>
                <a:cs typeface="Aptos"/>
                <a:sym typeface="Aptos"/>
              </a:rPr>
              <a:t>CPU, RAM, SSD, GPU — các thông số khó hiểu với người dùng phổ thông. Không ai tìm kiếm theo "Core i7-1255U" mà theo "máy chạy nhanh".</a:t>
            </a:r>
          </a:p>
        </p:txBody>
      </p:sp>
      <p:sp>
        <p:nvSpPr>
          <p:cNvPr id="50" name="TextBox 50"/>
          <p:cNvSpPr txBox="1"/>
          <p:nvPr/>
        </p:nvSpPr>
        <p:spPr>
          <a:xfrm>
            <a:off x="11394582" y="6466347"/>
            <a:ext cx="3178571" cy="215858"/>
          </a:xfrm>
          <a:prstGeom prst="rect">
            <a:avLst/>
          </a:prstGeom>
        </p:spPr>
        <p:txBody>
          <a:bodyPr lIns="0" tIns="0" rIns="0" bIns="0" rtlCol="0" anchor="t">
            <a:spAutoFit/>
          </a:bodyPr>
          <a:lstStyle/>
          <a:p>
            <a:pPr marL="0" lvl="0" indent="0" algn="just">
              <a:lnSpc>
                <a:spcPts val="1648"/>
              </a:lnSpc>
            </a:pPr>
            <a:r>
              <a:rPr lang="en-US" sz="1665" b="1" spc="-61">
                <a:solidFill>
                  <a:srgbClr val="FFFFFF"/>
                </a:solidFill>
                <a:latin typeface="Aptos Bold"/>
                <a:ea typeface="Aptos Bold"/>
                <a:cs typeface="Aptos Bold"/>
                <a:sym typeface="Aptos Bold"/>
              </a:rPr>
              <a:t>NHU CẦU MƠ HỒ, TỰ NHIÊN</a:t>
            </a:r>
          </a:p>
        </p:txBody>
      </p:sp>
      <p:sp>
        <p:nvSpPr>
          <p:cNvPr id="51" name="TextBox 51"/>
          <p:cNvSpPr txBox="1"/>
          <p:nvPr/>
        </p:nvSpPr>
        <p:spPr>
          <a:xfrm>
            <a:off x="11316817" y="6818537"/>
            <a:ext cx="5942483" cy="405384"/>
          </a:xfrm>
          <a:prstGeom prst="rect">
            <a:avLst/>
          </a:prstGeom>
        </p:spPr>
        <p:txBody>
          <a:bodyPr lIns="0" tIns="0" rIns="0" bIns="0" rtlCol="0" anchor="t">
            <a:spAutoFit/>
          </a:bodyPr>
          <a:lstStyle/>
          <a:p>
            <a:pPr marL="0" lvl="0" indent="0" algn="just">
              <a:lnSpc>
                <a:spcPts val="1637"/>
              </a:lnSpc>
            </a:pPr>
            <a:r>
              <a:rPr lang="en-US" sz="1399" spc="-51">
                <a:solidFill>
                  <a:srgbClr val="FFFFFF"/>
                </a:solidFill>
                <a:latin typeface="Aptos"/>
                <a:ea typeface="Aptos"/>
                <a:cs typeface="Aptos"/>
                <a:sym typeface="Aptos"/>
              </a:rPr>
              <a:t>Người dùng diễn đạt theo nhu cầu thực tế, không theo bộ lọc dữ liệu. Bộ lọc truyền thống không thể hiểu "máy để học lập trình, pin trâu".</a:t>
            </a:r>
          </a:p>
        </p:txBody>
      </p:sp>
      <p:sp>
        <p:nvSpPr>
          <p:cNvPr id="52" name="Freeform 52"/>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53" name="Freeform 53"/>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54" name="Freeform 54"/>
          <p:cNvSpPr/>
          <p:nvPr/>
        </p:nvSpPr>
        <p:spPr>
          <a:xfrm>
            <a:off x="2210463" y="621895"/>
            <a:ext cx="645033" cy="494917"/>
          </a:xfrm>
          <a:custGeom>
            <a:avLst/>
            <a:gdLst/>
            <a:ahLst/>
            <a:cxnLst/>
            <a:rect l="l" t="t" r="r" b="b"/>
            <a:pathLst>
              <a:path w="645033" h="494917">
                <a:moveTo>
                  <a:pt x="0" y="0"/>
                </a:moveTo>
                <a:lnTo>
                  <a:pt x="645034" y="0"/>
                </a:lnTo>
                <a:lnTo>
                  <a:pt x="645034" y="494917"/>
                </a:lnTo>
                <a:lnTo>
                  <a:pt x="0" y="494917"/>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715"/>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91925"/>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grpSp>
        <p:nvGrpSpPr>
          <p:cNvPr id="12" name="Group 12"/>
          <p:cNvGrpSpPr/>
          <p:nvPr/>
        </p:nvGrpSpPr>
        <p:grpSpPr>
          <a:xfrm>
            <a:off x="12058115" y="5751211"/>
            <a:ext cx="5201185" cy="2924972"/>
            <a:chOff x="0" y="0"/>
            <a:chExt cx="3114770" cy="1751643"/>
          </a:xfrm>
        </p:grpSpPr>
        <p:sp>
          <p:nvSpPr>
            <p:cNvPr id="13" name="Freeform 13"/>
            <p:cNvSpPr/>
            <p:nvPr/>
          </p:nvSpPr>
          <p:spPr>
            <a:xfrm>
              <a:off x="0" y="0"/>
              <a:ext cx="3114771" cy="1751643"/>
            </a:xfrm>
            <a:custGeom>
              <a:avLst/>
              <a:gdLst/>
              <a:ahLst/>
              <a:cxnLst/>
              <a:rect l="l" t="t" r="r" b="b"/>
              <a:pathLst>
                <a:path w="3114771" h="1751643">
                  <a:moveTo>
                    <a:pt x="47632" y="0"/>
                  </a:moveTo>
                  <a:lnTo>
                    <a:pt x="3067139" y="0"/>
                  </a:lnTo>
                  <a:cubicBezTo>
                    <a:pt x="3079772" y="0"/>
                    <a:pt x="3091887" y="5018"/>
                    <a:pt x="3100819" y="13951"/>
                  </a:cubicBezTo>
                  <a:cubicBezTo>
                    <a:pt x="3109752" y="22884"/>
                    <a:pt x="3114771" y="34999"/>
                    <a:pt x="3114771" y="47632"/>
                  </a:cubicBezTo>
                  <a:lnTo>
                    <a:pt x="3114771" y="1704011"/>
                  </a:lnTo>
                  <a:cubicBezTo>
                    <a:pt x="3114771" y="1716643"/>
                    <a:pt x="3109752" y="1728759"/>
                    <a:pt x="3100819" y="1737691"/>
                  </a:cubicBezTo>
                  <a:cubicBezTo>
                    <a:pt x="3091887" y="1746624"/>
                    <a:pt x="3079772" y="1751643"/>
                    <a:pt x="3067139" y="1751643"/>
                  </a:cubicBezTo>
                  <a:lnTo>
                    <a:pt x="47632" y="1751643"/>
                  </a:lnTo>
                  <a:cubicBezTo>
                    <a:pt x="34999" y="1751643"/>
                    <a:pt x="22884" y="1746624"/>
                    <a:pt x="13951" y="1737691"/>
                  </a:cubicBezTo>
                  <a:cubicBezTo>
                    <a:pt x="5018" y="1728759"/>
                    <a:pt x="0" y="1716643"/>
                    <a:pt x="0" y="1704011"/>
                  </a:cubicBezTo>
                  <a:lnTo>
                    <a:pt x="0" y="47632"/>
                  </a:lnTo>
                  <a:cubicBezTo>
                    <a:pt x="0" y="34999"/>
                    <a:pt x="5018" y="22884"/>
                    <a:pt x="13951" y="13951"/>
                  </a:cubicBezTo>
                  <a:cubicBezTo>
                    <a:pt x="22884" y="5018"/>
                    <a:pt x="34999" y="0"/>
                    <a:pt x="47632" y="0"/>
                  </a:cubicBezTo>
                  <a:close/>
                </a:path>
              </a:pathLst>
            </a:custGeom>
            <a:solidFill>
              <a:srgbClr val="EB574C"/>
            </a:solidFill>
            <a:ln w="9525" cap="rnd">
              <a:solidFill>
                <a:srgbClr val="424141"/>
              </a:solidFill>
              <a:prstDash val="solid"/>
              <a:round/>
            </a:ln>
          </p:spPr>
          <p:txBody>
            <a:bodyPr/>
            <a:lstStyle/>
            <a:p>
              <a:endParaRPr lang="en-US"/>
            </a:p>
          </p:txBody>
        </p:sp>
        <p:sp>
          <p:nvSpPr>
            <p:cNvPr id="14" name="TextBox 14"/>
            <p:cNvSpPr txBox="1"/>
            <p:nvPr/>
          </p:nvSpPr>
          <p:spPr>
            <a:xfrm>
              <a:off x="0" y="-38100"/>
              <a:ext cx="3114770" cy="1789743"/>
            </a:xfrm>
            <a:prstGeom prst="rect">
              <a:avLst/>
            </a:prstGeom>
          </p:spPr>
          <p:txBody>
            <a:bodyPr lIns="50800" tIns="50800" rIns="50800" bIns="50800" rtlCol="0" anchor="ctr"/>
            <a:lstStyle/>
            <a:p>
              <a:pPr marL="0" lvl="0" indent="0" algn="ctr">
                <a:lnSpc>
                  <a:spcPts val="1540"/>
                </a:lnSpc>
              </a:pPr>
              <a:endParaRPr/>
            </a:p>
          </p:txBody>
        </p:sp>
      </p:grpSp>
      <p:grpSp>
        <p:nvGrpSpPr>
          <p:cNvPr id="15" name="Group 15"/>
          <p:cNvGrpSpPr/>
          <p:nvPr/>
        </p:nvGrpSpPr>
        <p:grpSpPr>
          <a:xfrm>
            <a:off x="12375322" y="6029222"/>
            <a:ext cx="1785539" cy="2096766"/>
            <a:chOff x="0" y="0"/>
            <a:chExt cx="812800" cy="954475"/>
          </a:xfrm>
        </p:grpSpPr>
        <p:sp>
          <p:nvSpPr>
            <p:cNvPr id="16" name="Freeform 16"/>
            <p:cNvSpPr/>
            <p:nvPr/>
          </p:nvSpPr>
          <p:spPr>
            <a:xfrm>
              <a:off x="0" y="0"/>
              <a:ext cx="812800" cy="954475"/>
            </a:xfrm>
            <a:custGeom>
              <a:avLst/>
              <a:gdLst/>
              <a:ahLst/>
              <a:cxnLst/>
              <a:rect l="l" t="t" r="r" b="b"/>
              <a:pathLst>
                <a:path w="812800" h="954475">
                  <a:moveTo>
                    <a:pt x="73710" y="0"/>
                  </a:moveTo>
                  <a:lnTo>
                    <a:pt x="739090" y="0"/>
                  </a:lnTo>
                  <a:cubicBezTo>
                    <a:pt x="758639" y="0"/>
                    <a:pt x="777387" y="7766"/>
                    <a:pt x="791211" y="21589"/>
                  </a:cubicBezTo>
                  <a:cubicBezTo>
                    <a:pt x="805034" y="35413"/>
                    <a:pt x="812800" y="54161"/>
                    <a:pt x="812800" y="73710"/>
                  </a:cubicBezTo>
                  <a:lnTo>
                    <a:pt x="812800" y="880764"/>
                  </a:lnTo>
                  <a:cubicBezTo>
                    <a:pt x="812800" y="900314"/>
                    <a:pt x="805034" y="919062"/>
                    <a:pt x="791211" y="932885"/>
                  </a:cubicBezTo>
                  <a:cubicBezTo>
                    <a:pt x="777387" y="946709"/>
                    <a:pt x="758639" y="954475"/>
                    <a:pt x="739090" y="954475"/>
                  </a:cubicBezTo>
                  <a:lnTo>
                    <a:pt x="73710" y="954475"/>
                  </a:lnTo>
                  <a:cubicBezTo>
                    <a:pt x="54161" y="954475"/>
                    <a:pt x="35413" y="946709"/>
                    <a:pt x="21589" y="932885"/>
                  </a:cubicBezTo>
                  <a:cubicBezTo>
                    <a:pt x="7766" y="919062"/>
                    <a:pt x="0" y="900314"/>
                    <a:pt x="0" y="880764"/>
                  </a:cubicBezTo>
                  <a:lnTo>
                    <a:pt x="0" y="73710"/>
                  </a:lnTo>
                  <a:cubicBezTo>
                    <a:pt x="0" y="54161"/>
                    <a:pt x="7766" y="35413"/>
                    <a:pt x="21589" y="21589"/>
                  </a:cubicBezTo>
                  <a:cubicBezTo>
                    <a:pt x="35413" y="7766"/>
                    <a:pt x="54161" y="0"/>
                    <a:pt x="73710" y="0"/>
                  </a:cubicBezTo>
                  <a:close/>
                </a:path>
              </a:pathLst>
            </a:custGeom>
            <a:blipFill>
              <a:blip r:embed="rId3"/>
              <a:stretch>
                <a:fillRect t="-2647" b="-2647"/>
              </a:stretch>
            </a:blipFill>
            <a:ln w="9525" cap="sq">
              <a:solidFill>
                <a:srgbClr val="424141"/>
              </a:solidFill>
              <a:prstDash val="solid"/>
              <a:miter/>
            </a:ln>
          </p:spPr>
          <p:txBody>
            <a:bodyPr/>
            <a:lstStyle/>
            <a:p>
              <a:endParaRPr lang="en-US"/>
            </a:p>
          </p:txBody>
        </p:sp>
      </p:grpSp>
      <p:grpSp>
        <p:nvGrpSpPr>
          <p:cNvPr id="17" name="Group 17"/>
          <p:cNvGrpSpPr/>
          <p:nvPr/>
        </p:nvGrpSpPr>
        <p:grpSpPr>
          <a:xfrm>
            <a:off x="14394969" y="6029222"/>
            <a:ext cx="2585224" cy="2096766"/>
            <a:chOff x="0" y="0"/>
            <a:chExt cx="1176827" cy="954475"/>
          </a:xfrm>
        </p:grpSpPr>
        <p:sp>
          <p:nvSpPr>
            <p:cNvPr id="18" name="Freeform 18"/>
            <p:cNvSpPr/>
            <p:nvPr/>
          </p:nvSpPr>
          <p:spPr>
            <a:xfrm>
              <a:off x="0" y="0"/>
              <a:ext cx="1176827" cy="954475"/>
            </a:xfrm>
            <a:custGeom>
              <a:avLst/>
              <a:gdLst/>
              <a:ahLst/>
              <a:cxnLst/>
              <a:rect l="l" t="t" r="r" b="b"/>
              <a:pathLst>
                <a:path w="1176827" h="954475">
                  <a:moveTo>
                    <a:pt x="50910" y="0"/>
                  </a:moveTo>
                  <a:lnTo>
                    <a:pt x="1125917" y="0"/>
                  </a:lnTo>
                  <a:cubicBezTo>
                    <a:pt x="1154034" y="0"/>
                    <a:pt x="1176827" y="22793"/>
                    <a:pt x="1176827" y="50910"/>
                  </a:cubicBezTo>
                  <a:lnTo>
                    <a:pt x="1176827" y="903565"/>
                  </a:lnTo>
                  <a:cubicBezTo>
                    <a:pt x="1176827" y="917067"/>
                    <a:pt x="1171463" y="930016"/>
                    <a:pt x="1161916" y="939564"/>
                  </a:cubicBezTo>
                  <a:cubicBezTo>
                    <a:pt x="1152369" y="949111"/>
                    <a:pt x="1139420" y="954475"/>
                    <a:pt x="1125917" y="954475"/>
                  </a:cubicBezTo>
                  <a:lnTo>
                    <a:pt x="50910" y="954475"/>
                  </a:lnTo>
                  <a:cubicBezTo>
                    <a:pt x="37408" y="954475"/>
                    <a:pt x="24458" y="949111"/>
                    <a:pt x="14911" y="939564"/>
                  </a:cubicBezTo>
                  <a:cubicBezTo>
                    <a:pt x="5364" y="930016"/>
                    <a:pt x="0" y="917067"/>
                    <a:pt x="0" y="903565"/>
                  </a:cubicBezTo>
                  <a:lnTo>
                    <a:pt x="0" y="50910"/>
                  </a:lnTo>
                  <a:cubicBezTo>
                    <a:pt x="0" y="37408"/>
                    <a:pt x="5364" y="24458"/>
                    <a:pt x="14911" y="14911"/>
                  </a:cubicBezTo>
                  <a:cubicBezTo>
                    <a:pt x="24458" y="5364"/>
                    <a:pt x="37408" y="0"/>
                    <a:pt x="50910" y="0"/>
                  </a:cubicBezTo>
                  <a:close/>
                </a:path>
              </a:pathLst>
            </a:custGeom>
            <a:blipFill>
              <a:blip r:embed="rId4"/>
              <a:stretch>
                <a:fillRect l="-142" r="-142"/>
              </a:stretch>
            </a:blipFill>
            <a:ln w="9525" cap="sq">
              <a:solidFill>
                <a:srgbClr val="424141"/>
              </a:solidFill>
              <a:prstDash val="solid"/>
              <a:miter/>
            </a:ln>
          </p:spPr>
          <p:txBody>
            <a:bodyPr/>
            <a:lstStyle/>
            <a:p>
              <a:endParaRPr lang="en-US"/>
            </a:p>
          </p:txBody>
        </p:sp>
      </p:grpSp>
      <p:sp>
        <p:nvSpPr>
          <p:cNvPr id="19" name="TextBox 19"/>
          <p:cNvSpPr txBox="1"/>
          <p:nvPr/>
        </p:nvSpPr>
        <p:spPr>
          <a:xfrm>
            <a:off x="2252718" y="2022361"/>
            <a:ext cx="8322945" cy="1828782"/>
          </a:xfrm>
          <a:prstGeom prst="rect">
            <a:avLst/>
          </a:prstGeom>
        </p:spPr>
        <p:txBody>
          <a:bodyPr lIns="0" tIns="0" rIns="0" bIns="0" rtlCol="0" anchor="t">
            <a:spAutoFit/>
          </a:bodyPr>
          <a:lstStyle/>
          <a:p>
            <a:pPr marL="0" lvl="0" indent="0" algn="l">
              <a:lnSpc>
                <a:spcPts val="7202"/>
              </a:lnSpc>
            </a:pPr>
            <a:r>
              <a:rPr lang="en-US" sz="5626" b="1" spc="-348">
                <a:solidFill>
                  <a:srgbClr val="424141"/>
                </a:solidFill>
                <a:latin typeface="Aptos Bold"/>
                <a:ea typeface="Aptos Bold"/>
                <a:cs typeface="Aptos Bold"/>
                <a:sym typeface="Aptos Bold"/>
              </a:rPr>
              <a:t>BỘ LỌC TRUYỀN THỐNG CHƯA ĐỦ ĐÁP ỨNG</a:t>
            </a:r>
          </a:p>
        </p:txBody>
      </p:sp>
      <p:sp>
        <p:nvSpPr>
          <p:cNvPr id="20" name="Freeform 20"/>
          <p:cNvSpPr/>
          <p:nvPr/>
        </p:nvSpPr>
        <p:spPr>
          <a:xfrm flipH="1">
            <a:off x="9333961" y="3360877"/>
            <a:ext cx="941613" cy="818027"/>
          </a:xfrm>
          <a:custGeom>
            <a:avLst/>
            <a:gdLst/>
            <a:ahLst/>
            <a:cxnLst/>
            <a:rect l="l" t="t" r="r" b="b"/>
            <a:pathLst>
              <a:path w="941613" h="818027">
                <a:moveTo>
                  <a:pt x="941613" y="0"/>
                </a:moveTo>
                <a:lnTo>
                  <a:pt x="0" y="0"/>
                </a:lnTo>
                <a:lnTo>
                  <a:pt x="0" y="818027"/>
                </a:lnTo>
                <a:lnTo>
                  <a:pt x="941613" y="818027"/>
                </a:lnTo>
                <a:lnTo>
                  <a:pt x="94161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AutoShape 21"/>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2" name="AutoShape 22"/>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3" name="AutoShape 23"/>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4" name="Freeform 24"/>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5" name="Group 25"/>
          <p:cNvGrpSpPr/>
          <p:nvPr/>
        </p:nvGrpSpPr>
        <p:grpSpPr>
          <a:xfrm>
            <a:off x="12121219" y="2424196"/>
            <a:ext cx="5138081" cy="2967819"/>
            <a:chOff x="0" y="0"/>
            <a:chExt cx="1176827" cy="679750"/>
          </a:xfrm>
        </p:grpSpPr>
        <p:sp>
          <p:nvSpPr>
            <p:cNvPr id="26" name="Freeform 26"/>
            <p:cNvSpPr/>
            <p:nvPr/>
          </p:nvSpPr>
          <p:spPr>
            <a:xfrm>
              <a:off x="0" y="0"/>
              <a:ext cx="1176827" cy="679750"/>
            </a:xfrm>
            <a:custGeom>
              <a:avLst/>
              <a:gdLst/>
              <a:ahLst/>
              <a:cxnLst/>
              <a:rect l="l" t="t" r="r" b="b"/>
              <a:pathLst>
                <a:path w="1176827" h="679750">
                  <a:moveTo>
                    <a:pt x="25615" y="0"/>
                  </a:moveTo>
                  <a:lnTo>
                    <a:pt x="1151212" y="0"/>
                  </a:lnTo>
                  <a:cubicBezTo>
                    <a:pt x="1158005" y="0"/>
                    <a:pt x="1164521" y="2699"/>
                    <a:pt x="1169324" y="7502"/>
                  </a:cubicBezTo>
                  <a:cubicBezTo>
                    <a:pt x="1174128" y="12306"/>
                    <a:pt x="1176827" y="18822"/>
                    <a:pt x="1176827" y="25615"/>
                  </a:cubicBezTo>
                  <a:lnTo>
                    <a:pt x="1176827" y="654135"/>
                  </a:lnTo>
                  <a:cubicBezTo>
                    <a:pt x="1176827" y="660928"/>
                    <a:pt x="1174128" y="667444"/>
                    <a:pt x="1169324" y="672247"/>
                  </a:cubicBezTo>
                  <a:cubicBezTo>
                    <a:pt x="1164521" y="677051"/>
                    <a:pt x="1158005" y="679750"/>
                    <a:pt x="1151212" y="679750"/>
                  </a:cubicBezTo>
                  <a:lnTo>
                    <a:pt x="25615" y="679750"/>
                  </a:lnTo>
                  <a:cubicBezTo>
                    <a:pt x="18822" y="679750"/>
                    <a:pt x="12306" y="677051"/>
                    <a:pt x="7502" y="672247"/>
                  </a:cubicBezTo>
                  <a:cubicBezTo>
                    <a:pt x="2699" y="667444"/>
                    <a:pt x="0" y="660928"/>
                    <a:pt x="0" y="654135"/>
                  </a:cubicBezTo>
                  <a:lnTo>
                    <a:pt x="0" y="25615"/>
                  </a:lnTo>
                  <a:cubicBezTo>
                    <a:pt x="0" y="18822"/>
                    <a:pt x="2699" y="12306"/>
                    <a:pt x="7502" y="7502"/>
                  </a:cubicBezTo>
                  <a:cubicBezTo>
                    <a:pt x="12306" y="2699"/>
                    <a:pt x="18822" y="0"/>
                    <a:pt x="25615" y="0"/>
                  </a:cubicBezTo>
                  <a:close/>
                </a:path>
              </a:pathLst>
            </a:custGeom>
            <a:blipFill>
              <a:blip r:embed="rId7"/>
              <a:stretch>
                <a:fillRect l="-667" r="-667"/>
              </a:stretch>
            </a:blipFill>
            <a:ln w="9525" cap="sq">
              <a:solidFill>
                <a:srgbClr val="424141"/>
              </a:solidFill>
              <a:prstDash val="solid"/>
              <a:miter/>
            </a:ln>
          </p:spPr>
          <p:txBody>
            <a:bodyPr/>
            <a:lstStyle/>
            <a:p>
              <a:endParaRPr lang="en-US"/>
            </a:p>
          </p:txBody>
        </p:sp>
      </p:grpSp>
      <p:sp>
        <p:nvSpPr>
          <p:cNvPr id="27" name="Freeform 27"/>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28" name="Group 28"/>
          <p:cNvGrpSpPr/>
          <p:nvPr/>
        </p:nvGrpSpPr>
        <p:grpSpPr>
          <a:xfrm>
            <a:off x="2952598" y="5781033"/>
            <a:ext cx="3333328" cy="653335"/>
            <a:chOff x="0" y="0"/>
            <a:chExt cx="2315259" cy="453793"/>
          </a:xfrm>
        </p:grpSpPr>
        <p:sp>
          <p:nvSpPr>
            <p:cNvPr id="29" name="Freeform 29"/>
            <p:cNvSpPr/>
            <p:nvPr/>
          </p:nvSpPr>
          <p:spPr>
            <a:xfrm>
              <a:off x="0" y="0"/>
              <a:ext cx="2315259" cy="453793"/>
            </a:xfrm>
            <a:custGeom>
              <a:avLst/>
              <a:gdLst/>
              <a:ahLst/>
              <a:cxnLst/>
              <a:rect l="l" t="t" r="r" b="b"/>
              <a:pathLst>
                <a:path w="2315259" h="453793">
                  <a:moveTo>
                    <a:pt x="30194" y="0"/>
                  </a:moveTo>
                  <a:lnTo>
                    <a:pt x="2285066" y="0"/>
                  </a:lnTo>
                  <a:cubicBezTo>
                    <a:pt x="2301741" y="0"/>
                    <a:pt x="2315259" y="13518"/>
                    <a:pt x="2315259" y="30194"/>
                  </a:cubicBezTo>
                  <a:lnTo>
                    <a:pt x="2315259" y="423599"/>
                  </a:lnTo>
                  <a:cubicBezTo>
                    <a:pt x="2315259" y="431607"/>
                    <a:pt x="2312078" y="439287"/>
                    <a:pt x="2306416" y="444949"/>
                  </a:cubicBezTo>
                  <a:cubicBezTo>
                    <a:pt x="2300753" y="450612"/>
                    <a:pt x="2293074" y="453793"/>
                    <a:pt x="2285066" y="453793"/>
                  </a:cubicBezTo>
                  <a:lnTo>
                    <a:pt x="30194" y="453793"/>
                  </a:lnTo>
                  <a:cubicBezTo>
                    <a:pt x="22186" y="453793"/>
                    <a:pt x="14506" y="450612"/>
                    <a:pt x="8843" y="444949"/>
                  </a:cubicBezTo>
                  <a:cubicBezTo>
                    <a:pt x="3181" y="439287"/>
                    <a:pt x="0" y="431607"/>
                    <a:pt x="0" y="423599"/>
                  </a:cubicBezTo>
                  <a:lnTo>
                    <a:pt x="0" y="30194"/>
                  </a:lnTo>
                  <a:cubicBezTo>
                    <a:pt x="0" y="13518"/>
                    <a:pt x="13518" y="0"/>
                    <a:pt x="30194" y="0"/>
                  </a:cubicBezTo>
                  <a:close/>
                </a:path>
              </a:pathLst>
            </a:custGeom>
            <a:solidFill>
              <a:srgbClr val="EB574C"/>
            </a:solidFill>
            <a:ln w="9525" cap="sq">
              <a:solidFill>
                <a:srgbClr val="424141"/>
              </a:solidFill>
              <a:prstDash val="solid"/>
              <a:miter/>
            </a:ln>
          </p:spPr>
          <p:txBody>
            <a:bodyPr/>
            <a:lstStyle/>
            <a:p>
              <a:endParaRPr lang="en-US"/>
            </a:p>
          </p:txBody>
        </p:sp>
        <p:sp>
          <p:nvSpPr>
            <p:cNvPr id="30" name="TextBox 30"/>
            <p:cNvSpPr txBox="1"/>
            <p:nvPr/>
          </p:nvSpPr>
          <p:spPr>
            <a:xfrm>
              <a:off x="0" y="28575"/>
              <a:ext cx="2315259" cy="425218"/>
            </a:xfrm>
            <a:prstGeom prst="rect">
              <a:avLst/>
            </a:prstGeom>
          </p:spPr>
          <p:txBody>
            <a:bodyPr lIns="39013" tIns="39013" rIns="39013" bIns="39013" rtlCol="0" anchor="ctr"/>
            <a:lstStyle/>
            <a:p>
              <a:pPr marL="0" lvl="0" indent="0" algn="ctr">
                <a:lnSpc>
                  <a:spcPts val="1297"/>
                </a:lnSpc>
              </a:pPr>
              <a:endParaRPr/>
            </a:p>
          </p:txBody>
        </p:sp>
      </p:grpSp>
      <p:grpSp>
        <p:nvGrpSpPr>
          <p:cNvPr id="31" name="Group 31"/>
          <p:cNvGrpSpPr/>
          <p:nvPr/>
        </p:nvGrpSpPr>
        <p:grpSpPr>
          <a:xfrm>
            <a:off x="7477336" y="5781033"/>
            <a:ext cx="3333328" cy="653335"/>
            <a:chOff x="0" y="0"/>
            <a:chExt cx="2315259" cy="453793"/>
          </a:xfrm>
        </p:grpSpPr>
        <p:sp>
          <p:nvSpPr>
            <p:cNvPr id="32" name="Freeform 32"/>
            <p:cNvSpPr/>
            <p:nvPr/>
          </p:nvSpPr>
          <p:spPr>
            <a:xfrm>
              <a:off x="0" y="0"/>
              <a:ext cx="2315259" cy="453793"/>
            </a:xfrm>
            <a:custGeom>
              <a:avLst/>
              <a:gdLst/>
              <a:ahLst/>
              <a:cxnLst/>
              <a:rect l="l" t="t" r="r" b="b"/>
              <a:pathLst>
                <a:path w="2315259" h="453793">
                  <a:moveTo>
                    <a:pt x="30194" y="0"/>
                  </a:moveTo>
                  <a:lnTo>
                    <a:pt x="2285066" y="0"/>
                  </a:lnTo>
                  <a:cubicBezTo>
                    <a:pt x="2301741" y="0"/>
                    <a:pt x="2315259" y="13518"/>
                    <a:pt x="2315259" y="30194"/>
                  </a:cubicBezTo>
                  <a:lnTo>
                    <a:pt x="2315259" y="423599"/>
                  </a:lnTo>
                  <a:cubicBezTo>
                    <a:pt x="2315259" y="431607"/>
                    <a:pt x="2312078" y="439287"/>
                    <a:pt x="2306416" y="444949"/>
                  </a:cubicBezTo>
                  <a:cubicBezTo>
                    <a:pt x="2300753" y="450612"/>
                    <a:pt x="2293074" y="453793"/>
                    <a:pt x="2285066" y="453793"/>
                  </a:cubicBezTo>
                  <a:lnTo>
                    <a:pt x="30194" y="453793"/>
                  </a:lnTo>
                  <a:cubicBezTo>
                    <a:pt x="22186" y="453793"/>
                    <a:pt x="14506" y="450612"/>
                    <a:pt x="8843" y="444949"/>
                  </a:cubicBezTo>
                  <a:cubicBezTo>
                    <a:pt x="3181" y="439287"/>
                    <a:pt x="0" y="431607"/>
                    <a:pt x="0" y="423599"/>
                  </a:cubicBezTo>
                  <a:lnTo>
                    <a:pt x="0" y="30194"/>
                  </a:lnTo>
                  <a:cubicBezTo>
                    <a:pt x="0" y="13518"/>
                    <a:pt x="13518" y="0"/>
                    <a:pt x="30194" y="0"/>
                  </a:cubicBezTo>
                  <a:close/>
                </a:path>
              </a:pathLst>
            </a:custGeom>
            <a:solidFill>
              <a:srgbClr val="FFDE59"/>
            </a:solidFill>
            <a:ln w="9525" cap="sq">
              <a:solidFill>
                <a:srgbClr val="424141"/>
              </a:solidFill>
              <a:prstDash val="solid"/>
              <a:miter/>
            </a:ln>
          </p:spPr>
          <p:txBody>
            <a:bodyPr/>
            <a:lstStyle/>
            <a:p>
              <a:endParaRPr lang="en-US"/>
            </a:p>
          </p:txBody>
        </p:sp>
        <p:sp>
          <p:nvSpPr>
            <p:cNvPr id="33" name="TextBox 33"/>
            <p:cNvSpPr txBox="1"/>
            <p:nvPr/>
          </p:nvSpPr>
          <p:spPr>
            <a:xfrm>
              <a:off x="0" y="28575"/>
              <a:ext cx="2315259" cy="425218"/>
            </a:xfrm>
            <a:prstGeom prst="rect">
              <a:avLst/>
            </a:prstGeom>
          </p:spPr>
          <p:txBody>
            <a:bodyPr lIns="39013" tIns="39013" rIns="39013" bIns="39013" rtlCol="0" anchor="ctr"/>
            <a:lstStyle/>
            <a:p>
              <a:pPr marL="0" lvl="0" indent="0" algn="ctr">
                <a:lnSpc>
                  <a:spcPts val="1297"/>
                </a:lnSpc>
              </a:pPr>
              <a:endParaRPr/>
            </a:p>
          </p:txBody>
        </p:sp>
      </p:grpSp>
      <p:sp>
        <p:nvSpPr>
          <p:cNvPr id="34" name="TextBox 34"/>
          <p:cNvSpPr txBox="1"/>
          <p:nvPr/>
        </p:nvSpPr>
        <p:spPr>
          <a:xfrm>
            <a:off x="2952598" y="6699272"/>
            <a:ext cx="3701687" cy="1996059"/>
          </a:xfrm>
          <a:prstGeom prst="rect">
            <a:avLst/>
          </a:prstGeom>
        </p:spPr>
        <p:txBody>
          <a:bodyPr lIns="0" tIns="0" rIns="0" bIns="0" rtlCol="0" anchor="t">
            <a:spAutoFit/>
          </a:bodyPr>
          <a:lstStyle/>
          <a:p>
            <a:pPr marL="0" lvl="0" indent="0" algn="just">
              <a:lnSpc>
                <a:spcPts val="2268"/>
              </a:lnSpc>
            </a:pPr>
            <a:r>
              <a:rPr lang="en-US" sz="1800" spc="-66">
                <a:solidFill>
                  <a:srgbClr val="424141"/>
                </a:solidFill>
                <a:latin typeface="Aptos"/>
                <a:ea typeface="Aptos"/>
                <a:cs typeface="Aptos"/>
                <a:sym typeface="Aptos"/>
              </a:rPr>
              <a:t>• Filter đòi hỏi người dùng biết tiêu chí rõ ràng.</a:t>
            </a:r>
          </a:p>
          <a:p>
            <a:pPr marL="0" lvl="0" indent="0" algn="just">
              <a:lnSpc>
                <a:spcPts val="2268"/>
              </a:lnSpc>
            </a:pPr>
            <a:r>
              <a:rPr lang="en-US" sz="1800" spc="-66">
                <a:solidFill>
                  <a:srgbClr val="424141"/>
                </a:solidFill>
                <a:latin typeface="Aptos"/>
                <a:ea typeface="Aptos"/>
                <a:cs typeface="Aptos"/>
                <a:sym typeface="Aptos"/>
              </a:rPr>
              <a:t>• Nhu cầu thực tế thường mơ hồ, đa yếu tố.</a:t>
            </a:r>
          </a:p>
          <a:p>
            <a:pPr marL="0" lvl="0" indent="0" algn="just">
              <a:lnSpc>
                <a:spcPts val="2268"/>
              </a:lnSpc>
            </a:pPr>
            <a:r>
              <a:rPr lang="en-US" sz="1800" spc="-66">
                <a:solidFill>
                  <a:srgbClr val="424141"/>
                </a:solidFill>
                <a:latin typeface="Aptos"/>
                <a:ea typeface="Aptos"/>
                <a:cs typeface="Aptos"/>
                <a:sym typeface="Aptos"/>
              </a:rPr>
              <a:t>• Không hiểu ngôn ngữ tự nhiên.</a:t>
            </a:r>
          </a:p>
          <a:p>
            <a:pPr marL="0" lvl="0" indent="0" algn="just">
              <a:lnSpc>
                <a:spcPts val="2268"/>
              </a:lnSpc>
            </a:pPr>
            <a:r>
              <a:rPr lang="en-US" sz="1800" spc="-66">
                <a:solidFill>
                  <a:srgbClr val="424141"/>
                </a:solidFill>
                <a:latin typeface="Aptos"/>
                <a:ea typeface="Aptos"/>
                <a:cs typeface="Aptos"/>
                <a:sym typeface="Aptos"/>
              </a:rPr>
              <a:t>• Cần chuyển câu hỏi thành ràng buộc có cấu trúc.</a:t>
            </a:r>
          </a:p>
        </p:txBody>
      </p:sp>
      <p:sp>
        <p:nvSpPr>
          <p:cNvPr id="35" name="TextBox 35"/>
          <p:cNvSpPr txBox="1"/>
          <p:nvPr/>
        </p:nvSpPr>
        <p:spPr>
          <a:xfrm>
            <a:off x="3583111" y="899371"/>
            <a:ext cx="1535587" cy="262849"/>
          </a:xfrm>
          <a:prstGeom prst="rect">
            <a:avLst/>
          </a:prstGeom>
        </p:spPr>
        <p:txBody>
          <a:bodyPr lIns="0" tIns="0" rIns="0" bIns="0" rtlCol="0" anchor="t">
            <a:spAutoFit/>
          </a:bodyPr>
          <a:lstStyle/>
          <a:p>
            <a:pPr marL="0" lvl="0" indent="0" algn="l">
              <a:lnSpc>
                <a:spcPts val="1978"/>
              </a:lnSpc>
            </a:pPr>
            <a:r>
              <a:rPr lang="en-US" sz="1998" spc="-73">
                <a:solidFill>
                  <a:srgbClr val="424141"/>
                </a:solidFill>
                <a:latin typeface="Aptos"/>
                <a:ea typeface="Aptos"/>
                <a:cs typeface="Aptos"/>
                <a:sym typeface="Aptos"/>
              </a:rPr>
              <a:t>AURA AI</a:t>
            </a:r>
          </a:p>
        </p:txBody>
      </p:sp>
      <p:sp>
        <p:nvSpPr>
          <p:cNvPr id="36" name="TextBox 36"/>
          <p:cNvSpPr txBox="1"/>
          <p:nvPr/>
        </p:nvSpPr>
        <p:spPr>
          <a:xfrm>
            <a:off x="4619262" y="899371"/>
            <a:ext cx="2196584" cy="262849"/>
          </a:xfrm>
          <a:prstGeom prst="rect">
            <a:avLst/>
          </a:prstGeom>
        </p:spPr>
        <p:txBody>
          <a:bodyPr lIns="0" tIns="0" rIns="0" bIns="0" rtlCol="0" anchor="t">
            <a:spAutoFit/>
          </a:bodyPr>
          <a:lstStyle/>
          <a:p>
            <a:pPr marL="0" lvl="0" indent="0" algn="l">
              <a:lnSpc>
                <a:spcPts val="1978"/>
              </a:lnSpc>
            </a:pPr>
            <a:r>
              <a:rPr lang="en-US" sz="1998" b="1" spc="-73">
                <a:solidFill>
                  <a:srgbClr val="424141"/>
                </a:solidFill>
                <a:latin typeface="Aptos Bold"/>
                <a:ea typeface="Aptos Bold"/>
                <a:cs typeface="Aptos Bold"/>
                <a:sym typeface="Aptos Bold"/>
              </a:rPr>
              <a:t>Sales Advisor</a:t>
            </a:r>
          </a:p>
        </p:txBody>
      </p:sp>
      <p:sp>
        <p:nvSpPr>
          <p:cNvPr id="37" name="TextBox 37"/>
          <p:cNvSpPr txBox="1"/>
          <p:nvPr/>
        </p:nvSpPr>
        <p:spPr>
          <a:xfrm>
            <a:off x="3187598" y="5952507"/>
            <a:ext cx="2863327" cy="319909"/>
          </a:xfrm>
          <a:prstGeom prst="rect">
            <a:avLst/>
          </a:prstGeom>
        </p:spPr>
        <p:txBody>
          <a:bodyPr lIns="0" tIns="0" rIns="0" bIns="0" rtlCol="0" anchor="t">
            <a:spAutoFit/>
          </a:bodyPr>
          <a:lstStyle/>
          <a:p>
            <a:pPr marL="0" lvl="0" indent="0" algn="ctr">
              <a:lnSpc>
                <a:spcPts val="2594"/>
              </a:lnSpc>
            </a:pPr>
            <a:r>
              <a:rPr lang="en-US" sz="2198" b="1" spc="-15">
                <a:solidFill>
                  <a:srgbClr val="FFFFFF"/>
                </a:solidFill>
                <a:latin typeface="Aptos Bold"/>
                <a:ea typeface="Aptos Bold"/>
                <a:cs typeface="Aptos Bold"/>
                <a:sym typeface="Aptos Bold"/>
              </a:rPr>
              <a:t>Hạn chế bộ lọc:</a:t>
            </a:r>
          </a:p>
        </p:txBody>
      </p:sp>
      <p:sp>
        <p:nvSpPr>
          <p:cNvPr id="38" name="TextBox 38"/>
          <p:cNvSpPr txBox="1"/>
          <p:nvPr/>
        </p:nvSpPr>
        <p:spPr>
          <a:xfrm>
            <a:off x="7712337" y="5952507"/>
            <a:ext cx="2863327" cy="319909"/>
          </a:xfrm>
          <a:prstGeom prst="rect">
            <a:avLst/>
          </a:prstGeom>
        </p:spPr>
        <p:txBody>
          <a:bodyPr lIns="0" tIns="0" rIns="0" bIns="0" rtlCol="0" anchor="t">
            <a:spAutoFit/>
          </a:bodyPr>
          <a:lstStyle/>
          <a:p>
            <a:pPr marL="0" lvl="0" indent="0" algn="ctr">
              <a:lnSpc>
                <a:spcPts val="2594"/>
              </a:lnSpc>
            </a:pPr>
            <a:r>
              <a:rPr lang="en-US" sz="2198" b="1" spc="-15">
                <a:solidFill>
                  <a:srgbClr val="424141"/>
                </a:solidFill>
                <a:latin typeface="Aptos Bold"/>
                <a:ea typeface="Aptos Bold"/>
                <a:cs typeface="Aptos Bold"/>
                <a:sym typeface="Aptos Bold"/>
              </a:rPr>
              <a:t>Giải pháp AI:</a:t>
            </a:r>
          </a:p>
        </p:txBody>
      </p:sp>
      <p:sp>
        <p:nvSpPr>
          <p:cNvPr id="39" name="TextBox 39"/>
          <p:cNvSpPr txBox="1"/>
          <p:nvPr/>
        </p:nvSpPr>
        <p:spPr>
          <a:xfrm>
            <a:off x="7292857" y="6682205"/>
            <a:ext cx="3517807" cy="2400300"/>
          </a:xfrm>
          <a:prstGeom prst="rect">
            <a:avLst/>
          </a:prstGeom>
        </p:spPr>
        <p:txBody>
          <a:bodyPr lIns="0" tIns="0" rIns="0" bIns="0" rtlCol="0" anchor="t">
            <a:spAutoFit/>
          </a:bodyPr>
          <a:lstStyle/>
          <a:p>
            <a:pPr marL="0" lvl="0" indent="0" algn="just">
              <a:lnSpc>
                <a:spcPts val="2160"/>
              </a:lnSpc>
            </a:pPr>
            <a:r>
              <a:rPr lang="en-US" sz="1800" spc="-66">
                <a:solidFill>
                  <a:srgbClr val="424141"/>
                </a:solidFill>
                <a:latin typeface="Aptos"/>
                <a:ea typeface="Aptos"/>
                <a:cs typeface="Aptos"/>
                <a:sym typeface="Aptos"/>
              </a:rPr>
              <a:t>"Laptop Dell dưới 20 triệu để học lập trình" → </a:t>
            </a:r>
          </a:p>
          <a:p>
            <a:pPr marL="0" lvl="0" indent="0" algn="just">
              <a:lnSpc>
                <a:spcPts val="2160"/>
              </a:lnSpc>
            </a:pPr>
            <a:r>
              <a:rPr lang="en-US" sz="1800" spc="-66">
                <a:solidFill>
                  <a:srgbClr val="424141"/>
                </a:solidFill>
                <a:latin typeface="Aptos"/>
                <a:ea typeface="Aptos"/>
                <a:cs typeface="Aptos"/>
                <a:sym typeface="Aptos"/>
              </a:rPr>
              <a:t>category: Laptop </a:t>
            </a:r>
          </a:p>
          <a:p>
            <a:pPr marL="0" lvl="0" indent="0" algn="just">
              <a:lnSpc>
                <a:spcPts val="2160"/>
              </a:lnSpc>
            </a:pPr>
            <a:r>
              <a:rPr lang="en-US" sz="1800" spc="-66">
                <a:solidFill>
                  <a:srgbClr val="424141"/>
                </a:solidFill>
                <a:latin typeface="Aptos"/>
                <a:ea typeface="Aptos"/>
                <a:cs typeface="Aptos"/>
                <a:sym typeface="Aptos"/>
              </a:rPr>
              <a:t>brand: Dell</a:t>
            </a:r>
          </a:p>
          <a:p>
            <a:pPr marL="0" lvl="0" indent="0" algn="just">
              <a:lnSpc>
                <a:spcPts val="2160"/>
              </a:lnSpc>
            </a:pPr>
            <a:r>
              <a:rPr lang="en-US" sz="1800" spc="-66">
                <a:solidFill>
                  <a:srgbClr val="424141"/>
                </a:solidFill>
                <a:latin typeface="Aptos"/>
                <a:ea typeface="Aptos"/>
                <a:cs typeface="Aptos"/>
                <a:sym typeface="Aptos"/>
              </a:rPr>
              <a:t>budget_max:20.000.000 use_case: programming </a:t>
            </a:r>
          </a:p>
          <a:p>
            <a:pPr marL="0" lvl="0" indent="0" algn="just">
              <a:lnSpc>
                <a:spcPts val="2160"/>
              </a:lnSpc>
            </a:pPr>
            <a:r>
              <a:rPr lang="en-US" sz="1800" spc="-66">
                <a:solidFill>
                  <a:srgbClr val="424141"/>
                </a:solidFill>
                <a:latin typeface="Aptos"/>
                <a:ea typeface="Aptos"/>
                <a:cs typeface="Aptos"/>
                <a:sym typeface="Aptos"/>
              </a:rPr>
              <a:t>attributes: RAM, SSD, CPU</a:t>
            </a:r>
          </a:p>
          <a:p>
            <a:pPr marL="0" lvl="0" indent="0" algn="just">
              <a:lnSpc>
                <a:spcPts val="2160"/>
              </a:lnSpc>
            </a:pPr>
            <a:endParaRPr lang="en-US" sz="1800" spc="-66">
              <a:solidFill>
                <a:srgbClr val="424141"/>
              </a:solidFill>
              <a:latin typeface="Aptos"/>
              <a:ea typeface="Aptos"/>
              <a:cs typeface="Aptos"/>
              <a:sym typeface="Aptos"/>
            </a:endParaRPr>
          </a:p>
          <a:p>
            <a:pPr marL="0" lvl="0" indent="0" algn="just">
              <a:lnSpc>
                <a:spcPts val="2160"/>
              </a:lnSpc>
            </a:pPr>
            <a:endParaRPr lang="en-US" sz="1800" spc="-66">
              <a:solidFill>
                <a:srgbClr val="424141"/>
              </a:solidFill>
              <a:latin typeface="Aptos"/>
              <a:ea typeface="Aptos"/>
              <a:cs typeface="Aptos"/>
              <a:sym typeface="Aptos"/>
            </a:endParaRPr>
          </a:p>
        </p:txBody>
      </p:sp>
      <p:grpSp>
        <p:nvGrpSpPr>
          <p:cNvPr id="40" name="Group 40"/>
          <p:cNvGrpSpPr/>
          <p:nvPr/>
        </p:nvGrpSpPr>
        <p:grpSpPr>
          <a:xfrm>
            <a:off x="16627119" y="5143500"/>
            <a:ext cx="419749" cy="419749"/>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42" name="TextBox 42"/>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43" name="Group 43"/>
          <p:cNvGrpSpPr/>
          <p:nvPr/>
        </p:nvGrpSpPr>
        <p:grpSpPr>
          <a:xfrm>
            <a:off x="16207328" y="5143500"/>
            <a:ext cx="419749" cy="419749"/>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45" name="TextBox 45"/>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46" name="Group 46"/>
          <p:cNvGrpSpPr/>
          <p:nvPr/>
        </p:nvGrpSpPr>
        <p:grpSpPr>
          <a:xfrm>
            <a:off x="15787537" y="5143500"/>
            <a:ext cx="419749" cy="419749"/>
            <a:chOff x="0" y="0"/>
            <a:chExt cx="812800" cy="812800"/>
          </a:xfrm>
        </p:grpSpPr>
        <p:sp>
          <p:nvSpPr>
            <p:cNvPr id="47" name="Freeform 4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48" name="TextBox 48"/>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49" name="Freeform 49"/>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50" name="Freeform 50"/>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51" name="Freeform 51"/>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52" name="Freeform 52"/>
          <p:cNvSpPr/>
          <p:nvPr/>
        </p:nvSpPr>
        <p:spPr>
          <a:xfrm>
            <a:off x="2630081" y="781242"/>
            <a:ext cx="645033" cy="494917"/>
          </a:xfrm>
          <a:custGeom>
            <a:avLst/>
            <a:gdLst/>
            <a:ahLst/>
            <a:cxnLst/>
            <a:rect l="l" t="t" r="r" b="b"/>
            <a:pathLst>
              <a:path w="645033" h="494917">
                <a:moveTo>
                  <a:pt x="0" y="0"/>
                </a:moveTo>
                <a:lnTo>
                  <a:pt x="645034" y="0"/>
                </a:lnTo>
                <a:lnTo>
                  <a:pt x="645034" y="494916"/>
                </a:lnTo>
                <a:lnTo>
                  <a:pt x="0" y="494916"/>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715"/>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2773732" y="4678470"/>
            <a:ext cx="4100858" cy="2243954"/>
            <a:chOff x="0" y="0"/>
            <a:chExt cx="2848370" cy="1558603"/>
          </a:xfrm>
        </p:grpSpPr>
        <p:sp>
          <p:nvSpPr>
            <p:cNvPr id="12" name="Freeform 12"/>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EB574C"/>
            </a:solidFill>
            <a:ln w="9525" cap="sq">
              <a:solidFill>
                <a:srgbClr val="424141"/>
              </a:solidFill>
              <a:prstDash val="solid"/>
              <a:miter/>
            </a:ln>
          </p:spPr>
          <p:txBody>
            <a:bodyPr/>
            <a:lstStyle/>
            <a:p>
              <a:endParaRPr lang="en-US"/>
            </a:p>
          </p:txBody>
        </p:sp>
        <p:sp>
          <p:nvSpPr>
            <p:cNvPr id="13" name="TextBox 13"/>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sp>
        <p:nvSpPr>
          <p:cNvPr id="14" name="Freeform 14"/>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grpSp>
        <p:nvGrpSpPr>
          <p:cNvPr id="15" name="Group 15"/>
          <p:cNvGrpSpPr/>
          <p:nvPr/>
        </p:nvGrpSpPr>
        <p:grpSpPr>
          <a:xfrm>
            <a:off x="13146794" y="2424196"/>
            <a:ext cx="4112506" cy="6251987"/>
            <a:chOff x="0" y="0"/>
            <a:chExt cx="2462806" cy="3744052"/>
          </a:xfrm>
        </p:grpSpPr>
        <p:sp>
          <p:nvSpPr>
            <p:cNvPr id="16" name="Freeform 16"/>
            <p:cNvSpPr/>
            <p:nvPr/>
          </p:nvSpPr>
          <p:spPr>
            <a:xfrm>
              <a:off x="0" y="0"/>
              <a:ext cx="2462806" cy="3744052"/>
            </a:xfrm>
            <a:custGeom>
              <a:avLst/>
              <a:gdLst/>
              <a:ahLst/>
              <a:cxnLst/>
              <a:rect l="l" t="t" r="r" b="b"/>
              <a:pathLst>
                <a:path w="2462806" h="3744052">
                  <a:moveTo>
                    <a:pt x="60241" y="0"/>
                  </a:moveTo>
                  <a:lnTo>
                    <a:pt x="2402565" y="0"/>
                  </a:lnTo>
                  <a:cubicBezTo>
                    <a:pt x="2435835" y="0"/>
                    <a:pt x="2462806" y="26971"/>
                    <a:pt x="2462806" y="60241"/>
                  </a:cubicBezTo>
                  <a:lnTo>
                    <a:pt x="2462806" y="3683811"/>
                  </a:lnTo>
                  <a:cubicBezTo>
                    <a:pt x="2462806" y="3717081"/>
                    <a:pt x="2435835" y="3744052"/>
                    <a:pt x="2402565" y="3744052"/>
                  </a:cubicBezTo>
                  <a:lnTo>
                    <a:pt x="60241" y="3744052"/>
                  </a:lnTo>
                  <a:cubicBezTo>
                    <a:pt x="26971" y="3744052"/>
                    <a:pt x="0" y="3717081"/>
                    <a:pt x="0" y="3683811"/>
                  </a:cubicBezTo>
                  <a:lnTo>
                    <a:pt x="0" y="60241"/>
                  </a:lnTo>
                  <a:cubicBezTo>
                    <a:pt x="0" y="26971"/>
                    <a:pt x="26971" y="0"/>
                    <a:pt x="60241" y="0"/>
                  </a:cubicBezTo>
                  <a:close/>
                </a:path>
              </a:pathLst>
            </a:custGeom>
            <a:solidFill>
              <a:srgbClr val="EB574C"/>
            </a:solidFill>
            <a:ln w="9525" cap="rnd">
              <a:solidFill>
                <a:srgbClr val="424141"/>
              </a:solidFill>
              <a:prstDash val="solid"/>
              <a:round/>
            </a:ln>
          </p:spPr>
          <p:txBody>
            <a:bodyPr/>
            <a:lstStyle/>
            <a:p>
              <a:endParaRPr lang="en-US"/>
            </a:p>
          </p:txBody>
        </p:sp>
        <p:sp>
          <p:nvSpPr>
            <p:cNvPr id="17" name="TextBox 17"/>
            <p:cNvSpPr txBox="1"/>
            <p:nvPr/>
          </p:nvSpPr>
          <p:spPr>
            <a:xfrm>
              <a:off x="0" y="-38100"/>
              <a:ext cx="2462806" cy="3782152"/>
            </a:xfrm>
            <a:prstGeom prst="rect">
              <a:avLst/>
            </a:prstGeom>
          </p:spPr>
          <p:txBody>
            <a:bodyPr lIns="50800" tIns="50800" rIns="50800" bIns="50800" rtlCol="0" anchor="ctr"/>
            <a:lstStyle/>
            <a:p>
              <a:pPr marL="0" lvl="0" indent="0" algn="ctr">
                <a:lnSpc>
                  <a:spcPts val="1540"/>
                </a:lnSpc>
              </a:pPr>
              <a:endParaRPr/>
            </a:p>
          </p:txBody>
        </p:sp>
      </p:grpSp>
      <p:grpSp>
        <p:nvGrpSpPr>
          <p:cNvPr id="18" name="Group 18"/>
          <p:cNvGrpSpPr/>
          <p:nvPr/>
        </p:nvGrpSpPr>
        <p:grpSpPr>
          <a:xfrm>
            <a:off x="13436891" y="2700962"/>
            <a:ext cx="3532312" cy="2336656"/>
            <a:chOff x="0" y="0"/>
            <a:chExt cx="1607953" cy="1063676"/>
          </a:xfrm>
        </p:grpSpPr>
        <p:sp>
          <p:nvSpPr>
            <p:cNvPr id="19" name="Freeform 19"/>
            <p:cNvSpPr/>
            <p:nvPr/>
          </p:nvSpPr>
          <p:spPr>
            <a:xfrm>
              <a:off x="0" y="0"/>
              <a:ext cx="1607953" cy="1063675"/>
            </a:xfrm>
            <a:custGeom>
              <a:avLst/>
              <a:gdLst/>
              <a:ahLst/>
              <a:cxnLst/>
              <a:rect l="l" t="t" r="r" b="b"/>
              <a:pathLst>
                <a:path w="1607953" h="1063675">
                  <a:moveTo>
                    <a:pt x="37260" y="0"/>
                  </a:moveTo>
                  <a:lnTo>
                    <a:pt x="1570694" y="0"/>
                  </a:lnTo>
                  <a:cubicBezTo>
                    <a:pt x="1591271" y="0"/>
                    <a:pt x="1607953" y="16682"/>
                    <a:pt x="1607953" y="37260"/>
                  </a:cubicBezTo>
                  <a:lnTo>
                    <a:pt x="1607953" y="1026416"/>
                  </a:lnTo>
                  <a:cubicBezTo>
                    <a:pt x="1607953" y="1046994"/>
                    <a:pt x="1591271" y="1063675"/>
                    <a:pt x="1570694" y="1063675"/>
                  </a:cubicBezTo>
                  <a:lnTo>
                    <a:pt x="37260" y="1063675"/>
                  </a:lnTo>
                  <a:cubicBezTo>
                    <a:pt x="16682" y="1063675"/>
                    <a:pt x="0" y="1046994"/>
                    <a:pt x="0" y="1026416"/>
                  </a:cubicBezTo>
                  <a:lnTo>
                    <a:pt x="0" y="37260"/>
                  </a:lnTo>
                  <a:cubicBezTo>
                    <a:pt x="0" y="16682"/>
                    <a:pt x="16682" y="0"/>
                    <a:pt x="37260" y="0"/>
                  </a:cubicBezTo>
                  <a:close/>
                </a:path>
              </a:pathLst>
            </a:custGeom>
            <a:blipFill>
              <a:blip r:embed="rId3"/>
              <a:stretch>
                <a:fillRect t="-925" b="-925"/>
              </a:stretch>
            </a:blipFill>
            <a:ln w="9525" cap="sq">
              <a:solidFill>
                <a:srgbClr val="424141"/>
              </a:solidFill>
              <a:prstDash val="solid"/>
              <a:miter/>
            </a:ln>
          </p:spPr>
          <p:txBody>
            <a:bodyPr/>
            <a:lstStyle/>
            <a:p>
              <a:endParaRPr lang="en-US"/>
            </a:p>
          </p:txBody>
        </p:sp>
      </p:grpSp>
      <p:grpSp>
        <p:nvGrpSpPr>
          <p:cNvPr id="20" name="Group 20"/>
          <p:cNvGrpSpPr/>
          <p:nvPr/>
        </p:nvGrpSpPr>
        <p:grpSpPr>
          <a:xfrm>
            <a:off x="13451179" y="5190984"/>
            <a:ext cx="3503737" cy="2880406"/>
            <a:chOff x="0" y="0"/>
            <a:chExt cx="1594946" cy="1311197"/>
          </a:xfrm>
        </p:grpSpPr>
        <p:sp>
          <p:nvSpPr>
            <p:cNvPr id="21" name="Freeform 21"/>
            <p:cNvSpPr/>
            <p:nvPr/>
          </p:nvSpPr>
          <p:spPr>
            <a:xfrm>
              <a:off x="0" y="0"/>
              <a:ext cx="1594945" cy="1311197"/>
            </a:xfrm>
            <a:custGeom>
              <a:avLst/>
              <a:gdLst/>
              <a:ahLst/>
              <a:cxnLst/>
              <a:rect l="l" t="t" r="r" b="b"/>
              <a:pathLst>
                <a:path w="1594945" h="1311197">
                  <a:moveTo>
                    <a:pt x="37564" y="0"/>
                  </a:moveTo>
                  <a:lnTo>
                    <a:pt x="1557382" y="0"/>
                  </a:lnTo>
                  <a:cubicBezTo>
                    <a:pt x="1578128" y="0"/>
                    <a:pt x="1594945" y="16818"/>
                    <a:pt x="1594945" y="37564"/>
                  </a:cubicBezTo>
                  <a:lnTo>
                    <a:pt x="1594945" y="1273634"/>
                  </a:lnTo>
                  <a:cubicBezTo>
                    <a:pt x="1594945" y="1283596"/>
                    <a:pt x="1590988" y="1293151"/>
                    <a:pt x="1583943" y="1300195"/>
                  </a:cubicBezTo>
                  <a:cubicBezTo>
                    <a:pt x="1576899" y="1307240"/>
                    <a:pt x="1567344" y="1311197"/>
                    <a:pt x="1557382" y="1311197"/>
                  </a:cubicBezTo>
                  <a:lnTo>
                    <a:pt x="37564" y="1311197"/>
                  </a:lnTo>
                  <a:cubicBezTo>
                    <a:pt x="27601" y="1311197"/>
                    <a:pt x="18047" y="1307240"/>
                    <a:pt x="11002" y="1300195"/>
                  </a:cubicBezTo>
                  <a:cubicBezTo>
                    <a:pt x="3958" y="1293151"/>
                    <a:pt x="0" y="1283596"/>
                    <a:pt x="0" y="1273634"/>
                  </a:cubicBezTo>
                  <a:lnTo>
                    <a:pt x="0" y="37564"/>
                  </a:lnTo>
                  <a:cubicBezTo>
                    <a:pt x="0" y="27601"/>
                    <a:pt x="3958" y="18047"/>
                    <a:pt x="11002" y="11002"/>
                  </a:cubicBezTo>
                  <a:cubicBezTo>
                    <a:pt x="18047" y="3958"/>
                    <a:pt x="27601" y="0"/>
                    <a:pt x="37564" y="0"/>
                  </a:cubicBezTo>
                  <a:close/>
                </a:path>
              </a:pathLst>
            </a:custGeom>
            <a:blipFill>
              <a:blip r:embed="rId4"/>
              <a:stretch>
                <a:fillRect l="-825" r="-825"/>
              </a:stretch>
            </a:blipFill>
            <a:ln w="9525" cap="sq">
              <a:solidFill>
                <a:srgbClr val="424141"/>
              </a:solidFill>
              <a:prstDash val="solid"/>
              <a:miter/>
            </a:ln>
          </p:spPr>
          <p:txBody>
            <a:bodyPr/>
            <a:lstStyle/>
            <a:p>
              <a:endParaRPr lang="en-US"/>
            </a:p>
          </p:txBody>
        </p:sp>
      </p:grpSp>
      <p:sp>
        <p:nvSpPr>
          <p:cNvPr id="22" name="TextBox 22"/>
          <p:cNvSpPr txBox="1"/>
          <p:nvPr/>
        </p:nvSpPr>
        <p:spPr>
          <a:xfrm>
            <a:off x="2952598" y="2174761"/>
            <a:ext cx="8845603" cy="1317116"/>
          </a:xfrm>
          <a:prstGeom prst="rect">
            <a:avLst/>
          </a:prstGeom>
        </p:spPr>
        <p:txBody>
          <a:bodyPr lIns="0" tIns="0" rIns="0" bIns="0" rtlCol="0" anchor="t">
            <a:spAutoFit/>
          </a:bodyPr>
          <a:lstStyle/>
          <a:p>
            <a:pPr marL="0" lvl="0" indent="0" algn="l">
              <a:lnSpc>
                <a:spcPts val="5048"/>
              </a:lnSpc>
            </a:pPr>
            <a:r>
              <a:rPr lang="en-US" sz="5099" b="1" spc="-316">
                <a:solidFill>
                  <a:srgbClr val="424141"/>
                </a:solidFill>
                <a:latin typeface="Aptos Bold"/>
                <a:ea typeface="Aptos Bold"/>
                <a:cs typeface="Aptos Bold"/>
                <a:sym typeface="Aptos Bold"/>
              </a:rPr>
              <a:t>CHATBOT &amp; RAG</a:t>
            </a:r>
          </a:p>
          <a:p>
            <a:pPr marL="0" lvl="0" indent="0" algn="l">
              <a:lnSpc>
                <a:spcPts val="5048"/>
              </a:lnSpc>
            </a:pPr>
            <a:r>
              <a:rPr lang="en-US" sz="5099" b="1" spc="-316">
                <a:solidFill>
                  <a:srgbClr val="424141"/>
                </a:solidFill>
                <a:latin typeface="Aptos Bold"/>
                <a:ea typeface="Aptos Bold"/>
                <a:cs typeface="Aptos Bold"/>
                <a:sym typeface="Aptos Bold"/>
              </a:rPr>
              <a:t>CHƯA ĐỦ KIỂM SOÁT</a:t>
            </a:r>
          </a:p>
        </p:txBody>
      </p:sp>
      <p:sp>
        <p:nvSpPr>
          <p:cNvPr id="23" name="Freeform 23"/>
          <p:cNvSpPr/>
          <p:nvPr/>
        </p:nvSpPr>
        <p:spPr>
          <a:xfrm flipH="1">
            <a:off x="9634050" y="2079511"/>
            <a:ext cx="941613" cy="818027"/>
          </a:xfrm>
          <a:custGeom>
            <a:avLst/>
            <a:gdLst/>
            <a:ahLst/>
            <a:cxnLst/>
            <a:rect l="l" t="t" r="r" b="b"/>
            <a:pathLst>
              <a:path w="941613" h="818027">
                <a:moveTo>
                  <a:pt x="941613" y="0"/>
                </a:moveTo>
                <a:lnTo>
                  <a:pt x="0" y="0"/>
                </a:lnTo>
                <a:lnTo>
                  <a:pt x="0" y="818026"/>
                </a:lnTo>
                <a:lnTo>
                  <a:pt x="941613" y="818026"/>
                </a:lnTo>
                <a:lnTo>
                  <a:pt x="94161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4" name="AutoShape 24"/>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5" name="AutoShape 25"/>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6" name="AutoShape 26"/>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7" name="Freeform 27"/>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8" name="Freeform 28"/>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9" name="Group 29"/>
          <p:cNvGrpSpPr/>
          <p:nvPr/>
        </p:nvGrpSpPr>
        <p:grpSpPr>
          <a:xfrm>
            <a:off x="12085806" y="8465801"/>
            <a:ext cx="2697188" cy="782208"/>
            <a:chOff x="0" y="0"/>
            <a:chExt cx="1873410" cy="543305"/>
          </a:xfrm>
        </p:grpSpPr>
        <p:sp>
          <p:nvSpPr>
            <p:cNvPr id="30" name="Freeform 30"/>
            <p:cNvSpPr/>
            <p:nvPr/>
          </p:nvSpPr>
          <p:spPr>
            <a:xfrm>
              <a:off x="0" y="0"/>
              <a:ext cx="1873410" cy="543305"/>
            </a:xfrm>
            <a:custGeom>
              <a:avLst/>
              <a:gdLst/>
              <a:ahLst/>
              <a:cxnLst/>
              <a:rect l="l" t="t" r="r" b="b"/>
              <a:pathLst>
                <a:path w="1873410" h="543305">
                  <a:moveTo>
                    <a:pt x="37315" y="0"/>
                  </a:moveTo>
                  <a:lnTo>
                    <a:pt x="1836095" y="0"/>
                  </a:lnTo>
                  <a:cubicBezTo>
                    <a:pt x="1845992" y="0"/>
                    <a:pt x="1855483" y="3931"/>
                    <a:pt x="1862481" y="10929"/>
                  </a:cubicBezTo>
                  <a:cubicBezTo>
                    <a:pt x="1869479" y="17927"/>
                    <a:pt x="1873410" y="27418"/>
                    <a:pt x="1873410" y="37315"/>
                  </a:cubicBezTo>
                  <a:lnTo>
                    <a:pt x="1873410" y="505990"/>
                  </a:lnTo>
                  <a:cubicBezTo>
                    <a:pt x="1873410" y="515887"/>
                    <a:pt x="1869479" y="525378"/>
                    <a:pt x="1862481" y="532376"/>
                  </a:cubicBezTo>
                  <a:cubicBezTo>
                    <a:pt x="1855483" y="539374"/>
                    <a:pt x="1845992" y="543305"/>
                    <a:pt x="1836095" y="543305"/>
                  </a:cubicBezTo>
                  <a:lnTo>
                    <a:pt x="37315" y="543305"/>
                  </a:lnTo>
                  <a:cubicBezTo>
                    <a:pt x="27418" y="543305"/>
                    <a:pt x="17927" y="539374"/>
                    <a:pt x="10929" y="532376"/>
                  </a:cubicBezTo>
                  <a:cubicBezTo>
                    <a:pt x="3931" y="525378"/>
                    <a:pt x="0" y="515887"/>
                    <a:pt x="0" y="505990"/>
                  </a:cubicBezTo>
                  <a:lnTo>
                    <a:pt x="0" y="37315"/>
                  </a:lnTo>
                  <a:cubicBezTo>
                    <a:pt x="0" y="27418"/>
                    <a:pt x="3931" y="17927"/>
                    <a:pt x="10929" y="10929"/>
                  </a:cubicBezTo>
                  <a:cubicBezTo>
                    <a:pt x="17927" y="3931"/>
                    <a:pt x="27418" y="0"/>
                    <a:pt x="37315" y="0"/>
                  </a:cubicBezTo>
                  <a:close/>
                </a:path>
              </a:pathLst>
            </a:custGeom>
            <a:solidFill>
              <a:srgbClr val="FF6F5E"/>
            </a:solidFill>
            <a:ln w="9525" cap="sq">
              <a:solidFill>
                <a:srgbClr val="424141"/>
              </a:solidFill>
              <a:prstDash val="solid"/>
              <a:miter/>
            </a:ln>
          </p:spPr>
          <p:txBody>
            <a:bodyPr/>
            <a:lstStyle/>
            <a:p>
              <a:endParaRPr lang="en-US"/>
            </a:p>
          </p:txBody>
        </p:sp>
        <p:sp>
          <p:nvSpPr>
            <p:cNvPr id="31" name="TextBox 31"/>
            <p:cNvSpPr txBox="1"/>
            <p:nvPr/>
          </p:nvSpPr>
          <p:spPr>
            <a:xfrm>
              <a:off x="0" y="28575"/>
              <a:ext cx="1873410" cy="514730"/>
            </a:xfrm>
            <a:prstGeom prst="rect">
              <a:avLst/>
            </a:prstGeom>
          </p:spPr>
          <p:txBody>
            <a:bodyPr lIns="39013" tIns="39013" rIns="39013" bIns="39013" rtlCol="0" anchor="ctr"/>
            <a:lstStyle/>
            <a:p>
              <a:pPr marL="0" lvl="0" indent="0" algn="ctr">
                <a:lnSpc>
                  <a:spcPts val="1297"/>
                </a:lnSpc>
              </a:pPr>
              <a:endParaRPr/>
            </a:p>
          </p:txBody>
        </p:sp>
      </p:grpSp>
      <p:grpSp>
        <p:nvGrpSpPr>
          <p:cNvPr id="32" name="Group 32"/>
          <p:cNvGrpSpPr/>
          <p:nvPr/>
        </p:nvGrpSpPr>
        <p:grpSpPr>
          <a:xfrm>
            <a:off x="13765854" y="8465801"/>
            <a:ext cx="3952908" cy="782208"/>
            <a:chOff x="0" y="0"/>
            <a:chExt cx="2745607" cy="543305"/>
          </a:xfrm>
        </p:grpSpPr>
        <p:sp>
          <p:nvSpPr>
            <p:cNvPr id="33" name="Freeform 33"/>
            <p:cNvSpPr/>
            <p:nvPr/>
          </p:nvSpPr>
          <p:spPr>
            <a:xfrm>
              <a:off x="0" y="0"/>
              <a:ext cx="2745607" cy="543305"/>
            </a:xfrm>
            <a:custGeom>
              <a:avLst/>
              <a:gdLst/>
              <a:ahLst/>
              <a:cxnLst/>
              <a:rect l="l" t="t" r="r" b="b"/>
              <a:pathLst>
                <a:path w="2745607" h="543305">
                  <a:moveTo>
                    <a:pt x="25461" y="0"/>
                  </a:moveTo>
                  <a:lnTo>
                    <a:pt x="2720146" y="0"/>
                  </a:lnTo>
                  <a:cubicBezTo>
                    <a:pt x="2734208" y="0"/>
                    <a:pt x="2745607" y="11399"/>
                    <a:pt x="2745607" y="25461"/>
                  </a:cubicBezTo>
                  <a:lnTo>
                    <a:pt x="2745607" y="517844"/>
                  </a:lnTo>
                  <a:cubicBezTo>
                    <a:pt x="2745607" y="524597"/>
                    <a:pt x="2742924" y="531073"/>
                    <a:pt x="2738150" y="535848"/>
                  </a:cubicBezTo>
                  <a:cubicBezTo>
                    <a:pt x="2733375" y="540623"/>
                    <a:pt x="2726898" y="543305"/>
                    <a:pt x="2720146" y="543305"/>
                  </a:cubicBezTo>
                  <a:lnTo>
                    <a:pt x="25461" y="543305"/>
                  </a:lnTo>
                  <a:cubicBezTo>
                    <a:pt x="11399" y="543305"/>
                    <a:pt x="0" y="531906"/>
                    <a:pt x="0" y="517844"/>
                  </a:cubicBezTo>
                  <a:lnTo>
                    <a:pt x="0" y="25461"/>
                  </a:lnTo>
                  <a:cubicBezTo>
                    <a:pt x="0" y="18708"/>
                    <a:pt x="2682" y="12232"/>
                    <a:pt x="7457" y="7457"/>
                  </a:cubicBezTo>
                  <a:cubicBezTo>
                    <a:pt x="12232" y="2682"/>
                    <a:pt x="18708" y="0"/>
                    <a:pt x="25461" y="0"/>
                  </a:cubicBezTo>
                  <a:close/>
                </a:path>
              </a:pathLst>
            </a:custGeom>
            <a:solidFill>
              <a:srgbClr val="FFFFFF"/>
            </a:solidFill>
            <a:ln w="9525" cap="sq">
              <a:solidFill>
                <a:srgbClr val="424141"/>
              </a:solidFill>
              <a:prstDash val="solid"/>
              <a:miter/>
            </a:ln>
          </p:spPr>
          <p:txBody>
            <a:bodyPr/>
            <a:lstStyle/>
            <a:p>
              <a:endParaRPr lang="en-US"/>
            </a:p>
          </p:txBody>
        </p:sp>
        <p:sp>
          <p:nvSpPr>
            <p:cNvPr id="34" name="TextBox 34"/>
            <p:cNvSpPr txBox="1"/>
            <p:nvPr/>
          </p:nvSpPr>
          <p:spPr>
            <a:xfrm>
              <a:off x="0" y="28575"/>
              <a:ext cx="2745607" cy="514730"/>
            </a:xfrm>
            <a:prstGeom prst="rect">
              <a:avLst/>
            </a:prstGeom>
          </p:spPr>
          <p:txBody>
            <a:bodyPr lIns="39013" tIns="39013" rIns="39013" bIns="39013" rtlCol="0" anchor="ctr"/>
            <a:lstStyle/>
            <a:p>
              <a:pPr marL="0" lvl="0" indent="0" algn="ctr">
                <a:lnSpc>
                  <a:spcPts val="1297"/>
                </a:lnSpc>
              </a:pPr>
              <a:endParaRPr/>
            </a:p>
          </p:txBody>
        </p:sp>
      </p:grpSp>
      <p:grpSp>
        <p:nvGrpSpPr>
          <p:cNvPr id="35" name="Group 35"/>
          <p:cNvGrpSpPr/>
          <p:nvPr/>
        </p:nvGrpSpPr>
        <p:grpSpPr>
          <a:xfrm>
            <a:off x="2952598" y="4797729"/>
            <a:ext cx="2933893" cy="653335"/>
            <a:chOff x="0" y="0"/>
            <a:chExt cx="2037821" cy="453793"/>
          </a:xfrm>
        </p:grpSpPr>
        <p:sp>
          <p:nvSpPr>
            <p:cNvPr id="36" name="Freeform 36"/>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37" name="TextBox 37"/>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38" name="Group 38"/>
          <p:cNvGrpSpPr/>
          <p:nvPr/>
        </p:nvGrpSpPr>
        <p:grpSpPr>
          <a:xfrm>
            <a:off x="14273982" y="2554333"/>
            <a:ext cx="419749" cy="419749"/>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40" name="TextBox 40"/>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41" name="Group 41"/>
          <p:cNvGrpSpPr/>
          <p:nvPr/>
        </p:nvGrpSpPr>
        <p:grpSpPr>
          <a:xfrm>
            <a:off x="13854191" y="2554333"/>
            <a:ext cx="419749" cy="419749"/>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43" name="TextBox 43"/>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44" name="Group 44"/>
          <p:cNvGrpSpPr/>
          <p:nvPr/>
        </p:nvGrpSpPr>
        <p:grpSpPr>
          <a:xfrm>
            <a:off x="13434400" y="2554333"/>
            <a:ext cx="419749" cy="419749"/>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46" name="TextBox 46"/>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47" name="Freeform 47"/>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48" name="Group 48"/>
          <p:cNvGrpSpPr/>
          <p:nvPr/>
        </p:nvGrpSpPr>
        <p:grpSpPr>
          <a:xfrm>
            <a:off x="6141714" y="4525048"/>
            <a:ext cx="1025142" cy="1025142"/>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F5E"/>
            </a:solidFill>
            <a:ln w="19050" cap="sq">
              <a:solidFill>
                <a:srgbClr val="424141"/>
              </a:solidFill>
              <a:prstDash val="solid"/>
              <a:miter/>
            </a:ln>
          </p:spPr>
          <p:txBody>
            <a:bodyPr/>
            <a:lstStyle/>
            <a:p>
              <a:endParaRPr lang="en-US"/>
            </a:p>
          </p:txBody>
        </p:sp>
        <p:sp>
          <p:nvSpPr>
            <p:cNvPr id="50" name="TextBox 50"/>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51" name="Freeform 51"/>
          <p:cNvSpPr/>
          <p:nvPr/>
        </p:nvSpPr>
        <p:spPr>
          <a:xfrm>
            <a:off x="6387001" y="4724559"/>
            <a:ext cx="487589" cy="626118"/>
          </a:xfrm>
          <a:custGeom>
            <a:avLst/>
            <a:gdLst/>
            <a:ahLst/>
            <a:cxnLst/>
            <a:rect l="l" t="t" r="r" b="b"/>
            <a:pathLst>
              <a:path w="487589" h="626118">
                <a:moveTo>
                  <a:pt x="0" y="0"/>
                </a:moveTo>
                <a:lnTo>
                  <a:pt x="487589" y="0"/>
                </a:lnTo>
                <a:lnTo>
                  <a:pt x="487589" y="626118"/>
                </a:lnTo>
                <a:lnTo>
                  <a:pt x="0" y="62611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52" name="Group 52"/>
          <p:cNvGrpSpPr/>
          <p:nvPr/>
        </p:nvGrpSpPr>
        <p:grpSpPr>
          <a:xfrm>
            <a:off x="7585955" y="4678470"/>
            <a:ext cx="4100858" cy="2243954"/>
            <a:chOff x="0" y="0"/>
            <a:chExt cx="2848370" cy="1558603"/>
          </a:xfrm>
        </p:grpSpPr>
        <p:sp>
          <p:nvSpPr>
            <p:cNvPr id="53" name="Freeform 53"/>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FF6F5E"/>
            </a:solidFill>
            <a:ln w="9525" cap="sq">
              <a:solidFill>
                <a:srgbClr val="424141"/>
              </a:solidFill>
              <a:prstDash val="solid"/>
              <a:miter/>
            </a:ln>
          </p:spPr>
          <p:txBody>
            <a:bodyPr/>
            <a:lstStyle/>
            <a:p>
              <a:endParaRPr lang="en-US"/>
            </a:p>
          </p:txBody>
        </p:sp>
        <p:sp>
          <p:nvSpPr>
            <p:cNvPr id="54" name="TextBox 54"/>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grpSp>
        <p:nvGrpSpPr>
          <p:cNvPr id="55" name="Group 55"/>
          <p:cNvGrpSpPr/>
          <p:nvPr/>
        </p:nvGrpSpPr>
        <p:grpSpPr>
          <a:xfrm>
            <a:off x="7764821" y="4797729"/>
            <a:ext cx="2933893" cy="653335"/>
            <a:chOff x="0" y="0"/>
            <a:chExt cx="2037821" cy="453793"/>
          </a:xfrm>
        </p:grpSpPr>
        <p:sp>
          <p:nvSpPr>
            <p:cNvPr id="56" name="Freeform 56"/>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57" name="TextBox 57"/>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58" name="Group 58"/>
          <p:cNvGrpSpPr/>
          <p:nvPr/>
        </p:nvGrpSpPr>
        <p:grpSpPr>
          <a:xfrm>
            <a:off x="10955890" y="4525048"/>
            <a:ext cx="1025142" cy="1025142"/>
            <a:chOff x="0" y="0"/>
            <a:chExt cx="812800" cy="812800"/>
          </a:xfrm>
        </p:grpSpPr>
        <p:sp>
          <p:nvSpPr>
            <p:cNvPr id="59" name="Freeform 5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574C"/>
            </a:solidFill>
            <a:ln w="19050" cap="sq">
              <a:solidFill>
                <a:srgbClr val="424141"/>
              </a:solidFill>
              <a:prstDash val="solid"/>
              <a:miter/>
            </a:ln>
          </p:spPr>
          <p:txBody>
            <a:bodyPr/>
            <a:lstStyle/>
            <a:p>
              <a:endParaRPr lang="en-US"/>
            </a:p>
          </p:txBody>
        </p:sp>
        <p:sp>
          <p:nvSpPr>
            <p:cNvPr id="60" name="TextBox 60"/>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61" name="Freeform 61"/>
          <p:cNvSpPr/>
          <p:nvPr/>
        </p:nvSpPr>
        <p:spPr>
          <a:xfrm>
            <a:off x="11175017" y="4766550"/>
            <a:ext cx="586888" cy="542138"/>
          </a:xfrm>
          <a:custGeom>
            <a:avLst/>
            <a:gdLst/>
            <a:ahLst/>
            <a:cxnLst/>
            <a:rect l="l" t="t" r="r" b="b"/>
            <a:pathLst>
              <a:path w="586888" h="542138">
                <a:moveTo>
                  <a:pt x="0" y="0"/>
                </a:moveTo>
                <a:lnTo>
                  <a:pt x="586887" y="0"/>
                </a:lnTo>
                <a:lnTo>
                  <a:pt x="586887" y="542137"/>
                </a:lnTo>
                <a:lnTo>
                  <a:pt x="0" y="542137"/>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62" name="Group 62"/>
          <p:cNvGrpSpPr/>
          <p:nvPr/>
        </p:nvGrpSpPr>
        <p:grpSpPr>
          <a:xfrm>
            <a:off x="2771749" y="7199671"/>
            <a:ext cx="4100858" cy="2243954"/>
            <a:chOff x="0" y="0"/>
            <a:chExt cx="2848370" cy="1558603"/>
          </a:xfrm>
        </p:grpSpPr>
        <p:sp>
          <p:nvSpPr>
            <p:cNvPr id="63" name="Freeform 63"/>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02388C"/>
            </a:solidFill>
            <a:ln w="9525" cap="sq">
              <a:solidFill>
                <a:srgbClr val="424141"/>
              </a:solidFill>
              <a:prstDash val="solid"/>
              <a:miter/>
            </a:ln>
          </p:spPr>
          <p:txBody>
            <a:bodyPr/>
            <a:lstStyle/>
            <a:p>
              <a:endParaRPr lang="en-US"/>
            </a:p>
          </p:txBody>
        </p:sp>
        <p:sp>
          <p:nvSpPr>
            <p:cNvPr id="64" name="TextBox 64"/>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grpSp>
        <p:nvGrpSpPr>
          <p:cNvPr id="65" name="Group 65"/>
          <p:cNvGrpSpPr/>
          <p:nvPr/>
        </p:nvGrpSpPr>
        <p:grpSpPr>
          <a:xfrm>
            <a:off x="2950615" y="7318930"/>
            <a:ext cx="2933893" cy="653335"/>
            <a:chOff x="0" y="0"/>
            <a:chExt cx="2037821" cy="453793"/>
          </a:xfrm>
        </p:grpSpPr>
        <p:sp>
          <p:nvSpPr>
            <p:cNvPr id="66" name="Freeform 66"/>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67" name="TextBox 67"/>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68" name="Group 68"/>
          <p:cNvGrpSpPr/>
          <p:nvPr/>
        </p:nvGrpSpPr>
        <p:grpSpPr>
          <a:xfrm>
            <a:off x="6139731" y="7046249"/>
            <a:ext cx="1025142" cy="1025142"/>
            <a:chOff x="0" y="0"/>
            <a:chExt cx="812800" cy="812800"/>
          </a:xfrm>
        </p:grpSpPr>
        <p:sp>
          <p:nvSpPr>
            <p:cNvPr id="69" name="Freeform 6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F5E"/>
            </a:solidFill>
            <a:ln w="19050" cap="sq">
              <a:solidFill>
                <a:srgbClr val="424141"/>
              </a:solidFill>
              <a:prstDash val="solid"/>
              <a:miter/>
            </a:ln>
          </p:spPr>
          <p:txBody>
            <a:bodyPr/>
            <a:lstStyle/>
            <a:p>
              <a:endParaRPr lang="en-US"/>
            </a:p>
          </p:txBody>
        </p:sp>
        <p:sp>
          <p:nvSpPr>
            <p:cNvPr id="70" name="TextBox 70"/>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71" name="Group 71"/>
          <p:cNvGrpSpPr/>
          <p:nvPr/>
        </p:nvGrpSpPr>
        <p:grpSpPr>
          <a:xfrm>
            <a:off x="7583973" y="7199671"/>
            <a:ext cx="4100858" cy="2243954"/>
            <a:chOff x="0" y="0"/>
            <a:chExt cx="2848370" cy="1558603"/>
          </a:xfrm>
        </p:grpSpPr>
        <p:sp>
          <p:nvSpPr>
            <p:cNvPr id="72" name="Freeform 72"/>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EB574C"/>
            </a:solidFill>
            <a:ln w="9525" cap="sq">
              <a:solidFill>
                <a:srgbClr val="424141"/>
              </a:solidFill>
              <a:prstDash val="solid"/>
              <a:miter/>
            </a:ln>
          </p:spPr>
          <p:txBody>
            <a:bodyPr/>
            <a:lstStyle/>
            <a:p>
              <a:endParaRPr lang="en-US"/>
            </a:p>
          </p:txBody>
        </p:sp>
        <p:sp>
          <p:nvSpPr>
            <p:cNvPr id="73" name="TextBox 73"/>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grpSp>
        <p:nvGrpSpPr>
          <p:cNvPr id="74" name="Group 74"/>
          <p:cNvGrpSpPr/>
          <p:nvPr/>
        </p:nvGrpSpPr>
        <p:grpSpPr>
          <a:xfrm>
            <a:off x="7762839" y="7318930"/>
            <a:ext cx="2933893" cy="653335"/>
            <a:chOff x="0" y="0"/>
            <a:chExt cx="2037821" cy="453793"/>
          </a:xfrm>
        </p:grpSpPr>
        <p:sp>
          <p:nvSpPr>
            <p:cNvPr id="75" name="Freeform 75"/>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76" name="TextBox 76"/>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77" name="Group 77"/>
          <p:cNvGrpSpPr/>
          <p:nvPr/>
        </p:nvGrpSpPr>
        <p:grpSpPr>
          <a:xfrm>
            <a:off x="10953907" y="7046249"/>
            <a:ext cx="1025142" cy="1025142"/>
            <a:chOff x="0" y="0"/>
            <a:chExt cx="812800" cy="812800"/>
          </a:xfrm>
        </p:grpSpPr>
        <p:sp>
          <p:nvSpPr>
            <p:cNvPr id="78" name="Freeform 7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388C"/>
            </a:solidFill>
            <a:ln w="19050" cap="sq">
              <a:solidFill>
                <a:srgbClr val="424141"/>
              </a:solidFill>
              <a:prstDash val="solid"/>
              <a:miter/>
            </a:ln>
          </p:spPr>
          <p:txBody>
            <a:bodyPr/>
            <a:lstStyle/>
            <a:p>
              <a:endParaRPr lang="en-US"/>
            </a:p>
          </p:txBody>
        </p:sp>
        <p:sp>
          <p:nvSpPr>
            <p:cNvPr id="79" name="TextBox 79"/>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80" name="Freeform 80"/>
          <p:cNvSpPr/>
          <p:nvPr/>
        </p:nvSpPr>
        <p:spPr>
          <a:xfrm>
            <a:off x="11128359" y="7220700"/>
            <a:ext cx="676239" cy="676239"/>
          </a:xfrm>
          <a:custGeom>
            <a:avLst/>
            <a:gdLst/>
            <a:ahLst/>
            <a:cxnLst/>
            <a:rect l="l" t="t" r="r" b="b"/>
            <a:pathLst>
              <a:path w="676239" h="676239">
                <a:moveTo>
                  <a:pt x="0" y="0"/>
                </a:moveTo>
                <a:lnTo>
                  <a:pt x="676238" y="0"/>
                </a:lnTo>
                <a:lnTo>
                  <a:pt x="676238" y="676239"/>
                </a:lnTo>
                <a:lnTo>
                  <a:pt x="0" y="676239"/>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1" name="Freeform 81"/>
          <p:cNvSpPr/>
          <p:nvPr/>
        </p:nvSpPr>
        <p:spPr>
          <a:xfrm>
            <a:off x="6360490" y="7299472"/>
            <a:ext cx="583624" cy="518695"/>
          </a:xfrm>
          <a:custGeom>
            <a:avLst/>
            <a:gdLst/>
            <a:ahLst/>
            <a:cxnLst/>
            <a:rect l="l" t="t" r="r" b="b"/>
            <a:pathLst>
              <a:path w="583624" h="518695">
                <a:moveTo>
                  <a:pt x="0" y="0"/>
                </a:moveTo>
                <a:lnTo>
                  <a:pt x="583624" y="0"/>
                </a:lnTo>
                <a:lnTo>
                  <a:pt x="583624" y="518695"/>
                </a:lnTo>
                <a:lnTo>
                  <a:pt x="0" y="51869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82" name="TextBox 82"/>
          <p:cNvSpPr txBox="1"/>
          <p:nvPr/>
        </p:nvSpPr>
        <p:spPr>
          <a:xfrm>
            <a:off x="3003339" y="5703060"/>
            <a:ext cx="3627456" cy="289179"/>
          </a:xfrm>
          <a:prstGeom prst="rect">
            <a:avLst/>
          </a:prstGeom>
        </p:spPr>
        <p:txBody>
          <a:bodyPr lIns="0" tIns="0" rIns="0" bIns="0" rtlCol="0" anchor="t">
            <a:spAutoFit/>
          </a:bodyPr>
          <a:lstStyle/>
          <a:p>
            <a:pPr marL="0" lvl="0" indent="0" algn="just">
              <a:lnSpc>
                <a:spcPts val="1188"/>
              </a:lnSpc>
            </a:pPr>
            <a:r>
              <a:rPr lang="en-US" sz="1200" spc="-44">
                <a:solidFill>
                  <a:srgbClr val="FFFFFF"/>
                </a:solidFill>
                <a:latin typeface="Aptos"/>
                <a:ea typeface="Aptos"/>
                <a:cs typeface="Aptos"/>
                <a:sym typeface="Aptos"/>
              </a:rPr>
              <a:t>LLM tự bịa giá, thông số CPU/RAM/SSD không có trong catalog thực tế.</a:t>
            </a:r>
          </a:p>
        </p:txBody>
      </p:sp>
      <p:sp>
        <p:nvSpPr>
          <p:cNvPr id="83" name="TextBox 83"/>
          <p:cNvSpPr txBox="1"/>
          <p:nvPr/>
        </p:nvSpPr>
        <p:spPr>
          <a:xfrm>
            <a:off x="3423561" y="900120"/>
            <a:ext cx="1535587" cy="263423"/>
          </a:xfrm>
          <a:prstGeom prst="rect">
            <a:avLst/>
          </a:prstGeom>
        </p:spPr>
        <p:txBody>
          <a:bodyPr lIns="0" tIns="0" rIns="0" bIns="0" rtlCol="0" anchor="t">
            <a:spAutoFit/>
          </a:bodyPr>
          <a:lstStyle/>
          <a:p>
            <a:pPr marL="0" lvl="0" indent="0" algn="l">
              <a:lnSpc>
                <a:spcPts val="1999"/>
              </a:lnSpc>
            </a:pPr>
            <a:r>
              <a:rPr lang="en-US" sz="2019" spc="-74">
                <a:solidFill>
                  <a:srgbClr val="424141"/>
                </a:solidFill>
                <a:latin typeface="Aptos"/>
                <a:ea typeface="Aptos"/>
                <a:cs typeface="Aptos"/>
                <a:sym typeface="Aptos"/>
              </a:rPr>
              <a:t>AURA AI</a:t>
            </a:r>
          </a:p>
        </p:txBody>
      </p:sp>
      <p:sp>
        <p:nvSpPr>
          <p:cNvPr id="84" name="TextBox 84"/>
          <p:cNvSpPr txBox="1"/>
          <p:nvPr/>
        </p:nvSpPr>
        <p:spPr>
          <a:xfrm>
            <a:off x="4510270" y="900120"/>
            <a:ext cx="1722169" cy="263423"/>
          </a:xfrm>
          <a:prstGeom prst="rect">
            <a:avLst/>
          </a:prstGeom>
        </p:spPr>
        <p:txBody>
          <a:bodyPr lIns="0" tIns="0" rIns="0" bIns="0" rtlCol="0" anchor="t">
            <a:spAutoFit/>
          </a:bodyPr>
          <a:lstStyle/>
          <a:p>
            <a:pPr marL="0" lvl="0" indent="0" algn="l">
              <a:lnSpc>
                <a:spcPts val="1999"/>
              </a:lnSpc>
            </a:pPr>
            <a:r>
              <a:rPr lang="en-US" sz="2019" b="1" spc="-74">
                <a:solidFill>
                  <a:srgbClr val="424141"/>
                </a:solidFill>
                <a:latin typeface="Aptos Bold"/>
                <a:ea typeface="Aptos Bold"/>
                <a:cs typeface="Aptos Bold"/>
                <a:sym typeface="Aptos Bold"/>
              </a:rPr>
              <a:t>Sales Advisor</a:t>
            </a:r>
          </a:p>
        </p:txBody>
      </p:sp>
      <p:sp>
        <p:nvSpPr>
          <p:cNvPr id="85" name="TextBox 85"/>
          <p:cNvSpPr txBox="1"/>
          <p:nvPr/>
        </p:nvSpPr>
        <p:spPr>
          <a:xfrm>
            <a:off x="14102529" y="8708596"/>
            <a:ext cx="3627965" cy="428625"/>
          </a:xfrm>
          <a:prstGeom prst="rect">
            <a:avLst/>
          </a:prstGeom>
        </p:spPr>
        <p:txBody>
          <a:bodyPr lIns="0" tIns="0" rIns="0" bIns="0" rtlCol="0" anchor="t">
            <a:spAutoFit/>
          </a:bodyPr>
          <a:lstStyle/>
          <a:p>
            <a:pPr marL="0" lvl="0" indent="0" algn="l">
              <a:lnSpc>
                <a:spcPts val="1655"/>
              </a:lnSpc>
            </a:pPr>
            <a:r>
              <a:rPr lang="en-US" sz="1380">
                <a:solidFill>
                  <a:srgbClr val="424141"/>
                </a:solidFill>
                <a:latin typeface="Aptos"/>
                <a:ea typeface="Aptos"/>
                <a:cs typeface="Aptos"/>
                <a:sym typeface="Aptos"/>
              </a:rPr>
              <a:t>Sai một thông số có thể ảnh hưởng quyết định mua hàng.</a:t>
            </a:r>
          </a:p>
        </p:txBody>
      </p:sp>
      <p:sp>
        <p:nvSpPr>
          <p:cNvPr id="86" name="TextBox 86"/>
          <p:cNvSpPr txBox="1"/>
          <p:nvPr/>
        </p:nvSpPr>
        <p:spPr>
          <a:xfrm>
            <a:off x="12408824" y="8692804"/>
            <a:ext cx="1249380" cy="200025"/>
          </a:xfrm>
          <a:prstGeom prst="rect">
            <a:avLst/>
          </a:prstGeom>
        </p:spPr>
        <p:txBody>
          <a:bodyPr lIns="0" tIns="0" rIns="0" bIns="0" rtlCol="0" anchor="t">
            <a:spAutoFit/>
          </a:bodyPr>
          <a:lstStyle/>
          <a:p>
            <a:pPr marL="0" lvl="0" indent="0" algn="l">
              <a:lnSpc>
                <a:spcPts val="1584"/>
              </a:lnSpc>
            </a:pPr>
            <a:r>
              <a:rPr lang="en-US" sz="1320">
                <a:solidFill>
                  <a:srgbClr val="FFFFFF"/>
                </a:solidFill>
                <a:latin typeface="Aptos"/>
                <a:ea typeface="Aptos"/>
                <a:cs typeface="Aptos"/>
                <a:sym typeface="Aptos"/>
              </a:rPr>
              <a:t>⚠ Lưu ý</a:t>
            </a:r>
          </a:p>
        </p:txBody>
      </p:sp>
      <p:sp>
        <p:nvSpPr>
          <p:cNvPr id="87" name="TextBox 87"/>
          <p:cNvSpPr txBox="1"/>
          <p:nvPr/>
        </p:nvSpPr>
        <p:spPr>
          <a:xfrm>
            <a:off x="3159438" y="4959677"/>
            <a:ext cx="2520213" cy="193853"/>
          </a:xfrm>
          <a:prstGeom prst="rect">
            <a:avLst/>
          </a:prstGeom>
        </p:spPr>
        <p:txBody>
          <a:bodyPr lIns="0" tIns="0" rIns="0" bIns="0" rtlCol="0" anchor="t">
            <a:spAutoFit/>
          </a:bodyPr>
          <a:lstStyle/>
          <a:p>
            <a:pPr marL="0" lvl="0" indent="0" algn="ctr">
              <a:lnSpc>
                <a:spcPts val="1557"/>
              </a:lnSpc>
            </a:pPr>
            <a:r>
              <a:rPr lang="en-US" sz="1319" b="1" spc="-9">
                <a:solidFill>
                  <a:srgbClr val="424141"/>
                </a:solidFill>
                <a:latin typeface="Aptos Bold"/>
                <a:ea typeface="Aptos Bold"/>
                <a:cs typeface="Aptos Bold"/>
                <a:sym typeface="Aptos Bold"/>
              </a:rPr>
              <a:t>Hallucination</a:t>
            </a:r>
          </a:p>
        </p:txBody>
      </p:sp>
      <p:sp>
        <p:nvSpPr>
          <p:cNvPr id="88" name="TextBox 88"/>
          <p:cNvSpPr txBox="1"/>
          <p:nvPr/>
        </p:nvSpPr>
        <p:spPr>
          <a:xfrm>
            <a:off x="7815562" y="5703060"/>
            <a:ext cx="3627456" cy="289179"/>
          </a:xfrm>
          <a:prstGeom prst="rect">
            <a:avLst/>
          </a:prstGeom>
        </p:spPr>
        <p:txBody>
          <a:bodyPr lIns="0" tIns="0" rIns="0" bIns="0" rtlCol="0" anchor="t">
            <a:spAutoFit/>
          </a:bodyPr>
          <a:lstStyle/>
          <a:p>
            <a:pPr marL="0" lvl="0" indent="0" algn="just">
              <a:lnSpc>
                <a:spcPts val="1188"/>
              </a:lnSpc>
            </a:pPr>
            <a:r>
              <a:rPr lang="en-US" sz="1200" spc="-44">
                <a:solidFill>
                  <a:srgbClr val="FFFFFF"/>
                </a:solidFill>
                <a:latin typeface="Aptos"/>
                <a:ea typeface="Aptos"/>
                <a:cs typeface="Aptos"/>
                <a:sym typeface="Aptos"/>
              </a:rPr>
              <a:t>RAG truy xuất sai sản phẩm, nhầm mã SKU hoặc thiếu trường dữ liệu quan trọng.</a:t>
            </a:r>
          </a:p>
        </p:txBody>
      </p:sp>
      <p:sp>
        <p:nvSpPr>
          <p:cNvPr id="89" name="TextBox 89"/>
          <p:cNvSpPr txBox="1"/>
          <p:nvPr/>
        </p:nvSpPr>
        <p:spPr>
          <a:xfrm>
            <a:off x="7971662" y="4959677"/>
            <a:ext cx="2520213" cy="193853"/>
          </a:xfrm>
          <a:prstGeom prst="rect">
            <a:avLst/>
          </a:prstGeom>
        </p:spPr>
        <p:txBody>
          <a:bodyPr lIns="0" tIns="0" rIns="0" bIns="0" rtlCol="0" anchor="t">
            <a:spAutoFit/>
          </a:bodyPr>
          <a:lstStyle/>
          <a:p>
            <a:pPr marL="0" lvl="0" indent="0" algn="ctr">
              <a:lnSpc>
                <a:spcPts val="1557"/>
              </a:lnSpc>
            </a:pPr>
            <a:r>
              <a:rPr lang="en-US" sz="1319" b="1" spc="-9">
                <a:solidFill>
                  <a:srgbClr val="424141"/>
                </a:solidFill>
                <a:latin typeface="Aptos Bold"/>
                <a:ea typeface="Aptos Bold"/>
                <a:cs typeface="Aptos Bold"/>
                <a:sym typeface="Aptos Bold"/>
              </a:rPr>
              <a:t>Sai sản phẩm/SKU</a:t>
            </a:r>
          </a:p>
        </p:txBody>
      </p:sp>
      <p:sp>
        <p:nvSpPr>
          <p:cNvPr id="90" name="TextBox 90"/>
          <p:cNvSpPr txBox="1"/>
          <p:nvPr/>
        </p:nvSpPr>
        <p:spPr>
          <a:xfrm>
            <a:off x="3001357" y="8224261"/>
            <a:ext cx="3627456" cy="289179"/>
          </a:xfrm>
          <a:prstGeom prst="rect">
            <a:avLst/>
          </a:prstGeom>
        </p:spPr>
        <p:txBody>
          <a:bodyPr lIns="0" tIns="0" rIns="0" bIns="0" rtlCol="0" anchor="t">
            <a:spAutoFit/>
          </a:bodyPr>
          <a:lstStyle/>
          <a:p>
            <a:pPr marL="0" lvl="0" indent="0" algn="just">
              <a:lnSpc>
                <a:spcPts val="1188"/>
              </a:lnSpc>
            </a:pPr>
            <a:r>
              <a:rPr lang="en-US" sz="1200" spc="-44">
                <a:solidFill>
                  <a:srgbClr val="FFFFFF"/>
                </a:solidFill>
                <a:latin typeface="Aptos"/>
                <a:ea typeface="Aptos"/>
                <a:cs typeface="Aptos"/>
                <a:sym typeface="Aptos"/>
              </a:rPr>
              <a:t>Text trả lời không khớp với product cards hiển thị, gây mâu thuẫn thông tin.</a:t>
            </a:r>
          </a:p>
        </p:txBody>
      </p:sp>
      <p:sp>
        <p:nvSpPr>
          <p:cNvPr id="91" name="TextBox 91"/>
          <p:cNvSpPr txBox="1"/>
          <p:nvPr/>
        </p:nvSpPr>
        <p:spPr>
          <a:xfrm>
            <a:off x="3157456" y="7480878"/>
            <a:ext cx="2520213" cy="193853"/>
          </a:xfrm>
          <a:prstGeom prst="rect">
            <a:avLst/>
          </a:prstGeom>
        </p:spPr>
        <p:txBody>
          <a:bodyPr lIns="0" tIns="0" rIns="0" bIns="0" rtlCol="0" anchor="t">
            <a:spAutoFit/>
          </a:bodyPr>
          <a:lstStyle/>
          <a:p>
            <a:pPr marL="0" lvl="0" indent="0" algn="ctr">
              <a:lnSpc>
                <a:spcPts val="1557"/>
              </a:lnSpc>
            </a:pPr>
            <a:r>
              <a:rPr lang="en-US" sz="1319" b="1" spc="-9">
                <a:solidFill>
                  <a:srgbClr val="424141"/>
                </a:solidFill>
                <a:latin typeface="Aptos Bold"/>
                <a:ea typeface="Aptos Bold"/>
                <a:cs typeface="Aptos Bold"/>
                <a:sym typeface="Aptos Bold"/>
              </a:rPr>
              <a:t>Mismatch UI</a:t>
            </a:r>
          </a:p>
        </p:txBody>
      </p:sp>
      <p:sp>
        <p:nvSpPr>
          <p:cNvPr id="92" name="TextBox 92"/>
          <p:cNvSpPr txBox="1"/>
          <p:nvPr/>
        </p:nvSpPr>
        <p:spPr>
          <a:xfrm>
            <a:off x="7813580" y="8224261"/>
            <a:ext cx="3627456" cy="289179"/>
          </a:xfrm>
          <a:prstGeom prst="rect">
            <a:avLst/>
          </a:prstGeom>
        </p:spPr>
        <p:txBody>
          <a:bodyPr lIns="0" tIns="0" rIns="0" bIns="0" rtlCol="0" anchor="t">
            <a:spAutoFit/>
          </a:bodyPr>
          <a:lstStyle/>
          <a:p>
            <a:pPr marL="0" lvl="0" indent="0" algn="just">
              <a:lnSpc>
                <a:spcPts val="1188"/>
              </a:lnSpc>
            </a:pPr>
            <a:r>
              <a:rPr lang="en-US" sz="1200" spc="-44">
                <a:solidFill>
                  <a:srgbClr val="FFFFFF"/>
                </a:solidFill>
                <a:latin typeface="Aptos"/>
                <a:ea typeface="Aptos"/>
                <a:cs typeface="Aptos"/>
                <a:sym typeface="Aptos"/>
              </a:rPr>
              <a:t>Không có trace, không test được từng bước, không phát hiện lỗi kịp thời.</a:t>
            </a:r>
          </a:p>
        </p:txBody>
      </p:sp>
      <p:sp>
        <p:nvSpPr>
          <p:cNvPr id="93" name="TextBox 93"/>
          <p:cNvSpPr txBox="1"/>
          <p:nvPr/>
        </p:nvSpPr>
        <p:spPr>
          <a:xfrm>
            <a:off x="7969679" y="7480878"/>
            <a:ext cx="2520213" cy="193853"/>
          </a:xfrm>
          <a:prstGeom prst="rect">
            <a:avLst/>
          </a:prstGeom>
        </p:spPr>
        <p:txBody>
          <a:bodyPr lIns="0" tIns="0" rIns="0" bIns="0" rtlCol="0" anchor="t">
            <a:spAutoFit/>
          </a:bodyPr>
          <a:lstStyle/>
          <a:p>
            <a:pPr marL="0" lvl="0" indent="0" algn="ctr">
              <a:lnSpc>
                <a:spcPts val="1557"/>
              </a:lnSpc>
            </a:pPr>
            <a:r>
              <a:rPr lang="en-US" sz="1319" b="1" spc="-9">
                <a:solidFill>
                  <a:srgbClr val="424141"/>
                </a:solidFill>
                <a:latin typeface="Aptos Bold"/>
                <a:ea typeface="Aptos Bold"/>
                <a:cs typeface="Aptos Bold"/>
                <a:sym typeface="Aptos Bold"/>
              </a:rPr>
              <a:t>Thiếu kiểm soát</a:t>
            </a:r>
          </a:p>
        </p:txBody>
      </p:sp>
      <p:sp>
        <p:nvSpPr>
          <p:cNvPr id="94" name="Freeform 94"/>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95" name="Freeform 95"/>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96" name="Freeform 96"/>
          <p:cNvSpPr/>
          <p:nvPr/>
        </p:nvSpPr>
        <p:spPr>
          <a:xfrm>
            <a:off x="2451215" y="713127"/>
            <a:ext cx="645033" cy="494917"/>
          </a:xfrm>
          <a:custGeom>
            <a:avLst/>
            <a:gdLst/>
            <a:ahLst/>
            <a:cxnLst/>
            <a:rect l="l" t="t" r="r" b="b"/>
            <a:pathLst>
              <a:path w="645033" h="494917">
                <a:moveTo>
                  <a:pt x="0" y="0"/>
                </a:moveTo>
                <a:lnTo>
                  <a:pt x="645034" y="0"/>
                </a:lnTo>
                <a:lnTo>
                  <a:pt x="645034" y="494916"/>
                </a:lnTo>
                <a:lnTo>
                  <a:pt x="0" y="494916"/>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grpSp>
        <p:nvGrpSpPr>
          <p:cNvPr id="12" name="Group 12"/>
          <p:cNvGrpSpPr/>
          <p:nvPr/>
        </p:nvGrpSpPr>
        <p:grpSpPr>
          <a:xfrm>
            <a:off x="11993201" y="3688715"/>
            <a:ext cx="5266099" cy="4987468"/>
            <a:chOff x="0" y="0"/>
            <a:chExt cx="3153645" cy="2986784"/>
          </a:xfrm>
        </p:grpSpPr>
        <p:sp>
          <p:nvSpPr>
            <p:cNvPr id="13" name="Freeform 13"/>
            <p:cNvSpPr/>
            <p:nvPr/>
          </p:nvSpPr>
          <p:spPr>
            <a:xfrm>
              <a:off x="0" y="0"/>
              <a:ext cx="3153645" cy="2986784"/>
            </a:xfrm>
            <a:custGeom>
              <a:avLst/>
              <a:gdLst/>
              <a:ahLst/>
              <a:cxnLst/>
              <a:rect l="l" t="t" r="r" b="b"/>
              <a:pathLst>
                <a:path w="3153645" h="2986784">
                  <a:moveTo>
                    <a:pt x="47045" y="0"/>
                  </a:moveTo>
                  <a:lnTo>
                    <a:pt x="3106600" y="0"/>
                  </a:lnTo>
                  <a:cubicBezTo>
                    <a:pt x="3119077" y="0"/>
                    <a:pt x="3131044" y="4956"/>
                    <a:pt x="3139866" y="13779"/>
                  </a:cubicBezTo>
                  <a:cubicBezTo>
                    <a:pt x="3148689" y="22602"/>
                    <a:pt x="3153645" y="34568"/>
                    <a:pt x="3153645" y="47045"/>
                  </a:cubicBezTo>
                  <a:lnTo>
                    <a:pt x="3153645" y="2939740"/>
                  </a:lnTo>
                  <a:cubicBezTo>
                    <a:pt x="3153645" y="2952217"/>
                    <a:pt x="3148689" y="2964183"/>
                    <a:pt x="3139866" y="2973005"/>
                  </a:cubicBezTo>
                  <a:cubicBezTo>
                    <a:pt x="3131044" y="2981828"/>
                    <a:pt x="3119077" y="2986784"/>
                    <a:pt x="3106600" y="2986784"/>
                  </a:cubicBezTo>
                  <a:lnTo>
                    <a:pt x="47045" y="2986784"/>
                  </a:lnTo>
                  <a:cubicBezTo>
                    <a:pt x="34568" y="2986784"/>
                    <a:pt x="22602" y="2981828"/>
                    <a:pt x="13779" y="2973005"/>
                  </a:cubicBezTo>
                  <a:cubicBezTo>
                    <a:pt x="4956" y="2964183"/>
                    <a:pt x="0" y="2952217"/>
                    <a:pt x="0" y="2939740"/>
                  </a:cubicBezTo>
                  <a:lnTo>
                    <a:pt x="0" y="47045"/>
                  </a:lnTo>
                  <a:cubicBezTo>
                    <a:pt x="0" y="34568"/>
                    <a:pt x="4956" y="22602"/>
                    <a:pt x="13779" y="13779"/>
                  </a:cubicBezTo>
                  <a:cubicBezTo>
                    <a:pt x="22602" y="4956"/>
                    <a:pt x="34568" y="0"/>
                    <a:pt x="47045" y="0"/>
                  </a:cubicBezTo>
                  <a:close/>
                </a:path>
              </a:pathLst>
            </a:custGeom>
            <a:solidFill>
              <a:srgbClr val="EB574C"/>
            </a:solidFill>
            <a:ln w="9525" cap="rnd">
              <a:solidFill>
                <a:srgbClr val="424141"/>
              </a:solidFill>
              <a:prstDash val="solid"/>
              <a:round/>
            </a:ln>
          </p:spPr>
          <p:txBody>
            <a:bodyPr/>
            <a:lstStyle/>
            <a:p>
              <a:endParaRPr lang="en-US"/>
            </a:p>
          </p:txBody>
        </p:sp>
        <p:sp>
          <p:nvSpPr>
            <p:cNvPr id="14" name="TextBox 14"/>
            <p:cNvSpPr txBox="1"/>
            <p:nvPr/>
          </p:nvSpPr>
          <p:spPr>
            <a:xfrm>
              <a:off x="0" y="-38100"/>
              <a:ext cx="3153645" cy="3024884"/>
            </a:xfrm>
            <a:prstGeom prst="rect">
              <a:avLst/>
            </a:prstGeom>
          </p:spPr>
          <p:txBody>
            <a:bodyPr lIns="50800" tIns="50800" rIns="50800" bIns="50800" rtlCol="0" anchor="ctr"/>
            <a:lstStyle/>
            <a:p>
              <a:pPr marL="0" lvl="0" indent="0" algn="ctr">
                <a:lnSpc>
                  <a:spcPts val="1540"/>
                </a:lnSpc>
              </a:pPr>
              <a:endParaRPr/>
            </a:p>
          </p:txBody>
        </p:sp>
      </p:grpSp>
      <p:sp>
        <p:nvSpPr>
          <p:cNvPr id="15" name="TextBox 15"/>
          <p:cNvSpPr txBox="1"/>
          <p:nvPr/>
        </p:nvSpPr>
        <p:spPr>
          <a:xfrm>
            <a:off x="2952598" y="2212861"/>
            <a:ext cx="8845603" cy="1805786"/>
          </a:xfrm>
          <a:prstGeom prst="rect">
            <a:avLst/>
          </a:prstGeom>
        </p:spPr>
        <p:txBody>
          <a:bodyPr lIns="0" tIns="0" rIns="0" bIns="0" rtlCol="0" anchor="t">
            <a:spAutoFit/>
          </a:bodyPr>
          <a:lstStyle/>
          <a:p>
            <a:pPr marL="0" lvl="0" indent="0" algn="l">
              <a:lnSpc>
                <a:spcPts val="6924"/>
              </a:lnSpc>
            </a:pPr>
            <a:r>
              <a:rPr lang="en-US" sz="6994" b="1" spc="-433">
                <a:solidFill>
                  <a:srgbClr val="424141"/>
                </a:solidFill>
                <a:latin typeface="Aptos Bold"/>
                <a:ea typeface="Aptos Bold"/>
                <a:cs typeface="Aptos Bold"/>
                <a:sym typeface="Aptos Bold"/>
              </a:rPr>
              <a:t>CÂU HỎI KỸ THUẬT TRUNG TÂM</a:t>
            </a:r>
          </a:p>
        </p:txBody>
      </p:sp>
      <p:sp>
        <p:nvSpPr>
          <p:cNvPr id="16" name="Freeform 16"/>
          <p:cNvSpPr/>
          <p:nvPr/>
        </p:nvSpPr>
        <p:spPr>
          <a:xfrm flipH="1">
            <a:off x="9610601" y="2607179"/>
            <a:ext cx="941613" cy="818027"/>
          </a:xfrm>
          <a:custGeom>
            <a:avLst/>
            <a:gdLst/>
            <a:ahLst/>
            <a:cxnLst/>
            <a:rect l="l" t="t" r="r" b="b"/>
            <a:pathLst>
              <a:path w="941613" h="818027">
                <a:moveTo>
                  <a:pt x="941614" y="0"/>
                </a:moveTo>
                <a:lnTo>
                  <a:pt x="0" y="0"/>
                </a:lnTo>
                <a:lnTo>
                  <a:pt x="0" y="818026"/>
                </a:lnTo>
                <a:lnTo>
                  <a:pt x="941614" y="818026"/>
                </a:lnTo>
                <a:lnTo>
                  <a:pt x="94161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7" name="AutoShape 17"/>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8" name="AutoShape 18"/>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9" name="AutoShape 19"/>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0" name="Freeform 20"/>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Freeform 21"/>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22" name="Group 22"/>
          <p:cNvGrpSpPr/>
          <p:nvPr/>
        </p:nvGrpSpPr>
        <p:grpSpPr>
          <a:xfrm>
            <a:off x="16839551" y="2894346"/>
            <a:ext cx="419749" cy="419749"/>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4" name="TextBox 24"/>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5" name="Group 25"/>
          <p:cNvGrpSpPr/>
          <p:nvPr/>
        </p:nvGrpSpPr>
        <p:grpSpPr>
          <a:xfrm>
            <a:off x="16419760" y="2894346"/>
            <a:ext cx="419749" cy="419749"/>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7" name="TextBox 27"/>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8" name="Group 28"/>
          <p:cNvGrpSpPr/>
          <p:nvPr/>
        </p:nvGrpSpPr>
        <p:grpSpPr>
          <a:xfrm>
            <a:off x="15999969" y="2894346"/>
            <a:ext cx="419749" cy="41974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30" name="TextBox 30"/>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31" name="Freeform 31"/>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32" name="Group 32"/>
          <p:cNvGrpSpPr/>
          <p:nvPr/>
        </p:nvGrpSpPr>
        <p:grpSpPr>
          <a:xfrm>
            <a:off x="12375567" y="4006824"/>
            <a:ext cx="4501367" cy="4022323"/>
            <a:chOff x="0" y="0"/>
            <a:chExt cx="2049080" cy="1831012"/>
          </a:xfrm>
        </p:grpSpPr>
        <p:sp>
          <p:nvSpPr>
            <p:cNvPr id="33" name="Freeform 33"/>
            <p:cNvSpPr/>
            <p:nvPr/>
          </p:nvSpPr>
          <p:spPr>
            <a:xfrm>
              <a:off x="0" y="0"/>
              <a:ext cx="2049080" cy="1831012"/>
            </a:xfrm>
            <a:custGeom>
              <a:avLst/>
              <a:gdLst/>
              <a:ahLst/>
              <a:cxnLst/>
              <a:rect l="l" t="t" r="r" b="b"/>
              <a:pathLst>
                <a:path w="2049080" h="1831012">
                  <a:moveTo>
                    <a:pt x="29238" y="0"/>
                  </a:moveTo>
                  <a:lnTo>
                    <a:pt x="2019841" y="0"/>
                  </a:lnTo>
                  <a:cubicBezTo>
                    <a:pt x="2035989" y="0"/>
                    <a:pt x="2049080" y="13090"/>
                    <a:pt x="2049080" y="29238"/>
                  </a:cubicBezTo>
                  <a:lnTo>
                    <a:pt x="2049080" y="1801774"/>
                  </a:lnTo>
                  <a:cubicBezTo>
                    <a:pt x="2049080" y="1817922"/>
                    <a:pt x="2035989" y="1831012"/>
                    <a:pt x="2019841" y="1831012"/>
                  </a:cubicBezTo>
                  <a:lnTo>
                    <a:pt x="29238" y="1831012"/>
                  </a:lnTo>
                  <a:cubicBezTo>
                    <a:pt x="13090" y="1831012"/>
                    <a:pt x="0" y="1817922"/>
                    <a:pt x="0" y="1801774"/>
                  </a:cubicBezTo>
                  <a:lnTo>
                    <a:pt x="0" y="29238"/>
                  </a:lnTo>
                  <a:cubicBezTo>
                    <a:pt x="0" y="13090"/>
                    <a:pt x="13090" y="0"/>
                    <a:pt x="29238" y="0"/>
                  </a:cubicBezTo>
                  <a:close/>
                </a:path>
              </a:pathLst>
            </a:custGeom>
            <a:blipFill>
              <a:blip r:embed="rId7"/>
              <a:stretch>
                <a:fillRect t="-5954" b="-5954"/>
              </a:stretch>
            </a:blipFill>
            <a:ln w="9525" cap="sq">
              <a:solidFill>
                <a:srgbClr val="424141"/>
              </a:solidFill>
              <a:prstDash val="solid"/>
              <a:miter/>
            </a:ln>
          </p:spPr>
          <p:txBody>
            <a:bodyPr/>
            <a:lstStyle/>
            <a:p>
              <a:endParaRPr lang="en-US"/>
            </a:p>
          </p:txBody>
        </p:sp>
      </p:grpSp>
      <p:grpSp>
        <p:nvGrpSpPr>
          <p:cNvPr id="34" name="Group 34"/>
          <p:cNvGrpSpPr/>
          <p:nvPr/>
        </p:nvGrpSpPr>
        <p:grpSpPr>
          <a:xfrm>
            <a:off x="11474350" y="4821259"/>
            <a:ext cx="1158626" cy="1158626"/>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36" name="TextBox 36"/>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37" name="Freeform 37"/>
          <p:cNvSpPr/>
          <p:nvPr/>
        </p:nvSpPr>
        <p:spPr>
          <a:xfrm>
            <a:off x="11722010" y="5094207"/>
            <a:ext cx="663307" cy="612729"/>
          </a:xfrm>
          <a:custGeom>
            <a:avLst/>
            <a:gdLst/>
            <a:ahLst/>
            <a:cxnLst/>
            <a:rect l="l" t="t" r="r" b="b"/>
            <a:pathLst>
              <a:path w="663307" h="612729">
                <a:moveTo>
                  <a:pt x="0" y="0"/>
                </a:moveTo>
                <a:lnTo>
                  <a:pt x="663307" y="0"/>
                </a:lnTo>
                <a:lnTo>
                  <a:pt x="663307" y="612730"/>
                </a:lnTo>
                <a:lnTo>
                  <a:pt x="0" y="61273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8" name="TextBox 38"/>
          <p:cNvSpPr txBox="1"/>
          <p:nvPr/>
        </p:nvSpPr>
        <p:spPr>
          <a:xfrm>
            <a:off x="3268032" y="853963"/>
            <a:ext cx="1535587" cy="262849"/>
          </a:xfrm>
          <a:prstGeom prst="rect">
            <a:avLst/>
          </a:prstGeom>
        </p:spPr>
        <p:txBody>
          <a:bodyPr lIns="0" tIns="0" rIns="0" bIns="0" rtlCol="0" anchor="t">
            <a:spAutoFit/>
          </a:bodyPr>
          <a:lstStyle/>
          <a:p>
            <a:pPr marL="0" lvl="0" indent="0" algn="l">
              <a:lnSpc>
                <a:spcPts val="1978"/>
              </a:lnSpc>
            </a:pPr>
            <a:r>
              <a:rPr lang="en-US" sz="1998" spc="-73">
                <a:solidFill>
                  <a:srgbClr val="424141"/>
                </a:solidFill>
                <a:latin typeface="Aptos"/>
                <a:ea typeface="Aptos"/>
                <a:cs typeface="Aptos"/>
                <a:sym typeface="Aptos"/>
              </a:rPr>
              <a:t>AURA AI</a:t>
            </a:r>
          </a:p>
        </p:txBody>
      </p:sp>
      <p:sp>
        <p:nvSpPr>
          <p:cNvPr id="39" name="TextBox 39"/>
          <p:cNvSpPr txBox="1"/>
          <p:nvPr/>
        </p:nvSpPr>
        <p:spPr>
          <a:xfrm>
            <a:off x="4302172" y="853963"/>
            <a:ext cx="1887005" cy="262849"/>
          </a:xfrm>
          <a:prstGeom prst="rect">
            <a:avLst/>
          </a:prstGeom>
        </p:spPr>
        <p:txBody>
          <a:bodyPr lIns="0" tIns="0" rIns="0" bIns="0" rtlCol="0" anchor="t">
            <a:spAutoFit/>
          </a:bodyPr>
          <a:lstStyle/>
          <a:p>
            <a:pPr marL="0" lvl="0" indent="0" algn="l">
              <a:lnSpc>
                <a:spcPts val="1978"/>
              </a:lnSpc>
            </a:pPr>
            <a:r>
              <a:rPr lang="en-US" sz="1998" b="1" spc="-73">
                <a:solidFill>
                  <a:srgbClr val="424141"/>
                </a:solidFill>
                <a:latin typeface="Aptos Bold"/>
                <a:ea typeface="Aptos Bold"/>
                <a:cs typeface="Aptos Bold"/>
                <a:sym typeface="Aptos Bold"/>
              </a:rPr>
              <a:t>Sales Advisor</a:t>
            </a:r>
          </a:p>
        </p:txBody>
      </p:sp>
      <p:sp>
        <p:nvSpPr>
          <p:cNvPr id="40" name="TextBox 40"/>
          <p:cNvSpPr txBox="1"/>
          <p:nvPr/>
        </p:nvSpPr>
        <p:spPr>
          <a:xfrm>
            <a:off x="2984730" y="5795587"/>
            <a:ext cx="8041946" cy="228981"/>
          </a:xfrm>
          <a:prstGeom prst="rect">
            <a:avLst/>
          </a:prstGeom>
        </p:spPr>
        <p:txBody>
          <a:bodyPr lIns="0" tIns="0" rIns="0" bIns="0" rtlCol="0" anchor="t">
            <a:spAutoFit/>
          </a:bodyPr>
          <a:lstStyle/>
          <a:p>
            <a:pPr marL="0" lvl="0" indent="0" algn="just">
              <a:lnSpc>
                <a:spcPts val="1782"/>
              </a:lnSpc>
            </a:pPr>
            <a:r>
              <a:rPr lang="en-US" sz="1800" spc="-66">
                <a:solidFill>
                  <a:srgbClr val="424141"/>
                </a:solidFill>
                <a:latin typeface="Aptos"/>
                <a:ea typeface="Aptos"/>
                <a:cs typeface="Aptos"/>
                <a:sym typeface="Aptos"/>
              </a:rPr>
              <a:t>Làm sao đưa AI Advisor vào e-commerce mà vẫn kiểm soát được?</a:t>
            </a:r>
          </a:p>
        </p:txBody>
      </p:sp>
      <p:sp>
        <p:nvSpPr>
          <p:cNvPr id="41" name="TextBox 41"/>
          <p:cNvSpPr txBox="1"/>
          <p:nvPr/>
        </p:nvSpPr>
        <p:spPr>
          <a:xfrm>
            <a:off x="2984730" y="7200852"/>
            <a:ext cx="8041946" cy="1324356"/>
          </a:xfrm>
          <a:prstGeom prst="rect">
            <a:avLst/>
          </a:prstGeom>
        </p:spPr>
        <p:txBody>
          <a:bodyPr lIns="0" tIns="0" rIns="0" bIns="0" rtlCol="0" anchor="t">
            <a:spAutoFit/>
          </a:bodyPr>
          <a:lstStyle/>
          <a:p>
            <a:pPr marL="0" lvl="0" indent="0" algn="just">
              <a:lnSpc>
                <a:spcPts val="1782"/>
              </a:lnSpc>
            </a:pPr>
            <a:r>
              <a:rPr lang="en-US" sz="1800" spc="-66">
                <a:solidFill>
                  <a:srgbClr val="424141"/>
                </a:solidFill>
                <a:latin typeface="Aptos"/>
                <a:ea typeface="Aptos"/>
                <a:cs typeface="Aptos"/>
                <a:sym typeface="Aptos"/>
              </a:rPr>
              <a:t>AI Advisor cần đáp ứng:</a:t>
            </a:r>
          </a:p>
          <a:p>
            <a:pPr marL="0" lvl="0" indent="0" algn="just">
              <a:lnSpc>
                <a:spcPts val="1782"/>
              </a:lnSpc>
            </a:pPr>
            <a:r>
              <a:rPr lang="en-US" sz="1800" spc="-66">
                <a:solidFill>
                  <a:srgbClr val="424141"/>
                </a:solidFill>
                <a:latin typeface="Aptos"/>
                <a:ea typeface="Aptos"/>
                <a:cs typeface="Aptos"/>
                <a:sym typeface="Aptos"/>
              </a:rPr>
              <a:t>• Hiểu tiếng Việt tự nhiên</a:t>
            </a:r>
          </a:p>
          <a:p>
            <a:pPr marL="0" lvl="0" indent="0" algn="just">
              <a:lnSpc>
                <a:spcPts val="1782"/>
              </a:lnSpc>
            </a:pPr>
            <a:r>
              <a:rPr lang="en-US" sz="1800" spc="-66">
                <a:solidFill>
                  <a:srgbClr val="424141"/>
                </a:solidFill>
                <a:latin typeface="Aptos"/>
                <a:ea typeface="Aptos"/>
                <a:cs typeface="Aptos"/>
                <a:sym typeface="Aptos"/>
              </a:rPr>
              <a:t>• Bám sát catalog thật, không bịa giá/spec</a:t>
            </a:r>
          </a:p>
          <a:p>
            <a:pPr marL="0" lvl="0" indent="0" algn="just">
              <a:lnSpc>
                <a:spcPts val="1782"/>
              </a:lnSpc>
            </a:pPr>
            <a:r>
              <a:rPr lang="en-US" sz="1800" spc="-66">
                <a:solidFill>
                  <a:srgbClr val="424141"/>
                </a:solidFill>
                <a:latin typeface="Aptos"/>
                <a:ea typeface="Aptos"/>
                <a:cs typeface="Aptos"/>
                <a:sym typeface="Aptos"/>
              </a:rPr>
              <a:t>• Đồng bộ với product cards trên UI</a:t>
            </a:r>
          </a:p>
          <a:p>
            <a:pPr marL="0" lvl="0" indent="0" algn="just">
              <a:lnSpc>
                <a:spcPts val="1782"/>
              </a:lnSpc>
            </a:pPr>
            <a:r>
              <a:rPr lang="en-US" sz="1800" spc="-66">
                <a:solidFill>
                  <a:srgbClr val="424141"/>
                </a:solidFill>
                <a:latin typeface="Aptos"/>
                <a:ea typeface="Aptos"/>
                <a:cs typeface="Aptos"/>
                <a:sym typeface="Aptos"/>
              </a:rPr>
              <a:t>• Có trace và test để đánh giá chất lượng</a:t>
            </a:r>
          </a:p>
          <a:p>
            <a:pPr marL="0" lvl="0" indent="0" algn="just">
              <a:lnSpc>
                <a:spcPts val="1782"/>
              </a:lnSpc>
            </a:pPr>
            <a:r>
              <a:rPr lang="en-US" sz="1800" spc="-66">
                <a:solidFill>
                  <a:srgbClr val="424141"/>
                </a:solidFill>
                <a:latin typeface="Aptos"/>
                <a:ea typeface="Aptos"/>
                <a:cs typeface="Aptos"/>
                <a:sym typeface="Aptos"/>
              </a:rPr>
              <a:t>• Kiểm soát toàn bộ workflow từ câu hỏi đến kết quả</a:t>
            </a:r>
          </a:p>
        </p:txBody>
      </p:sp>
      <p:sp>
        <p:nvSpPr>
          <p:cNvPr id="42" name="Freeform 42"/>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43" name="Freeform 43"/>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44" name="Freeform 44"/>
          <p:cNvSpPr/>
          <p:nvPr/>
        </p:nvSpPr>
        <p:spPr>
          <a:xfrm>
            <a:off x="2434169" y="713127"/>
            <a:ext cx="645033" cy="494917"/>
          </a:xfrm>
          <a:custGeom>
            <a:avLst/>
            <a:gdLst/>
            <a:ahLst/>
            <a:cxnLst/>
            <a:rect l="l" t="t" r="r" b="b"/>
            <a:pathLst>
              <a:path w="645033" h="494917">
                <a:moveTo>
                  <a:pt x="0" y="0"/>
                </a:moveTo>
                <a:lnTo>
                  <a:pt x="645033" y="0"/>
                </a:lnTo>
                <a:lnTo>
                  <a:pt x="645033" y="494916"/>
                </a:lnTo>
                <a:lnTo>
                  <a:pt x="0" y="494916"/>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484820" y="2264655"/>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664552" y="195948"/>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2" name="Freeform 12"/>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3"/>
                </a:ext>
              </a:extLst>
            </a:blip>
            <a:stretch>
              <a:fillRect r="-20013"/>
            </a:stretch>
          </a:blipFill>
        </p:spPr>
        <p:txBody>
          <a:bodyPr/>
          <a:lstStyle/>
          <a:p>
            <a:endParaRPr lang="en-US"/>
          </a:p>
        </p:txBody>
      </p:sp>
      <p:grpSp>
        <p:nvGrpSpPr>
          <p:cNvPr id="13" name="Group 13"/>
          <p:cNvGrpSpPr/>
          <p:nvPr/>
        </p:nvGrpSpPr>
        <p:grpSpPr>
          <a:xfrm>
            <a:off x="12058115" y="3963722"/>
            <a:ext cx="5201185" cy="4712461"/>
            <a:chOff x="0" y="0"/>
            <a:chExt cx="3114770" cy="2822094"/>
          </a:xfrm>
        </p:grpSpPr>
        <p:sp>
          <p:nvSpPr>
            <p:cNvPr id="14" name="Freeform 14"/>
            <p:cNvSpPr/>
            <p:nvPr/>
          </p:nvSpPr>
          <p:spPr>
            <a:xfrm>
              <a:off x="0" y="0"/>
              <a:ext cx="3114771" cy="2822094"/>
            </a:xfrm>
            <a:custGeom>
              <a:avLst/>
              <a:gdLst/>
              <a:ahLst/>
              <a:cxnLst/>
              <a:rect l="l" t="t" r="r" b="b"/>
              <a:pathLst>
                <a:path w="3114771" h="2822094">
                  <a:moveTo>
                    <a:pt x="47632" y="0"/>
                  </a:moveTo>
                  <a:lnTo>
                    <a:pt x="3067139" y="0"/>
                  </a:lnTo>
                  <a:cubicBezTo>
                    <a:pt x="3079772" y="0"/>
                    <a:pt x="3091887" y="5018"/>
                    <a:pt x="3100819" y="13951"/>
                  </a:cubicBezTo>
                  <a:cubicBezTo>
                    <a:pt x="3109752" y="22884"/>
                    <a:pt x="3114771" y="34999"/>
                    <a:pt x="3114771" y="47632"/>
                  </a:cubicBezTo>
                  <a:lnTo>
                    <a:pt x="3114771" y="2774463"/>
                  </a:lnTo>
                  <a:cubicBezTo>
                    <a:pt x="3114771" y="2787095"/>
                    <a:pt x="3109752" y="2799211"/>
                    <a:pt x="3100819" y="2808143"/>
                  </a:cubicBezTo>
                  <a:cubicBezTo>
                    <a:pt x="3091887" y="2817076"/>
                    <a:pt x="3079772" y="2822094"/>
                    <a:pt x="3067139" y="2822094"/>
                  </a:cubicBezTo>
                  <a:lnTo>
                    <a:pt x="47632" y="2822094"/>
                  </a:lnTo>
                  <a:cubicBezTo>
                    <a:pt x="34999" y="2822094"/>
                    <a:pt x="22884" y="2817076"/>
                    <a:pt x="13951" y="2808143"/>
                  </a:cubicBezTo>
                  <a:cubicBezTo>
                    <a:pt x="5018" y="2799211"/>
                    <a:pt x="0" y="2787095"/>
                    <a:pt x="0" y="2774463"/>
                  </a:cubicBezTo>
                  <a:lnTo>
                    <a:pt x="0" y="47632"/>
                  </a:lnTo>
                  <a:cubicBezTo>
                    <a:pt x="0" y="34999"/>
                    <a:pt x="5018" y="22884"/>
                    <a:pt x="13951" y="13951"/>
                  </a:cubicBezTo>
                  <a:cubicBezTo>
                    <a:pt x="22884" y="5018"/>
                    <a:pt x="34999" y="0"/>
                    <a:pt x="47632" y="0"/>
                  </a:cubicBezTo>
                  <a:close/>
                </a:path>
              </a:pathLst>
            </a:custGeom>
            <a:solidFill>
              <a:srgbClr val="FF6F5E"/>
            </a:solidFill>
            <a:ln w="9525" cap="rnd">
              <a:solidFill>
                <a:srgbClr val="424141"/>
              </a:solidFill>
              <a:prstDash val="solid"/>
              <a:round/>
            </a:ln>
          </p:spPr>
          <p:txBody>
            <a:bodyPr/>
            <a:lstStyle/>
            <a:p>
              <a:endParaRPr lang="en-US"/>
            </a:p>
          </p:txBody>
        </p:sp>
        <p:sp>
          <p:nvSpPr>
            <p:cNvPr id="15" name="TextBox 15"/>
            <p:cNvSpPr txBox="1"/>
            <p:nvPr/>
          </p:nvSpPr>
          <p:spPr>
            <a:xfrm>
              <a:off x="0" y="-38100"/>
              <a:ext cx="3114770" cy="2860194"/>
            </a:xfrm>
            <a:prstGeom prst="rect">
              <a:avLst/>
            </a:prstGeom>
          </p:spPr>
          <p:txBody>
            <a:bodyPr lIns="50800" tIns="50800" rIns="50800" bIns="50800" rtlCol="0" anchor="ctr"/>
            <a:lstStyle/>
            <a:p>
              <a:pPr marL="0" lvl="0" indent="0" algn="ctr">
                <a:lnSpc>
                  <a:spcPts val="1540"/>
                </a:lnSpc>
              </a:pPr>
              <a:endParaRPr/>
            </a:p>
          </p:txBody>
        </p:sp>
      </p:grpSp>
      <p:grpSp>
        <p:nvGrpSpPr>
          <p:cNvPr id="16" name="Group 16"/>
          <p:cNvGrpSpPr/>
          <p:nvPr/>
        </p:nvGrpSpPr>
        <p:grpSpPr>
          <a:xfrm>
            <a:off x="12375322" y="4411629"/>
            <a:ext cx="2567885" cy="3378128"/>
            <a:chOff x="0" y="0"/>
            <a:chExt cx="1168934" cy="1537767"/>
          </a:xfrm>
        </p:grpSpPr>
        <p:sp>
          <p:nvSpPr>
            <p:cNvPr id="17" name="Freeform 17"/>
            <p:cNvSpPr/>
            <p:nvPr/>
          </p:nvSpPr>
          <p:spPr>
            <a:xfrm>
              <a:off x="0" y="0"/>
              <a:ext cx="1168934" cy="1537767"/>
            </a:xfrm>
            <a:custGeom>
              <a:avLst/>
              <a:gdLst/>
              <a:ahLst/>
              <a:cxnLst/>
              <a:rect l="l" t="t" r="r" b="b"/>
              <a:pathLst>
                <a:path w="1168934" h="1537767">
                  <a:moveTo>
                    <a:pt x="51253" y="0"/>
                  </a:moveTo>
                  <a:lnTo>
                    <a:pt x="1117681" y="0"/>
                  </a:lnTo>
                  <a:cubicBezTo>
                    <a:pt x="1145987" y="0"/>
                    <a:pt x="1168934" y="22947"/>
                    <a:pt x="1168934" y="51253"/>
                  </a:cubicBezTo>
                  <a:lnTo>
                    <a:pt x="1168934" y="1486514"/>
                  </a:lnTo>
                  <a:cubicBezTo>
                    <a:pt x="1168934" y="1514820"/>
                    <a:pt x="1145987" y="1537767"/>
                    <a:pt x="1117681" y="1537767"/>
                  </a:cubicBezTo>
                  <a:lnTo>
                    <a:pt x="51253" y="1537767"/>
                  </a:lnTo>
                  <a:cubicBezTo>
                    <a:pt x="22947" y="1537767"/>
                    <a:pt x="0" y="1514820"/>
                    <a:pt x="0" y="1486514"/>
                  </a:cubicBezTo>
                  <a:lnTo>
                    <a:pt x="0" y="51253"/>
                  </a:lnTo>
                  <a:cubicBezTo>
                    <a:pt x="0" y="22947"/>
                    <a:pt x="22947" y="0"/>
                    <a:pt x="51253" y="0"/>
                  </a:cubicBezTo>
                  <a:close/>
                </a:path>
              </a:pathLst>
            </a:custGeom>
            <a:blipFill>
              <a:blip r:embed="rId4"/>
              <a:stretch>
                <a:fillRect t="-931" b="-931"/>
              </a:stretch>
            </a:blipFill>
            <a:ln w="9525" cap="sq">
              <a:solidFill>
                <a:srgbClr val="424141"/>
              </a:solidFill>
              <a:prstDash val="solid"/>
              <a:miter/>
            </a:ln>
          </p:spPr>
          <p:txBody>
            <a:bodyPr/>
            <a:lstStyle/>
            <a:p>
              <a:endParaRPr lang="en-US"/>
            </a:p>
          </p:txBody>
        </p:sp>
      </p:grpSp>
      <p:grpSp>
        <p:nvGrpSpPr>
          <p:cNvPr id="18" name="Group 18"/>
          <p:cNvGrpSpPr/>
          <p:nvPr/>
        </p:nvGrpSpPr>
        <p:grpSpPr>
          <a:xfrm>
            <a:off x="15106383" y="4411629"/>
            <a:ext cx="1873811" cy="3378128"/>
            <a:chOff x="0" y="0"/>
            <a:chExt cx="852982" cy="1537767"/>
          </a:xfrm>
        </p:grpSpPr>
        <p:sp>
          <p:nvSpPr>
            <p:cNvPr id="19" name="Freeform 19"/>
            <p:cNvSpPr/>
            <p:nvPr/>
          </p:nvSpPr>
          <p:spPr>
            <a:xfrm>
              <a:off x="0" y="0"/>
              <a:ext cx="852982" cy="1537767"/>
            </a:xfrm>
            <a:custGeom>
              <a:avLst/>
              <a:gdLst/>
              <a:ahLst/>
              <a:cxnLst/>
              <a:rect l="l" t="t" r="r" b="b"/>
              <a:pathLst>
                <a:path w="852982" h="1537767">
                  <a:moveTo>
                    <a:pt x="70238" y="0"/>
                  </a:moveTo>
                  <a:lnTo>
                    <a:pt x="782744" y="0"/>
                  </a:lnTo>
                  <a:cubicBezTo>
                    <a:pt x="801373" y="0"/>
                    <a:pt x="819238" y="7400"/>
                    <a:pt x="832410" y="20572"/>
                  </a:cubicBezTo>
                  <a:cubicBezTo>
                    <a:pt x="845582" y="33744"/>
                    <a:pt x="852982" y="51610"/>
                    <a:pt x="852982" y="70238"/>
                  </a:cubicBezTo>
                  <a:lnTo>
                    <a:pt x="852982" y="1467529"/>
                  </a:lnTo>
                  <a:cubicBezTo>
                    <a:pt x="852982" y="1506320"/>
                    <a:pt x="821536" y="1537767"/>
                    <a:pt x="782744" y="1537767"/>
                  </a:cubicBezTo>
                  <a:lnTo>
                    <a:pt x="70238" y="1537767"/>
                  </a:lnTo>
                  <a:cubicBezTo>
                    <a:pt x="51610" y="1537767"/>
                    <a:pt x="33744" y="1530367"/>
                    <a:pt x="20572" y="1517195"/>
                  </a:cubicBezTo>
                  <a:cubicBezTo>
                    <a:pt x="7400" y="1504023"/>
                    <a:pt x="0" y="1486157"/>
                    <a:pt x="0" y="1467529"/>
                  </a:cubicBezTo>
                  <a:lnTo>
                    <a:pt x="0" y="70238"/>
                  </a:lnTo>
                  <a:cubicBezTo>
                    <a:pt x="0" y="31447"/>
                    <a:pt x="31447" y="0"/>
                    <a:pt x="70238" y="0"/>
                  </a:cubicBezTo>
                  <a:close/>
                </a:path>
              </a:pathLst>
            </a:custGeom>
            <a:blipFill>
              <a:blip r:embed="rId5"/>
              <a:stretch>
                <a:fillRect l="-1380" r="-1380"/>
              </a:stretch>
            </a:blipFill>
            <a:ln w="9525" cap="sq">
              <a:solidFill>
                <a:srgbClr val="424141"/>
              </a:solidFill>
              <a:prstDash val="solid"/>
              <a:miter/>
            </a:ln>
          </p:spPr>
          <p:txBody>
            <a:bodyPr/>
            <a:lstStyle/>
            <a:p>
              <a:endParaRPr lang="en-US"/>
            </a:p>
          </p:txBody>
        </p:sp>
      </p:grpSp>
      <p:sp>
        <p:nvSpPr>
          <p:cNvPr id="20" name="Freeform 20"/>
          <p:cNvSpPr/>
          <p:nvPr/>
        </p:nvSpPr>
        <p:spPr>
          <a:xfrm flipH="1">
            <a:off x="10472692" y="2349577"/>
            <a:ext cx="752040" cy="653335"/>
          </a:xfrm>
          <a:custGeom>
            <a:avLst/>
            <a:gdLst/>
            <a:ahLst/>
            <a:cxnLst/>
            <a:rect l="l" t="t" r="r" b="b"/>
            <a:pathLst>
              <a:path w="752040" h="653335">
                <a:moveTo>
                  <a:pt x="752040" y="0"/>
                </a:moveTo>
                <a:lnTo>
                  <a:pt x="0" y="0"/>
                </a:lnTo>
                <a:lnTo>
                  <a:pt x="0" y="653335"/>
                </a:lnTo>
                <a:lnTo>
                  <a:pt x="752040" y="653335"/>
                </a:lnTo>
                <a:lnTo>
                  <a:pt x="75204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1" name="AutoShape 21"/>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2" name="AutoShape 22"/>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3" name="AutoShape 23"/>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4" name="Freeform 24"/>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5" name="Group 25"/>
          <p:cNvGrpSpPr/>
          <p:nvPr/>
        </p:nvGrpSpPr>
        <p:grpSpPr>
          <a:xfrm>
            <a:off x="2836124" y="3002912"/>
            <a:ext cx="3669555" cy="621325"/>
            <a:chOff x="0" y="0"/>
            <a:chExt cx="2548795" cy="431559"/>
          </a:xfrm>
        </p:grpSpPr>
        <p:sp>
          <p:nvSpPr>
            <p:cNvPr id="26" name="Freeform 26"/>
            <p:cNvSpPr/>
            <p:nvPr/>
          </p:nvSpPr>
          <p:spPr>
            <a:xfrm>
              <a:off x="0" y="0"/>
              <a:ext cx="2548796" cy="431559"/>
            </a:xfrm>
            <a:custGeom>
              <a:avLst/>
              <a:gdLst/>
              <a:ahLst/>
              <a:cxnLst/>
              <a:rect l="l" t="t" r="r" b="b"/>
              <a:pathLst>
                <a:path w="2548796" h="431559">
                  <a:moveTo>
                    <a:pt x="27427" y="0"/>
                  </a:moveTo>
                  <a:lnTo>
                    <a:pt x="2521369" y="0"/>
                  </a:lnTo>
                  <a:cubicBezTo>
                    <a:pt x="2528643" y="0"/>
                    <a:pt x="2535619" y="2890"/>
                    <a:pt x="2540762" y="8033"/>
                  </a:cubicBezTo>
                  <a:cubicBezTo>
                    <a:pt x="2545906" y="13177"/>
                    <a:pt x="2548796" y="20153"/>
                    <a:pt x="2548796" y="27427"/>
                  </a:cubicBezTo>
                  <a:lnTo>
                    <a:pt x="2548796" y="404132"/>
                  </a:lnTo>
                  <a:cubicBezTo>
                    <a:pt x="2548796" y="411406"/>
                    <a:pt x="2545906" y="418382"/>
                    <a:pt x="2540762" y="423526"/>
                  </a:cubicBezTo>
                  <a:cubicBezTo>
                    <a:pt x="2535619" y="428670"/>
                    <a:pt x="2528643" y="431559"/>
                    <a:pt x="2521369" y="431559"/>
                  </a:cubicBezTo>
                  <a:lnTo>
                    <a:pt x="27427" y="431559"/>
                  </a:lnTo>
                  <a:cubicBezTo>
                    <a:pt x="20153" y="431559"/>
                    <a:pt x="13177" y="428670"/>
                    <a:pt x="8033" y="423526"/>
                  </a:cubicBezTo>
                  <a:cubicBezTo>
                    <a:pt x="2890" y="418382"/>
                    <a:pt x="0" y="411406"/>
                    <a:pt x="0" y="404132"/>
                  </a:cubicBezTo>
                  <a:lnTo>
                    <a:pt x="0" y="27427"/>
                  </a:lnTo>
                  <a:cubicBezTo>
                    <a:pt x="0" y="20153"/>
                    <a:pt x="2890" y="13177"/>
                    <a:pt x="8033" y="8033"/>
                  </a:cubicBezTo>
                  <a:cubicBezTo>
                    <a:pt x="13177" y="2890"/>
                    <a:pt x="20153" y="0"/>
                    <a:pt x="27427" y="0"/>
                  </a:cubicBezTo>
                  <a:close/>
                </a:path>
              </a:pathLst>
            </a:custGeom>
            <a:solidFill>
              <a:srgbClr val="FFFFFF"/>
            </a:solidFill>
            <a:ln w="9525" cap="sq">
              <a:solidFill>
                <a:srgbClr val="424141"/>
              </a:solidFill>
              <a:prstDash val="solid"/>
              <a:miter/>
            </a:ln>
          </p:spPr>
          <p:txBody>
            <a:bodyPr/>
            <a:lstStyle/>
            <a:p>
              <a:endParaRPr lang="en-US"/>
            </a:p>
          </p:txBody>
        </p:sp>
        <p:sp>
          <p:nvSpPr>
            <p:cNvPr id="27" name="TextBox 27"/>
            <p:cNvSpPr txBox="1"/>
            <p:nvPr/>
          </p:nvSpPr>
          <p:spPr>
            <a:xfrm>
              <a:off x="0" y="28575"/>
              <a:ext cx="2548795" cy="402984"/>
            </a:xfrm>
            <a:prstGeom prst="rect">
              <a:avLst/>
            </a:prstGeom>
          </p:spPr>
          <p:txBody>
            <a:bodyPr lIns="39013" tIns="39013" rIns="39013" bIns="39013" rtlCol="0" anchor="ctr"/>
            <a:lstStyle/>
            <a:p>
              <a:pPr marL="0" lvl="0" indent="0" algn="ctr">
                <a:lnSpc>
                  <a:spcPts val="1297"/>
                </a:lnSpc>
              </a:pPr>
              <a:endParaRPr/>
            </a:p>
          </p:txBody>
        </p:sp>
      </p:grpSp>
      <p:sp>
        <p:nvSpPr>
          <p:cNvPr id="28" name="Freeform 28"/>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9" name="TextBox 29"/>
          <p:cNvSpPr txBox="1"/>
          <p:nvPr/>
        </p:nvSpPr>
        <p:spPr>
          <a:xfrm>
            <a:off x="2870400" y="1994061"/>
            <a:ext cx="8845603" cy="860124"/>
          </a:xfrm>
          <a:prstGeom prst="rect">
            <a:avLst/>
          </a:prstGeom>
        </p:spPr>
        <p:txBody>
          <a:bodyPr lIns="0" tIns="0" rIns="0" bIns="0" rtlCol="0" anchor="t">
            <a:spAutoFit/>
          </a:bodyPr>
          <a:lstStyle/>
          <a:p>
            <a:pPr marL="0" lvl="0" indent="0" algn="l">
              <a:lnSpc>
                <a:spcPts val="6470"/>
              </a:lnSpc>
            </a:pPr>
            <a:r>
              <a:rPr lang="en-US" sz="6536" b="1" spc="-405">
                <a:solidFill>
                  <a:srgbClr val="424141"/>
                </a:solidFill>
                <a:latin typeface="Aptos Bold"/>
                <a:ea typeface="Aptos Bold"/>
                <a:cs typeface="Aptos Bold"/>
                <a:sym typeface="Aptos Bold"/>
              </a:rPr>
              <a:t>Ý TƯỞNG GIẢI PHÁP</a:t>
            </a:r>
          </a:p>
        </p:txBody>
      </p:sp>
      <p:sp>
        <p:nvSpPr>
          <p:cNvPr id="30" name="TextBox 30"/>
          <p:cNvSpPr txBox="1"/>
          <p:nvPr/>
        </p:nvSpPr>
        <p:spPr>
          <a:xfrm>
            <a:off x="2952598" y="3202637"/>
            <a:ext cx="3152145" cy="251947"/>
          </a:xfrm>
          <a:prstGeom prst="rect">
            <a:avLst/>
          </a:prstGeom>
        </p:spPr>
        <p:txBody>
          <a:bodyPr lIns="0" tIns="0" rIns="0" bIns="0" rtlCol="0" anchor="t">
            <a:spAutoFit/>
          </a:bodyPr>
          <a:lstStyle/>
          <a:p>
            <a:pPr marL="0" lvl="0" indent="0" algn="ctr">
              <a:lnSpc>
                <a:spcPts val="1996"/>
              </a:lnSpc>
            </a:pPr>
            <a:r>
              <a:rPr lang="en-US" sz="1691" b="1" spc="-11">
                <a:solidFill>
                  <a:srgbClr val="424141"/>
                </a:solidFill>
                <a:latin typeface="Aptos Bold"/>
                <a:ea typeface="Aptos Bold"/>
                <a:cs typeface="Aptos Bold"/>
                <a:sym typeface="Aptos Bold"/>
              </a:rPr>
              <a:t>AI trong Harness Engineering</a:t>
            </a:r>
          </a:p>
        </p:txBody>
      </p:sp>
      <p:sp>
        <p:nvSpPr>
          <p:cNvPr id="31" name="TextBox 31"/>
          <p:cNvSpPr txBox="1"/>
          <p:nvPr/>
        </p:nvSpPr>
        <p:spPr>
          <a:xfrm>
            <a:off x="3191448" y="819168"/>
            <a:ext cx="1535587" cy="274862"/>
          </a:xfrm>
          <a:prstGeom prst="rect">
            <a:avLst/>
          </a:prstGeom>
        </p:spPr>
        <p:txBody>
          <a:bodyPr lIns="0" tIns="0" rIns="0" bIns="0" rtlCol="0" anchor="t">
            <a:spAutoFit/>
          </a:bodyPr>
          <a:lstStyle/>
          <a:p>
            <a:pPr marL="0" lvl="0" indent="0" algn="l">
              <a:lnSpc>
                <a:spcPts val="2070"/>
              </a:lnSpc>
            </a:pPr>
            <a:r>
              <a:rPr lang="en-US" sz="2091" spc="-77">
                <a:solidFill>
                  <a:srgbClr val="424141"/>
                </a:solidFill>
                <a:latin typeface="Aptos"/>
                <a:ea typeface="Aptos"/>
                <a:cs typeface="Aptos"/>
                <a:sym typeface="Aptos"/>
              </a:rPr>
              <a:t>AURA AI</a:t>
            </a:r>
          </a:p>
        </p:txBody>
      </p:sp>
      <p:sp>
        <p:nvSpPr>
          <p:cNvPr id="32" name="TextBox 32"/>
          <p:cNvSpPr txBox="1"/>
          <p:nvPr/>
        </p:nvSpPr>
        <p:spPr>
          <a:xfrm>
            <a:off x="4347819" y="819168"/>
            <a:ext cx="1535587" cy="274862"/>
          </a:xfrm>
          <a:prstGeom prst="rect">
            <a:avLst/>
          </a:prstGeom>
        </p:spPr>
        <p:txBody>
          <a:bodyPr lIns="0" tIns="0" rIns="0" bIns="0" rtlCol="0" anchor="t">
            <a:spAutoFit/>
          </a:bodyPr>
          <a:lstStyle/>
          <a:p>
            <a:pPr marL="0" lvl="0" indent="0" algn="l">
              <a:lnSpc>
                <a:spcPts val="2070"/>
              </a:lnSpc>
            </a:pPr>
            <a:r>
              <a:rPr lang="en-US" sz="2091" b="1" spc="-77">
                <a:solidFill>
                  <a:srgbClr val="424141"/>
                </a:solidFill>
                <a:latin typeface="Aptos Bold"/>
                <a:ea typeface="Aptos Bold"/>
                <a:cs typeface="Aptos Bold"/>
                <a:sym typeface="Aptos Bold"/>
              </a:rPr>
              <a:t>Sale Advisor</a:t>
            </a:r>
          </a:p>
        </p:txBody>
      </p:sp>
      <p:sp>
        <p:nvSpPr>
          <p:cNvPr id="33" name="TextBox 33"/>
          <p:cNvSpPr txBox="1"/>
          <p:nvPr/>
        </p:nvSpPr>
        <p:spPr>
          <a:xfrm>
            <a:off x="2403333" y="8543145"/>
            <a:ext cx="8041946" cy="1414173"/>
          </a:xfrm>
          <a:prstGeom prst="rect">
            <a:avLst/>
          </a:prstGeom>
        </p:spPr>
        <p:txBody>
          <a:bodyPr lIns="0" tIns="0" rIns="0" bIns="0" rtlCol="0" anchor="t">
            <a:spAutoFit/>
          </a:bodyPr>
          <a:lstStyle/>
          <a:p>
            <a:pPr marL="0" lvl="0" indent="0" algn="just">
              <a:lnSpc>
                <a:spcPts val="2270"/>
              </a:lnSpc>
            </a:pPr>
            <a:r>
              <a:rPr lang="en-US" sz="1484" spc="-54">
                <a:solidFill>
                  <a:srgbClr val="424141"/>
                </a:solidFill>
                <a:latin typeface="Aptos"/>
                <a:ea typeface="Aptos"/>
                <a:cs typeface="Aptos"/>
                <a:sym typeface="Aptos"/>
              </a:rPr>
              <a:t>Các lớp Harness bao bọc LLM:</a:t>
            </a:r>
          </a:p>
          <a:p>
            <a:pPr marL="0" lvl="0" indent="0" algn="just">
              <a:lnSpc>
                <a:spcPts val="2270"/>
              </a:lnSpc>
            </a:pPr>
            <a:r>
              <a:rPr lang="en-US" sz="1484" spc="-54">
                <a:solidFill>
                  <a:srgbClr val="424141"/>
                </a:solidFill>
                <a:latin typeface="Aptos"/>
                <a:ea typeface="Aptos"/>
                <a:cs typeface="Aptos"/>
                <a:sym typeface="Aptos"/>
              </a:rPr>
              <a:t>State → QueryFrame → Retrieval → Evidence → Verifier → Contract → Trace</a:t>
            </a:r>
          </a:p>
          <a:p>
            <a:pPr marL="0" lvl="0" indent="0" algn="just">
              <a:lnSpc>
                <a:spcPts val="2270"/>
              </a:lnSpc>
            </a:pPr>
            <a:r>
              <a:rPr lang="en-US" sz="1484" spc="-54">
                <a:solidFill>
                  <a:srgbClr val="424141"/>
                </a:solidFill>
                <a:latin typeface="Aptos"/>
                <a:ea typeface="Aptos"/>
                <a:cs typeface="Aptos"/>
                <a:sym typeface="Aptos"/>
              </a:rPr>
              <a:t>• Harness là lớp kiểm soát trung tâm.</a:t>
            </a:r>
          </a:p>
          <a:p>
            <a:pPr marL="0" lvl="0" indent="0" algn="just">
              <a:lnSpc>
                <a:spcPts val="2270"/>
              </a:lnSpc>
            </a:pPr>
            <a:r>
              <a:rPr lang="en-US" sz="1484" spc="-54">
                <a:solidFill>
                  <a:srgbClr val="424141"/>
                </a:solidFill>
                <a:latin typeface="Aptos"/>
                <a:ea typeface="Aptos"/>
                <a:cs typeface="Aptos"/>
                <a:sym typeface="Aptos"/>
              </a:rPr>
              <a:t>• Mỗi bước đều có trace và kiểm chứng.</a:t>
            </a:r>
          </a:p>
          <a:p>
            <a:pPr marL="0" lvl="0" indent="0" algn="just">
              <a:lnSpc>
                <a:spcPts val="2270"/>
              </a:lnSpc>
            </a:pPr>
            <a:r>
              <a:rPr lang="en-US" sz="1484" spc="-54">
                <a:solidFill>
                  <a:srgbClr val="424141"/>
                </a:solidFill>
                <a:latin typeface="Aptos"/>
                <a:ea typeface="Aptos"/>
                <a:cs typeface="Aptos"/>
                <a:sym typeface="Aptos"/>
              </a:rPr>
              <a:t>• Đảm bảo bám sát dữ liệu và đòng bộ với UI</a:t>
            </a:r>
          </a:p>
        </p:txBody>
      </p:sp>
      <p:grpSp>
        <p:nvGrpSpPr>
          <p:cNvPr id="34" name="Group 34"/>
          <p:cNvGrpSpPr/>
          <p:nvPr/>
        </p:nvGrpSpPr>
        <p:grpSpPr>
          <a:xfrm>
            <a:off x="16463037" y="1217359"/>
            <a:ext cx="419749" cy="419749"/>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24141"/>
              </a:solidFill>
              <a:prstDash val="solid"/>
              <a:miter/>
            </a:ln>
          </p:spPr>
          <p:txBody>
            <a:bodyPr/>
            <a:lstStyle/>
            <a:p>
              <a:endParaRPr lang="en-US"/>
            </a:p>
          </p:txBody>
        </p:sp>
        <p:sp>
          <p:nvSpPr>
            <p:cNvPr id="36" name="TextBox 36"/>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37" name="Group 37"/>
          <p:cNvGrpSpPr/>
          <p:nvPr/>
        </p:nvGrpSpPr>
        <p:grpSpPr>
          <a:xfrm>
            <a:off x="16043288" y="1217359"/>
            <a:ext cx="419749" cy="419749"/>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424141"/>
              </a:solidFill>
              <a:prstDash val="solid"/>
              <a:miter/>
            </a:ln>
          </p:spPr>
          <p:txBody>
            <a:bodyPr/>
            <a:lstStyle/>
            <a:p>
              <a:endParaRPr lang="en-US"/>
            </a:p>
          </p:txBody>
        </p:sp>
        <p:sp>
          <p:nvSpPr>
            <p:cNvPr id="39" name="TextBox 39"/>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40" name="Group 40"/>
          <p:cNvGrpSpPr/>
          <p:nvPr/>
        </p:nvGrpSpPr>
        <p:grpSpPr>
          <a:xfrm>
            <a:off x="15628905" y="1244010"/>
            <a:ext cx="419749" cy="419749"/>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574C"/>
            </a:solidFill>
            <a:ln w="19050" cap="sq">
              <a:solidFill>
                <a:srgbClr val="424141"/>
              </a:solidFill>
              <a:prstDash val="solid"/>
              <a:miter/>
            </a:ln>
          </p:spPr>
          <p:txBody>
            <a:bodyPr/>
            <a:lstStyle/>
            <a:p>
              <a:endParaRPr lang="en-US"/>
            </a:p>
          </p:txBody>
        </p:sp>
        <p:sp>
          <p:nvSpPr>
            <p:cNvPr id="42" name="TextBox 42"/>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43" name="Freeform 43"/>
          <p:cNvSpPr/>
          <p:nvPr/>
        </p:nvSpPr>
        <p:spPr>
          <a:xfrm>
            <a:off x="12672422" y="1028700"/>
            <a:ext cx="805826" cy="805826"/>
          </a:xfrm>
          <a:custGeom>
            <a:avLst/>
            <a:gdLst/>
            <a:ahLst/>
            <a:cxnLst/>
            <a:rect l="l" t="t" r="r" b="b"/>
            <a:pathLst>
              <a:path w="805826" h="805826">
                <a:moveTo>
                  <a:pt x="0" y="0"/>
                </a:moveTo>
                <a:lnTo>
                  <a:pt x="805826" y="0"/>
                </a:lnTo>
                <a:lnTo>
                  <a:pt x="805826" y="805826"/>
                </a:lnTo>
                <a:lnTo>
                  <a:pt x="0" y="805826"/>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44" name="Freeform 44"/>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45" name="Freeform 45"/>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46" name="Freeform 46"/>
          <p:cNvSpPr/>
          <p:nvPr/>
        </p:nvSpPr>
        <p:spPr>
          <a:xfrm>
            <a:off x="2403333" y="660945"/>
            <a:ext cx="645033" cy="494917"/>
          </a:xfrm>
          <a:custGeom>
            <a:avLst/>
            <a:gdLst/>
            <a:ahLst/>
            <a:cxnLst/>
            <a:rect l="l" t="t" r="r" b="b"/>
            <a:pathLst>
              <a:path w="645033" h="494917">
                <a:moveTo>
                  <a:pt x="0" y="0"/>
                </a:moveTo>
                <a:lnTo>
                  <a:pt x="645034" y="0"/>
                </a:lnTo>
                <a:lnTo>
                  <a:pt x="645034" y="494916"/>
                </a:lnTo>
                <a:lnTo>
                  <a:pt x="0" y="494916"/>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grpSp>
        <p:nvGrpSpPr>
          <p:cNvPr id="47" name="Group 47"/>
          <p:cNvGrpSpPr/>
          <p:nvPr/>
        </p:nvGrpSpPr>
        <p:grpSpPr>
          <a:xfrm>
            <a:off x="5010635" y="4223611"/>
            <a:ext cx="1964076" cy="1997174"/>
            <a:chOff x="0" y="0"/>
            <a:chExt cx="812800" cy="826497"/>
          </a:xfrm>
        </p:grpSpPr>
        <p:sp>
          <p:nvSpPr>
            <p:cNvPr id="48" name="Freeform 48"/>
            <p:cNvSpPr/>
            <p:nvPr/>
          </p:nvSpPr>
          <p:spPr>
            <a:xfrm>
              <a:off x="0" y="0"/>
              <a:ext cx="812800" cy="826497"/>
            </a:xfrm>
            <a:custGeom>
              <a:avLst/>
              <a:gdLst/>
              <a:ahLst/>
              <a:cxnLst/>
              <a:rect l="l" t="t" r="r" b="b"/>
              <a:pathLst>
                <a:path w="812800" h="826497">
                  <a:moveTo>
                    <a:pt x="406400" y="0"/>
                  </a:moveTo>
                  <a:cubicBezTo>
                    <a:pt x="181951" y="0"/>
                    <a:pt x="0" y="185018"/>
                    <a:pt x="0" y="413249"/>
                  </a:cubicBezTo>
                  <a:cubicBezTo>
                    <a:pt x="0" y="641480"/>
                    <a:pt x="181951" y="826497"/>
                    <a:pt x="406400" y="826497"/>
                  </a:cubicBezTo>
                  <a:cubicBezTo>
                    <a:pt x="630849" y="826497"/>
                    <a:pt x="812800" y="641480"/>
                    <a:pt x="812800" y="413249"/>
                  </a:cubicBezTo>
                  <a:cubicBezTo>
                    <a:pt x="812800" y="185018"/>
                    <a:pt x="630849" y="0"/>
                    <a:pt x="406400" y="0"/>
                  </a:cubicBezTo>
                  <a:close/>
                </a:path>
              </a:pathLst>
            </a:custGeom>
            <a:solidFill>
              <a:srgbClr val="FFFFFF"/>
            </a:solidFill>
            <a:ln w="723900" cap="sq">
              <a:solidFill>
                <a:srgbClr val="BEF522"/>
              </a:solidFill>
              <a:prstDash val="solid"/>
              <a:miter/>
            </a:ln>
          </p:spPr>
          <p:txBody>
            <a:bodyPr/>
            <a:lstStyle/>
            <a:p>
              <a:endParaRPr lang="en-US"/>
            </a:p>
          </p:txBody>
        </p:sp>
        <p:sp>
          <p:nvSpPr>
            <p:cNvPr id="49" name="TextBox 49"/>
            <p:cNvSpPr txBox="1"/>
            <p:nvPr/>
          </p:nvSpPr>
          <p:spPr>
            <a:xfrm>
              <a:off x="76200" y="39384"/>
              <a:ext cx="660400" cy="709629"/>
            </a:xfrm>
            <a:prstGeom prst="rect">
              <a:avLst/>
            </a:prstGeom>
          </p:spPr>
          <p:txBody>
            <a:bodyPr lIns="102400" tIns="102400" rIns="102400" bIns="102400" rtlCol="0" anchor="ctr"/>
            <a:lstStyle/>
            <a:p>
              <a:pPr marL="0" lvl="0" indent="0" algn="ctr">
                <a:lnSpc>
                  <a:spcPts val="2799"/>
                </a:lnSpc>
                <a:spcBef>
                  <a:spcPct val="0"/>
                </a:spcBef>
              </a:pPr>
              <a:endParaRPr/>
            </a:p>
          </p:txBody>
        </p:sp>
      </p:grpSp>
      <p:grpSp>
        <p:nvGrpSpPr>
          <p:cNvPr id="50" name="Group 50"/>
          <p:cNvGrpSpPr/>
          <p:nvPr/>
        </p:nvGrpSpPr>
        <p:grpSpPr>
          <a:xfrm>
            <a:off x="7384924" y="4298853"/>
            <a:ext cx="1886740" cy="1918536"/>
            <a:chOff x="0" y="0"/>
            <a:chExt cx="812800" cy="826497"/>
          </a:xfrm>
        </p:grpSpPr>
        <p:sp>
          <p:nvSpPr>
            <p:cNvPr id="51" name="Freeform 51"/>
            <p:cNvSpPr/>
            <p:nvPr/>
          </p:nvSpPr>
          <p:spPr>
            <a:xfrm>
              <a:off x="0" y="0"/>
              <a:ext cx="812800" cy="826497"/>
            </a:xfrm>
            <a:custGeom>
              <a:avLst/>
              <a:gdLst/>
              <a:ahLst/>
              <a:cxnLst/>
              <a:rect l="l" t="t" r="r" b="b"/>
              <a:pathLst>
                <a:path w="812800" h="826497">
                  <a:moveTo>
                    <a:pt x="406400" y="0"/>
                  </a:moveTo>
                  <a:cubicBezTo>
                    <a:pt x="181951" y="0"/>
                    <a:pt x="0" y="185018"/>
                    <a:pt x="0" y="413249"/>
                  </a:cubicBezTo>
                  <a:cubicBezTo>
                    <a:pt x="0" y="641480"/>
                    <a:pt x="181951" y="826497"/>
                    <a:pt x="406400" y="826497"/>
                  </a:cubicBezTo>
                  <a:cubicBezTo>
                    <a:pt x="630849" y="826497"/>
                    <a:pt x="812800" y="641480"/>
                    <a:pt x="812800" y="413249"/>
                  </a:cubicBezTo>
                  <a:cubicBezTo>
                    <a:pt x="812800" y="185018"/>
                    <a:pt x="630849" y="0"/>
                    <a:pt x="406400" y="0"/>
                  </a:cubicBezTo>
                  <a:close/>
                </a:path>
              </a:pathLst>
            </a:custGeom>
            <a:solidFill>
              <a:srgbClr val="4B43C5"/>
            </a:solidFill>
            <a:ln w="723900" cap="sq">
              <a:solidFill>
                <a:srgbClr val="7C46F8"/>
              </a:solidFill>
              <a:prstDash val="solid"/>
              <a:miter/>
            </a:ln>
          </p:spPr>
          <p:txBody>
            <a:bodyPr/>
            <a:lstStyle/>
            <a:p>
              <a:endParaRPr lang="en-US"/>
            </a:p>
          </p:txBody>
        </p:sp>
        <p:sp>
          <p:nvSpPr>
            <p:cNvPr id="52" name="TextBox 52"/>
            <p:cNvSpPr txBox="1"/>
            <p:nvPr/>
          </p:nvSpPr>
          <p:spPr>
            <a:xfrm>
              <a:off x="76200" y="39384"/>
              <a:ext cx="660400" cy="709629"/>
            </a:xfrm>
            <a:prstGeom prst="rect">
              <a:avLst/>
            </a:prstGeom>
          </p:spPr>
          <p:txBody>
            <a:bodyPr lIns="102400" tIns="102400" rIns="102400" bIns="102400" rtlCol="0" anchor="ctr"/>
            <a:lstStyle/>
            <a:p>
              <a:pPr marL="0" lvl="0" indent="0" algn="ctr">
                <a:lnSpc>
                  <a:spcPts val="2799"/>
                </a:lnSpc>
                <a:spcBef>
                  <a:spcPct val="0"/>
                </a:spcBef>
              </a:pPr>
              <a:endParaRPr/>
            </a:p>
          </p:txBody>
        </p:sp>
      </p:grpSp>
      <p:grpSp>
        <p:nvGrpSpPr>
          <p:cNvPr id="53" name="Group 53"/>
          <p:cNvGrpSpPr/>
          <p:nvPr/>
        </p:nvGrpSpPr>
        <p:grpSpPr>
          <a:xfrm>
            <a:off x="4888960" y="6217389"/>
            <a:ext cx="1995062" cy="2028683"/>
            <a:chOff x="0" y="0"/>
            <a:chExt cx="812800" cy="826497"/>
          </a:xfrm>
        </p:grpSpPr>
        <p:sp>
          <p:nvSpPr>
            <p:cNvPr id="54" name="Freeform 54"/>
            <p:cNvSpPr/>
            <p:nvPr/>
          </p:nvSpPr>
          <p:spPr>
            <a:xfrm>
              <a:off x="0" y="0"/>
              <a:ext cx="812800" cy="826497"/>
            </a:xfrm>
            <a:custGeom>
              <a:avLst/>
              <a:gdLst/>
              <a:ahLst/>
              <a:cxnLst/>
              <a:rect l="l" t="t" r="r" b="b"/>
              <a:pathLst>
                <a:path w="812800" h="826497">
                  <a:moveTo>
                    <a:pt x="406400" y="0"/>
                  </a:moveTo>
                  <a:cubicBezTo>
                    <a:pt x="181951" y="0"/>
                    <a:pt x="0" y="185018"/>
                    <a:pt x="0" y="413249"/>
                  </a:cubicBezTo>
                  <a:cubicBezTo>
                    <a:pt x="0" y="641480"/>
                    <a:pt x="181951" y="826497"/>
                    <a:pt x="406400" y="826497"/>
                  </a:cubicBezTo>
                  <a:cubicBezTo>
                    <a:pt x="630849" y="826497"/>
                    <a:pt x="812800" y="641480"/>
                    <a:pt x="812800" y="413249"/>
                  </a:cubicBezTo>
                  <a:cubicBezTo>
                    <a:pt x="812800" y="185018"/>
                    <a:pt x="630849" y="0"/>
                    <a:pt x="406400" y="0"/>
                  </a:cubicBezTo>
                  <a:close/>
                </a:path>
              </a:pathLst>
            </a:custGeom>
            <a:solidFill>
              <a:srgbClr val="FFC05A"/>
            </a:solidFill>
            <a:ln w="723900" cap="sq">
              <a:solidFill>
                <a:srgbClr val="FF8715"/>
              </a:solidFill>
              <a:prstDash val="solid"/>
              <a:miter/>
            </a:ln>
          </p:spPr>
          <p:txBody>
            <a:bodyPr/>
            <a:lstStyle/>
            <a:p>
              <a:endParaRPr lang="en-US"/>
            </a:p>
          </p:txBody>
        </p:sp>
        <p:sp>
          <p:nvSpPr>
            <p:cNvPr id="55" name="TextBox 55"/>
            <p:cNvSpPr txBox="1"/>
            <p:nvPr/>
          </p:nvSpPr>
          <p:spPr>
            <a:xfrm>
              <a:off x="76200" y="39384"/>
              <a:ext cx="660400" cy="709629"/>
            </a:xfrm>
            <a:prstGeom prst="rect">
              <a:avLst/>
            </a:prstGeom>
          </p:spPr>
          <p:txBody>
            <a:bodyPr lIns="102400" tIns="102400" rIns="102400" bIns="102400" rtlCol="0" anchor="ctr"/>
            <a:lstStyle/>
            <a:p>
              <a:pPr marL="0" lvl="0" indent="0" algn="ctr">
                <a:lnSpc>
                  <a:spcPts val="2799"/>
                </a:lnSpc>
                <a:spcBef>
                  <a:spcPct val="0"/>
                </a:spcBef>
              </a:pPr>
              <a:endParaRPr/>
            </a:p>
          </p:txBody>
        </p:sp>
      </p:grpSp>
      <p:grpSp>
        <p:nvGrpSpPr>
          <p:cNvPr id="56" name="Group 56"/>
          <p:cNvGrpSpPr/>
          <p:nvPr/>
        </p:nvGrpSpPr>
        <p:grpSpPr>
          <a:xfrm>
            <a:off x="7472974" y="6217389"/>
            <a:ext cx="1886740" cy="1918536"/>
            <a:chOff x="0" y="0"/>
            <a:chExt cx="812800" cy="826497"/>
          </a:xfrm>
        </p:grpSpPr>
        <p:sp>
          <p:nvSpPr>
            <p:cNvPr id="57" name="Freeform 57"/>
            <p:cNvSpPr/>
            <p:nvPr/>
          </p:nvSpPr>
          <p:spPr>
            <a:xfrm>
              <a:off x="0" y="0"/>
              <a:ext cx="812800" cy="826497"/>
            </a:xfrm>
            <a:custGeom>
              <a:avLst/>
              <a:gdLst/>
              <a:ahLst/>
              <a:cxnLst/>
              <a:rect l="l" t="t" r="r" b="b"/>
              <a:pathLst>
                <a:path w="812800" h="826497">
                  <a:moveTo>
                    <a:pt x="406400" y="0"/>
                  </a:moveTo>
                  <a:cubicBezTo>
                    <a:pt x="181951" y="0"/>
                    <a:pt x="0" y="185018"/>
                    <a:pt x="0" y="413249"/>
                  </a:cubicBezTo>
                  <a:cubicBezTo>
                    <a:pt x="0" y="641480"/>
                    <a:pt x="181951" y="826497"/>
                    <a:pt x="406400" y="826497"/>
                  </a:cubicBezTo>
                  <a:cubicBezTo>
                    <a:pt x="630849" y="826497"/>
                    <a:pt x="812800" y="641480"/>
                    <a:pt x="812800" y="413249"/>
                  </a:cubicBezTo>
                  <a:cubicBezTo>
                    <a:pt x="812800" y="185018"/>
                    <a:pt x="630849" y="0"/>
                    <a:pt x="406400" y="0"/>
                  </a:cubicBezTo>
                  <a:close/>
                </a:path>
              </a:pathLst>
            </a:custGeom>
            <a:solidFill>
              <a:srgbClr val="FFFFFF"/>
            </a:solidFill>
            <a:ln w="723900" cap="sq">
              <a:solidFill>
                <a:srgbClr val="FB51A2"/>
              </a:solidFill>
              <a:prstDash val="solid"/>
              <a:miter/>
            </a:ln>
          </p:spPr>
          <p:txBody>
            <a:bodyPr/>
            <a:lstStyle/>
            <a:p>
              <a:endParaRPr lang="en-US"/>
            </a:p>
          </p:txBody>
        </p:sp>
        <p:sp>
          <p:nvSpPr>
            <p:cNvPr id="58" name="TextBox 58"/>
            <p:cNvSpPr txBox="1"/>
            <p:nvPr/>
          </p:nvSpPr>
          <p:spPr>
            <a:xfrm>
              <a:off x="76200" y="39384"/>
              <a:ext cx="660400" cy="709629"/>
            </a:xfrm>
            <a:prstGeom prst="rect">
              <a:avLst/>
            </a:prstGeom>
          </p:spPr>
          <p:txBody>
            <a:bodyPr lIns="102400" tIns="102400" rIns="102400" bIns="102400" rtlCol="0" anchor="ctr"/>
            <a:lstStyle/>
            <a:p>
              <a:pPr marL="0" lvl="0" indent="0" algn="ctr">
                <a:lnSpc>
                  <a:spcPts val="2799"/>
                </a:lnSpc>
                <a:spcBef>
                  <a:spcPct val="0"/>
                </a:spcBef>
              </a:pPr>
              <a:endParaRPr/>
            </a:p>
          </p:txBody>
        </p:sp>
      </p:grpSp>
      <p:grpSp>
        <p:nvGrpSpPr>
          <p:cNvPr id="59" name="Group 59"/>
          <p:cNvGrpSpPr/>
          <p:nvPr/>
        </p:nvGrpSpPr>
        <p:grpSpPr>
          <a:xfrm>
            <a:off x="6129052" y="5018738"/>
            <a:ext cx="1919057" cy="1976267"/>
            <a:chOff x="0" y="0"/>
            <a:chExt cx="812800" cy="837031"/>
          </a:xfrm>
        </p:grpSpPr>
        <p:sp>
          <p:nvSpPr>
            <p:cNvPr id="60" name="Freeform 60"/>
            <p:cNvSpPr/>
            <p:nvPr/>
          </p:nvSpPr>
          <p:spPr>
            <a:xfrm>
              <a:off x="0" y="0"/>
              <a:ext cx="812800" cy="837031"/>
            </a:xfrm>
            <a:custGeom>
              <a:avLst/>
              <a:gdLst/>
              <a:ahLst/>
              <a:cxnLst/>
              <a:rect l="l" t="t" r="r" b="b"/>
              <a:pathLst>
                <a:path w="812800" h="837031">
                  <a:moveTo>
                    <a:pt x="406400" y="0"/>
                  </a:moveTo>
                  <a:cubicBezTo>
                    <a:pt x="181951" y="0"/>
                    <a:pt x="0" y="187376"/>
                    <a:pt x="0" y="418516"/>
                  </a:cubicBezTo>
                  <a:cubicBezTo>
                    <a:pt x="0" y="649655"/>
                    <a:pt x="181951" y="837031"/>
                    <a:pt x="406400" y="837031"/>
                  </a:cubicBezTo>
                  <a:cubicBezTo>
                    <a:pt x="630849" y="837031"/>
                    <a:pt x="812800" y="649655"/>
                    <a:pt x="812800" y="418516"/>
                  </a:cubicBezTo>
                  <a:cubicBezTo>
                    <a:pt x="812800" y="187376"/>
                    <a:pt x="630849" y="0"/>
                    <a:pt x="406400" y="0"/>
                  </a:cubicBezTo>
                  <a:close/>
                </a:path>
              </a:pathLst>
            </a:custGeom>
            <a:gradFill rotWithShape="1">
              <a:gsLst>
                <a:gs pos="0">
                  <a:srgbClr val="FFDE59">
                    <a:alpha val="100000"/>
                  </a:srgbClr>
                </a:gs>
                <a:gs pos="100000">
                  <a:srgbClr val="FF914D">
                    <a:alpha val="100000"/>
                  </a:srgbClr>
                </a:gs>
              </a:gsLst>
              <a:lin ang="0"/>
            </a:gradFill>
          </p:spPr>
          <p:txBody>
            <a:bodyPr/>
            <a:lstStyle/>
            <a:p>
              <a:endParaRPr lang="en-US"/>
            </a:p>
          </p:txBody>
        </p:sp>
        <p:sp>
          <p:nvSpPr>
            <p:cNvPr id="61" name="TextBox 61"/>
            <p:cNvSpPr txBox="1"/>
            <p:nvPr/>
          </p:nvSpPr>
          <p:spPr>
            <a:xfrm>
              <a:off x="76200" y="40372"/>
              <a:ext cx="660400" cy="718188"/>
            </a:xfrm>
            <a:prstGeom prst="rect">
              <a:avLst/>
            </a:prstGeom>
          </p:spPr>
          <p:txBody>
            <a:bodyPr lIns="102400" tIns="102400" rIns="102400" bIns="102400" rtlCol="0" anchor="ctr"/>
            <a:lstStyle/>
            <a:p>
              <a:pPr marL="0" lvl="0" indent="0" algn="ctr">
                <a:lnSpc>
                  <a:spcPts val="2799"/>
                </a:lnSpc>
                <a:spcBef>
                  <a:spcPct val="0"/>
                </a:spcBef>
              </a:pPr>
              <a:endParaRPr/>
            </a:p>
          </p:txBody>
        </p:sp>
      </p:grpSp>
      <p:sp>
        <p:nvSpPr>
          <p:cNvPr id="62" name="Freeform 62"/>
          <p:cNvSpPr/>
          <p:nvPr/>
        </p:nvSpPr>
        <p:spPr>
          <a:xfrm>
            <a:off x="6693533" y="5619828"/>
            <a:ext cx="681866" cy="808499"/>
          </a:xfrm>
          <a:custGeom>
            <a:avLst/>
            <a:gdLst/>
            <a:ahLst/>
            <a:cxnLst/>
            <a:rect l="l" t="t" r="r" b="b"/>
            <a:pathLst>
              <a:path w="681866" h="808499">
                <a:moveTo>
                  <a:pt x="0" y="0"/>
                </a:moveTo>
                <a:lnTo>
                  <a:pt x="681866" y="0"/>
                </a:lnTo>
                <a:lnTo>
                  <a:pt x="681866" y="808499"/>
                </a:lnTo>
                <a:lnTo>
                  <a:pt x="0" y="808499"/>
                </a:lnTo>
                <a:lnTo>
                  <a:pt x="0" y="0"/>
                </a:lnTo>
                <a:close/>
              </a:path>
            </a:pathLst>
          </a:custGeom>
          <a:blipFill>
            <a:blip r:embed="rId13"/>
            <a:stretch>
              <a:fillRect/>
            </a:stretch>
          </a:blipFill>
          <a:ln cap="sq">
            <a:noFill/>
            <a:prstDash val="solid"/>
            <a:miter/>
          </a:ln>
        </p:spPr>
        <p:txBody>
          <a:bodyPr/>
          <a:lstStyle/>
          <a:p>
            <a:endParaRPr lang="en-US"/>
          </a:p>
        </p:txBody>
      </p:sp>
      <p:sp>
        <p:nvSpPr>
          <p:cNvPr id="63" name="Freeform 63"/>
          <p:cNvSpPr/>
          <p:nvPr/>
        </p:nvSpPr>
        <p:spPr>
          <a:xfrm>
            <a:off x="8126668" y="6843095"/>
            <a:ext cx="583553" cy="660828"/>
          </a:xfrm>
          <a:custGeom>
            <a:avLst/>
            <a:gdLst/>
            <a:ahLst/>
            <a:cxnLst/>
            <a:rect l="l" t="t" r="r" b="b"/>
            <a:pathLst>
              <a:path w="583553" h="660828">
                <a:moveTo>
                  <a:pt x="0" y="0"/>
                </a:moveTo>
                <a:lnTo>
                  <a:pt x="583553" y="0"/>
                </a:lnTo>
                <a:lnTo>
                  <a:pt x="583553" y="660827"/>
                </a:lnTo>
                <a:lnTo>
                  <a:pt x="0" y="660827"/>
                </a:lnTo>
                <a:lnTo>
                  <a:pt x="0" y="0"/>
                </a:lnTo>
                <a:close/>
              </a:path>
            </a:pathLst>
          </a:custGeom>
          <a:blipFill>
            <a:blip r:embed="rId14"/>
            <a:stretch>
              <a:fillRect/>
            </a:stretch>
          </a:blipFill>
          <a:ln cap="sq">
            <a:noFill/>
            <a:prstDash val="solid"/>
            <a:miter/>
          </a:ln>
        </p:spPr>
        <p:txBody>
          <a:bodyPr/>
          <a:lstStyle/>
          <a:p>
            <a:endParaRPr lang="en-US"/>
          </a:p>
        </p:txBody>
      </p:sp>
      <p:sp>
        <p:nvSpPr>
          <p:cNvPr id="64" name="Freeform 64"/>
          <p:cNvSpPr/>
          <p:nvPr/>
        </p:nvSpPr>
        <p:spPr>
          <a:xfrm>
            <a:off x="5637758" y="6939495"/>
            <a:ext cx="491294" cy="584470"/>
          </a:xfrm>
          <a:custGeom>
            <a:avLst/>
            <a:gdLst/>
            <a:ahLst/>
            <a:cxnLst/>
            <a:rect l="l" t="t" r="r" b="b"/>
            <a:pathLst>
              <a:path w="491294" h="584470">
                <a:moveTo>
                  <a:pt x="0" y="0"/>
                </a:moveTo>
                <a:lnTo>
                  <a:pt x="491294" y="0"/>
                </a:lnTo>
                <a:lnTo>
                  <a:pt x="491294" y="584470"/>
                </a:lnTo>
                <a:lnTo>
                  <a:pt x="0" y="584470"/>
                </a:lnTo>
                <a:lnTo>
                  <a:pt x="0" y="0"/>
                </a:lnTo>
                <a:close/>
              </a:path>
            </a:pathLst>
          </a:custGeom>
          <a:blipFill>
            <a:blip r:embed="rId15"/>
            <a:stretch>
              <a:fillRect/>
            </a:stretch>
          </a:blipFill>
          <a:ln cap="sq">
            <a:noFill/>
            <a:prstDash val="solid"/>
            <a:miter/>
          </a:ln>
        </p:spPr>
        <p:txBody>
          <a:bodyPr/>
          <a:lstStyle/>
          <a:p>
            <a:endParaRPr lang="en-US"/>
          </a:p>
        </p:txBody>
      </p:sp>
      <p:sp>
        <p:nvSpPr>
          <p:cNvPr id="65" name="Freeform 65"/>
          <p:cNvSpPr/>
          <p:nvPr/>
        </p:nvSpPr>
        <p:spPr>
          <a:xfrm>
            <a:off x="5762661" y="4918295"/>
            <a:ext cx="460022" cy="607807"/>
          </a:xfrm>
          <a:custGeom>
            <a:avLst/>
            <a:gdLst/>
            <a:ahLst/>
            <a:cxnLst/>
            <a:rect l="l" t="t" r="r" b="b"/>
            <a:pathLst>
              <a:path w="460022" h="607807">
                <a:moveTo>
                  <a:pt x="0" y="0"/>
                </a:moveTo>
                <a:lnTo>
                  <a:pt x="460022" y="0"/>
                </a:lnTo>
                <a:lnTo>
                  <a:pt x="460022" y="607807"/>
                </a:lnTo>
                <a:lnTo>
                  <a:pt x="0" y="607807"/>
                </a:lnTo>
                <a:lnTo>
                  <a:pt x="0" y="0"/>
                </a:lnTo>
                <a:close/>
              </a:path>
            </a:pathLst>
          </a:custGeom>
          <a:blipFill>
            <a:blip r:embed="rId16"/>
            <a:stretch>
              <a:fillRect/>
            </a:stretch>
          </a:blipFill>
          <a:ln cap="sq">
            <a:noFill/>
            <a:prstDash val="solid"/>
            <a:miter/>
          </a:ln>
        </p:spPr>
        <p:txBody>
          <a:bodyPr/>
          <a:lstStyle/>
          <a:p>
            <a:endParaRPr lang="en-US"/>
          </a:p>
        </p:txBody>
      </p:sp>
      <p:sp>
        <p:nvSpPr>
          <p:cNvPr id="66" name="Freeform 66"/>
          <p:cNvSpPr/>
          <p:nvPr/>
        </p:nvSpPr>
        <p:spPr>
          <a:xfrm>
            <a:off x="8059701" y="4990048"/>
            <a:ext cx="537187" cy="536146"/>
          </a:xfrm>
          <a:custGeom>
            <a:avLst/>
            <a:gdLst/>
            <a:ahLst/>
            <a:cxnLst/>
            <a:rect l="l" t="t" r="r" b="b"/>
            <a:pathLst>
              <a:path w="537187" h="536146">
                <a:moveTo>
                  <a:pt x="0" y="0"/>
                </a:moveTo>
                <a:lnTo>
                  <a:pt x="537187" y="0"/>
                </a:lnTo>
                <a:lnTo>
                  <a:pt x="537187" y="536146"/>
                </a:lnTo>
                <a:lnTo>
                  <a:pt x="0" y="536146"/>
                </a:lnTo>
                <a:lnTo>
                  <a:pt x="0" y="0"/>
                </a:lnTo>
                <a:close/>
              </a:path>
            </a:pathLst>
          </a:custGeom>
          <a:blipFill>
            <a:blip r:embed="rId17"/>
            <a:stretch>
              <a:fillRect/>
            </a:stretch>
          </a:blipFill>
          <a:ln cap="sq">
            <a:noFill/>
            <a:prstDash val="solid"/>
            <a:miter/>
          </a:ln>
        </p:spPr>
        <p:txBody>
          <a:bodyPr/>
          <a:lstStyle/>
          <a:p>
            <a:endParaRPr lang="en-US"/>
          </a:p>
        </p:txBody>
      </p:sp>
      <p:sp>
        <p:nvSpPr>
          <p:cNvPr id="67" name="TextBox 67"/>
          <p:cNvSpPr txBox="1"/>
          <p:nvPr/>
        </p:nvSpPr>
        <p:spPr>
          <a:xfrm>
            <a:off x="2166708" y="7203155"/>
            <a:ext cx="2560327" cy="680893"/>
          </a:xfrm>
          <a:prstGeom prst="rect">
            <a:avLst/>
          </a:prstGeom>
        </p:spPr>
        <p:txBody>
          <a:bodyPr lIns="0" tIns="0" rIns="0" bIns="0" rtlCol="0" anchor="t">
            <a:spAutoFit/>
          </a:bodyPr>
          <a:lstStyle/>
          <a:p>
            <a:pPr marL="0" lvl="0" indent="0" algn="just">
              <a:lnSpc>
                <a:spcPts val="1845"/>
              </a:lnSpc>
              <a:spcBef>
                <a:spcPct val="0"/>
              </a:spcBef>
            </a:pPr>
            <a:r>
              <a:rPr lang="en-US" sz="1318">
                <a:solidFill>
                  <a:srgbClr val="000000"/>
                </a:solidFill>
                <a:latin typeface="Aptos"/>
                <a:ea typeface="Aptos"/>
                <a:cs typeface="Aptos"/>
                <a:sym typeface="Aptos"/>
              </a:rPr>
              <a:t>Kiểm chứng claim trước khi hiển thị, đảm bảo đồng bộ UI và câu trả lời.</a:t>
            </a:r>
          </a:p>
        </p:txBody>
      </p:sp>
      <p:sp>
        <p:nvSpPr>
          <p:cNvPr id="68" name="TextBox 68"/>
          <p:cNvSpPr txBox="1"/>
          <p:nvPr/>
        </p:nvSpPr>
        <p:spPr>
          <a:xfrm>
            <a:off x="1872658" y="4572205"/>
            <a:ext cx="3122783" cy="452293"/>
          </a:xfrm>
          <a:prstGeom prst="rect">
            <a:avLst/>
          </a:prstGeom>
        </p:spPr>
        <p:txBody>
          <a:bodyPr lIns="0" tIns="0" rIns="0" bIns="0" rtlCol="0" anchor="t">
            <a:spAutoFit/>
          </a:bodyPr>
          <a:lstStyle/>
          <a:p>
            <a:pPr marL="0" lvl="0" indent="0" algn="r">
              <a:lnSpc>
                <a:spcPts val="1845"/>
              </a:lnSpc>
              <a:spcBef>
                <a:spcPct val="0"/>
              </a:spcBef>
            </a:pPr>
            <a:r>
              <a:rPr lang="en-US" sz="1318">
                <a:solidFill>
                  <a:srgbClr val="000000"/>
                </a:solidFill>
                <a:latin typeface="Aptos"/>
                <a:ea typeface="Aptos"/>
                <a:cs typeface="Aptos"/>
                <a:sym typeface="Aptos"/>
              </a:rPr>
              <a:t>Truy xuất sản phẩm thật từ database, bám sát thông số và giá cả thực tế.</a:t>
            </a:r>
          </a:p>
        </p:txBody>
      </p:sp>
      <p:sp>
        <p:nvSpPr>
          <p:cNvPr id="69" name="TextBox 69"/>
          <p:cNvSpPr txBox="1"/>
          <p:nvPr/>
        </p:nvSpPr>
        <p:spPr>
          <a:xfrm>
            <a:off x="2025958" y="4083428"/>
            <a:ext cx="2170645" cy="264189"/>
          </a:xfrm>
          <a:prstGeom prst="rect">
            <a:avLst/>
          </a:prstGeom>
        </p:spPr>
        <p:txBody>
          <a:bodyPr lIns="0" tIns="0" rIns="0" bIns="0" rtlCol="0" anchor="t">
            <a:spAutoFit/>
          </a:bodyPr>
          <a:lstStyle/>
          <a:p>
            <a:pPr marL="0" lvl="0" indent="0" algn="r">
              <a:lnSpc>
                <a:spcPts val="2238"/>
              </a:lnSpc>
              <a:spcBef>
                <a:spcPct val="0"/>
              </a:spcBef>
            </a:pPr>
            <a:r>
              <a:rPr lang="en-US" sz="1598" b="1">
                <a:solidFill>
                  <a:srgbClr val="000000"/>
                </a:solidFill>
                <a:latin typeface="Aptos Bold"/>
                <a:ea typeface="Aptos Bold"/>
                <a:cs typeface="Aptos Bold"/>
                <a:sym typeface="Aptos Bold"/>
              </a:rPr>
              <a:t>Catalog</a:t>
            </a:r>
          </a:p>
        </p:txBody>
      </p:sp>
      <p:sp>
        <p:nvSpPr>
          <p:cNvPr id="70" name="TextBox 70"/>
          <p:cNvSpPr txBox="1"/>
          <p:nvPr/>
        </p:nvSpPr>
        <p:spPr>
          <a:xfrm>
            <a:off x="9387369" y="4270278"/>
            <a:ext cx="2170645" cy="629000"/>
          </a:xfrm>
          <a:prstGeom prst="rect">
            <a:avLst/>
          </a:prstGeom>
        </p:spPr>
        <p:txBody>
          <a:bodyPr lIns="0" tIns="0" rIns="0" bIns="0" rtlCol="0" anchor="t">
            <a:spAutoFit/>
          </a:bodyPr>
          <a:lstStyle/>
          <a:p>
            <a:pPr marL="0" lvl="0" indent="0" algn="l">
              <a:lnSpc>
                <a:spcPts val="1705"/>
              </a:lnSpc>
              <a:spcBef>
                <a:spcPct val="0"/>
              </a:spcBef>
            </a:pPr>
            <a:r>
              <a:rPr lang="en-US" sz="1218">
                <a:solidFill>
                  <a:srgbClr val="000000"/>
                </a:solidFill>
                <a:latin typeface="Aptos"/>
                <a:ea typeface="Aptos"/>
                <a:cs typeface="Aptos"/>
                <a:sym typeface="Aptos"/>
              </a:rPr>
              <a:t>Lưu ngữ cảnh hội thoại và ghi nhận bằng chứng cho mọi thông tin AI cung cấp.</a:t>
            </a:r>
          </a:p>
        </p:txBody>
      </p:sp>
      <p:sp>
        <p:nvSpPr>
          <p:cNvPr id="71" name="TextBox 71"/>
          <p:cNvSpPr txBox="1"/>
          <p:nvPr/>
        </p:nvSpPr>
        <p:spPr>
          <a:xfrm>
            <a:off x="9618314" y="3892980"/>
            <a:ext cx="2170645" cy="270990"/>
          </a:xfrm>
          <a:prstGeom prst="rect">
            <a:avLst/>
          </a:prstGeom>
        </p:spPr>
        <p:txBody>
          <a:bodyPr lIns="0" tIns="0" rIns="0" bIns="0" rtlCol="0" anchor="t">
            <a:spAutoFit/>
          </a:bodyPr>
          <a:lstStyle/>
          <a:p>
            <a:pPr marL="0" lvl="0" indent="0" algn="l">
              <a:lnSpc>
                <a:spcPts val="2238"/>
              </a:lnSpc>
              <a:spcBef>
                <a:spcPct val="0"/>
              </a:spcBef>
            </a:pPr>
            <a:r>
              <a:rPr lang="en-US" sz="1598" b="1">
                <a:solidFill>
                  <a:srgbClr val="000000"/>
                </a:solidFill>
                <a:latin typeface="Aptos Bold"/>
                <a:ea typeface="Aptos Bold"/>
                <a:cs typeface="Aptos Bold"/>
                <a:sym typeface="Aptos Bold"/>
              </a:rPr>
              <a:t>State &amp; Evidence</a:t>
            </a:r>
          </a:p>
        </p:txBody>
      </p:sp>
      <p:sp>
        <p:nvSpPr>
          <p:cNvPr id="72" name="TextBox 72"/>
          <p:cNvSpPr txBox="1"/>
          <p:nvPr/>
        </p:nvSpPr>
        <p:spPr>
          <a:xfrm>
            <a:off x="2403333" y="6767573"/>
            <a:ext cx="2170645" cy="264189"/>
          </a:xfrm>
          <a:prstGeom prst="rect">
            <a:avLst/>
          </a:prstGeom>
        </p:spPr>
        <p:txBody>
          <a:bodyPr lIns="0" tIns="0" rIns="0" bIns="0" rtlCol="0" anchor="t">
            <a:spAutoFit/>
          </a:bodyPr>
          <a:lstStyle/>
          <a:p>
            <a:pPr marL="0" lvl="0" indent="0" algn="r">
              <a:lnSpc>
                <a:spcPts val="2238"/>
              </a:lnSpc>
              <a:spcBef>
                <a:spcPct val="0"/>
              </a:spcBef>
            </a:pPr>
            <a:r>
              <a:rPr lang="en-US" sz="1598" b="1">
                <a:solidFill>
                  <a:srgbClr val="000000"/>
                </a:solidFill>
                <a:latin typeface="Aptos Bold"/>
                <a:ea typeface="Aptos Bold"/>
                <a:cs typeface="Aptos Bold"/>
                <a:sym typeface="Aptos Bold"/>
              </a:rPr>
              <a:t>Verifier &amp; Contract</a:t>
            </a:r>
          </a:p>
        </p:txBody>
      </p:sp>
      <p:sp>
        <p:nvSpPr>
          <p:cNvPr id="73" name="TextBox 73"/>
          <p:cNvSpPr txBox="1"/>
          <p:nvPr/>
        </p:nvSpPr>
        <p:spPr>
          <a:xfrm>
            <a:off x="9271664" y="7935674"/>
            <a:ext cx="2170645" cy="629000"/>
          </a:xfrm>
          <a:prstGeom prst="rect">
            <a:avLst/>
          </a:prstGeom>
        </p:spPr>
        <p:txBody>
          <a:bodyPr lIns="0" tIns="0" rIns="0" bIns="0" rtlCol="0" anchor="t">
            <a:spAutoFit/>
          </a:bodyPr>
          <a:lstStyle/>
          <a:p>
            <a:pPr marL="0" lvl="0" indent="0" algn="l">
              <a:lnSpc>
                <a:spcPts val="1705"/>
              </a:lnSpc>
              <a:spcBef>
                <a:spcPct val="0"/>
              </a:spcBef>
            </a:pPr>
            <a:r>
              <a:rPr lang="en-US" sz="1218">
                <a:solidFill>
                  <a:srgbClr val="000000"/>
                </a:solidFill>
                <a:latin typeface="Aptos"/>
                <a:ea typeface="Aptos"/>
                <a:cs typeface="Aptos"/>
                <a:sym typeface="Aptos"/>
              </a:rPr>
              <a:t>Ghi lại toàn bộ pipeline để debug, đánh giá và kiểm thử chất lượng hệ thống.</a:t>
            </a:r>
          </a:p>
        </p:txBody>
      </p:sp>
      <p:sp>
        <p:nvSpPr>
          <p:cNvPr id="74" name="TextBox 74"/>
          <p:cNvSpPr txBox="1"/>
          <p:nvPr/>
        </p:nvSpPr>
        <p:spPr>
          <a:xfrm>
            <a:off x="9521639" y="7529314"/>
            <a:ext cx="2170645" cy="270990"/>
          </a:xfrm>
          <a:prstGeom prst="rect">
            <a:avLst/>
          </a:prstGeom>
        </p:spPr>
        <p:txBody>
          <a:bodyPr lIns="0" tIns="0" rIns="0" bIns="0" rtlCol="0" anchor="t">
            <a:spAutoFit/>
          </a:bodyPr>
          <a:lstStyle/>
          <a:p>
            <a:pPr marL="0" lvl="0" indent="0" algn="l">
              <a:lnSpc>
                <a:spcPts val="2238"/>
              </a:lnSpc>
              <a:spcBef>
                <a:spcPct val="0"/>
              </a:spcBef>
            </a:pPr>
            <a:r>
              <a:rPr lang="en-US" sz="1598" b="1">
                <a:solidFill>
                  <a:srgbClr val="000000"/>
                </a:solidFill>
                <a:latin typeface="Aptos Bold"/>
                <a:ea typeface="Aptos Bold"/>
                <a:cs typeface="Aptos Bold"/>
                <a:sym typeface="Aptos Bold"/>
              </a:rPr>
              <a:t>Trace &amp; Test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2773732" y="4678470"/>
            <a:ext cx="4100858" cy="2243954"/>
            <a:chOff x="0" y="0"/>
            <a:chExt cx="2848370" cy="1558603"/>
          </a:xfrm>
        </p:grpSpPr>
        <p:sp>
          <p:nvSpPr>
            <p:cNvPr id="12" name="Freeform 12"/>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EB574C"/>
            </a:solidFill>
            <a:ln w="9525" cap="sq">
              <a:solidFill>
                <a:srgbClr val="424141"/>
              </a:solidFill>
              <a:prstDash val="solid"/>
              <a:miter/>
            </a:ln>
          </p:spPr>
          <p:txBody>
            <a:bodyPr/>
            <a:lstStyle/>
            <a:p>
              <a:endParaRPr lang="en-US"/>
            </a:p>
          </p:txBody>
        </p:sp>
        <p:sp>
          <p:nvSpPr>
            <p:cNvPr id="13" name="TextBox 13"/>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sp>
        <p:nvSpPr>
          <p:cNvPr id="14" name="Freeform 14"/>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grpSp>
        <p:nvGrpSpPr>
          <p:cNvPr id="15" name="Group 15"/>
          <p:cNvGrpSpPr/>
          <p:nvPr/>
        </p:nvGrpSpPr>
        <p:grpSpPr>
          <a:xfrm>
            <a:off x="13146794" y="2424196"/>
            <a:ext cx="4112506" cy="6251987"/>
            <a:chOff x="0" y="0"/>
            <a:chExt cx="2462806" cy="3744052"/>
          </a:xfrm>
        </p:grpSpPr>
        <p:sp>
          <p:nvSpPr>
            <p:cNvPr id="16" name="Freeform 16"/>
            <p:cNvSpPr/>
            <p:nvPr/>
          </p:nvSpPr>
          <p:spPr>
            <a:xfrm>
              <a:off x="0" y="0"/>
              <a:ext cx="2462806" cy="3744052"/>
            </a:xfrm>
            <a:custGeom>
              <a:avLst/>
              <a:gdLst/>
              <a:ahLst/>
              <a:cxnLst/>
              <a:rect l="l" t="t" r="r" b="b"/>
              <a:pathLst>
                <a:path w="2462806" h="3744052">
                  <a:moveTo>
                    <a:pt x="60241" y="0"/>
                  </a:moveTo>
                  <a:lnTo>
                    <a:pt x="2402565" y="0"/>
                  </a:lnTo>
                  <a:cubicBezTo>
                    <a:pt x="2435835" y="0"/>
                    <a:pt x="2462806" y="26971"/>
                    <a:pt x="2462806" y="60241"/>
                  </a:cubicBezTo>
                  <a:lnTo>
                    <a:pt x="2462806" y="3683811"/>
                  </a:lnTo>
                  <a:cubicBezTo>
                    <a:pt x="2462806" y="3717081"/>
                    <a:pt x="2435835" y="3744052"/>
                    <a:pt x="2402565" y="3744052"/>
                  </a:cubicBezTo>
                  <a:lnTo>
                    <a:pt x="60241" y="3744052"/>
                  </a:lnTo>
                  <a:cubicBezTo>
                    <a:pt x="26971" y="3744052"/>
                    <a:pt x="0" y="3717081"/>
                    <a:pt x="0" y="3683811"/>
                  </a:cubicBezTo>
                  <a:lnTo>
                    <a:pt x="0" y="60241"/>
                  </a:lnTo>
                  <a:cubicBezTo>
                    <a:pt x="0" y="26971"/>
                    <a:pt x="26971" y="0"/>
                    <a:pt x="60241" y="0"/>
                  </a:cubicBezTo>
                  <a:close/>
                </a:path>
              </a:pathLst>
            </a:custGeom>
            <a:solidFill>
              <a:srgbClr val="EB574C"/>
            </a:solidFill>
            <a:ln w="9525" cap="rnd">
              <a:solidFill>
                <a:srgbClr val="424141"/>
              </a:solidFill>
              <a:prstDash val="solid"/>
              <a:round/>
            </a:ln>
          </p:spPr>
          <p:txBody>
            <a:bodyPr/>
            <a:lstStyle/>
            <a:p>
              <a:endParaRPr lang="en-US"/>
            </a:p>
          </p:txBody>
        </p:sp>
        <p:sp>
          <p:nvSpPr>
            <p:cNvPr id="17" name="TextBox 17"/>
            <p:cNvSpPr txBox="1"/>
            <p:nvPr/>
          </p:nvSpPr>
          <p:spPr>
            <a:xfrm>
              <a:off x="0" y="-38100"/>
              <a:ext cx="2462806" cy="3782152"/>
            </a:xfrm>
            <a:prstGeom prst="rect">
              <a:avLst/>
            </a:prstGeom>
          </p:spPr>
          <p:txBody>
            <a:bodyPr lIns="50800" tIns="50800" rIns="50800" bIns="50800" rtlCol="0" anchor="ctr"/>
            <a:lstStyle/>
            <a:p>
              <a:pPr marL="0" lvl="0" indent="0" algn="ctr">
                <a:lnSpc>
                  <a:spcPts val="1540"/>
                </a:lnSpc>
              </a:pPr>
              <a:endParaRPr/>
            </a:p>
          </p:txBody>
        </p:sp>
      </p:grpSp>
      <p:grpSp>
        <p:nvGrpSpPr>
          <p:cNvPr id="18" name="Group 18"/>
          <p:cNvGrpSpPr/>
          <p:nvPr/>
        </p:nvGrpSpPr>
        <p:grpSpPr>
          <a:xfrm>
            <a:off x="13436891" y="2700962"/>
            <a:ext cx="3532312" cy="2336656"/>
            <a:chOff x="0" y="0"/>
            <a:chExt cx="1607953" cy="1063676"/>
          </a:xfrm>
        </p:grpSpPr>
        <p:sp>
          <p:nvSpPr>
            <p:cNvPr id="19" name="Freeform 19"/>
            <p:cNvSpPr/>
            <p:nvPr/>
          </p:nvSpPr>
          <p:spPr>
            <a:xfrm>
              <a:off x="0" y="0"/>
              <a:ext cx="1607953" cy="1063675"/>
            </a:xfrm>
            <a:custGeom>
              <a:avLst/>
              <a:gdLst/>
              <a:ahLst/>
              <a:cxnLst/>
              <a:rect l="l" t="t" r="r" b="b"/>
              <a:pathLst>
                <a:path w="1607953" h="1063675">
                  <a:moveTo>
                    <a:pt x="37260" y="0"/>
                  </a:moveTo>
                  <a:lnTo>
                    <a:pt x="1570694" y="0"/>
                  </a:lnTo>
                  <a:cubicBezTo>
                    <a:pt x="1591271" y="0"/>
                    <a:pt x="1607953" y="16682"/>
                    <a:pt x="1607953" y="37260"/>
                  </a:cubicBezTo>
                  <a:lnTo>
                    <a:pt x="1607953" y="1026416"/>
                  </a:lnTo>
                  <a:cubicBezTo>
                    <a:pt x="1607953" y="1046994"/>
                    <a:pt x="1591271" y="1063675"/>
                    <a:pt x="1570694" y="1063675"/>
                  </a:cubicBezTo>
                  <a:lnTo>
                    <a:pt x="37260" y="1063675"/>
                  </a:lnTo>
                  <a:cubicBezTo>
                    <a:pt x="16682" y="1063675"/>
                    <a:pt x="0" y="1046994"/>
                    <a:pt x="0" y="1026416"/>
                  </a:cubicBezTo>
                  <a:lnTo>
                    <a:pt x="0" y="37260"/>
                  </a:lnTo>
                  <a:cubicBezTo>
                    <a:pt x="0" y="16682"/>
                    <a:pt x="16682" y="0"/>
                    <a:pt x="37260" y="0"/>
                  </a:cubicBezTo>
                  <a:close/>
                </a:path>
              </a:pathLst>
            </a:custGeom>
            <a:blipFill>
              <a:blip r:embed="rId3"/>
              <a:stretch>
                <a:fillRect t="-925" b="-925"/>
              </a:stretch>
            </a:blipFill>
            <a:ln w="9525" cap="sq">
              <a:solidFill>
                <a:srgbClr val="424141"/>
              </a:solidFill>
              <a:prstDash val="solid"/>
              <a:miter/>
            </a:ln>
          </p:spPr>
          <p:txBody>
            <a:bodyPr/>
            <a:lstStyle/>
            <a:p>
              <a:endParaRPr lang="en-US"/>
            </a:p>
          </p:txBody>
        </p:sp>
      </p:grpSp>
      <p:grpSp>
        <p:nvGrpSpPr>
          <p:cNvPr id="20" name="Group 20"/>
          <p:cNvGrpSpPr/>
          <p:nvPr/>
        </p:nvGrpSpPr>
        <p:grpSpPr>
          <a:xfrm>
            <a:off x="13451179" y="5190984"/>
            <a:ext cx="3503737" cy="2880406"/>
            <a:chOff x="0" y="0"/>
            <a:chExt cx="1594946" cy="1311197"/>
          </a:xfrm>
        </p:grpSpPr>
        <p:sp>
          <p:nvSpPr>
            <p:cNvPr id="21" name="Freeform 21"/>
            <p:cNvSpPr/>
            <p:nvPr/>
          </p:nvSpPr>
          <p:spPr>
            <a:xfrm>
              <a:off x="0" y="0"/>
              <a:ext cx="1594945" cy="1311197"/>
            </a:xfrm>
            <a:custGeom>
              <a:avLst/>
              <a:gdLst/>
              <a:ahLst/>
              <a:cxnLst/>
              <a:rect l="l" t="t" r="r" b="b"/>
              <a:pathLst>
                <a:path w="1594945" h="1311197">
                  <a:moveTo>
                    <a:pt x="37564" y="0"/>
                  </a:moveTo>
                  <a:lnTo>
                    <a:pt x="1557382" y="0"/>
                  </a:lnTo>
                  <a:cubicBezTo>
                    <a:pt x="1578128" y="0"/>
                    <a:pt x="1594945" y="16818"/>
                    <a:pt x="1594945" y="37564"/>
                  </a:cubicBezTo>
                  <a:lnTo>
                    <a:pt x="1594945" y="1273634"/>
                  </a:lnTo>
                  <a:cubicBezTo>
                    <a:pt x="1594945" y="1283596"/>
                    <a:pt x="1590988" y="1293151"/>
                    <a:pt x="1583943" y="1300195"/>
                  </a:cubicBezTo>
                  <a:cubicBezTo>
                    <a:pt x="1576899" y="1307240"/>
                    <a:pt x="1567344" y="1311197"/>
                    <a:pt x="1557382" y="1311197"/>
                  </a:cubicBezTo>
                  <a:lnTo>
                    <a:pt x="37564" y="1311197"/>
                  </a:lnTo>
                  <a:cubicBezTo>
                    <a:pt x="27601" y="1311197"/>
                    <a:pt x="18047" y="1307240"/>
                    <a:pt x="11002" y="1300195"/>
                  </a:cubicBezTo>
                  <a:cubicBezTo>
                    <a:pt x="3958" y="1293151"/>
                    <a:pt x="0" y="1283596"/>
                    <a:pt x="0" y="1273634"/>
                  </a:cubicBezTo>
                  <a:lnTo>
                    <a:pt x="0" y="37564"/>
                  </a:lnTo>
                  <a:cubicBezTo>
                    <a:pt x="0" y="27601"/>
                    <a:pt x="3958" y="18047"/>
                    <a:pt x="11002" y="11002"/>
                  </a:cubicBezTo>
                  <a:cubicBezTo>
                    <a:pt x="18047" y="3958"/>
                    <a:pt x="27601" y="0"/>
                    <a:pt x="37564" y="0"/>
                  </a:cubicBezTo>
                  <a:close/>
                </a:path>
              </a:pathLst>
            </a:custGeom>
            <a:blipFill>
              <a:blip r:embed="rId4"/>
              <a:stretch>
                <a:fillRect l="-825" r="-825"/>
              </a:stretch>
            </a:blipFill>
            <a:ln w="9525" cap="sq">
              <a:solidFill>
                <a:srgbClr val="424141"/>
              </a:solidFill>
              <a:prstDash val="solid"/>
              <a:miter/>
            </a:ln>
          </p:spPr>
          <p:txBody>
            <a:bodyPr/>
            <a:lstStyle/>
            <a:p>
              <a:endParaRPr lang="en-US"/>
            </a:p>
          </p:txBody>
        </p:sp>
      </p:grpSp>
      <p:sp>
        <p:nvSpPr>
          <p:cNvPr id="22" name="TextBox 22"/>
          <p:cNvSpPr txBox="1"/>
          <p:nvPr/>
        </p:nvSpPr>
        <p:spPr>
          <a:xfrm>
            <a:off x="2952598" y="2212861"/>
            <a:ext cx="8845603" cy="1722121"/>
          </a:xfrm>
          <a:prstGeom prst="rect">
            <a:avLst/>
          </a:prstGeom>
        </p:spPr>
        <p:txBody>
          <a:bodyPr lIns="0" tIns="0" rIns="0" bIns="0" rtlCol="0" anchor="t">
            <a:spAutoFit/>
          </a:bodyPr>
          <a:lstStyle/>
          <a:p>
            <a:pPr marL="0" lvl="0" indent="0" algn="l">
              <a:lnSpc>
                <a:spcPts val="6647"/>
              </a:lnSpc>
            </a:pPr>
            <a:r>
              <a:rPr lang="en-US" sz="6714" b="1" spc="-416">
                <a:solidFill>
                  <a:srgbClr val="424141"/>
                </a:solidFill>
                <a:latin typeface="Aptos Bold"/>
                <a:ea typeface="Aptos Bold"/>
                <a:cs typeface="Aptos Bold"/>
                <a:sym typeface="Aptos Bold"/>
              </a:rPr>
              <a:t>HARNESS ĐÓNG GÓP</a:t>
            </a:r>
          </a:p>
          <a:p>
            <a:pPr marL="0" lvl="0" indent="0" algn="l">
              <a:lnSpc>
                <a:spcPts val="6647"/>
              </a:lnSpc>
            </a:pPr>
            <a:r>
              <a:rPr lang="en-US" sz="6714" b="1" spc="-416">
                <a:solidFill>
                  <a:srgbClr val="424141"/>
                </a:solidFill>
                <a:latin typeface="Aptos Bold"/>
                <a:ea typeface="Aptos Bold"/>
                <a:cs typeface="Aptos Bold"/>
                <a:sym typeface="Aptos Bold"/>
              </a:rPr>
              <a:t>TRONG AURA</a:t>
            </a:r>
          </a:p>
        </p:txBody>
      </p:sp>
      <p:sp>
        <p:nvSpPr>
          <p:cNvPr id="23" name="Freeform 23"/>
          <p:cNvSpPr/>
          <p:nvPr/>
        </p:nvSpPr>
        <p:spPr>
          <a:xfrm flipH="1">
            <a:off x="10997654" y="2700962"/>
            <a:ext cx="941613" cy="818027"/>
          </a:xfrm>
          <a:custGeom>
            <a:avLst/>
            <a:gdLst/>
            <a:ahLst/>
            <a:cxnLst/>
            <a:rect l="l" t="t" r="r" b="b"/>
            <a:pathLst>
              <a:path w="941613" h="818027">
                <a:moveTo>
                  <a:pt x="941613" y="0"/>
                </a:moveTo>
                <a:lnTo>
                  <a:pt x="0" y="0"/>
                </a:lnTo>
                <a:lnTo>
                  <a:pt x="0" y="818027"/>
                </a:lnTo>
                <a:lnTo>
                  <a:pt x="941613" y="818027"/>
                </a:lnTo>
                <a:lnTo>
                  <a:pt x="94161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4" name="AutoShape 24"/>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5" name="AutoShape 25"/>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6" name="AutoShape 26"/>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7" name="Freeform 27"/>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8" name="Freeform 28"/>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9" name="Group 29"/>
          <p:cNvGrpSpPr/>
          <p:nvPr/>
        </p:nvGrpSpPr>
        <p:grpSpPr>
          <a:xfrm>
            <a:off x="2952598" y="4797729"/>
            <a:ext cx="2933893" cy="653335"/>
            <a:chOff x="0" y="0"/>
            <a:chExt cx="2037821" cy="453793"/>
          </a:xfrm>
        </p:grpSpPr>
        <p:sp>
          <p:nvSpPr>
            <p:cNvPr id="30" name="Freeform 30"/>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31" name="TextBox 31"/>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32" name="Group 32"/>
          <p:cNvGrpSpPr/>
          <p:nvPr/>
        </p:nvGrpSpPr>
        <p:grpSpPr>
          <a:xfrm>
            <a:off x="14273982" y="2554333"/>
            <a:ext cx="419749" cy="419749"/>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34" name="TextBox 34"/>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35" name="Group 35"/>
          <p:cNvGrpSpPr/>
          <p:nvPr/>
        </p:nvGrpSpPr>
        <p:grpSpPr>
          <a:xfrm>
            <a:off x="13854191" y="2554333"/>
            <a:ext cx="419749" cy="419749"/>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37" name="TextBox 37"/>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38" name="Group 38"/>
          <p:cNvGrpSpPr/>
          <p:nvPr/>
        </p:nvGrpSpPr>
        <p:grpSpPr>
          <a:xfrm>
            <a:off x="13434400" y="2554333"/>
            <a:ext cx="419749" cy="419749"/>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40" name="TextBox 40"/>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41" name="Freeform 41"/>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42" name="Group 42"/>
          <p:cNvGrpSpPr/>
          <p:nvPr/>
        </p:nvGrpSpPr>
        <p:grpSpPr>
          <a:xfrm>
            <a:off x="6141714" y="4525048"/>
            <a:ext cx="1025142" cy="1025142"/>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F5E"/>
            </a:solidFill>
            <a:ln w="19050" cap="sq">
              <a:solidFill>
                <a:srgbClr val="424141"/>
              </a:solidFill>
              <a:prstDash val="solid"/>
              <a:miter/>
            </a:ln>
          </p:spPr>
          <p:txBody>
            <a:bodyPr/>
            <a:lstStyle/>
            <a:p>
              <a:endParaRPr lang="en-US"/>
            </a:p>
          </p:txBody>
        </p:sp>
        <p:sp>
          <p:nvSpPr>
            <p:cNvPr id="44" name="TextBox 44"/>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45" name="Freeform 45"/>
          <p:cNvSpPr/>
          <p:nvPr/>
        </p:nvSpPr>
        <p:spPr>
          <a:xfrm>
            <a:off x="6387001" y="4724559"/>
            <a:ext cx="487589" cy="626118"/>
          </a:xfrm>
          <a:custGeom>
            <a:avLst/>
            <a:gdLst/>
            <a:ahLst/>
            <a:cxnLst/>
            <a:rect l="l" t="t" r="r" b="b"/>
            <a:pathLst>
              <a:path w="487589" h="626118">
                <a:moveTo>
                  <a:pt x="0" y="0"/>
                </a:moveTo>
                <a:lnTo>
                  <a:pt x="487589" y="0"/>
                </a:lnTo>
                <a:lnTo>
                  <a:pt x="487589" y="626118"/>
                </a:lnTo>
                <a:lnTo>
                  <a:pt x="0" y="62611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46" name="Group 46"/>
          <p:cNvGrpSpPr/>
          <p:nvPr/>
        </p:nvGrpSpPr>
        <p:grpSpPr>
          <a:xfrm>
            <a:off x="7585955" y="4678470"/>
            <a:ext cx="4100858" cy="2243954"/>
            <a:chOff x="0" y="0"/>
            <a:chExt cx="2848370" cy="1558603"/>
          </a:xfrm>
        </p:grpSpPr>
        <p:sp>
          <p:nvSpPr>
            <p:cNvPr id="47" name="Freeform 47"/>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FF6F5E"/>
            </a:solidFill>
            <a:ln w="9525" cap="sq">
              <a:solidFill>
                <a:srgbClr val="424141"/>
              </a:solidFill>
              <a:prstDash val="solid"/>
              <a:miter/>
            </a:ln>
          </p:spPr>
          <p:txBody>
            <a:bodyPr/>
            <a:lstStyle/>
            <a:p>
              <a:endParaRPr lang="en-US"/>
            </a:p>
          </p:txBody>
        </p:sp>
        <p:sp>
          <p:nvSpPr>
            <p:cNvPr id="48" name="TextBox 48"/>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grpSp>
        <p:nvGrpSpPr>
          <p:cNvPr id="49" name="Group 49"/>
          <p:cNvGrpSpPr/>
          <p:nvPr/>
        </p:nvGrpSpPr>
        <p:grpSpPr>
          <a:xfrm>
            <a:off x="7764821" y="4797729"/>
            <a:ext cx="2933893" cy="653335"/>
            <a:chOff x="0" y="0"/>
            <a:chExt cx="2037821" cy="453793"/>
          </a:xfrm>
        </p:grpSpPr>
        <p:sp>
          <p:nvSpPr>
            <p:cNvPr id="50" name="Freeform 50"/>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51" name="TextBox 51"/>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52" name="Group 52"/>
          <p:cNvGrpSpPr/>
          <p:nvPr/>
        </p:nvGrpSpPr>
        <p:grpSpPr>
          <a:xfrm>
            <a:off x="10955890" y="4525048"/>
            <a:ext cx="1025142" cy="1025142"/>
            <a:chOff x="0" y="0"/>
            <a:chExt cx="812800" cy="812800"/>
          </a:xfrm>
        </p:grpSpPr>
        <p:sp>
          <p:nvSpPr>
            <p:cNvPr id="53" name="Freeform 5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574C"/>
            </a:solidFill>
            <a:ln w="19050" cap="sq">
              <a:solidFill>
                <a:srgbClr val="424141"/>
              </a:solidFill>
              <a:prstDash val="solid"/>
              <a:miter/>
            </a:ln>
          </p:spPr>
          <p:txBody>
            <a:bodyPr/>
            <a:lstStyle/>
            <a:p>
              <a:endParaRPr lang="en-US"/>
            </a:p>
          </p:txBody>
        </p:sp>
        <p:sp>
          <p:nvSpPr>
            <p:cNvPr id="54" name="TextBox 54"/>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55" name="Freeform 55"/>
          <p:cNvSpPr/>
          <p:nvPr/>
        </p:nvSpPr>
        <p:spPr>
          <a:xfrm>
            <a:off x="11175017" y="4766550"/>
            <a:ext cx="586888" cy="542138"/>
          </a:xfrm>
          <a:custGeom>
            <a:avLst/>
            <a:gdLst/>
            <a:ahLst/>
            <a:cxnLst/>
            <a:rect l="l" t="t" r="r" b="b"/>
            <a:pathLst>
              <a:path w="586888" h="542138">
                <a:moveTo>
                  <a:pt x="0" y="0"/>
                </a:moveTo>
                <a:lnTo>
                  <a:pt x="586887" y="0"/>
                </a:lnTo>
                <a:lnTo>
                  <a:pt x="586887" y="542137"/>
                </a:lnTo>
                <a:lnTo>
                  <a:pt x="0" y="542137"/>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56" name="Group 56"/>
          <p:cNvGrpSpPr/>
          <p:nvPr/>
        </p:nvGrpSpPr>
        <p:grpSpPr>
          <a:xfrm>
            <a:off x="2771749" y="7199671"/>
            <a:ext cx="4100858" cy="2243954"/>
            <a:chOff x="0" y="0"/>
            <a:chExt cx="2848370" cy="1558603"/>
          </a:xfrm>
        </p:grpSpPr>
        <p:sp>
          <p:nvSpPr>
            <p:cNvPr id="57" name="Freeform 57"/>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02388C"/>
            </a:solidFill>
            <a:ln w="9525" cap="sq">
              <a:solidFill>
                <a:srgbClr val="424141"/>
              </a:solidFill>
              <a:prstDash val="solid"/>
              <a:miter/>
            </a:ln>
          </p:spPr>
          <p:txBody>
            <a:bodyPr/>
            <a:lstStyle/>
            <a:p>
              <a:endParaRPr lang="en-US"/>
            </a:p>
          </p:txBody>
        </p:sp>
        <p:sp>
          <p:nvSpPr>
            <p:cNvPr id="58" name="TextBox 58"/>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grpSp>
        <p:nvGrpSpPr>
          <p:cNvPr id="59" name="Group 59"/>
          <p:cNvGrpSpPr/>
          <p:nvPr/>
        </p:nvGrpSpPr>
        <p:grpSpPr>
          <a:xfrm>
            <a:off x="2950615" y="7318930"/>
            <a:ext cx="2933893" cy="653335"/>
            <a:chOff x="0" y="0"/>
            <a:chExt cx="2037821" cy="453793"/>
          </a:xfrm>
        </p:grpSpPr>
        <p:sp>
          <p:nvSpPr>
            <p:cNvPr id="60" name="Freeform 60"/>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61" name="TextBox 61"/>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62" name="Group 62"/>
          <p:cNvGrpSpPr/>
          <p:nvPr/>
        </p:nvGrpSpPr>
        <p:grpSpPr>
          <a:xfrm>
            <a:off x="6139731" y="7046249"/>
            <a:ext cx="1025142" cy="1025142"/>
            <a:chOff x="0" y="0"/>
            <a:chExt cx="812800" cy="812800"/>
          </a:xfrm>
        </p:grpSpPr>
        <p:sp>
          <p:nvSpPr>
            <p:cNvPr id="63" name="Freeform 6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F5E"/>
            </a:solidFill>
            <a:ln w="19050" cap="sq">
              <a:solidFill>
                <a:srgbClr val="424141"/>
              </a:solidFill>
              <a:prstDash val="solid"/>
              <a:miter/>
            </a:ln>
          </p:spPr>
          <p:txBody>
            <a:bodyPr/>
            <a:lstStyle/>
            <a:p>
              <a:endParaRPr lang="en-US"/>
            </a:p>
          </p:txBody>
        </p:sp>
        <p:sp>
          <p:nvSpPr>
            <p:cNvPr id="64" name="TextBox 64"/>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65" name="Group 65"/>
          <p:cNvGrpSpPr/>
          <p:nvPr/>
        </p:nvGrpSpPr>
        <p:grpSpPr>
          <a:xfrm>
            <a:off x="7583973" y="7199671"/>
            <a:ext cx="4100858" cy="2243954"/>
            <a:chOff x="0" y="0"/>
            <a:chExt cx="2848370" cy="1558603"/>
          </a:xfrm>
        </p:grpSpPr>
        <p:sp>
          <p:nvSpPr>
            <p:cNvPr id="66" name="Freeform 66"/>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EB574C"/>
            </a:solidFill>
            <a:ln w="9525" cap="sq">
              <a:solidFill>
                <a:srgbClr val="424141"/>
              </a:solidFill>
              <a:prstDash val="solid"/>
              <a:miter/>
            </a:ln>
          </p:spPr>
          <p:txBody>
            <a:bodyPr/>
            <a:lstStyle/>
            <a:p>
              <a:endParaRPr lang="en-US"/>
            </a:p>
          </p:txBody>
        </p:sp>
        <p:sp>
          <p:nvSpPr>
            <p:cNvPr id="67" name="TextBox 67"/>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grpSp>
        <p:nvGrpSpPr>
          <p:cNvPr id="68" name="Group 68"/>
          <p:cNvGrpSpPr/>
          <p:nvPr/>
        </p:nvGrpSpPr>
        <p:grpSpPr>
          <a:xfrm>
            <a:off x="7762839" y="7318930"/>
            <a:ext cx="2933893" cy="653335"/>
            <a:chOff x="0" y="0"/>
            <a:chExt cx="2037821" cy="453793"/>
          </a:xfrm>
        </p:grpSpPr>
        <p:sp>
          <p:nvSpPr>
            <p:cNvPr id="69" name="Freeform 69"/>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70" name="TextBox 70"/>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71" name="Group 71"/>
          <p:cNvGrpSpPr/>
          <p:nvPr/>
        </p:nvGrpSpPr>
        <p:grpSpPr>
          <a:xfrm>
            <a:off x="10953907" y="7046249"/>
            <a:ext cx="1025142" cy="1025142"/>
            <a:chOff x="0" y="0"/>
            <a:chExt cx="812800" cy="812800"/>
          </a:xfrm>
        </p:grpSpPr>
        <p:sp>
          <p:nvSpPr>
            <p:cNvPr id="72" name="Freeform 7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388C"/>
            </a:solidFill>
            <a:ln w="19050" cap="sq">
              <a:solidFill>
                <a:srgbClr val="424141"/>
              </a:solidFill>
              <a:prstDash val="solid"/>
              <a:miter/>
            </a:ln>
          </p:spPr>
          <p:txBody>
            <a:bodyPr/>
            <a:lstStyle/>
            <a:p>
              <a:endParaRPr lang="en-US"/>
            </a:p>
          </p:txBody>
        </p:sp>
        <p:sp>
          <p:nvSpPr>
            <p:cNvPr id="73" name="TextBox 73"/>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74" name="Freeform 74"/>
          <p:cNvSpPr/>
          <p:nvPr/>
        </p:nvSpPr>
        <p:spPr>
          <a:xfrm>
            <a:off x="11128359" y="7220700"/>
            <a:ext cx="676239" cy="676239"/>
          </a:xfrm>
          <a:custGeom>
            <a:avLst/>
            <a:gdLst/>
            <a:ahLst/>
            <a:cxnLst/>
            <a:rect l="l" t="t" r="r" b="b"/>
            <a:pathLst>
              <a:path w="676239" h="676239">
                <a:moveTo>
                  <a:pt x="0" y="0"/>
                </a:moveTo>
                <a:lnTo>
                  <a:pt x="676238" y="0"/>
                </a:lnTo>
                <a:lnTo>
                  <a:pt x="676238" y="676239"/>
                </a:lnTo>
                <a:lnTo>
                  <a:pt x="0" y="676239"/>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75" name="Freeform 75"/>
          <p:cNvSpPr/>
          <p:nvPr/>
        </p:nvSpPr>
        <p:spPr>
          <a:xfrm>
            <a:off x="6360490" y="7299472"/>
            <a:ext cx="583624" cy="518695"/>
          </a:xfrm>
          <a:custGeom>
            <a:avLst/>
            <a:gdLst/>
            <a:ahLst/>
            <a:cxnLst/>
            <a:rect l="l" t="t" r="r" b="b"/>
            <a:pathLst>
              <a:path w="583624" h="518695">
                <a:moveTo>
                  <a:pt x="0" y="0"/>
                </a:moveTo>
                <a:lnTo>
                  <a:pt x="583624" y="0"/>
                </a:lnTo>
                <a:lnTo>
                  <a:pt x="583624" y="518695"/>
                </a:lnTo>
                <a:lnTo>
                  <a:pt x="0" y="51869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76" name="Freeform 76"/>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77" name="Freeform 77"/>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78" name="Freeform 78"/>
          <p:cNvSpPr/>
          <p:nvPr/>
        </p:nvSpPr>
        <p:spPr>
          <a:xfrm>
            <a:off x="2190765" y="632965"/>
            <a:ext cx="3488885" cy="937144"/>
          </a:xfrm>
          <a:custGeom>
            <a:avLst/>
            <a:gdLst/>
            <a:ahLst/>
            <a:cxnLst/>
            <a:rect l="l" t="t" r="r" b="b"/>
            <a:pathLst>
              <a:path w="3488885" h="937144">
                <a:moveTo>
                  <a:pt x="0" y="0"/>
                </a:moveTo>
                <a:lnTo>
                  <a:pt x="3488886" y="0"/>
                </a:lnTo>
                <a:lnTo>
                  <a:pt x="3488886" y="937144"/>
                </a:lnTo>
                <a:lnTo>
                  <a:pt x="0" y="937144"/>
                </a:lnTo>
                <a:lnTo>
                  <a:pt x="0" y="0"/>
                </a:lnTo>
                <a:close/>
              </a:path>
            </a:pathLst>
          </a:custGeom>
          <a:blipFill>
            <a:blip r:embed="rId15"/>
            <a:stretch>
              <a:fillRect/>
            </a:stretch>
          </a:blipFill>
        </p:spPr>
        <p:txBody>
          <a:bodyPr/>
          <a:lstStyle/>
          <a:p>
            <a:endParaRPr lang="en-US"/>
          </a:p>
        </p:txBody>
      </p:sp>
      <p:sp>
        <p:nvSpPr>
          <p:cNvPr id="79" name="TextBox 79"/>
          <p:cNvSpPr txBox="1"/>
          <p:nvPr/>
        </p:nvSpPr>
        <p:spPr>
          <a:xfrm>
            <a:off x="3003339" y="5664960"/>
            <a:ext cx="3627456" cy="740283"/>
          </a:xfrm>
          <a:prstGeom prst="rect">
            <a:avLst/>
          </a:prstGeom>
        </p:spPr>
        <p:txBody>
          <a:bodyPr lIns="0" tIns="0" rIns="0" bIns="0" rtlCol="0" anchor="t">
            <a:spAutoFit/>
          </a:bodyPr>
          <a:lstStyle/>
          <a:p>
            <a:pPr marL="0" lvl="0" indent="0" algn="just">
              <a:lnSpc>
                <a:spcPts val="2016"/>
              </a:lnSpc>
            </a:pPr>
            <a:r>
              <a:rPr lang="en-US" sz="1600" spc="-59">
                <a:solidFill>
                  <a:srgbClr val="FFFFFF"/>
                </a:solidFill>
                <a:latin typeface="Aptos"/>
                <a:ea typeface="Aptos"/>
                <a:cs typeface="Aptos"/>
                <a:sym typeface="Aptos"/>
              </a:rPr>
              <a:t>Harness duy trì AgentState qua từng lượt hội thoại. Ngữ cảnh được lưu trữ và truyền nhất quán, tránh mất thông tin giữa các bước xử lý.</a:t>
            </a:r>
          </a:p>
        </p:txBody>
      </p:sp>
      <p:sp>
        <p:nvSpPr>
          <p:cNvPr id="80" name="TextBox 80"/>
          <p:cNvSpPr txBox="1"/>
          <p:nvPr/>
        </p:nvSpPr>
        <p:spPr>
          <a:xfrm>
            <a:off x="3159438" y="4969202"/>
            <a:ext cx="2520213" cy="281136"/>
          </a:xfrm>
          <a:prstGeom prst="rect">
            <a:avLst/>
          </a:prstGeom>
        </p:spPr>
        <p:txBody>
          <a:bodyPr lIns="0" tIns="0" rIns="0" bIns="0" rtlCol="0" anchor="t">
            <a:spAutoFit/>
          </a:bodyPr>
          <a:lstStyle/>
          <a:p>
            <a:pPr marL="0" lvl="0" indent="0" algn="ctr">
              <a:lnSpc>
                <a:spcPts val="2281"/>
              </a:lnSpc>
            </a:pPr>
            <a:r>
              <a:rPr lang="en-US" sz="1933" b="1" spc="-13">
                <a:solidFill>
                  <a:srgbClr val="424141"/>
                </a:solidFill>
                <a:latin typeface="Aptos Bold"/>
                <a:ea typeface="Aptos Bold"/>
                <a:cs typeface="Aptos Bold"/>
                <a:sym typeface="Aptos Bold"/>
              </a:rPr>
              <a:t>Kiểm soát Ngữ cảnh</a:t>
            </a:r>
          </a:p>
        </p:txBody>
      </p:sp>
      <p:sp>
        <p:nvSpPr>
          <p:cNvPr id="81" name="TextBox 81"/>
          <p:cNvSpPr txBox="1"/>
          <p:nvPr/>
        </p:nvSpPr>
        <p:spPr>
          <a:xfrm>
            <a:off x="7815562" y="5664960"/>
            <a:ext cx="3627456" cy="1019937"/>
          </a:xfrm>
          <a:prstGeom prst="rect">
            <a:avLst/>
          </a:prstGeom>
        </p:spPr>
        <p:txBody>
          <a:bodyPr lIns="0" tIns="0" rIns="0" bIns="0" rtlCol="0" anchor="t">
            <a:spAutoFit/>
          </a:bodyPr>
          <a:lstStyle/>
          <a:p>
            <a:pPr marL="0" lvl="0" indent="0" algn="just">
              <a:lnSpc>
                <a:spcPts val="2064"/>
              </a:lnSpc>
            </a:pPr>
            <a:r>
              <a:rPr lang="en-US" sz="1600" spc="-59">
                <a:solidFill>
                  <a:srgbClr val="FFFFFF"/>
                </a:solidFill>
                <a:latin typeface="Aptos"/>
                <a:ea typeface="Aptos"/>
                <a:cs typeface="Aptos"/>
                <a:sym typeface="Aptos"/>
              </a:rPr>
              <a:t>Catalog là nguồn sự thật duy nhất. ProductResolver truy vấn trực tiếp, không suy đoán. Giá, spec, SKU đều bám sát dữ liệu thật.</a:t>
            </a:r>
          </a:p>
        </p:txBody>
      </p:sp>
      <p:sp>
        <p:nvSpPr>
          <p:cNvPr id="82" name="TextBox 82"/>
          <p:cNvSpPr txBox="1"/>
          <p:nvPr/>
        </p:nvSpPr>
        <p:spPr>
          <a:xfrm>
            <a:off x="7971662" y="4969202"/>
            <a:ext cx="2520213" cy="281136"/>
          </a:xfrm>
          <a:prstGeom prst="rect">
            <a:avLst/>
          </a:prstGeom>
        </p:spPr>
        <p:txBody>
          <a:bodyPr lIns="0" tIns="0" rIns="0" bIns="0" rtlCol="0" anchor="t">
            <a:spAutoFit/>
          </a:bodyPr>
          <a:lstStyle/>
          <a:p>
            <a:pPr marL="0" lvl="0" indent="0" algn="ctr">
              <a:lnSpc>
                <a:spcPts val="2281"/>
              </a:lnSpc>
            </a:pPr>
            <a:r>
              <a:rPr lang="en-US" sz="1933" b="1" spc="-13">
                <a:solidFill>
                  <a:srgbClr val="424141"/>
                </a:solidFill>
                <a:latin typeface="Aptos Bold"/>
                <a:ea typeface="Aptos Bold"/>
                <a:cs typeface="Aptos Bold"/>
                <a:sym typeface="Aptos Bold"/>
              </a:rPr>
              <a:t>Dữ liệu Catalog</a:t>
            </a:r>
          </a:p>
        </p:txBody>
      </p:sp>
      <p:sp>
        <p:nvSpPr>
          <p:cNvPr id="83" name="TextBox 83"/>
          <p:cNvSpPr txBox="1"/>
          <p:nvPr/>
        </p:nvSpPr>
        <p:spPr>
          <a:xfrm>
            <a:off x="3001357" y="8205211"/>
            <a:ext cx="3627456" cy="917067"/>
          </a:xfrm>
          <a:prstGeom prst="rect">
            <a:avLst/>
          </a:prstGeom>
        </p:spPr>
        <p:txBody>
          <a:bodyPr lIns="0" tIns="0" rIns="0" bIns="0" rtlCol="0" anchor="t">
            <a:spAutoFit/>
          </a:bodyPr>
          <a:lstStyle/>
          <a:p>
            <a:pPr marL="0" lvl="0" indent="0" algn="just">
              <a:lnSpc>
                <a:spcPts val="1824"/>
              </a:lnSpc>
            </a:pPr>
            <a:r>
              <a:rPr lang="en-US" sz="1600" spc="-59">
                <a:solidFill>
                  <a:srgbClr val="FFFFFF"/>
                </a:solidFill>
                <a:latin typeface="Aptos"/>
                <a:ea typeface="Aptos"/>
                <a:cs typeface="Aptos"/>
                <a:sym typeface="Aptos"/>
              </a:rPr>
              <a:t>Verifier kiểm tra từng claim trước khi trả lời. Chặn hallucination, sai SKU, thiếu trường. Không có claim nào qua mà chưa được xác minh.</a:t>
            </a:r>
          </a:p>
        </p:txBody>
      </p:sp>
      <p:sp>
        <p:nvSpPr>
          <p:cNvPr id="84" name="TextBox 84"/>
          <p:cNvSpPr txBox="1"/>
          <p:nvPr/>
        </p:nvSpPr>
        <p:spPr>
          <a:xfrm>
            <a:off x="3157456" y="7490403"/>
            <a:ext cx="2520213" cy="281136"/>
          </a:xfrm>
          <a:prstGeom prst="rect">
            <a:avLst/>
          </a:prstGeom>
        </p:spPr>
        <p:txBody>
          <a:bodyPr lIns="0" tIns="0" rIns="0" bIns="0" rtlCol="0" anchor="t">
            <a:spAutoFit/>
          </a:bodyPr>
          <a:lstStyle/>
          <a:p>
            <a:pPr marL="0" lvl="0" indent="0" algn="ctr">
              <a:lnSpc>
                <a:spcPts val="2281"/>
              </a:lnSpc>
            </a:pPr>
            <a:r>
              <a:rPr lang="en-US" sz="1933" b="1" spc="-13">
                <a:solidFill>
                  <a:srgbClr val="424141"/>
                </a:solidFill>
                <a:latin typeface="Aptos Bold"/>
                <a:ea typeface="Aptos Bold"/>
                <a:cs typeface="Aptos Bold"/>
                <a:sym typeface="Aptos Bold"/>
              </a:rPr>
              <a:t>Verification Claim</a:t>
            </a:r>
          </a:p>
        </p:txBody>
      </p:sp>
      <p:sp>
        <p:nvSpPr>
          <p:cNvPr id="85" name="TextBox 85"/>
          <p:cNvSpPr txBox="1"/>
          <p:nvPr/>
        </p:nvSpPr>
        <p:spPr>
          <a:xfrm>
            <a:off x="7813580" y="8233786"/>
            <a:ext cx="3627456" cy="604647"/>
          </a:xfrm>
          <a:prstGeom prst="rect">
            <a:avLst/>
          </a:prstGeom>
        </p:spPr>
        <p:txBody>
          <a:bodyPr lIns="0" tIns="0" rIns="0" bIns="0" rtlCol="0" anchor="t">
            <a:spAutoFit/>
          </a:bodyPr>
          <a:lstStyle/>
          <a:p>
            <a:pPr marL="0" lvl="0" indent="0" algn="just">
              <a:lnSpc>
                <a:spcPts val="1584"/>
              </a:lnSpc>
            </a:pPr>
            <a:r>
              <a:rPr lang="en-US" sz="1600" spc="-59">
                <a:solidFill>
                  <a:srgbClr val="FFFFFF"/>
                </a:solidFill>
                <a:latin typeface="Aptos"/>
                <a:ea typeface="Aptos"/>
                <a:cs typeface="Aptos"/>
                <a:sym typeface="Aptos"/>
              </a:rPr>
              <a:t>Response Contract đảm bảo text và product cards luôn nhất quán. UI chỉ render dữ liệu qua contract đã được kiểm soát và trace.</a:t>
            </a:r>
          </a:p>
        </p:txBody>
      </p:sp>
      <p:sp>
        <p:nvSpPr>
          <p:cNvPr id="86" name="TextBox 86"/>
          <p:cNvSpPr txBox="1"/>
          <p:nvPr/>
        </p:nvSpPr>
        <p:spPr>
          <a:xfrm>
            <a:off x="7969679" y="7490403"/>
            <a:ext cx="2520213" cy="281136"/>
          </a:xfrm>
          <a:prstGeom prst="rect">
            <a:avLst/>
          </a:prstGeom>
        </p:spPr>
        <p:txBody>
          <a:bodyPr lIns="0" tIns="0" rIns="0" bIns="0" rtlCol="0" anchor="t">
            <a:spAutoFit/>
          </a:bodyPr>
          <a:lstStyle/>
          <a:p>
            <a:pPr marL="0" lvl="0" indent="0" algn="ctr">
              <a:lnSpc>
                <a:spcPts val="2281"/>
              </a:lnSpc>
            </a:pPr>
            <a:r>
              <a:rPr lang="en-US" sz="1933" b="1" spc="-13">
                <a:solidFill>
                  <a:srgbClr val="424141"/>
                </a:solidFill>
                <a:latin typeface="Aptos Bold"/>
                <a:ea typeface="Aptos Bold"/>
                <a:cs typeface="Aptos Bold"/>
                <a:sym typeface="Aptos Bold"/>
              </a:rPr>
              <a:t>Output UI Đồng bộ</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grpSp>
        <p:nvGrpSpPr>
          <p:cNvPr id="12" name="Group 12"/>
          <p:cNvGrpSpPr/>
          <p:nvPr/>
        </p:nvGrpSpPr>
        <p:grpSpPr>
          <a:xfrm>
            <a:off x="2952598" y="3608193"/>
            <a:ext cx="10743143" cy="6276745"/>
            <a:chOff x="0" y="0"/>
            <a:chExt cx="6433616" cy="3758878"/>
          </a:xfrm>
        </p:grpSpPr>
        <p:sp>
          <p:nvSpPr>
            <p:cNvPr id="13" name="Freeform 13"/>
            <p:cNvSpPr/>
            <p:nvPr/>
          </p:nvSpPr>
          <p:spPr>
            <a:xfrm>
              <a:off x="0" y="0"/>
              <a:ext cx="6433616" cy="3758878"/>
            </a:xfrm>
            <a:custGeom>
              <a:avLst/>
              <a:gdLst/>
              <a:ahLst/>
              <a:cxnLst/>
              <a:rect l="l" t="t" r="r" b="b"/>
              <a:pathLst>
                <a:path w="6433616" h="3758878">
                  <a:moveTo>
                    <a:pt x="23060" y="0"/>
                  </a:moveTo>
                  <a:lnTo>
                    <a:pt x="6410555" y="0"/>
                  </a:lnTo>
                  <a:cubicBezTo>
                    <a:pt x="6416672" y="0"/>
                    <a:pt x="6422537" y="2430"/>
                    <a:pt x="6426862" y="6754"/>
                  </a:cubicBezTo>
                  <a:cubicBezTo>
                    <a:pt x="6431186" y="11079"/>
                    <a:pt x="6433616" y="16944"/>
                    <a:pt x="6433616" y="23060"/>
                  </a:cubicBezTo>
                  <a:lnTo>
                    <a:pt x="6433616" y="3735818"/>
                  </a:lnTo>
                  <a:cubicBezTo>
                    <a:pt x="6433616" y="3741934"/>
                    <a:pt x="6431186" y="3747800"/>
                    <a:pt x="6426862" y="3752124"/>
                  </a:cubicBezTo>
                  <a:cubicBezTo>
                    <a:pt x="6422537" y="3756449"/>
                    <a:pt x="6416672" y="3758878"/>
                    <a:pt x="6410555" y="3758878"/>
                  </a:cubicBezTo>
                  <a:lnTo>
                    <a:pt x="23060" y="3758878"/>
                  </a:lnTo>
                  <a:cubicBezTo>
                    <a:pt x="16944" y="3758878"/>
                    <a:pt x="11079" y="3756449"/>
                    <a:pt x="6754" y="3752124"/>
                  </a:cubicBezTo>
                  <a:cubicBezTo>
                    <a:pt x="2430" y="3747800"/>
                    <a:pt x="0" y="3741934"/>
                    <a:pt x="0" y="3735818"/>
                  </a:cubicBezTo>
                  <a:lnTo>
                    <a:pt x="0" y="23060"/>
                  </a:lnTo>
                  <a:cubicBezTo>
                    <a:pt x="0" y="16944"/>
                    <a:pt x="2430" y="11079"/>
                    <a:pt x="6754" y="6754"/>
                  </a:cubicBezTo>
                  <a:cubicBezTo>
                    <a:pt x="11079" y="2430"/>
                    <a:pt x="16944" y="0"/>
                    <a:pt x="23060" y="0"/>
                  </a:cubicBezTo>
                  <a:close/>
                </a:path>
              </a:pathLst>
            </a:custGeom>
            <a:solidFill>
              <a:srgbClr val="EB574C"/>
            </a:solidFill>
            <a:ln w="9525" cap="rnd">
              <a:solidFill>
                <a:srgbClr val="424141"/>
              </a:solidFill>
              <a:prstDash val="solid"/>
              <a:round/>
            </a:ln>
          </p:spPr>
          <p:txBody>
            <a:bodyPr/>
            <a:lstStyle/>
            <a:p>
              <a:endParaRPr lang="en-US"/>
            </a:p>
          </p:txBody>
        </p:sp>
        <p:sp>
          <p:nvSpPr>
            <p:cNvPr id="14" name="TextBox 14"/>
            <p:cNvSpPr txBox="1"/>
            <p:nvPr/>
          </p:nvSpPr>
          <p:spPr>
            <a:xfrm>
              <a:off x="0" y="-38100"/>
              <a:ext cx="6433616" cy="3796978"/>
            </a:xfrm>
            <a:prstGeom prst="rect">
              <a:avLst/>
            </a:prstGeom>
          </p:spPr>
          <p:txBody>
            <a:bodyPr lIns="50800" tIns="50800" rIns="50800" bIns="50800" rtlCol="0" anchor="ctr"/>
            <a:lstStyle/>
            <a:p>
              <a:pPr marL="0" lvl="0" indent="0" algn="ctr">
                <a:lnSpc>
                  <a:spcPts val="1540"/>
                </a:lnSpc>
              </a:pPr>
              <a:endParaRPr/>
            </a:p>
          </p:txBody>
        </p:sp>
      </p:grpSp>
      <p:sp>
        <p:nvSpPr>
          <p:cNvPr id="15" name="Freeform 15"/>
          <p:cNvSpPr/>
          <p:nvPr/>
        </p:nvSpPr>
        <p:spPr>
          <a:xfrm flipH="1">
            <a:off x="12614405" y="2695207"/>
            <a:ext cx="941613" cy="818027"/>
          </a:xfrm>
          <a:custGeom>
            <a:avLst/>
            <a:gdLst/>
            <a:ahLst/>
            <a:cxnLst/>
            <a:rect l="l" t="t" r="r" b="b"/>
            <a:pathLst>
              <a:path w="941613" h="818027">
                <a:moveTo>
                  <a:pt x="941614" y="0"/>
                </a:moveTo>
                <a:lnTo>
                  <a:pt x="0" y="0"/>
                </a:lnTo>
                <a:lnTo>
                  <a:pt x="0" y="818027"/>
                </a:lnTo>
                <a:lnTo>
                  <a:pt x="941614" y="818027"/>
                </a:lnTo>
                <a:lnTo>
                  <a:pt x="94161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AutoShape 16"/>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7" name="AutoShape 17"/>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8" name="AutoShape 18"/>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9" name="Freeform 19"/>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Freeform 20"/>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21" name="Group 21"/>
          <p:cNvGrpSpPr/>
          <p:nvPr/>
        </p:nvGrpSpPr>
        <p:grpSpPr>
          <a:xfrm>
            <a:off x="16839551" y="2894346"/>
            <a:ext cx="419749" cy="41974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3" name="TextBox 23"/>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4" name="Group 24"/>
          <p:cNvGrpSpPr/>
          <p:nvPr/>
        </p:nvGrpSpPr>
        <p:grpSpPr>
          <a:xfrm>
            <a:off x="16419760" y="2894346"/>
            <a:ext cx="419749" cy="41974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6" name="TextBox 26"/>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7" name="Group 27"/>
          <p:cNvGrpSpPr/>
          <p:nvPr/>
        </p:nvGrpSpPr>
        <p:grpSpPr>
          <a:xfrm>
            <a:off x="15999969" y="2894346"/>
            <a:ext cx="419749" cy="419749"/>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29" name="TextBox 29"/>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30" name="Freeform 30"/>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31" name="Group 31"/>
          <p:cNvGrpSpPr/>
          <p:nvPr/>
        </p:nvGrpSpPr>
        <p:grpSpPr>
          <a:xfrm>
            <a:off x="3275115" y="3921512"/>
            <a:ext cx="10097061" cy="5650107"/>
            <a:chOff x="0" y="0"/>
            <a:chExt cx="3272123" cy="1831012"/>
          </a:xfrm>
        </p:grpSpPr>
        <p:sp>
          <p:nvSpPr>
            <p:cNvPr id="32" name="Freeform 32"/>
            <p:cNvSpPr/>
            <p:nvPr/>
          </p:nvSpPr>
          <p:spPr>
            <a:xfrm>
              <a:off x="0" y="0"/>
              <a:ext cx="3272123" cy="1831012"/>
            </a:xfrm>
            <a:custGeom>
              <a:avLst/>
              <a:gdLst/>
              <a:ahLst/>
              <a:cxnLst/>
              <a:rect l="l" t="t" r="r" b="b"/>
              <a:pathLst>
                <a:path w="3272123" h="1831012">
                  <a:moveTo>
                    <a:pt x="13035" y="0"/>
                  </a:moveTo>
                  <a:lnTo>
                    <a:pt x="3259088" y="0"/>
                  </a:lnTo>
                  <a:cubicBezTo>
                    <a:pt x="3266287" y="0"/>
                    <a:pt x="3272123" y="5836"/>
                    <a:pt x="3272123" y="13035"/>
                  </a:cubicBezTo>
                  <a:lnTo>
                    <a:pt x="3272123" y="1817978"/>
                  </a:lnTo>
                  <a:cubicBezTo>
                    <a:pt x="3272123" y="1825177"/>
                    <a:pt x="3266287" y="1831012"/>
                    <a:pt x="3259088" y="1831012"/>
                  </a:cubicBezTo>
                  <a:lnTo>
                    <a:pt x="13035" y="1831012"/>
                  </a:lnTo>
                  <a:cubicBezTo>
                    <a:pt x="5836" y="1831012"/>
                    <a:pt x="0" y="1825177"/>
                    <a:pt x="0" y="1817978"/>
                  </a:cubicBezTo>
                  <a:lnTo>
                    <a:pt x="0" y="13035"/>
                  </a:lnTo>
                  <a:cubicBezTo>
                    <a:pt x="0" y="5836"/>
                    <a:pt x="5836" y="0"/>
                    <a:pt x="13035" y="0"/>
                  </a:cubicBezTo>
                  <a:close/>
                </a:path>
              </a:pathLst>
            </a:custGeom>
            <a:blipFill>
              <a:blip r:embed="rId7"/>
              <a:stretch>
                <a:fillRect t="-260" b="-260"/>
              </a:stretch>
            </a:blipFill>
            <a:ln w="9525" cap="sq">
              <a:solidFill>
                <a:srgbClr val="424141"/>
              </a:solidFill>
              <a:prstDash val="solid"/>
              <a:miter/>
            </a:ln>
          </p:spPr>
          <p:txBody>
            <a:bodyPr/>
            <a:lstStyle/>
            <a:p>
              <a:endParaRPr lang="en-US"/>
            </a:p>
          </p:txBody>
        </p:sp>
      </p:grpSp>
      <p:sp>
        <p:nvSpPr>
          <p:cNvPr id="33" name="Freeform 33"/>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4" name="Freeform 34"/>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35" name="Freeform 35"/>
          <p:cNvSpPr/>
          <p:nvPr/>
        </p:nvSpPr>
        <p:spPr>
          <a:xfrm>
            <a:off x="2532980" y="646519"/>
            <a:ext cx="3491624" cy="937880"/>
          </a:xfrm>
          <a:custGeom>
            <a:avLst/>
            <a:gdLst/>
            <a:ahLst/>
            <a:cxnLst/>
            <a:rect l="l" t="t" r="r" b="b"/>
            <a:pathLst>
              <a:path w="3491624" h="937880">
                <a:moveTo>
                  <a:pt x="0" y="0"/>
                </a:moveTo>
                <a:lnTo>
                  <a:pt x="3491624" y="0"/>
                </a:lnTo>
                <a:lnTo>
                  <a:pt x="3491624" y="937880"/>
                </a:lnTo>
                <a:lnTo>
                  <a:pt x="0" y="937880"/>
                </a:lnTo>
                <a:lnTo>
                  <a:pt x="0" y="0"/>
                </a:lnTo>
                <a:close/>
              </a:path>
            </a:pathLst>
          </a:custGeom>
          <a:blipFill>
            <a:blip r:embed="rId10"/>
            <a:stretch>
              <a:fillRect/>
            </a:stretch>
          </a:blipFill>
        </p:spPr>
        <p:txBody>
          <a:bodyPr/>
          <a:lstStyle/>
          <a:p>
            <a:endParaRPr lang="en-US"/>
          </a:p>
        </p:txBody>
      </p:sp>
      <p:sp>
        <p:nvSpPr>
          <p:cNvPr id="36" name="TextBox 36"/>
          <p:cNvSpPr txBox="1"/>
          <p:nvPr/>
        </p:nvSpPr>
        <p:spPr>
          <a:xfrm>
            <a:off x="2861873" y="1974286"/>
            <a:ext cx="9848830" cy="789922"/>
          </a:xfrm>
          <a:prstGeom prst="rect">
            <a:avLst/>
          </a:prstGeom>
        </p:spPr>
        <p:txBody>
          <a:bodyPr lIns="0" tIns="0" rIns="0" bIns="0" rtlCol="0" anchor="t">
            <a:spAutoFit/>
          </a:bodyPr>
          <a:lstStyle/>
          <a:p>
            <a:pPr marL="0" lvl="0" indent="0" algn="l">
              <a:lnSpc>
                <a:spcPts val="5986"/>
              </a:lnSpc>
            </a:pPr>
            <a:r>
              <a:rPr lang="en-US" sz="6046" b="1" spc="-374">
                <a:solidFill>
                  <a:srgbClr val="424141"/>
                </a:solidFill>
                <a:latin typeface="Aptos Bold"/>
                <a:ea typeface="Aptos Bold"/>
                <a:cs typeface="Aptos Bold"/>
                <a:sym typeface="Aptos Bold"/>
              </a:rPr>
              <a:t>KIẾN TRÚC TỔNG THỂ AURA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sp>
        <p:nvSpPr>
          <p:cNvPr id="12" name="AutoShape 12"/>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3" name="AutoShape 13"/>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4" name="AutoShape 14"/>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5" name="Freeform 15"/>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7" name="Group 17"/>
          <p:cNvGrpSpPr/>
          <p:nvPr/>
        </p:nvGrpSpPr>
        <p:grpSpPr>
          <a:xfrm>
            <a:off x="3807547" y="8737679"/>
            <a:ext cx="419749" cy="419749"/>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19" name="TextBox 19"/>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0" name="Group 20"/>
          <p:cNvGrpSpPr/>
          <p:nvPr/>
        </p:nvGrpSpPr>
        <p:grpSpPr>
          <a:xfrm>
            <a:off x="3387757" y="8737679"/>
            <a:ext cx="419749" cy="41974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2" name="TextBox 22"/>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3" name="Group 23"/>
          <p:cNvGrpSpPr/>
          <p:nvPr/>
        </p:nvGrpSpPr>
        <p:grpSpPr>
          <a:xfrm>
            <a:off x="2967966" y="8737679"/>
            <a:ext cx="419749" cy="419749"/>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25" name="TextBox 25"/>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6" name="Group 26"/>
          <p:cNvGrpSpPr/>
          <p:nvPr/>
        </p:nvGrpSpPr>
        <p:grpSpPr>
          <a:xfrm>
            <a:off x="9815069" y="2132359"/>
            <a:ext cx="5684689" cy="653335"/>
            <a:chOff x="0" y="0"/>
            <a:chExt cx="3948465" cy="453793"/>
          </a:xfrm>
        </p:grpSpPr>
        <p:sp>
          <p:nvSpPr>
            <p:cNvPr id="27" name="Freeform 27"/>
            <p:cNvSpPr/>
            <p:nvPr/>
          </p:nvSpPr>
          <p:spPr>
            <a:xfrm>
              <a:off x="0" y="0"/>
              <a:ext cx="3948465" cy="453793"/>
            </a:xfrm>
            <a:custGeom>
              <a:avLst/>
              <a:gdLst/>
              <a:ahLst/>
              <a:cxnLst/>
              <a:rect l="l" t="t" r="r" b="b"/>
              <a:pathLst>
                <a:path w="3948465" h="453793">
                  <a:moveTo>
                    <a:pt x="17705" y="0"/>
                  </a:moveTo>
                  <a:lnTo>
                    <a:pt x="3930760" y="0"/>
                  </a:lnTo>
                  <a:cubicBezTo>
                    <a:pt x="3935456" y="0"/>
                    <a:pt x="3939960" y="1865"/>
                    <a:pt x="3943279" y="5186"/>
                  </a:cubicBezTo>
                  <a:cubicBezTo>
                    <a:pt x="3946600" y="8506"/>
                    <a:pt x="3948465" y="13009"/>
                    <a:pt x="3948465" y="17705"/>
                  </a:cubicBezTo>
                  <a:lnTo>
                    <a:pt x="3948465" y="436088"/>
                  </a:lnTo>
                  <a:cubicBezTo>
                    <a:pt x="3948465" y="445866"/>
                    <a:pt x="3940539" y="453793"/>
                    <a:pt x="3930760" y="453793"/>
                  </a:cubicBezTo>
                  <a:lnTo>
                    <a:pt x="17705" y="453793"/>
                  </a:lnTo>
                  <a:cubicBezTo>
                    <a:pt x="13009" y="453793"/>
                    <a:pt x="8506" y="451927"/>
                    <a:pt x="5186" y="448607"/>
                  </a:cubicBezTo>
                  <a:cubicBezTo>
                    <a:pt x="1865" y="445287"/>
                    <a:pt x="0" y="440784"/>
                    <a:pt x="0" y="436088"/>
                  </a:cubicBezTo>
                  <a:lnTo>
                    <a:pt x="0" y="17705"/>
                  </a:lnTo>
                  <a:cubicBezTo>
                    <a:pt x="0" y="13009"/>
                    <a:pt x="1865" y="8506"/>
                    <a:pt x="5186" y="5186"/>
                  </a:cubicBezTo>
                  <a:cubicBezTo>
                    <a:pt x="8506" y="1865"/>
                    <a:pt x="13009" y="0"/>
                    <a:pt x="17705" y="0"/>
                  </a:cubicBezTo>
                  <a:close/>
                </a:path>
              </a:pathLst>
            </a:custGeom>
            <a:solidFill>
              <a:srgbClr val="FFDE59"/>
            </a:solidFill>
            <a:ln w="9525" cap="sq">
              <a:solidFill>
                <a:srgbClr val="424141"/>
              </a:solidFill>
              <a:prstDash val="solid"/>
              <a:miter/>
            </a:ln>
          </p:spPr>
          <p:txBody>
            <a:bodyPr/>
            <a:lstStyle/>
            <a:p>
              <a:endParaRPr lang="en-US"/>
            </a:p>
          </p:txBody>
        </p:sp>
        <p:sp>
          <p:nvSpPr>
            <p:cNvPr id="28" name="TextBox 28"/>
            <p:cNvSpPr txBox="1"/>
            <p:nvPr/>
          </p:nvSpPr>
          <p:spPr>
            <a:xfrm>
              <a:off x="0" y="28575"/>
              <a:ext cx="3948465" cy="425218"/>
            </a:xfrm>
            <a:prstGeom prst="rect">
              <a:avLst/>
            </a:prstGeom>
          </p:spPr>
          <p:txBody>
            <a:bodyPr lIns="39013" tIns="39013" rIns="39013" bIns="39013" rtlCol="0" anchor="ctr"/>
            <a:lstStyle/>
            <a:p>
              <a:pPr marL="0" lvl="0" indent="0" algn="ctr">
                <a:lnSpc>
                  <a:spcPts val="1297"/>
                </a:lnSpc>
              </a:pPr>
              <a:endParaRPr/>
            </a:p>
          </p:txBody>
        </p:sp>
      </p:grpSp>
      <p:sp>
        <p:nvSpPr>
          <p:cNvPr id="29" name="Freeform 29"/>
          <p:cNvSpPr/>
          <p:nvPr/>
        </p:nvSpPr>
        <p:spPr>
          <a:xfrm flipH="1">
            <a:off x="14517300" y="2756977"/>
            <a:ext cx="941613" cy="818027"/>
          </a:xfrm>
          <a:custGeom>
            <a:avLst/>
            <a:gdLst/>
            <a:ahLst/>
            <a:cxnLst/>
            <a:rect l="l" t="t" r="r" b="b"/>
            <a:pathLst>
              <a:path w="941613" h="818027">
                <a:moveTo>
                  <a:pt x="941613" y="0"/>
                </a:moveTo>
                <a:lnTo>
                  <a:pt x="0" y="0"/>
                </a:lnTo>
                <a:lnTo>
                  <a:pt x="0" y="818027"/>
                </a:lnTo>
                <a:lnTo>
                  <a:pt x="941613" y="818027"/>
                </a:lnTo>
                <a:lnTo>
                  <a:pt x="94161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0" name="Freeform 30"/>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1" name="Freeform 31"/>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32" name="Freeform 32"/>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33" name="Group 33"/>
          <p:cNvGrpSpPr/>
          <p:nvPr/>
        </p:nvGrpSpPr>
        <p:grpSpPr>
          <a:xfrm>
            <a:off x="1624052" y="5794689"/>
            <a:ext cx="600181" cy="1300767"/>
            <a:chOff x="0" y="0"/>
            <a:chExt cx="523662" cy="1134927"/>
          </a:xfrm>
        </p:grpSpPr>
        <p:sp>
          <p:nvSpPr>
            <p:cNvPr id="34" name="Freeform 34"/>
            <p:cNvSpPr/>
            <p:nvPr/>
          </p:nvSpPr>
          <p:spPr>
            <a:xfrm>
              <a:off x="47412" y="0"/>
              <a:ext cx="447131" cy="1134927"/>
            </a:xfrm>
            <a:custGeom>
              <a:avLst/>
              <a:gdLst/>
              <a:ahLst/>
              <a:cxnLst/>
              <a:rect l="l" t="t" r="r" b="b"/>
              <a:pathLst>
                <a:path w="447131" h="1134927">
                  <a:moveTo>
                    <a:pt x="112819" y="0"/>
                  </a:moveTo>
                  <a:lnTo>
                    <a:pt x="112819" y="0"/>
                  </a:lnTo>
                  <a:cubicBezTo>
                    <a:pt x="208923" y="0"/>
                    <a:pt x="294668" y="60372"/>
                    <a:pt x="327067" y="150851"/>
                  </a:cubicBezTo>
                  <a:lnTo>
                    <a:pt x="419717" y="409589"/>
                  </a:lnTo>
                  <a:cubicBezTo>
                    <a:pt x="456269" y="511665"/>
                    <a:pt x="456269" y="623262"/>
                    <a:pt x="419717" y="725338"/>
                  </a:cubicBezTo>
                  <a:lnTo>
                    <a:pt x="327067" y="984076"/>
                  </a:lnTo>
                  <a:cubicBezTo>
                    <a:pt x="294668" y="1074555"/>
                    <a:pt x="208923" y="1134927"/>
                    <a:pt x="112819" y="1134927"/>
                  </a:cubicBezTo>
                  <a:lnTo>
                    <a:pt x="112819" y="1134927"/>
                  </a:lnTo>
                  <a:cubicBezTo>
                    <a:pt x="76114" y="1134927"/>
                    <a:pt x="41704" y="1117071"/>
                    <a:pt x="20573" y="1087060"/>
                  </a:cubicBezTo>
                  <a:cubicBezTo>
                    <a:pt x="-558" y="1057048"/>
                    <a:pt x="-5769" y="1018632"/>
                    <a:pt x="6605" y="984076"/>
                  </a:cubicBezTo>
                  <a:lnTo>
                    <a:pt x="99256" y="725338"/>
                  </a:lnTo>
                  <a:cubicBezTo>
                    <a:pt x="135807" y="623262"/>
                    <a:pt x="135807" y="511665"/>
                    <a:pt x="99256" y="409589"/>
                  </a:cubicBezTo>
                  <a:lnTo>
                    <a:pt x="6605" y="150851"/>
                  </a:lnTo>
                  <a:cubicBezTo>
                    <a:pt x="-5769" y="116295"/>
                    <a:pt x="-558" y="77880"/>
                    <a:pt x="20573" y="47868"/>
                  </a:cubicBezTo>
                  <a:cubicBezTo>
                    <a:pt x="41704" y="17856"/>
                    <a:pt x="76114" y="0"/>
                    <a:pt x="112819" y="0"/>
                  </a:cubicBezTo>
                  <a:close/>
                </a:path>
              </a:pathLst>
            </a:custGeom>
            <a:solidFill>
              <a:srgbClr val="D1CECA"/>
            </a:solidFill>
          </p:spPr>
          <p:txBody>
            <a:bodyPr/>
            <a:lstStyle/>
            <a:p>
              <a:endParaRPr lang="en-US"/>
            </a:p>
          </p:txBody>
        </p:sp>
        <p:sp>
          <p:nvSpPr>
            <p:cNvPr id="35" name="TextBox 35"/>
            <p:cNvSpPr txBox="1"/>
            <p:nvPr/>
          </p:nvSpPr>
          <p:spPr>
            <a:xfrm>
              <a:off x="177800" y="-38100"/>
              <a:ext cx="269662" cy="1173027"/>
            </a:xfrm>
            <a:prstGeom prst="rect">
              <a:avLst/>
            </a:prstGeom>
          </p:spPr>
          <p:txBody>
            <a:bodyPr lIns="50800" tIns="50800" rIns="50800" bIns="50800" rtlCol="0" anchor="ctr"/>
            <a:lstStyle/>
            <a:p>
              <a:pPr algn="ctr">
                <a:lnSpc>
                  <a:spcPts val="2799"/>
                </a:lnSpc>
              </a:pPr>
              <a:endParaRPr/>
            </a:p>
          </p:txBody>
        </p:sp>
      </p:grpSp>
      <p:sp>
        <p:nvSpPr>
          <p:cNvPr id="36" name="AutoShape 36"/>
          <p:cNvSpPr/>
          <p:nvPr/>
        </p:nvSpPr>
        <p:spPr>
          <a:xfrm>
            <a:off x="2861406" y="6484619"/>
            <a:ext cx="10818232" cy="0"/>
          </a:xfrm>
          <a:prstGeom prst="line">
            <a:avLst/>
          </a:prstGeom>
          <a:ln w="47625" cap="flat">
            <a:solidFill>
              <a:srgbClr val="D1CECA"/>
            </a:solidFill>
            <a:prstDash val="solid"/>
            <a:headEnd type="none" w="sm" len="sm"/>
            <a:tailEnd type="none" w="sm" len="sm"/>
          </a:ln>
        </p:spPr>
        <p:txBody>
          <a:bodyPr/>
          <a:lstStyle/>
          <a:p>
            <a:endParaRPr lang="en-US"/>
          </a:p>
        </p:txBody>
      </p:sp>
      <p:grpSp>
        <p:nvGrpSpPr>
          <p:cNvPr id="37" name="Group 37"/>
          <p:cNvGrpSpPr/>
          <p:nvPr/>
        </p:nvGrpSpPr>
        <p:grpSpPr>
          <a:xfrm>
            <a:off x="1994966" y="5554514"/>
            <a:ext cx="821817" cy="1781116"/>
            <a:chOff x="0" y="0"/>
            <a:chExt cx="523662" cy="1134927"/>
          </a:xfrm>
        </p:grpSpPr>
        <p:sp>
          <p:nvSpPr>
            <p:cNvPr id="38" name="Freeform 38"/>
            <p:cNvSpPr/>
            <p:nvPr/>
          </p:nvSpPr>
          <p:spPr>
            <a:xfrm>
              <a:off x="36238" y="0"/>
              <a:ext cx="466158" cy="1134927"/>
            </a:xfrm>
            <a:custGeom>
              <a:avLst/>
              <a:gdLst/>
              <a:ahLst/>
              <a:cxnLst/>
              <a:rect l="l" t="t" r="r" b="b"/>
              <a:pathLst>
                <a:path w="466158" h="1134927">
                  <a:moveTo>
                    <a:pt x="86228" y="0"/>
                  </a:moveTo>
                  <a:lnTo>
                    <a:pt x="161757" y="0"/>
                  </a:lnTo>
                  <a:cubicBezTo>
                    <a:pt x="235211" y="0"/>
                    <a:pt x="300747" y="46143"/>
                    <a:pt x="325510" y="115297"/>
                  </a:cubicBezTo>
                  <a:lnTo>
                    <a:pt x="446138" y="452166"/>
                  </a:lnTo>
                  <a:cubicBezTo>
                    <a:pt x="472832" y="526714"/>
                    <a:pt x="472832" y="608214"/>
                    <a:pt x="446138" y="682761"/>
                  </a:cubicBezTo>
                  <a:lnTo>
                    <a:pt x="325510" y="1019630"/>
                  </a:lnTo>
                  <a:cubicBezTo>
                    <a:pt x="300747" y="1088784"/>
                    <a:pt x="235211" y="1134927"/>
                    <a:pt x="161757" y="1134927"/>
                  </a:cubicBezTo>
                  <a:lnTo>
                    <a:pt x="86228" y="1134927"/>
                  </a:lnTo>
                  <a:cubicBezTo>
                    <a:pt x="58175" y="1134927"/>
                    <a:pt x="31874" y="1121280"/>
                    <a:pt x="15724" y="1098341"/>
                  </a:cubicBezTo>
                  <a:cubicBezTo>
                    <a:pt x="-427" y="1075403"/>
                    <a:pt x="-4409" y="1046041"/>
                    <a:pt x="5048" y="1019630"/>
                  </a:cubicBezTo>
                  <a:lnTo>
                    <a:pt x="125676" y="682761"/>
                  </a:lnTo>
                  <a:cubicBezTo>
                    <a:pt x="152370" y="608214"/>
                    <a:pt x="152370" y="526714"/>
                    <a:pt x="125676" y="452166"/>
                  </a:cubicBezTo>
                  <a:lnTo>
                    <a:pt x="5048" y="115297"/>
                  </a:lnTo>
                  <a:cubicBezTo>
                    <a:pt x="-4409" y="88886"/>
                    <a:pt x="-427" y="59524"/>
                    <a:pt x="15724" y="36586"/>
                  </a:cubicBezTo>
                  <a:cubicBezTo>
                    <a:pt x="31874" y="13648"/>
                    <a:pt x="58175" y="0"/>
                    <a:pt x="86228" y="0"/>
                  </a:cubicBezTo>
                  <a:close/>
                </a:path>
              </a:pathLst>
            </a:custGeom>
            <a:solidFill>
              <a:srgbClr val="D1CECA"/>
            </a:solidFill>
          </p:spPr>
          <p:txBody>
            <a:bodyPr/>
            <a:lstStyle/>
            <a:p>
              <a:endParaRPr lang="en-US"/>
            </a:p>
          </p:txBody>
        </p:sp>
        <p:sp>
          <p:nvSpPr>
            <p:cNvPr id="39" name="TextBox 39"/>
            <p:cNvSpPr txBox="1"/>
            <p:nvPr/>
          </p:nvSpPr>
          <p:spPr>
            <a:xfrm>
              <a:off x="177800" y="-38100"/>
              <a:ext cx="269662" cy="1173027"/>
            </a:xfrm>
            <a:prstGeom prst="rect">
              <a:avLst/>
            </a:prstGeom>
          </p:spPr>
          <p:txBody>
            <a:bodyPr lIns="50800" tIns="50800" rIns="50800" bIns="50800" rtlCol="0" anchor="ctr"/>
            <a:lstStyle/>
            <a:p>
              <a:pPr algn="ctr">
                <a:lnSpc>
                  <a:spcPts val="2799"/>
                </a:lnSpc>
              </a:pPr>
              <a:endParaRPr/>
            </a:p>
          </p:txBody>
        </p:sp>
      </p:grpSp>
      <p:grpSp>
        <p:nvGrpSpPr>
          <p:cNvPr id="40" name="Group 40"/>
          <p:cNvGrpSpPr/>
          <p:nvPr/>
        </p:nvGrpSpPr>
        <p:grpSpPr>
          <a:xfrm rot="-5400000">
            <a:off x="13490734" y="5782965"/>
            <a:ext cx="1781116" cy="1403308"/>
            <a:chOff x="0" y="0"/>
            <a:chExt cx="660400" cy="520317"/>
          </a:xfrm>
        </p:grpSpPr>
        <p:sp>
          <p:nvSpPr>
            <p:cNvPr id="41" name="Freeform 41"/>
            <p:cNvSpPr/>
            <p:nvPr/>
          </p:nvSpPr>
          <p:spPr>
            <a:xfrm>
              <a:off x="0" y="0"/>
              <a:ext cx="660400" cy="520317"/>
            </a:xfrm>
            <a:custGeom>
              <a:avLst/>
              <a:gdLst/>
              <a:ahLst/>
              <a:cxnLst/>
              <a:rect l="l" t="t" r="r" b="b"/>
              <a:pathLst>
                <a:path w="660400" h="520317">
                  <a:moveTo>
                    <a:pt x="220252" y="501248"/>
                  </a:moveTo>
                  <a:cubicBezTo>
                    <a:pt x="254109" y="512762"/>
                    <a:pt x="292600" y="520317"/>
                    <a:pt x="330378" y="520317"/>
                  </a:cubicBezTo>
                  <a:cubicBezTo>
                    <a:pt x="368157" y="520317"/>
                    <a:pt x="404509" y="513840"/>
                    <a:pt x="438009" y="502326"/>
                  </a:cubicBezTo>
                  <a:cubicBezTo>
                    <a:pt x="438723" y="501967"/>
                    <a:pt x="439435" y="501967"/>
                    <a:pt x="440148" y="501607"/>
                  </a:cubicBezTo>
                  <a:cubicBezTo>
                    <a:pt x="565955" y="455552"/>
                    <a:pt x="658618" y="333938"/>
                    <a:pt x="660400" y="198312"/>
                  </a:cubicBezTo>
                  <a:lnTo>
                    <a:pt x="660400" y="99156"/>
                  </a:lnTo>
                  <a:cubicBezTo>
                    <a:pt x="660400" y="72858"/>
                    <a:pt x="649953" y="47637"/>
                    <a:pt x="631358" y="29042"/>
                  </a:cubicBezTo>
                  <a:cubicBezTo>
                    <a:pt x="612763" y="10447"/>
                    <a:pt x="587542" y="0"/>
                    <a:pt x="561244" y="0"/>
                  </a:cubicBezTo>
                  <a:lnTo>
                    <a:pt x="99082" y="0"/>
                  </a:lnTo>
                  <a:cubicBezTo>
                    <a:pt x="44361" y="0"/>
                    <a:pt x="0" y="44361"/>
                    <a:pt x="0" y="99082"/>
                  </a:cubicBezTo>
                  <a:lnTo>
                    <a:pt x="0" y="198164"/>
                  </a:lnTo>
                  <a:cubicBezTo>
                    <a:pt x="1782" y="334657"/>
                    <a:pt x="93019" y="456272"/>
                    <a:pt x="220252" y="501248"/>
                  </a:cubicBezTo>
                  <a:lnTo>
                    <a:pt x="220252" y="501248"/>
                  </a:lnTo>
                  <a:close/>
                </a:path>
              </a:pathLst>
            </a:custGeom>
            <a:solidFill>
              <a:srgbClr val="D1CECA"/>
            </a:solidFill>
          </p:spPr>
          <p:txBody>
            <a:bodyPr/>
            <a:lstStyle/>
            <a:p>
              <a:endParaRPr lang="en-US"/>
            </a:p>
          </p:txBody>
        </p:sp>
        <p:sp>
          <p:nvSpPr>
            <p:cNvPr id="42" name="TextBox 42"/>
            <p:cNvSpPr txBox="1"/>
            <p:nvPr/>
          </p:nvSpPr>
          <p:spPr>
            <a:xfrm>
              <a:off x="0" y="-38100"/>
              <a:ext cx="660400" cy="431417"/>
            </a:xfrm>
            <a:prstGeom prst="rect">
              <a:avLst/>
            </a:prstGeom>
          </p:spPr>
          <p:txBody>
            <a:bodyPr lIns="50800" tIns="50800" rIns="50800" bIns="50800" rtlCol="0" anchor="ctr"/>
            <a:lstStyle/>
            <a:p>
              <a:pPr algn="ctr">
                <a:lnSpc>
                  <a:spcPts val="2799"/>
                </a:lnSpc>
              </a:pPr>
              <a:endParaRPr/>
            </a:p>
          </p:txBody>
        </p:sp>
      </p:grpSp>
      <p:grpSp>
        <p:nvGrpSpPr>
          <p:cNvPr id="43" name="Group 43"/>
          <p:cNvGrpSpPr/>
          <p:nvPr/>
        </p:nvGrpSpPr>
        <p:grpSpPr>
          <a:xfrm>
            <a:off x="12759697" y="6055806"/>
            <a:ext cx="307124" cy="307124"/>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8F5"/>
            </a:solidFill>
          </p:spPr>
          <p:txBody>
            <a:bodyPr/>
            <a:lstStyle/>
            <a:p>
              <a:endParaRPr lang="en-US"/>
            </a:p>
          </p:txBody>
        </p:sp>
        <p:sp>
          <p:nvSpPr>
            <p:cNvPr id="45" name="TextBox 45"/>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sp>
        <p:nvSpPr>
          <p:cNvPr id="46" name="AutoShape 46"/>
          <p:cNvSpPr/>
          <p:nvPr/>
        </p:nvSpPr>
        <p:spPr>
          <a:xfrm>
            <a:off x="9616947" y="5211975"/>
            <a:ext cx="0" cy="2332965"/>
          </a:xfrm>
          <a:prstGeom prst="line">
            <a:avLst/>
          </a:prstGeom>
          <a:ln w="47625" cap="flat">
            <a:solidFill>
              <a:srgbClr val="D1CECA"/>
            </a:solidFill>
            <a:prstDash val="solid"/>
            <a:headEnd type="arrow" w="med" len="sm"/>
            <a:tailEnd type="arrow" w="med" len="sm"/>
          </a:ln>
        </p:spPr>
        <p:txBody>
          <a:bodyPr/>
          <a:lstStyle/>
          <a:p>
            <a:endParaRPr lang="en-US"/>
          </a:p>
        </p:txBody>
      </p:sp>
      <p:grpSp>
        <p:nvGrpSpPr>
          <p:cNvPr id="47" name="Group 47"/>
          <p:cNvGrpSpPr/>
          <p:nvPr/>
        </p:nvGrpSpPr>
        <p:grpSpPr>
          <a:xfrm>
            <a:off x="9175242" y="7887188"/>
            <a:ext cx="1636753" cy="413642"/>
            <a:chOff x="0" y="0"/>
            <a:chExt cx="505326" cy="127707"/>
          </a:xfrm>
        </p:grpSpPr>
        <p:sp>
          <p:nvSpPr>
            <p:cNvPr id="48" name="Freeform 48"/>
            <p:cNvSpPr/>
            <p:nvPr/>
          </p:nvSpPr>
          <p:spPr>
            <a:xfrm>
              <a:off x="0" y="0"/>
              <a:ext cx="505326" cy="127707"/>
            </a:xfrm>
            <a:custGeom>
              <a:avLst/>
              <a:gdLst/>
              <a:ahLst/>
              <a:cxnLst/>
              <a:rect l="l" t="t" r="r" b="b"/>
              <a:pathLst>
                <a:path w="505326" h="127707">
                  <a:moveTo>
                    <a:pt x="63853" y="0"/>
                  </a:moveTo>
                  <a:lnTo>
                    <a:pt x="441473" y="0"/>
                  </a:lnTo>
                  <a:cubicBezTo>
                    <a:pt x="458407" y="0"/>
                    <a:pt x="474649" y="6727"/>
                    <a:pt x="486624" y="18702"/>
                  </a:cubicBezTo>
                  <a:cubicBezTo>
                    <a:pt x="498598" y="30677"/>
                    <a:pt x="505326" y="46918"/>
                    <a:pt x="505326" y="63853"/>
                  </a:cubicBezTo>
                  <a:lnTo>
                    <a:pt x="505326" y="63853"/>
                  </a:lnTo>
                  <a:cubicBezTo>
                    <a:pt x="505326" y="99119"/>
                    <a:pt x="476738" y="127707"/>
                    <a:pt x="441473" y="127707"/>
                  </a:cubicBezTo>
                  <a:lnTo>
                    <a:pt x="63853" y="127707"/>
                  </a:lnTo>
                  <a:cubicBezTo>
                    <a:pt x="28588" y="127707"/>
                    <a:pt x="0" y="99119"/>
                    <a:pt x="0" y="63853"/>
                  </a:cubicBezTo>
                  <a:lnTo>
                    <a:pt x="0" y="63853"/>
                  </a:lnTo>
                  <a:cubicBezTo>
                    <a:pt x="0" y="28588"/>
                    <a:pt x="28588" y="0"/>
                    <a:pt x="63853" y="0"/>
                  </a:cubicBezTo>
                  <a:close/>
                </a:path>
              </a:pathLst>
            </a:custGeom>
            <a:solidFill>
              <a:srgbClr val="FF6F5E"/>
            </a:solidFill>
          </p:spPr>
          <p:txBody>
            <a:bodyPr/>
            <a:lstStyle/>
            <a:p>
              <a:endParaRPr lang="en-US"/>
            </a:p>
          </p:txBody>
        </p:sp>
        <p:sp>
          <p:nvSpPr>
            <p:cNvPr id="49" name="TextBox 49"/>
            <p:cNvSpPr txBox="1"/>
            <p:nvPr/>
          </p:nvSpPr>
          <p:spPr>
            <a:xfrm>
              <a:off x="0" y="-47625"/>
              <a:ext cx="505326" cy="175332"/>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000000"/>
                  </a:solidFill>
                  <a:latin typeface="TT Hoves Bold"/>
                  <a:ea typeface="TT Hoves Bold"/>
                  <a:cs typeface="TT Hoves Bold"/>
                  <a:sym typeface="TT Hoves Bold"/>
                </a:rPr>
                <a:t>Query Frame</a:t>
              </a:r>
            </a:p>
          </p:txBody>
        </p:sp>
      </p:grpSp>
      <p:grpSp>
        <p:nvGrpSpPr>
          <p:cNvPr id="50" name="Group 50"/>
          <p:cNvGrpSpPr/>
          <p:nvPr/>
        </p:nvGrpSpPr>
        <p:grpSpPr>
          <a:xfrm>
            <a:off x="9344019" y="5672580"/>
            <a:ext cx="545857" cy="545857"/>
            <a:chOff x="0" y="0"/>
            <a:chExt cx="812800" cy="812800"/>
          </a:xfrm>
        </p:grpSpPr>
        <p:sp>
          <p:nvSpPr>
            <p:cNvPr id="51" name="Freeform 5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5C83"/>
            </a:solidFill>
            <a:ln cap="rnd">
              <a:noFill/>
              <a:prstDash val="solid"/>
              <a:round/>
            </a:ln>
          </p:spPr>
          <p:txBody>
            <a:bodyPr/>
            <a:lstStyle/>
            <a:p>
              <a:endParaRPr lang="en-US"/>
            </a:p>
          </p:txBody>
        </p:sp>
        <p:sp>
          <p:nvSpPr>
            <p:cNvPr id="52" name="TextBox 52"/>
            <p:cNvSpPr txBox="1"/>
            <p:nvPr/>
          </p:nvSpPr>
          <p:spPr>
            <a:xfrm>
              <a:off x="76200" y="28575"/>
              <a:ext cx="660400" cy="708025"/>
            </a:xfrm>
            <a:prstGeom prst="rect">
              <a:avLst/>
            </a:prstGeom>
          </p:spPr>
          <p:txBody>
            <a:bodyPr lIns="50800" tIns="50800" rIns="50800" bIns="50800" rtlCol="0" anchor="ctr"/>
            <a:lstStyle/>
            <a:p>
              <a:pPr marL="0" lvl="0" indent="0" algn="ctr">
                <a:lnSpc>
                  <a:spcPts val="2520"/>
                </a:lnSpc>
                <a:spcBef>
                  <a:spcPct val="0"/>
                </a:spcBef>
              </a:pPr>
              <a:r>
                <a:rPr lang="en-US" sz="1800" b="1" u="none" strike="noStrike">
                  <a:solidFill>
                    <a:srgbClr val="000000"/>
                  </a:solidFill>
                  <a:latin typeface="TT Hoves Bold"/>
                  <a:ea typeface="TT Hoves Bold"/>
                  <a:cs typeface="TT Hoves Bold"/>
                  <a:sym typeface="TT Hoves Bold"/>
                </a:rPr>
                <a:t>03</a:t>
              </a:r>
            </a:p>
          </p:txBody>
        </p:sp>
      </p:grpSp>
      <p:grpSp>
        <p:nvGrpSpPr>
          <p:cNvPr id="53" name="Group 53"/>
          <p:cNvGrpSpPr/>
          <p:nvPr/>
        </p:nvGrpSpPr>
        <p:grpSpPr>
          <a:xfrm>
            <a:off x="9368392" y="6629981"/>
            <a:ext cx="545857" cy="545857"/>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6F5E"/>
            </a:solidFill>
            <a:ln cap="rnd">
              <a:noFill/>
              <a:prstDash val="solid"/>
              <a:round/>
            </a:ln>
          </p:spPr>
          <p:txBody>
            <a:bodyPr/>
            <a:lstStyle/>
            <a:p>
              <a:endParaRPr lang="en-US"/>
            </a:p>
          </p:txBody>
        </p:sp>
        <p:sp>
          <p:nvSpPr>
            <p:cNvPr id="55" name="TextBox 55"/>
            <p:cNvSpPr txBox="1"/>
            <p:nvPr/>
          </p:nvSpPr>
          <p:spPr>
            <a:xfrm>
              <a:off x="76200" y="28575"/>
              <a:ext cx="660400" cy="708025"/>
            </a:xfrm>
            <a:prstGeom prst="rect">
              <a:avLst/>
            </a:prstGeom>
          </p:spPr>
          <p:txBody>
            <a:bodyPr lIns="50800" tIns="50800" rIns="50800" bIns="50800" rtlCol="0" anchor="ctr"/>
            <a:lstStyle/>
            <a:p>
              <a:pPr marL="0" lvl="0" indent="0" algn="ctr">
                <a:lnSpc>
                  <a:spcPts val="2520"/>
                </a:lnSpc>
                <a:spcBef>
                  <a:spcPct val="0"/>
                </a:spcBef>
              </a:pPr>
              <a:r>
                <a:rPr lang="en-US" sz="1800" b="1" u="none" strike="noStrike">
                  <a:solidFill>
                    <a:srgbClr val="000000"/>
                  </a:solidFill>
                  <a:latin typeface="TT Hoves Bold"/>
                  <a:ea typeface="TT Hoves Bold"/>
                  <a:cs typeface="TT Hoves Bold"/>
                  <a:sym typeface="TT Hoves Bold"/>
                </a:rPr>
                <a:t>04</a:t>
              </a:r>
            </a:p>
          </p:txBody>
        </p:sp>
      </p:grpSp>
      <p:grpSp>
        <p:nvGrpSpPr>
          <p:cNvPr id="56" name="Group 56"/>
          <p:cNvGrpSpPr/>
          <p:nvPr/>
        </p:nvGrpSpPr>
        <p:grpSpPr>
          <a:xfrm>
            <a:off x="8997457" y="4589314"/>
            <a:ext cx="1737553" cy="413642"/>
            <a:chOff x="0" y="0"/>
            <a:chExt cx="536447" cy="127707"/>
          </a:xfrm>
        </p:grpSpPr>
        <p:sp>
          <p:nvSpPr>
            <p:cNvPr id="57" name="Freeform 57"/>
            <p:cNvSpPr/>
            <p:nvPr/>
          </p:nvSpPr>
          <p:spPr>
            <a:xfrm>
              <a:off x="0" y="0"/>
              <a:ext cx="536447" cy="127707"/>
            </a:xfrm>
            <a:custGeom>
              <a:avLst/>
              <a:gdLst/>
              <a:ahLst/>
              <a:cxnLst/>
              <a:rect l="l" t="t" r="r" b="b"/>
              <a:pathLst>
                <a:path w="536447" h="127707">
                  <a:moveTo>
                    <a:pt x="63853" y="0"/>
                  </a:moveTo>
                  <a:lnTo>
                    <a:pt x="472593" y="0"/>
                  </a:lnTo>
                  <a:cubicBezTo>
                    <a:pt x="507858" y="0"/>
                    <a:pt x="536447" y="28588"/>
                    <a:pt x="536447" y="63853"/>
                  </a:cubicBezTo>
                  <a:lnTo>
                    <a:pt x="536447" y="63853"/>
                  </a:lnTo>
                  <a:cubicBezTo>
                    <a:pt x="536447" y="80788"/>
                    <a:pt x="529719" y="97030"/>
                    <a:pt x="517744" y="109004"/>
                  </a:cubicBezTo>
                  <a:cubicBezTo>
                    <a:pt x="505770" y="120979"/>
                    <a:pt x="489528" y="127707"/>
                    <a:pt x="472593" y="127707"/>
                  </a:cubicBezTo>
                  <a:lnTo>
                    <a:pt x="63853" y="127707"/>
                  </a:lnTo>
                  <a:cubicBezTo>
                    <a:pt x="28588" y="127707"/>
                    <a:pt x="0" y="99119"/>
                    <a:pt x="0" y="63853"/>
                  </a:cubicBezTo>
                  <a:lnTo>
                    <a:pt x="0" y="63853"/>
                  </a:lnTo>
                  <a:cubicBezTo>
                    <a:pt x="0" y="28588"/>
                    <a:pt x="28588" y="0"/>
                    <a:pt x="63853" y="0"/>
                  </a:cubicBezTo>
                  <a:close/>
                </a:path>
              </a:pathLst>
            </a:custGeom>
            <a:solidFill>
              <a:srgbClr val="FF5C83"/>
            </a:solidFill>
          </p:spPr>
          <p:txBody>
            <a:bodyPr/>
            <a:lstStyle/>
            <a:p>
              <a:endParaRPr lang="en-US"/>
            </a:p>
          </p:txBody>
        </p:sp>
        <p:sp>
          <p:nvSpPr>
            <p:cNvPr id="58" name="TextBox 58"/>
            <p:cNvSpPr txBox="1"/>
            <p:nvPr/>
          </p:nvSpPr>
          <p:spPr>
            <a:xfrm>
              <a:off x="0" y="-47625"/>
              <a:ext cx="536447" cy="175332"/>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000000"/>
                  </a:solidFill>
                  <a:latin typeface="TT Hoves Bold"/>
                  <a:ea typeface="TT Hoves Bold"/>
                  <a:cs typeface="TT Hoves Bold"/>
                  <a:sym typeface="TT Hoves Bold"/>
                </a:rPr>
                <a:t>Agent State</a:t>
              </a:r>
            </a:p>
          </p:txBody>
        </p:sp>
      </p:grpSp>
      <p:sp>
        <p:nvSpPr>
          <p:cNvPr id="59" name="AutoShape 59"/>
          <p:cNvSpPr/>
          <p:nvPr/>
        </p:nvSpPr>
        <p:spPr>
          <a:xfrm>
            <a:off x="11963830" y="5251418"/>
            <a:ext cx="0" cy="2302118"/>
          </a:xfrm>
          <a:prstGeom prst="line">
            <a:avLst/>
          </a:prstGeom>
          <a:ln w="47625" cap="flat">
            <a:solidFill>
              <a:srgbClr val="D1CECA"/>
            </a:solidFill>
            <a:prstDash val="solid"/>
            <a:headEnd type="arrow" w="med" len="sm"/>
            <a:tailEnd type="arrow" w="med" len="sm"/>
          </a:ln>
        </p:spPr>
        <p:txBody>
          <a:bodyPr/>
          <a:lstStyle/>
          <a:p>
            <a:endParaRPr lang="en-US"/>
          </a:p>
        </p:txBody>
      </p:sp>
      <p:grpSp>
        <p:nvGrpSpPr>
          <p:cNvPr id="60" name="Group 60"/>
          <p:cNvGrpSpPr/>
          <p:nvPr/>
        </p:nvGrpSpPr>
        <p:grpSpPr>
          <a:xfrm>
            <a:off x="10906828" y="7887188"/>
            <a:ext cx="1980403" cy="413642"/>
            <a:chOff x="0" y="0"/>
            <a:chExt cx="611423" cy="127707"/>
          </a:xfrm>
        </p:grpSpPr>
        <p:sp>
          <p:nvSpPr>
            <p:cNvPr id="61" name="Freeform 61"/>
            <p:cNvSpPr/>
            <p:nvPr/>
          </p:nvSpPr>
          <p:spPr>
            <a:xfrm>
              <a:off x="0" y="0"/>
              <a:ext cx="611423" cy="127707"/>
            </a:xfrm>
            <a:custGeom>
              <a:avLst/>
              <a:gdLst/>
              <a:ahLst/>
              <a:cxnLst/>
              <a:rect l="l" t="t" r="r" b="b"/>
              <a:pathLst>
                <a:path w="611423" h="127707">
                  <a:moveTo>
                    <a:pt x="63853" y="0"/>
                  </a:moveTo>
                  <a:lnTo>
                    <a:pt x="547570" y="0"/>
                  </a:lnTo>
                  <a:cubicBezTo>
                    <a:pt x="564505" y="0"/>
                    <a:pt x="580746" y="6727"/>
                    <a:pt x="592721" y="18702"/>
                  </a:cubicBezTo>
                  <a:cubicBezTo>
                    <a:pt x="604696" y="30677"/>
                    <a:pt x="611423" y="46918"/>
                    <a:pt x="611423" y="63853"/>
                  </a:cubicBezTo>
                  <a:lnTo>
                    <a:pt x="611423" y="63853"/>
                  </a:lnTo>
                  <a:cubicBezTo>
                    <a:pt x="611423" y="99119"/>
                    <a:pt x="582835" y="127707"/>
                    <a:pt x="547570" y="127707"/>
                  </a:cubicBezTo>
                  <a:lnTo>
                    <a:pt x="63853" y="127707"/>
                  </a:lnTo>
                  <a:cubicBezTo>
                    <a:pt x="28588" y="127707"/>
                    <a:pt x="0" y="99119"/>
                    <a:pt x="0" y="63853"/>
                  </a:cubicBezTo>
                  <a:lnTo>
                    <a:pt x="0" y="63853"/>
                  </a:lnTo>
                  <a:cubicBezTo>
                    <a:pt x="0" y="28588"/>
                    <a:pt x="28588" y="0"/>
                    <a:pt x="63853" y="0"/>
                  </a:cubicBezTo>
                  <a:close/>
                </a:path>
              </a:pathLst>
            </a:custGeom>
            <a:solidFill>
              <a:srgbClr val="B86CE0"/>
            </a:solidFill>
          </p:spPr>
          <p:txBody>
            <a:bodyPr/>
            <a:lstStyle/>
            <a:p>
              <a:endParaRPr lang="en-US"/>
            </a:p>
          </p:txBody>
        </p:sp>
        <p:sp>
          <p:nvSpPr>
            <p:cNvPr id="62" name="TextBox 62"/>
            <p:cNvSpPr txBox="1"/>
            <p:nvPr/>
          </p:nvSpPr>
          <p:spPr>
            <a:xfrm>
              <a:off x="0" y="-47625"/>
              <a:ext cx="611423" cy="175332"/>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FFFFFF"/>
                  </a:solidFill>
                  <a:latin typeface="TT Hoves Bold"/>
                  <a:ea typeface="TT Hoves Bold"/>
                  <a:cs typeface="TT Hoves Bold"/>
                  <a:sym typeface="TT Hoves Bold"/>
                </a:rPr>
                <a:t>Intent Router</a:t>
              </a:r>
            </a:p>
          </p:txBody>
        </p:sp>
      </p:grpSp>
      <p:grpSp>
        <p:nvGrpSpPr>
          <p:cNvPr id="63" name="Group 63"/>
          <p:cNvGrpSpPr/>
          <p:nvPr/>
        </p:nvGrpSpPr>
        <p:grpSpPr>
          <a:xfrm>
            <a:off x="11690902" y="5645080"/>
            <a:ext cx="545857" cy="545857"/>
            <a:chOff x="0" y="0"/>
            <a:chExt cx="812800" cy="812800"/>
          </a:xfrm>
        </p:grpSpPr>
        <p:sp>
          <p:nvSpPr>
            <p:cNvPr id="64" name="Freeform 6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7678ED"/>
            </a:solidFill>
            <a:ln cap="rnd">
              <a:noFill/>
              <a:prstDash val="solid"/>
              <a:round/>
            </a:ln>
          </p:spPr>
          <p:txBody>
            <a:bodyPr/>
            <a:lstStyle/>
            <a:p>
              <a:endParaRPr lang="en-US"/>
            </a:p>
          </p:txBody>
        </p:sp>
        <p:sp>
          <p:nvSpPr>
            <p:cNvPr id="65" name="TextBox 65"/>
            <p:cNvSpPr txBox="1"/>
            <p:nvPr/>
          </p:nvSpPr>
          <p:spPr>
            <a:xfrm>
              <a:off x="76200" y="28575"/>
              <a:ext cx="660400" cy="708025"/>
            </a:xfrm>
            <a:prstGeom prst="rect">
              <a:avLst/>
            </a:prstGeom>
          </p:spPr>
          <p:txBody>
            <a:bodyPr lIns="50800" tIns="50800" rIns="50800" bIns="50800" rtlCol="0" anchor="ctr"/>
            <a:lstStyle/>
            <a:p>
              <a:pPr marL="0" lvl="0" indent="0" algn="ctr">
                <a:lnSpc>
                  <a:spcPts val="2520"/>
                </a:lnSpc>
                <a:spcBef>
                  <a:spcPct val="0"/>
                </a:spcBef>
              </a:pPr>
              <a:r>
                <a:rPr lang="en-US" sz="1800" b="1" u="none" strike="noStrike">
                  <a:solidFill>
                    <a:srgbClr val="FFFFFF"/>
                  </a:solidFill>
                  <a:latin typeface="TT Hoves Bold"/>
                  <a:ea typeface="TT Hoves Bold"/>
                  <a:cs typeface="TT Hoves Bold"/>
                  <a:sym typeface="TT Hoves Bold"/>
                </a:rPr>
                <a:t>01</a:t>
              </a:r>
            </a:p>
          </p:txBody>
        </p:sp>
      </p:grpSp>
      <p:grpSp>
        <p:nvGrpSpPr>
          <p:cNvPr id="66" name="Group 66"/>
          <p:cNvGrpSpPr/>
          <p:nvPr/>
        </p:nvGrpSpPr>
        <p:grpSpPr>
          <a:xfrm>
            <a:off x="11690902" y="6629981"/>
            <a:ext cx="545857" cy="545857"/>
            <a:chOff x="0" y="0"/>
            <a:chExt cx="812800" cy="812800"/>
          </a:xfrm>
        </p:grpSpPr>
        <p:sp>
          <p:nvSpPr>
            <p:cNvPr id="67" name="Freeform 6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B86CE0"/>
            </a:solidFill>
            <a:ln cap="rnd">
              <a:noFill/>
              <a:prstDash val="solid"/>
              <a:round/>
            </a:ln>
          </p:spPr>
          <p:txBody>
            <a:bodyPr/>
            <a:lstStyle/>
            <a:p>
              <a:endParaRPr lang="en-US"/>
            </a:p>
          </p:txBody>
        </p:sp>
        <p:sp>
          <p:nvSpPr>
            <p:cNvPr id="68" name="TextBox 68"/>
            <p:cNvSpPr txBox="1"/>
            <p:nvPr/>
          </p:nvSpPr>
          <p:spPr>
            <a:xfrm>
              <a:off x="76200" y="28575"/>
              <a:ext cx="660400" cy="708025"/>
            </a:xfrm>
            <a:prstGeom prst="rect">
              <a:avLst/>
            </a:prstGeom>
          </p:spPr>
          <p:txBody>
            <a:bodyPr lIns="50800" tIns="50800" rIns="50800" bIns="50800" rtlCol="0" anchor="ctr"/>
            <a:lstStyle/>
            <a:p>
              <a:pPr marL="0" lvl="0" indent="0" algn="ctr">
                <a:lnSpc>
                  <a:spcPts val="2520"/>
                </a:lnSpc>
                <a:spcBef>
                  <a:spcPct val="0"/>
                </a:spcBef>
              </a:pPr>
              <a:r>
                <a:rPr lang="en-US" sz="1800" b="1" u="none" strike="noStrike">
                  <a:solidFill>
                    <a:srgbClr val="FFFFFF"/>
                  </a:solidFill>
                  <a:latin typeface="TT Hoves Bold"/>
                  <a:ea typeface="TT Hoves Bold"/>
                  <a:cs typeface="TT Hoves Bold"/>
                  <a:sym typeface="TT Hoves Bold"/>
                </a:rPr>
                <a:t>02</a:t>
              </a:r>
            </a:p>
          </p:txBody>
        </p:sp>
      </p:grpSp>
      <p:grpSp>
        <p:nvGrpSpPr>
          <p:cNvPr id="69" name="Group 69"/>
          <p:cNvGrpSpPr/>
          <p:nvPr/>
        </p:nvGrpSpPr>
        <p:grpSpPr>
          <a:xfrm>
            <a:off x="10913441" y="4615244"/>
            <a:ext cx="2100778" cy="413642"/>
            <a:chOff x="0" y="0"/>
            <a:chExt cx="648588" cy="127707"/>
          </a:xfrm>
        </p:grpSpPr>
        <p:sp>
          <p:nvSpPr>
            <p:cNvPr id="70" name="Freeform 70"/>
            <p:cNvSpPr/>
            <p:nvPr/>
          </p:nvSpPr>
          <p:spPr>
            <a:xfrm>
              <a:off x="0" y="0"/>
              <a:ext cx="648588" cy="127707"/>
            </a:xfrm>
            <a:custGeom>
              <a:avLst/>
              <a:gdLst/>
              <a:ahLst/>
              <a:cxnLst/>
              <a:rect l="l" t="t" r="r" b="b"/>
              <a:pathLst>
                <a:path w="648588" h="127707">
                  <a:moveTo>
                    <a:pt x="63853" y="0"/>
                  </a:moveTo>
                  <a:lnTo>
                    <a:pt x="584734" y="0"/>
                  </a:lnTo>
                  <a:cubicBezTo>
                    <a:pt x="601669" y="0"/>
                    <a:pt x="617911" y="6727"/>
                    <a:pt x="629885" y="18702"/>
                  </a:cubicBezTo>
                  <a:cubicBezTo>
                    <a:pt x="641860" y="30677"/>
                    <a:pt x="648588" y="46918"/>
                    <a:pt x="648588" y="63853"/>
                  </a:cubicBezTo>
                  <a:lnTo>
                    <a:pt x="648588" y="63853"/>
                  </a:lnTo>
                  <a:cubicBezTo>
                    <a:pt x="648588" y="99119"/>
                    <a:pt x="620000" y="127707"/>
                    <a:pt x="584734" y="127707"/>
                  </a:cubicBezTo>
                  <a:lnTo>
                    <a:pt x="63853" y="127707"/>
                  </a:lnTo>
                  <a:cubicBezTo>
                    <a:pt x="28588" y="127707"/>
                    <a:pt x="0" y="99119"/>
                    <a:pt x="0" y="63853"/>
                  </a:cubicBezTo>
                  <a:lnTo>
                    <a:pt x="0" y="63853"/>
                  </a:lnTo>
                  <a:cubicBezTo>
                    <a:pt x="0" y="28588"/>
                    <a:pt x="28588" y="0"/>
                    <a:pt x="63853" y="0"/>
                  </a:cubicBezTo>
                  <a:close/>
                </a:path>
              </a:pathLst>
            </a:custGeom>
            <a:solidFill>
              <a:srgbClr val="7678ED"/>
            </a:solidFill>
          </p:spPr>
          <p:txBody>
            <a:bodyPr/>
            <a:lstStyle/>
            <a:p>
              <a:endParaRPr lang="en-US"/>
            </a:p>
          </p:txBody>
        </p:sp>
        <p:sp>
          <p:nvSpPr>
            <p:cNvPr id="71" name="TextBox 71"/>
            <p:cNvSpPr txBox="1"/>
            <p:nvPr/>
          </p:nvSpPr>
          <p:spPr>
            <a:xfrm>
              <a:off x="0" y="-47625"/>
              <a:ext cx="648588" cy="175332"/>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FFFFFF"/>
                  </a:solidFill>
                  <a:latin typeface="TT Hoves Bold"/>
                  <a:ea typeface="TT Hoves Bold"/>
                  <a:cs typeface="TT Hoves Bold"/>
                  <a:sym typeface="TT Hoves Bold"/>
                </a:rPr>
                <a:t>User Question</a:t>
              </a:r>
            </a:p>
          </p:txBody>
        </p:sp>
      </p:grpSp>
      <p:sp>
        <p:nvSpPr>
          <p:cNvPr id="72" name="AutoShape 72"/>
          <p:cNvSpPr/>
          <p:nvPr/>
        </p:nvSpPr>
        <p:spPr>
          <a:xfrm>
            <a:off x="7602424" y="5312466"/>
            <a:ext cx="0" cy="2165589"/>
          </a:xfrm>
          <a:prstGeom prst="line">
            <a:avLst/>
          </a:prstGeom>
          <a:ln w="47625" cap="flat">
            <a:solidFill>
              <a:srgbClr val="D1CECA"/>
            </a:solidFill>
            <a:prstDash val="solid"/>
            <a:headEnd type="arrow" w="med" len="sm"/>
            <a:tailEnd type="arrow" w="med" len="sm"/>
          </a:ln>
        </p:spPr>
        <p:txBody>
          <a:bodyPr/>
          <a:lstStyle/>
          <a:p>
            <a:endParaRPr lang="en-US"/>
          </a:p>
        </p:txBody>
      </p:sp>
      <p:grpSp>
        <p:nvGrpSpPr>
          <p:cNvPr id="73" name="Group 73"/>
          <p:cNvGrpSpPr/>
          <p:nvPr/>
        </p:nvGrpSpPr>
        <p:grpSpPr>
          <a:xfrm>
            <a:off x="6790900" y="7887188"/>
            <a:ext cx="2168906" cy="413642"/>
            <a:chOff x="0" y="0"/>
            <a:chExt cx="669621" cy="127707"/>
          </a:xfrm>
        </p:grpSpPr>
        <p:sp>
          <p:nvSpPr>
            <p:cNvPr id="74" name="Freeform 74"/>
            <p:cNvSpPr/>
            <p:nvPr/>
          </p:nvSpPr>
          <p:spPr>
            <a:xfrm>
              <a:off x="0" y="0"/>
              <a:ext cx="669621" cy="127707"/>
            </a:xfrm>
            <a:custGeom>
              <a:avLst/>
              <a:gdLst/>
              <a:ahLst/>
              <a:cxnLst/>
              <a:rect l="l" t="t" r="r" b="b"/>
              <a:pathLst>
                <a:path w="669621" h="127707">
                  <a:moveTo>
                    <a:pt x="63853" y="0"/>
                  </a:moveTo>
                  <a:lnTo>
                    <a:pt x="605768" y="0"/>
                  </a:lnTo>
                  <a:cubicBezTo>
                    <a:pt x="641033" y="0"/>
                    <a:pt x="669621" y="28588"/>
                    <a:pt x="669621" y="63853"/>
                  </a:cubicBezTo>
                  <a:lnTo>
                    <a:pt x="669621" y="63853"/>
                  </a:lnTo>
                  <a:cubicBezTo>
                    <a:pt x="669621" y="80788"/>
                    <a:pt x="662894" y="97030"/>
                    <a:pt x="650919" y="109004"/>
                  </a:cubicBezTo>
                  <a:cubicBezTo>
                    <a:pt x="638944" y="120979"/>
                    <a:pt x="622703" y="127707"/>
                    <a:pt x="605768" y="127707"/>
                  </a:cubicBezTo>
                  <a:lnTo>
                    <a:pt x="63853" y="127707"/>
                  </a:lnTo>
                  <a:cubicBezTo>
                    <a:pt x="28588" y="127707"/>
                    <a:pt x="0" y="99119"/>
                    <a:pt x="0" y="63853"/>
                  </a:cubicBezTo>
                  <a:lnTo>
                    <a:pt x="0" y="63853"/>
                  </a:lnTo>
                  <a:cubicBezTo>
                    <a:pt x="0" y="28588"/>
                    <a:pt x="28588" y="0"/>
                    <a:pt x="63853" y="0"/>
                  </a:cubicBezTo>
                  <a:close/>
                </a:path>
              </a:pathLst>
            </a:custGeom>
            <a:solidFill>
              <a:srgbClr val="FFA600"/>
            </a:solidFill>
          </p:spPr>
          <p:txBody>
            <a:bodyPr/>
            <a:lstStyle/>
            <a:p>
              <a:endParaRPr lang="en-US"/>
            </a:p>
          </p:txBody>
        </p:sp>
        <p:sp>
          <p:nvSpPr>
            <p:cNvPr id="75" name="TextBox 75"/>
            <p:cNvSpPr txBox="1"/>
            <p:nvPr/>
          </p:nvSpPr>
          <p:spPr>
            <a:xfrm>
              <a:off x="0" y="-47625"/>
              <a:ext cx="669621" cy="175332"/>
            </a:xfrm>
            <a:prstGeom prst="rect">
              <a:avLst/>
            </a:prstGeom>
          </p:spPr>
          <p:txBody>
            <a:bodyPr lIns="50800" tIns="50800" rIns="50800" bIns="50800" rtlCol="0" anchor="ctr"/>
            <a:lstStyle/>
            <a:p>
              <a:pPr marL="0" lvl="0" indent="0" algn="ctr">
                <a:lnSpc>
                  <a:spcPts val="2520"/>
                </a:lnSpc>
                <a:spcBef>
                  <a:spcPct val="0"/>
                </a:spcBef>
              </a:pPr>
              <a:r>
                <a:rPr lang="en-US" sz="1800" b="1" u="none" strike="noStrike">
                  <a:solidFill>
                    <a:srgbClr val="000000"/>
                  </a:solidFill>
                  <a:latin typeface="TT Hoves Bold"/>
                  <a:ea typeface="TT Hoves Bold"/>
                  <a:cs typeface="TT Hoves Bold"/>
                  <a:sym typeface="TT Hoves Bold"/>
                </a:rPr>
                <a:t>Catalog Retrieval</a:t>
              </a:r>
            </a:p>
          </p:txBody>
        </p:sp>
      </p:grpSp>
      <p:grpSp>
        <p:nvGrpSpPr>
          <p:cNvPr id="76" name="Group 76"/>
          <p:cNvGrpSpPr/>
          <p:nvPr/>
        </p:nvGrpSpPr>
        <p:grpSpPr>
          <a:xfrm>
            <a:off x="6781022" y="4615244"/>
            <a:ext cx="2035460" cy="413642"/>
            <a:chOff x="0" y="0"/>
            <a:chExt cx="628421" cy="127707"/>
          </a:xfrm>
        </p:grpSpPr>
        <p:sp>
          <p:nvSpPr>
            <p:cNvPr id="77" name="Freeform 77"/>
            <p:cNvSpPr/>
            <p:nvPr/>
          </p:nvSpPr>
          <p:spPr>
            <a:xfrm>
              <a:off x="0" y="0"/>
              <a:ext cx="628421" cy="127707"/>
            </a:xfrm>
            <a:custGeom>
              <a:avLst/>
              <a:gdLst/>
              <a:ahLst/>
              <a:cxnLst/>
              <a:rect l="l" t="t" r="r" b="b"/>
              <a:pathLst>
                <a:path w="628421" h="127707">
                  <a:moveTo>
                    <a:pt x="63853" y="0"/>
                  </a:moveTo>
                  <a:lnTo>
                    <a:pt x="564568" y="0"/>
                  </a:lnTo>
                  <a:cubicBezTo>
                    <a:pt x="581503" y="0"/>
                    <a:pt x="597744" y="6727"/>
                    <a:pt x="609719" y="18702"/>
                  </a:cubicBezTo>
                  <a:cubicBezTo>
                    <a:pt x="621694" y="30677"/>
                    <a:pt x="628421" y="46918"/>
                    <a:pt x="628421" y="63853"/>
                  </a:cubicBezTo>
                  <a:lnTo>
                    <a:pt x="628421" y="63853"/>
                  </a:lnTo>
                  <a:cubicBezTo>
                    <a:pt x="628421" y="99119"/>
                    <a:pt x="599833" y="127707"/>
                    <a:pt x="564568" y="127707"/>
                  </a:cubicBezTo>
                  <a:lnTo>
                    <a:pt x="63853" y="127707"/>
                  </a:lnTo>
                  <a:cubicBezTo>
                    <a:pt x="28588" y="127707"/>
                    <a:pt x="0" y="99119"/>
                    <a:pt x="0" y="63853"/>
                  </a:cubicBezTo>
                  <a:lnTo>
                    <a:pt x="0" y="63853"/>
                  </a:lnTo>
                  <a:cubicBezTo>
                    <a:pt x="0" y="28588"/>
                    <a:pt x="28588" y="0"/>
                    <a:pt x="63853" y="0"/>
                  </a:cubicBezTo>
                  <a:close/>
                </a:path>
              </a:pathLst>
            </a:custGeom>
            <a:solidFill>
              <a:srgbClr val="FF8A38"/>
            </a:solidFill>
          </p:spPr>
          <p:txBody>
            <a:bodyPr/>
            <a:lstStyle/>
            <a:p>
              <a:endParaRPr lang="en-US"/>
            </a:p>
          </p:txBody>
        </p:sp>
        <p:sp>
          <p:nvSpPr>
            <p:cNvPr id="78" name="TextBox 78"/>
            <p:cNvSpPr txBox="1"/>
            <p:nvPr/>
          </p:nvSpPr>
          <p:spPr>
            <a:xfrm>
              <a:off x="0" y="-47625"/>
              <a:ext cx="628421" cy="175332"/>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000000"/>
                  </a:solidFill>
                  <a:latin typeface="TT Hoves Bold"/>
                  <a:ea typeface="TT Hoves Bold"/>
                  <a:cs typeface="TT Hoves Bold"/>
                  <a:sym typeface="TT Hoves Bold"/>
                </a:rPr>
                <a:t>Product Resolver</a:t>
              </a:r>
            </a:p>
          </p:txBody>
        </p:sp>
      </p:grpSp>
      <p:grpSp>
        <p:nvGrpSpPr>
          <p:cNvPr id="79" name="Group 79"/>
          <p:cNvGrpSpPr/>
          <p:nvPr/>
        </p:nvGrpSpPr>
        <p:grpSpPr>
          <a:xfrm>
            <a:off x="7329496" y="5703058"/>
            <a:ext cx="545857" cy="545857"/>
            <a:chOff x="0" y="0"/>
            <a:chExt cx="812800" cy="812800"/>
          </a:xfrm>
        </p:grpSpPr>
        <p:sp>
          <p:nvSpPr>
            <p:cNvPr id="80" name="Freeform 8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8A38"/>
            </a:solidFill>
            <a:ln cap="rnd">
              <a:noFill/>
              <a:prstDash val="solid"/>
              <a:round/>
            </a:ln>
          </p:spPr>
          <p:txBody>
            <a:bodyPr/>
            <a:lstStyle/>
            <a:p>
              <a:endParaRPr lang="en-US"/>
            </a:p>
          </p:txBody>
        </p:sp>
        <p:sp>
          <p:nvSpPr>
            <p:cNvPr id="81" name="TextBox 81"/>
            <p:cNvSpPr txBox="1"/>
            <p:nvPr/>
          </p:nvSpPr>
          <p:spPr>
            <a:xfrm>
              <a:off x="76200" y="28575"/>
              <a:ext cx="660400" cy="708025"/>
            </a:xfrm>
            <a:prstGeom prst="rect">
              <a:avLst/>
            </a:prstGeom>
          </p:spPr>
          <p:txBody>
            <a:bodyPr lIns="50800" tIns="50800" rIns="50800" bIns="50800" rtlCol="0" anchor="ctr"/>
            <a:lstStyle/>
            <a:p>
              <a:pPr marL="0" lvl="0" indent="0" algn="ctr">
                <a:lnSpc>
                  <a:spcPts val="2520"/>
                </a:lnSpc>
                <a:spcBef>
                  <a:spcPct val="0"/>
                </a:spcBef>
              </a:pPr>
              <a:r>
                <a:rPr lang="en-US" sz="1800" b="1" u="none" strike="noStrike">
                  <a:solidFill>
                    <a:srgbClr val="000000"/>
                  </a:solidFill>
                  <a:latin typeface="TT Hoves Bold"/>
                  <a:ea typeface="TT Hoves Bold"/>
                  <a:cs typeface="TT Hoves Bold"/>
                  <a:sym typeface="TT Hoves Bold"/>
                </a:rPr>
                <a:t>05</a:t>
              </a:r>
            </a:p>
          </p:txBody>
        </p:sp>
      </p:grpSp>
      <p:grpSp>
        <p:nvGrpSpPr>
          <p:cNvPr id="82" name="Group 82"/>
          <p:cNvGrpSpPr/>
          <p:nvPr/>
        </p:nvGrpSpPr>
        <p:grpSpPr>
          <a:xfrm>
            <a:off x="7376366" y="6629981"/>
            <a:ext cx="545857" cy="545857"/>
            <a:chOff x="0" y="0"/>
            <a:chExt cx="812800" cy="812800"/>
          </a:xfrm>
        </p:grpSpPr>
        <p:sp>
          <p:nvSpPr>
            <p:cNvPr id="83" name="Freeform 8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A600"/>
            </a:solidFill>
            <a:ln cap="rnd">
              <a:noFill/>
              <a:prstDash val="solid"/>
              <a:round/>
            </a:ln>
          </p:spPr>
          <p:txBody>
            <a:bodyPr/>
            <a:lstStyle/>
            <a:p>
              <a:endParaRPr lang="en-US"/>
            </a:p>
          </p:txBody>
        </p:sp>
        <p:sp>
          <p:nvSpPr>
            <p:cNvPr id="84" name="TextBox 84"/>
            <p:cNvSpPr txBox="1"/>
            <p:nvPr/>
          </p:nvSpPr>
          <p:spPr>
            <a:xfrm>
              <a:off x="76200" y="28575"/>
              <a:ext cx="660400" cy="708025"/>
            </a:xfrm>
            <a:prstGeom prst="rect">
              <a:avLst/>
            </a:prstGeom>
          </p:spPr>
          <p:txBody>
            <a:bodyPr lIns="50800" tIns="50800" rIns="50800" bIns="50800" rtlCol="0" anchor="ctr"/>
            <a:lstStyle/>
            <a:p>
              <a:pPr marL="0" lvl="0" indent="0" algn="ctr">
                <a:lnSpc>
                  <a:spcPts val="2520"/>
                </a:lnSpc>
                <a:spcBef>
                  <a:spcPct val="0"/>
                </a:spcBef>
              </a:pPr>
              <a:r>
                <a:rPr lang="en-US" sz="1800" b="1" u="none" strike="noStrike">
                  <a:solidFill>
                    <a:srgbClr val="000000"/>
                  </a:solidFill>
                  <a:latin typeface="TT Hoves Bold"/>
                  <a:ea typeface="TT Hoves Bold"/>
                  <a:cs typeface="TT Hoves Bold"/>
                  <a:sym typeface="TT Hoves Bold"/>
                </a:rPr>
                <a:t>06</a:t>
              </a:r>
            </a:p>
          </p:txBody>
        </p:sp>
      </p:grpSp>
      <p:grpSp>
        <p:nvGrpSpPr>
          <p:cNvPr id="85" name="Group 85"/>
          <p:cNvGrpSpPr/>
          <p:nvPr/>
        </p:nvGrpSpPr>
        <p:grpSpPr>
          <a:xfrm>
            <a:off x="4307698" y="4615244"/>
            <a:ext cx="2082475" cy="413642"/>
            <a:chOff x="0" y="0"/>
            <a:chExt cx="642937" cy="127707"/>
          </a:xfrm>
        </p:grpSpPr>
        <p:sp>
          <p:nvSpPr>
            <p:cNvPr id="86" name="Freeform 86"/>
            <p:cNvSpPr/>
            <p:nvPr/>
          </p:nvSpPr>
          <p:spPr>
            <a:xfrm>
              <a:off x="0" y="0"/>
              <a:ext cx="642937" cy="127707"/>
            </a:xfrm>
            <a:custGeom>
              <a:avLst/>
              <a:gdLst/>
              <a:ahLst/>
              <a:cxnLst/>
              <a:rect l="l" t="t" r="r" b="b"/>
              <a:pathLst>
                <a:path w="642937" h="127707">
                  <a:moveTo>
                    <a:pt x="63853" y="0"/>
                  </a:moveTo>
                  <a:lnTo>
                    <a:pt x="579083" y="0"/>
                  </a:lnTo>
                  <a:cubicBezTo>
                    <a:pt x="596018" y="0"/>
                    <a:pt x="612260" y="6727"/>
                    <a:pt x="624234" y="18702"/>
                  </a:cubicBezTo>
                  <a:cubicBezTo>
                    <a:pt x="636209" y="30677"/>
                    <a:pt x="642937" y="46918"/>
                    <a:pt x="642937" y="63853"/>
                  </a:cubicBezTo>
                  <a:lnTo>
                    <a:pt x="642937" y="63853"/>
                  </a:lnTo>
                  <a:cubicBezTo>
                    <a:pt x="642937" y="99119"/>
                    <a:pt x="614348" y="127707"/>
                    <a:pt x="579083" y="127707"/>
                  </a:cubicBezTo>
                  <a:lnTo>
                    <a:pt x="63853" y="127707"/>
                  </a:lnTo>
                  <a:cubicBezTo>
                    <a:pt x="28588" y="127707"/>
                    <a:pt x="0" y="99119"/>
                    <a:pt x="0" y="63853"/>
                  </a:cubicBezTo>
                  <a:lnTo>
                    <a:pt x="0" y="63853"/>
                  </a:lnTo>
                  <a:cubicBezTo>
                    <a:pt x="0" y="28588"/>
                    <a:pt x="28588" y="0"/>
                    <a:pt x="63853" y="0"/>
                  </a:cubicBezTo>
                  <a:close/>
                </a:path>
              </a:pathLst>
            </a:custGeom>
            <a:solidFill>
              <a:srgbClr val="FF8A38"/>
            </a:solidFill>
          </p:spPr>
          <p:txBody>
            <a:bodyPr/>
            <a:lstStyle/>
            <a:p>
              <a:endParaRPr lang="en-US"/>
            </a:p>
          </p:txBody>
        </p:sp>
        <p:sp>
          <p:nvSpPr>
            <p:cNvPr id="87" name="TextBox 87"/>
            <p:cNvSpPr txBox="1"/>
            <p:nvPr/>
          </p:nvSpPr>
          <p:spPr>
            <a:xfrm>
              <a:off x="0" y="-47625"/>
              <a:ext cx="642937" cy="175332"/>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000000"/>
                  </a:solidFill>
                  <a:latin typeface="TT Hoves Bold"/>
                  <a:ea typeface="TT Hoves Bold"/>
                  <a:cs typeface="TT Hoves Bold"/>
                  <a:sym typeface="TT Hoves Bold"/>
                </a:rPr>
                <a:t>Evid</a:t>
              </a:r>
              <a:r>
                <a:rPr lang="en-US" sz="1800" b="1" u="none" strike="noStrike">
                  <a:solidFill>
                    <a:srgbClr val="000000"/>
                  </a:solidFill>
                  <a:latin typeface="TT Hoves Bold"/>
                  <a:ea typeface="TT Hoves Bold"/>
                  <a:cs typeface="TT Hoves Bold"/>
                  <a:sym typeface="TT Hoves Bold"/>
                </a:rPr>
                <a:t>ence Ledger </a:t>
              </a:r>
            </a:p>
          </p:txBody>
        </p:sp>
      </p:grpSp>
      <p:sp>
        <p:nvSpPr>
          <p:cNvPr id="88" name="AutoShape 88"/>
          <p:cNvSpPr/>
          <p:nvPr/>
        </p:nvSpPr>
        <p:spPr>
          <a:xfrm>
            <a:off x="5343534" y="5319682"/>
            <a:ext cx="0" cy="2165589"/>
          </a:xfrm>
          <a:prstGeom prst="line">
            <a:avLst/>
          </a:prstGeom>
          <a:ln w="47625" cap="flat">
            <a:solidFill>
              <a:srgbClr val="D1CECA"/>
            </a:solidFill>
            <a:prstDash val="solid"/>
            <a:headEnd type="arrow" w="med" len="sm"/>
            <a:tailEnd type="arrow" w="med" len="sm"/>
          </a:ln>
        </p:spPr>
        <p:txBody>
          <a:bodyPr/>
          <a:lstStyle/>
          <a:p>
            <a:endParaRPr lang="en-US"/>
          </a:p>
        </p:txBody>
      </p:sp>
      <p:grpSp>
        <p:nvGrpSpPr>
          <p:cNvPr id="89" name="Group 89"/>
          <p:cNvGrpSpPr/>
          <p:nvPr/>
        </p:nvGrpSpPr>
        <p:grpSpPr>
          <a:xfrm>
            <a:off x="4579620" y="7837696"/>
            <a:ext cx="1958380" cy="413642"/>
            <a:chOff x="0" y="0"/>
            <a:chExt cx="604624" cy="127707"/>
          </a:xfrm>
        </p:grpSpPr>
        <p:sp>
          <p:nvSpPr>
            <p:cNvPr id="90" name="Freeform 90"/>
            <p:cNvSpPr/>
            <p:nvPr/>
          </p:nvSpPr>
          <p:spPr>
            <a:xfrm>
              <a:off x="0" y="0"/>
              <a:ext cx="604624" cy="127707"/>
            </a:xfrm>
            <a:custGeom>
              <a:avLst/>
              <a:gdLst/>
              <a:ahLst/>
              <a:cxnLst/>
              <a:rect l="l" t="t" r="r" b="b"/>
              <a:pathLst>
                <a:path w="604624" h="127707">
                  <a:moveTo>
                    <a:pt x="63853" y="0"/>
                  </a:moveTo>
                  <a:lnTo>
                    <a:pt x="540771" y="0"/>
                  </a:lnTo>
                  <a:cubicBezTo>
                    <a:pt x="557706" y="0"/>
                    <a:pt x="573947" y="6727"/>
                    <a:pt x="585922" y="18702"/>
                  </a:cubicBezTo>
                  <a:cubicBezTo>
                    <a:pt x="597897" y="30677"/>
                    <a:pt x="604624" y="46918"/>
                    <a:pt x="604624" y="63853"/>
                  </a:cubicBezTo>
                  <a:lnTo>
                    <a:pt x="604624" y="63853"/>
                  </a:lnTo>
                  <a:cubicBezTo>
                    <a:pt x="604624" y="99119"/>
                    <a:pt x="576036" y="127707"/>
                    <a:pt x="540771" y="127707"/>
                  </a:cubicBezTo>
                  <a:lnTo>
                    <a:pt x="63853" y="127707"/>
                  </a:lnTo>
                  <a:cubicBezTo>
                    <a:pt x="28588" y="127707"/>
                    <a:pt x="0" y="99119"/>
                    <a:pt x="0" y="63853"/>
                  </a:cubicBezTo>
                  <a:lnTo>
                    <a:pt x="0" y="63853"/>
                  </a:lnTo>
                  <a:cubicBezTo>
                    <a:pt x="0" y="28588"/>
                    <a:pt x="28588" y="0"/>
                    <a:pt x="63853" y="0"/>
                  </a:cubicBezTo>
                  <a:close/>
                </a:path>
              </a:pathLst>
            </a:custGeom>
            <a:solidFill>
              <a:srgbClr val="FFA600"/>
            </a:solidFill>
          </p:spPr>
          <p:txBody>
            <a:bodyPr/>
            <a:lstStyle/>
            <a:p>
              <a:endParaRPr lang="en-US"/>
            </a:p>
          </p:txBody>
        </p:sp>
        <p:sp>
          <p:nvSpPr>
            <p:cNvPr id="91" name="TextBox 91"/>
            <p:cNvSpPr txBox="1"/>
            <p:nvPr/>
          </p:nvSpPr>
          <p:spPr>
            <a:xfrm>
              <a:off x="0" y="-47625"/>
              <a:ext cx="604624" cy="175332"/>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000000"/>
                  </a:solidFill>
                  <a:latin typeface="TT Hoves Bold"/>
                  <a:ea typeface="TT Hoves Bold"/>
                  <a:cs typeface="TT Hoves Bold"/>
                  <a:sym typeface="TT Hoves Bold"/>
                </a:rPr>
                <a:t>Verifier</a:t>
              </a:r>
            </a:p>
          </p:txBody>
        </p:sp>
      </p:grpSp>
      <p:grpSp>
        <p:nvGrpSpPr>
          <p:cNvPr id="92" name="Group 92"/>
          <p:cNvGrpSpPr/>
          <p:nvPr/>
        </p:nvGrpSpPr>
        <p:grpSpPr>
          <a:xfrm>
            <a:off x="5069139" y="5561307"/>
            <a:ext cx="545857" cy="545857"/>
            <a:chOff x="0" y="0"/>
            <a:chExt cx="812800" cy="812800"/>
          </a:xfrm>
        </p:grpSpPr>
        <p:sp>
          <p:nvSpPr>
            <p:cNvPr id="93" name="Freeform 9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8A38"/>
            </a:solidFill>
            <a:ln cap="rnd">
              <a:noFill/>
              <a:prstDash val="solid"/>
              <a:round/>
            </a:ln>
          </p:spPr>
          <p:txBody>
            <a:bodyPr/>
            <a:lstStyle/>
            <a:p>
              <a:endParaRPr lang="en-US"/>
            </a:p>
          </p:txBody>
        </p:sp>
        <p:sp>
          <p:nvSpPr>
            <p:cNvPr id="94" name="TextBox 94"/>
            <p:cNvSpPr txBox="1"/>
            <p:nvPr/>
          </p:nvSpPr>
          <p:spPr>
            <a:xfrm>
              <a:off x="76200" y="28575"/>
              <a:ext cx="660400" cy="708025"/>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000000"/>
                  </a:solidFill>
                  <a:latin typeface="TT Hoves Bold"/>
                  <a:ea typeface="TT Hoves Bold"/>
                  <a:cs typeface="TT Hoves Bold"/>
                  <a:sym typeface="TT Hoves Bold"/>
                </a:rPr>
                <a:t>07</a:t>
              </a:r>
            </a:p>
          </p:txBody>
        </p:sp>
      </p:grpSp>
      <p:grpSp>
        <p:nvGrpSpPr>
          <p:cNvPr id="95" name="Group 95"/>
          <p:cNvGrpSpPr/>
          <p:nvPr/>
        </p:nvGrpSpPr>
        <p:grpSpPr>
          <a:xfrm>
            <a:off x="5069139" y="6589146"/>
            <a:ext cx="545857" cy="545857"/>
            <a:chOff x="0" y="0"/>
            <a:chExt cx="812800" cy="812800"/>
          </a:xfrm>
        </p:grpSpPr>
        <p:sp>
          <p:nvSpPr>
            <p:cNvPr id="96" name="Freeform 9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A600"/>
            </a:solidFill>
            <a:ln cap="rnd">
              <a:noFill/>
              <a:prstDash val="solid"/>
              <a:round/>
            </a:ln>
          </p:spPr>
          <p:txBody>
            <a:bodyPr/>
            <a:lstStyle/>
            <a:p>
              <a:endParaRPr lang="en-US"/>
            </a:p>
          </p:txBody>
        </p:sp>
        <p:sp>
          <p:nvSpPr>
            <p:cNvPr id="97" name="TextBox 97"/>
            <p:cNvSpPr txBox="1"/>
            <p:nvPr/>
          </p:nvSpPr>
          <p:spPr>
            <a:xfrm>
              <a:off x="76200" y="28575"/>
              <a:ext cx="660400" cy="708025"/>
            </a:xfrm>
            <a:prstGeom prst="rect">
              <a:avLst/>
            </a:prstGeom>
          </p:spPr>
          <p:txBody>
            <a:bodyPr lIns="50800" tIns="50800" rIns="50800" bIns="50800" rtlCol="0" anchor="ctr"/>
            <a:lstStyle/>
            <a:p>
              <a:pPr marL="0" lvl="0" indent="0" algn="ctr">
                <a:lnSpc>
                  <a:spcPts val="2520"/>
                </a:lnSpc>
                <a:spcBef>
                  <a:spcPct val="0"/>
                </a:spcBef>
              </a:pPr>
              <a:r>
                <a:rPr lang="en-US" sz="1800" b="1" u="none" strike="noStrike">
                  <a:solidFill>
                    <a:srgbClr val="000000"/>
                  </a:solidFill>
                  <a:latin typeface="TT Hoves Bold"/>
                  <a:ea typeface="TT Hoves Bold"/>
                  <a:cs typeface="TT Hoves Bold"/>
                  <a:sym typeface="TT Hoves Bold"/>
                </a:rPr>
                <a:t>08</a:t>
              </a:r>
            </a:p>
          </p:txBody>
        </p:sp>
      </p:grpSp>
      <p:sp>
        <p:nvSpPr>
          <p:cNvPr id="98" name="Freeform 98"/>
          <p:cNvSpPr/>
          <p:nvPr/>
        </p:nvSpPr>
        <p:spPr>
          <a:xfrm>
            <a:off x="2171708" y="664698"/>
            <a:ext cx="3494167" cy="938563"/>
          </a:xfrm>
          <a:custGeom>
            <a:avLst/>
            <a:gdLst/>
            <a:ahLst/>
            <a:cxnLst/>
            <a:rect l="l" t="t" r="r" b="b"/>
            <a:pathLst>
              <a:path w="3494167" h="938563">
                <a:moveTo>
                  <a:pt x="0" y="0"/>
                </a:moveTo>
                <a:lnTo>
                  <a:pt x="3494167" y="0"/>
                </a:lnTo>
                <a:lnTo>
                  <a:pt x="3494167" y="938563"/>
                </a:lnTo>
                <a:lnTo>
                  <a:pt x="0" y="938563"/>
                </a:lnTo>
                <a:lnTo>
                  <a:pt x="0" y="0"/>
                </a:lnTo>
                <a:close/>
              </a:path>
            </a:pathLst>
          </a:custGeom>
          <a:blipFill>
            <a:blip r:embed="rId9"/>
            <a:stretch>
              <a:fillRect/>
            </a:stretch>
          </a:blipFill>
        </p:spPr>
        <p:txBody>
          <a:bodyPr/>
          <a:lstStyle/>
          <a:p>
            <a:endParaRPr lang="en-US"/>
          </a:p>
        </p:txBody>
      </p:sp>
      <p:sp>
        <p:nvSpPr>
          <p:cNvPr id="99" name="TextBox 99"/>
          <p:cNvSpPr txBox="1"/>
          <p:nvPr/>
        </p:nvSpPr>
        <p:spPr>
          <a:xfrm>
            <a:off x="2952598" y="2174761"/>
            <a:ext cx="6913914" cy="1317116"/>
          </a:xfrm>
          <a:prstGeom prst="rect">
            <a:avLst/>
          </a:prstGeom>
        </p:spPr>
        <p:txBody>
          <a:bodyPr lIns="0" tIns="0" rIns="0" bIns="0" rtlCol="0" anchor="t">
            <a:spAutoFit/>
          </a:bodyPr>
          <a:lstStyle/>
          <a:p>
            <a:pPr marL="0" lvl="0" indent="0" algn="l">
              <a:lnSpc>
                <a:spcPts val="5048"/>
              </a:lnSpc>
            </a:pPr>
            <a:r>
              <a:rPr lang="en-US" sz="5099" b="1" spc="-316">
                <a:solidFill>
                  <a:srgbClr val="424141"/>
                </a:solidFill>
                <a:latin typeface="Aptos Bold"/>
                <a:ea typeface="Aptos Bold"/>
                <a:cs typeface="Aptos Bold"/>
                <a:sym typeface="Aptos Bold"/>
              </a:rPr>
              <a:t>PIPELINE</a:t>
            </a:r>
          </a:p>
          <a:p>
            <a:pPr marL="0" lvl="0" indent="0" algn="l">
              <a:lnSpc>
                <a:spcPts val="5048"/>
              </a:lnSpc>
            </a:pPr>
            <a:r>
              <a:rPr lang="en-US" sz="5099" b="1" spc="-316">
                <a:solidFill>
                  <a:srgbClr val="424141"/>
                </a:solidFill>
                <a:latin typeface="Aptos Bold"/>
                <a:ea typeface="Aptos Bold"/>
                <a:cs typeface="Aptos Bold"/>
                <a:sym typeface="Aptos Bold"/>
              </a:rPr>
              <a:t>AI ADVISOR</a:t>
            </a:r>
          </a:p>
        </p:txBody>
      </p:sp>
      <p:sp>
        <p:nvSpPr>
          <p:cNvPr id="100" name="TextBox 100"/>
          <p:cNvSpPr txBox="1"/>
          <p:nvPr/>
        </p:nvSpPr>
        <p:spPr>
          <a:xfrm>
            <a:off x="9302658" y="3711566"/>
            <a:ext cx="6631582" cy="438150"/>
          </a:xfrm>
          <a:prstGeom prst="rect">
            <a:avLst/>
          </a:prstGeom>
        </p:spPr>
        <p:txBody>
          <a:bodyPr lIns="0" tIns="0" rIns="0" bIns="0" rtlCol="0" anchor="t">
            <a:spAutoFit/>
          </a:bodyPr>
          <a:lstStyle/>
          <a:p>
            <a:pPr marL="0" lvl="0" indent="0" algn="just">
              <a:lnSpc>
                <a:spcPts val="1739"/>
              </a:lnSpc>
            </a:pPr>
            <a:r>
              <a:rPr lang="en-US" sz="1449" spc="-53">
                <a:solidFill>
                  <a:srgbClr val="424141"/>
                </a:solidFill>
                <a:latin typeface="Aptos"/>
                <a:ea typeface="Aptos"/>
                <a:cs typeface="Aptos"/>
                <a:sym typeface="Aptos"/>
              </a:rPr>
              <a:t>Pipeline giúp debug, test và cải tiến từng bước. Mỗi giai đoạn độc lập, có trace và có thể kiểm thử riêng biệt.</a:t>
            </a:r>
          </a:p>
        </p:txBody>
      </p:sp>
      <p:sp>
        <p:nvSpPr>
          <p:cNvPr id="101" name="TextBox 101"/>
          <p:cNvSpPr txBox="1"/>
          <p:nvPr/>
        </p:nvSpPr>
        <p:spPr>
          <a:xfrm>
            <a:off x="10188415" y="2296425"/>
            <a:ext cx="5449688" cy="193853"/>
          </a:xfrm>
          <a:prstGeom prst="rect">
            <a:avLst/>
          </a:prstGeom>
        </p:spPr>
        <p:txBody>
          <a:bodyPr lIns="0" tIns="0" rIns="0" bIns="0" rtlCol="0" anchor="t">
            <a:spAutoFit/>
          </a:bodyPr>
          <a:lstStyle/>
          <a:p>
            <a:pPr marL="0" lvl="0" indent="0" algn="ctr">
              <a:lnSpc>
                <a:spcPts val="1557"/>
              </a:lnSpc>
            </a:pPr>
            <a:r>
              <a:rPr lang="en-US" sz="1319" b="1" spc="-9">
                <a:solidFill>
                  <a:srgbClr val="424141"/>
                </a:solidFill>
                <a:latin typeface="Aptos Bold"/>
                <a:ea typeface="Aptos Bold"/>
                <a:cs typeface="Aptos Bold"/>
                <a:sym typeface="Aptos Bold"/>
              </a:rPr>
              <a:t>Luồng xử lý từng bước có kiểm soát:</a:t>
            </a:r>
          </a:p>
        </p:txBody>
      </p:sp>
      <p:grpSp>
        <p:nvGrpSpPr>
          <p:cNvPr id="102" name="Group 102"/>
          <p:cNvGrpSpPr/>
          <p:nvPr/>
        </p:nvGrpSpPr>
        <p:grpSpPr>
          <a:xfrm>
            <a:off x="2795282" y="4615244"/>
            <a:ext cx="1458901" cy="413642"/>
            <a:chOff x="0" y="0"/>
            <a:chExt cx="450416" cy="127707"/>
          </a:xfrm>
        </p:grpSpPr>
        <p:sp>
          <p:nvSpPr>
            <p:cNvPr id="103" name="Freeform 103"/>
            <p:cNvSpPr/>
            <p:nvPr/>
          </p:nvSpPr>
          <p:spPr>
            <a:xfrm>
              <a:off x="0" y="0"/>
              <a:ext cx="450416" cy="127707"/>
            </a:xfrm>
            <a:custGeom>
              <a:avLst/>
              <a:gdLst/>
              <a:ahLst/>
              <a:cxnLst/>
              <a:rect l="l" t="t" r="r" b="b"/>
              <a:pathLst>
                <a:path w="450416" h="127707">
                  <a:moveTo>
                    <a:pt x="63853" y="0"/>
                  </a:moveTo>
                  <a:lnTo>
                    <a:pt x="386563" y="0"/>
                  </a:lnTo>
                  <a:cubicBezTo>
                    <a:pt x="421828" y="0"/>
                    <a:pt x="450416" y="28588"/>
                    <a:pt x="450416" y="63853"/>
                  </a:cubicBezTo>
                  <a:lnTo>
                    <a:pt x="450416" y="63853"/>
                  </a:lnTo>
                  <a:cubicBezTo>
                    <a:pt x="450416" y="80788"/>
                    <a:pt x="443689" y="97030"/>
                    <a:pt x="431714" y="109004"/>
                  </a:cubicBezTo>
                  <a:cubicBezTo>
                    <a:pt x="419739" y="120979"/>
                    <a:pt x="403498" y="127707"/>
                    <a:pt x="386563" y="127707"/>
                  </a:cubicBezTo>
                  <a:lnTo>
                    <a:pt x="63853" y="127707"/>
                  </a:lnTo>
                  <a:cubicBezTo>
                    <a:pt x="28588" y="127707"/>
                    <a:pt x="0" y="99119"/>
                    <a:pt x="0" y="63853"/>
                  </a:cubicBezTo>
                  <a:lnTo>
                    <a:pt x="0" y="63853"/>
                  </a:lnTo>
                  <a:cubicBezTo>
                    <a:pt x="0" y="28588"/>
                    <a:pt x="28588" y="0"/>
                    <a:pt x="63853" y="0"/>
                  </a:cubicBezTo>
                  <a:close/>
                </a:path>
              </a:pathLst>
            </a:custGeom>
            <a:solidFill>
              <a:srgbClr val="FF8A38"/>
            </a:solidFill>
          </p:spPr>
          <p:txBody>
            <a:bodyPr/>
            <a:lstStyle/>
            <a:p>
              <a:endParaRPr lang="en-US"/>
            </a:p>
          </p:txBody>
        </p:sp>
        <p:sp>
          <p:nvSpPr>
            <p:cNvPr id="104" name="TextBox 104"/>
            <p:cNvSpPr txBox="1"/>
            <p:nvPr/>
          </p:nvSpPr>
          <p:spPr>
            <a:xfrm>
              <a:off x="0" y="-47625"/>
              <a:ext cx="450416" cy="175332"/>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000000"/>
                  </a:solidFill>
                  <a:latin typeface="TT Hoves Bold"/>
                  <a:ea typeface="TT Hoves Bold"/>
                  <a:cs typeface="TT Hoves Bold"/>
                  <a:sym typeface="TT Hoves Bold"/>
                </a:rPr>
                <a:t>Trace</a:t>
              </a:r>
            </a:p>
          </p:txBody>
        </p:sp>
      </p:grpSp>
      <p:sp>
        <p:nvSpPr>
          <p:cNvPr id="105" name="AutoShape 105"/>
          <p:cNvSpPr/>
          <p:nvPr/>
        </p:nvSpPr>
        <p:spPr>
          <a:xfrm>
            <a:off x="3485874" y="5362277"/>
            <a:ext cx="0" cy="2165589"/>
          </a:xfrm>
          <a:prstGeom prst="line">
            <a:avLst/>
          </a:prstGeom>
          <a:ln w="47625" cap="flat">
            <a:solidFill>
              <a:srgbClr val="D1CECA"/>
            </a:solidFill>
            <a:prstDash val="solid"/>
            <a:headEnd type="arrow" w="med" len="sm"/>
            <a:tailEnd type="arrow" w="med" len="sm"/>
          </a:ln>
        </p:spPr>
        <p:txBody>
          <a:bodyPr/>
          <a:lstStyle/>
          <a:p>
            <a:endParaRPr lang="en-US"/>
          </a:p>
        </p:txBody>
      </p:sp>
      <p:grpSp>
        <p:nvGrpSpPr>
          <p:cNvPr id="106" name="Group 106"/>
          <p:cNvGrpSpPr/>
          <p:nvPr/>
        </p:nvGrpSpPr>
        <p:grpSpPr>
          <a:xfrm>
            <a:off x="3261691" y="5746762"/>
            <a:ext cx="545857" cy="545857"/>
            <a:chOff x="0" y="0"/>
            <a:chExt cx="812800" cy="812800"/>
          </a:xfrm>
        </p:grpSpPr>
        <p:sp>
          <p:nvSpPr>
            <p:cNvPr id="107" name="Freeform 10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8A38"/>
            </a:solidFill>
            <a:ln cap="rnd">
              <a:noFill/>
              <a:prstDash val="solid"/>
              <a:round/>
            </a:ln>
          </p:spPr>
          <p:txBody>
            <a:bodyPr/>
            <a:lstStyle/>
            <a:p>
              <a:endParaRPr lang="en-US"/>
            </a:p>
          </p:txBody>
        </p:sp>
        <p:sp>
          <p:nvSpPr>
            <p:cNvPr id="108" name="TextBox 108"/>
            <p:cNvSpPr txBox="1"/>
            <p:nvPr/>
          </p:nvSpPr>
          <p:spPr>
            <a:xfrm>
              <a:off x="76200" y="28575"/>
              <a:ext cx="660400" cy="708025"/>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000000"/>
                  </a:solidFill>
                  <a:latin typeface="TT Hoves Bold"/>
                  <a:ea typeface="TT Hoves Bold"/>
                  <a:cs typeface="TT Hoves Bold"/>
                  <a:sym typeface="TT Hoves Bold"/>
                </a:rPr>
                <a:t>09</a:t>
              </a:r>
            </a:p>
          </p:txBody>
        </p:sp>
      </p:grpSp>
      <p:grpSp>
        <p:nvGrpSpPr>
          <p:cNvPr id="109" name="Group 109"/>
          <p:cNvGrpSpPr/>
          <p:nvPr/>
        </p:nvGrpSpPr>
        <p:grpSpPr>
          <a:xfrm>
            <a:off x="3212945" y="6641781"/>
            <a:ext cx="545857" cy="545857"/>
            <a:chOff x="0" y="0"/>
            <a:chExt cx="812800" cy="812800"/>
          </a:xfrm>
        </p:grpSpPr>
        <p:sp>
          <p:nvSpPr>
            <p:cNvPr id="110" name="Freeform 1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FA600"/>
            </a:solidFill>
            <a:ln cap="rnd">
              <a:noFill/>
              <a:prstDash val="solid"/>
              <a:round/>
            </a:ln>
          </p:spPr>
          <p:txBody>
            <a:bodyPr/>
            <a:lstStyle/>
            <a:p>
              <a:endParaRPr lang="en-US"/>
            </a:p>
          </p:txBody>
        </p:sp>
        <p:sp>
          <p:nvSpPr>
            <p:cNvPr id="111" name="TextBox 111"/>
            <p:cNvSpPr txBox="1"/>
            <p:nvPr/>
          </p:nvSpPr>
          <p:spPr>
            <a:xfrm>
              <a:off x="76200" y="28575"/>
              <a:ext cx="660400" cy="708025"/>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000000"/>
                  </a:solidFill>
                  <a:latin typeface="TT Hoves Bold"/>
                  <a:ea typeface="TT Hoves Bold"/>
                  <a:cs typeface="TT Hoves Bold"/>
                  <a:sym typeface="TT Hoves Bold"/>
                </a:rPr>
                <a:t>10</a:t>
              </a:r>
            </a:p>
          </p:txBody>
        </p:sp>
      </p:grpSp>
      <p:grpSp>
        <p:nvGrpSpPr>
          <p:cNvPr id="112" name="Group 112"/>
          <p:cNvGrpSpPr/>
          <p:nvPr/>
        </p:nvGrpSpPr>
        <p:grpSpPr>
          <a:xfrm>
            <a:off x="2506683" y="7804075"/>
            <a:ext cx="1958380" cy="413642"/>
            <a:chOff x="0" y="0"/>
            <a:chExt cx="604624" cy="127707"/>
          </a:xfrm>
        </p:grpSpPr>
        <p:sp>
          <p:nvSpPr>
            <p:cNvPr id="113" name="Freeform 113"/>
            <p:cNvSpPr/>
            <p:nvPr/>
          </p:nvSpPr>
          <p:spPr>
            <a:xfrm>
              <a:off x="0" y="0"/>
              <a:ext cx="604624" cy="127707"/>
            </a:xfrm>
            <a:custGeom>
              <a:avLst/>
              <a:gdLst/>
              <a:ahLst/>
              <a:cxnLst/>
              <a:rect l="l" t="t" r="r" b="b"/>
              <a:pathLst>
                <a:path w="604624" h="127707">
                  <a:moveTo>
                    <a:pt x="63853" y="0"/>
                  </a:moveTo>
                  <a:lnTo>
                    <a:pt x="540771" y="0"/>
                  </a:lnTo>
                  <a:cubicBezTo>
                    <a:pt x="557706" y="0"/>
                    <a:pt x="573947" y="6727"/>
                    <a:pt x="585922" y="18702"/>
                  </a:cubicBezTo>
                  <a:cubicBezTo>
                    <a:pt x="597897" y="30677"/>
                    <a:pt x="604624" y="46918"/>
                    <a:pt x="604624" y="63853"/>
                  </a:cubicBezTo>
                  <a:lnTo>
                    <a:pt x="604624" y="63853"/>
                  </a:lnTo>
                  <a:cubicBezTo>
                    <a:pt x="604624" y="99119"/>
                    <a:pt x="576036" y="127707"/>
                    <a:pt x="540771" y="127707"/>
                  </a:cubicBezTo>
                  <a:lnTo>
                    <a:pt x="63853" y="127707"/>
                  </a:lnTo>
                  <a:cubicBezTo>
                    <a:pt x="28588" y="127707"/>
                    <a:pt x="0" y="99119"/>
                    <a:pt x="0" y="63853"/>
                  </a:cubicBezTo>
                  <a:lnTo>
                    <a:pt x="0" y="63853"/>
                  </a:lnTo>
                  <a:cubicBezTo>
                    <a:pt x="0" y="28588"/>
                    <a:pt x="28588" y="0"/>
                    <a:pt x="63853" y="0"/>
                  </a:cubicBezTo>
                  <a:close/>
                </a:path>
              </a:pathLst>
            </a:custGeom>
            <a:solidFill>
              <a:srgbClr val="FFA600"/>
            </a:solidFill>
          </p:spPr>
          <p:txBody>
            <a:bodyPr/>
            <a:lstStyle/>
            <a:p>
              <a:endParaRPr lang="en-US"/>
            </a:p>
          </p:txBody>
        </p:sp>
        <p:sp>
          <p:nvSpPr>
            <p:cNvPr id="114" name="TextBox 114"/>
            <p:cNvSpPr txBox="1"/>
            <p:nvPr/>
          </p:nvSpPr>
          <p:spPr>
            <a:xfrm>
              <a:off x="0" y="-47625"/>
              <a:ext cx="604624" cy="175332"/>
            </a:xfrm>
            <a:prstGeom prst="rect">
              <a:avLst/>
            </a:prstGeom>
          </p:spPr>
          <p:txBody>
            <a:bodyPr lIns="50800" tIns="50800" rIns="50800" bIns="50800" rtlCol="0" anchor="ctr"/>
            <a:lstStyle/>
            <a:p>
              <a:pPr marL="0" lvl="0" indent="0" algn="ctr">
                <a:lnSpc>
                  <a:spcPts val="2520"/>
                </a:lnSpc>
                <a:spcBef>
                  <a:spcPct val="0"/>
                </a:spcBef>
              </a:pPr>
              <a:r>
                <a:rPr lang="en-US" sz="1800" b="1">
                  <a:solidFill>
                    <a:srgbClr val="000000"/>
                  </a:solidFill>
                  <a:latin typeface="TT Hoves Bold"/>
                  <a:ea typeface="TT Hoves Bold"/>
                  <a:cs typeface="TT Hoves Bold"/>
                  <a:sym typeface="TT Hoves Bold"/>
                </a:rPr>
                <a:t>Recovery</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sp>
        <p:nvSpPr>
          <p:cNvPr id="12" name="Freeform 12"/>
          <p:cNvSpPr/>
          <p:nvPr/>
        </p:nvSpPr>
        <p:spPr>
          <a:xfrm flipH="1">
            <a:off x="9804768" y="1784440"/>
            <a:ext cx="941613" cy="818027"/>
          </a:xfrm>
          <a:custGeom>
            <a:avLst/>
            <a:gdLst/>
            <a:ahLst/>
            <a:cxnLst/>
            <a:rect l="l" t="t" r="r" b="b"/>
            <a:pathLst>
              <a:path w="941613" h="818027">
                <a:moveTo>
                  <a:pt x="941613" y="0"/>
                </a:moveTo>
                <a:lnTo>
                  <a:pt x="0" y="0"/>
                </a:lnTo>
                <a:lnTo>
                  <a:pt x="0" y="818026"/>
                </a:lnTo>
                <a:lnTo>
                  <a:pt x="941613" y="818026"/>
                </a:lnTo>
                <a:lnTo>
                  <a:pt x="94161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AutoShape 13"/>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4" name="AutoShape 14"/>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5" name="AutoShape 15"/>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6" name="Freeform 16"/>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8" name="Group 18"/>
          <p:cNvGrpSpPr/>
          <p:nvPr/>
        </p:nvGrpSpPr>
        <p:grpSpPr>
          <a:xfrm>
            <a:off x="16839551" y="2894346"/>
            <a:ext cx="419749" cy="41974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0" name="TextBox 20"/>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1" name="Group 21"/>
          <p:cNvGrpSpPr/>
          <p:nvPr/>
        </p:nvGrpSpPr>
        <p:grpSpPr>
          <a:xfrm>
            <a:off x="16419760" y="2894346"/>
            <a:ext cx="419749" cy="41974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3" name="TextBox 23"/>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4" name="Group 24"/>
          <p:cNvGrpSpPr/>
          <p:nvPr/>
        </p:nvGrpSpPr>
        <p:grpSpPr>
          <a:xfrm>
            <a:off x="15999969" y="2894346"/>
            <a:ext cx="419749" cy="41974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26" name="TextBox 26"/>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27" name="Freeform 27"/>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8" name="Freeform 28"/>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9" name="Freeform 29"/>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0" name="Freeform 30"/>
          <p:cNvSpPr/>
          <p:nvPr/>
        </p:nvSpPr>
        <p:spPr>
          <a:xfrm>
            <a:off x="3485552" y="3295598"/>
            <a:ext cx="11385694" cy="5240116"/>
          </a:xfrm>
          <a:custGeom>
            <a:avLst/>
            <a:gdLst/>
            <a:ahLst/>
            <a:cxnLst/>
            <a:rect l="l" t="t" r="r" b="b"/>
            <a:pathLst>
              <a:path w="11385694" h="5240116">
                <a:moveTo>
                  <a:pt x="0" y="0"/>
                </a:moveTo>
                <a:lnTo>
                  <a:pt x="11385695" y="0"/>
                </a:lnTo>
                <a:lnTo>
                  <a:pt x="11385695" y="5240117"/>
                </a:lnTo>
                <a:lnTo>
                  <a:pt x="0" y="5240117"/>
                </a:lnTo>
                <a:lnTo>
                  <a:pt x="0" y="0"/>
                </a:lnTo>
                <a:close/>
              </a:path>
            </a:pathLst>
          </a:custGeom>
          <a:blipFill>
            <a:blip r:embed="rId9"/>
            <a:stretch>
              <a:fillRect/>
            </a:stretch>
          </a:blipFill>
        </p:spPr>
        <p:txBody>
          <a:bodyPr/>
          <a:lstStyle/>
          <a:p>
            <a:endParaRPr lang="en-US"/>
          </a:p>
        </p:txBody>
      </p:sp>
      <p:sp>
        <p:nvSpPr>
          <p:cNvPr id="31" name="Freeform 31"/>
          <p:cNvSpPr/>
          <p:nvPr/>
        </p:nvSpPr>
        <p:spPr>
          <a:xfrm>
            <a:off x="1924143" y="444417"/>
            <a:ext cx="3467251" cy="931333"/>
          </a:xfrm>
          <a:custGeom>
            <a:avLst/>
            <a:gdLst/>
            <a:ahLst/>
            <a:cxnLst/>
            <a:rect l="l" t="t" r="r" b="b"/>
            <a:pathLst>
              <a:path w="3467251" h="931333">
                <a:moveTo>
                  <a:pt x="0" y="0"/>
                </a:moveTo>
                <a:lnTo>
                  <a:pt x="3467251" y="0"/>
                </a:lnTo>
                <a:lnTo>
                  <a:pt x="3467251" y="931332"/>
                </a:lnTo>
                <a:lnTo>
                  <a:pt x="0" y="931332"/>
                </a:lnTo>
                <a:lnTo>
                  <a:pt x="0" y="0"/>
                </a:lnTo>
                <a:close/>
              </a:path>
            </a:pathLst>
          </a:custGeom>
          <a:blipFill>
            <a:blip r:embed="rId10"/>
            <a:stretch>
              <a:fillRect/>
            </a:stretch>
          </a:blipFill>
        </p:spPr>
        <p:txBody>
          <a:bodyPr/>
          <a:lstStyle/>
          <a:p>
            <a:endParaRPr lang="en-US"/>
          </a:p>
        </p:txBody>
      </p:sp>
      <p:sp>
        <p:nvSpPr>
          <p:cNvPr id="32" name="TextBox 32"/>
          <p:cNvSpPr txBox="1"/>
          <p:nvPr/>
        </p:nvSpPr>
        <p:spPr>
          <a:xfrm>
            <a:off x="2157436" y="1403531"/>
            <a:ext cx="9848830" cy="789922"/>
          </a:xfrm>
          <a:prstGeom prst="rect">
            <a:avLst/>
          </a:prstGeom>
        </p:spPr>
        <p:txBody>
          <a:bodyPr lIns="0" tIns="0" rIns="0" bIns="0" rtlCol="0" anchor="t">
            <a:spAutoFit/>
          </a:bodyPr>
          <a:lstStyle/>
          <a:p>
            <a:pPr marL="0" lvl="0" indent="0" algn="l">
              <a:lnSpc>
                <a:spcPts val="5986"/>
              </a:lnSpc>
            </a:pPr>
            <a:r>
              <a:rPr lang="en-US" sz="6046" b="1" spc="-374">
                <a:solidFill>
                  <a:srgbClr val="424141"/>
                </a:solidFill>
                <a:latin typeface="Aptos Bold"/>
                <a:ea typeface="Aptos Bold"/>
                <a:cs typeface="Aptos Bold"/>
                <a:sym typeface="Aptos Bold"/>
              </a:rPr>
              <a:t>GIAO DIỆN CỦA AURA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sp>
        <p:nvSpPr>
          <p:cNvPr id="12" name="Freeform 12"/>
          <p:cNvSpPr/>
          <p:nvPr/>
        </p:nvSpPr>
        <p:spPr>
          <a:xfrm flipH="1">
            <a:off x="10007769" y="1427234"/>
            <a:ext cx="941613" cy="818027"/>
          </a:xfrm>
          <a:custGeom>
            <a:avLst/>
            <a:gdLst/>
            <a:ahLst/>
            <a:cxnLst/>
            <a:rect l="l" t="t" r="r" b="b"/>
            <a:pathLst>
              <a:path w="941613" h="818027">
                <a:moveTo>
                  <a:pt x="941613" y="0"/>
                </a:moveTo>
                <a:lnTo>
                  <a:pt x="0" y="0"/>
                </a:lnTo>
                <a:lnTo>
                  <a:pt x="0" y="818026"/>
                </a:lnTo>
                <a:lnTo>
                  <a:pt x="941613" y="818026"/>
                </a:lnTo>
                <a:lnTo>
                  <a:pt x="94161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AutoShape 13"/>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4" name="AutoShape 14"/>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5" name="AutoShape 15"/>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6" name="Freeform 16"/>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8" name="Group 18"/>
          <p:cNvGrpSpPr/>
          <p:nvPr/>
        </p:nvGrpSpPr>
        <p:grpSpPr>
          <a:xfrm>
            <a:off x="16839551" y="2894346"/>
            <a:ext cx="419749" cy="41974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0" name="TextBox 20"/>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1" name="Group 21"/>
          <p:cNvGrpSpPr/>
          <p:nvPr/>
        </p:nvGrpSpPr>
        <p:grpSpPr>
          <a:xfrm>
            <a:off x="16419760" y="2894346"/>
            <a:ext cx="419749" cy="41974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3" name="TextBox 23"/>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4" name="Group 24"/>
          <p:cNvGrpSpPr/>
          <p:nvPr/>
        </p:nvGrpSpPr>
        <p:grpSpPr>
          <a:xfrm>
            <a:off x="15999969" y="2894346"/>
            <a:ext cx="419749" cy="41974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26" name="TextBox 26"/>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27" name="Freeform 27"/>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8" name="Freeform 28"/>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9" name="Freeform 29"/>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0" name="Freeform 30"/>
          <p:cNvSpPr/>
          <p:nvPr/>
        </p:nvSpPr>
        <p:spPr>
          <a:xfrm>
            <a:off x="4866229" y="2654511"/>
            <a:ext cx="9025239" cy="6539296"/>
          </a:xfrm>
          <a:custGeom>
            <a:avLst/>
            <a:gdLst/>
            <a:ahLst/>
            <a:cxnLst/>
            <a:rect l="l" t="t" r="r" b="b"/>
            <a:pathLst>
              <a:path w="9025239" h="6539296">
                <a:moveTo>
                  <a:pt x="0" y="0"/>
                </a:moveTo>
                <a:lnTo>
                  <a:pt x="9025240" y="0"/>
                </a:lnTo>
                <a:lnTo>
                  <a:pt x="9025240" y="6539296"/>
                </a:lnTo>
                <a:lnTo>
                  <a:pt x="0" y="6539296"/>
                </a:lnTo>
                <a:lnTo>
                  <a:pt x="0" y="0"/>
                </a:lnTo>
                <a:close/>
              </a:path>
            </a:pathLst>
          </a:custGeom>
          <a:blipFill>
            <a:blip r:embed="rId9"/>
            <a:stretch>
              <a:fillRect t="-4203" b="-4203"/>
            </a:stretch>
          </a:blipFill>
        </p:spPr>
        <p:txBody>
          <a:bodyPr/>
          <a:lstStyle/>
          <a:p>
            <a:endParaRPr lang="en-US"/>
          </a:p>
        </p:txBody>
      </p:sp>
      <p:sp>
        <p:nvSpPr>
          <p:cNvPr id="31" name="Freeform 31"/>
          <p:cNvSpPr/>
          <p:nvPr/>
        </p:nvSpPr>
        <p:spPr>
          <a:xfrm>
            <a:off x="1924143" y="492948"/>
            <a:ext cx="3478244" cy="934286"/>
          </a:xfrm>
          <a:custGeom>
            <a:avLst/>
            <a:gdLst/>
            <a:ahLst/>
            <a:cxnLst/>
            <a:rect l="l" t="t" r="r" b="b"/>
            <a:pathLst>
              <a:path w="3478244" h="934286">
                <a:moveTo>
                  <a:pt x="0" y="0"/>
                </a:moveTo>
                <a:lnTo>
                  <a:pt x="3478244" y="0"/>
                </a:lnTo>
                <a:lnTo>
                  <a:pt x="3478244" y="934286"/>
                </a:lnTo>
                <a:lnTo>
                  <a:pt x="0" y="934286"/>
                </a:lnTo>
                <a:lnTo>
                  <a:pt x="0" y="0"/>
                </a:lnTo>
                <a:close/>
              </a:path>
            </a:pathLst>
          </a:custGeom>
          <a:blipFill>
            <a:blip r:embed="rId10"/>
            <a:stretch>
              <a:fillRect/>
            </a:stretch>
          </a:blipFill>
        </p:spPr>
        <p:txBody>
          <a:bodyPr/>
          <a:lstStyle/>
          <a:p>
            <a:endParaRPr lang="en-US"/>
          </a:p>
        </p:txBody>
      </p:sp>
      <p:sp>
        <p:nvSpPr>
          <p:cNvPr id="32" name="TextBox 32"/>
          <p:cNvSpPr txBox="1"/>
          <p:nvPr/>
        </p:nvSpPr>
        <p:spPr>
          <a:xfrm>
            <a:off x="2085721" y="1189200"/>
            <a:ext cx="9848830" cy="789922"/>
          </a:xfrm>
          <a:prstGeom prst="rect">
            <a:avLst/>
          </a:prstGeom>
        </p:spPr>
        <p:txBody>
          <a:bodyPr lIns="0" tIns="0" rIns="0" bIns="0" rtlCol="0" anchor="t">
            <a:spAutoFit/>
          </a:bodyPr>
          <a:lstStyle/>
          <a:p>
            <a:pPr marL="0" lvl="0" indent="0" algn="l">
              <a:lnSpc>
                <a:spcPts val="5986"/>
              </a:lnSpc>
            </a:pPr>
            <a:r>
              <a:rPr lang="en-US" sz="6046" b="1" spc="-374">
                <a:solidFill>
                  <a:srgbClr val="424141"/>
                </a:solidFill>
                <a:latin typeface="Aptos Bold"/>
                <a:ea typeface="Aptos Bold"/>
                <a:cs typeface="Aptos Bold"/>
                <a:sym typeface="Aptos Bold"/>
              </a:rPr>
              <a:t>GIAO DIỆN CỦA AURA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sp>
        <p:nvSpPr>
          <p:cNvPr id="12" name="Freeform 12"/>
          <p:cNvSpPr/>
          <p:nvPr/>
        </p:nvSpPr>
        <p:spPr>
          <a:xfrm flipH="1">
            <a:off x="10007769" y="1427234"/>
            <a:ext cx="941613" cy="818027"/>
          </a:xfrm>
          <a:custGeom>
            <a:avLst/>
            <a:gdLst/>
            <a:ahLst/>
            <a:cxnLst/>
            <a:rect l="l" t="t" r="r" b="b"/>
            <a:pathLst>
              <a:path w="941613" h="818027">
                <a:moveTo>
                  <a:pt x="941613" y="0"/>
                </a:moveTo>
                <a:lnTo>
                  <a:pt x="0" y="0"/>
                </a:lnTo>
                <a:lnTo>
                  <a:pt x="0" y="818026"/>
                </a:lnTo>
                <a:lnTo>
                  <a:pt x="941613" y="818026"/>
                </a:lnTo>
                <a:lnTo>
                  <a:pt x="94161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AutoShape 13"/>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4" name="AutoShape 14"/>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5" name="AutoShape 15"/>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6" name="Freeform 16"/>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8" name="Group 18"/>
          <p:cNvGrpSpPr/>
          <p:nvPr/>
        </p:nvGrpSpPr>
        <p:grpSpPr>
          <a:xfrm>
            <a:off x="16839551" y="2894346"/>
            <a:ext cx="419749" cy="41974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0" name="TextBox 20"/>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1" name="Group 21"/>
          <p:cNvGrpSpPr/>
          <p:nvPr/>
        </p:nvGrpSpPr>
        <p:grpSpPr>
          <a:xfrm>
            <a:off x="16419760" y="2894346"/>
            <a:ext cx="419749" cy="41974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3" name="TextBox 23"/>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4" name="Group 24"/>
          <p:cNvGrpSpPr/>
          <p:nvPr/>
        </p:nvGrpSpPr>
        <p:grpSpPr>
          <a:xfrm>
            <a:off x="15999969" y="2894346"/>
            <a:ext cx="419749" cy="41974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26" name="TextBox 26"/>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27" name="Freeform 27"/>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8" name="Freeform 28"/>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9" name="Freeform 29"/>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0" name="Freeform 30"/>
          <p:cNvSpPr/>
          <p:nvPr/>
        </p:nvSpPr>
        <p:spPr>
          <a:xfrm>
            <a:off x="1924143" y="492948"/>
            <a:ext cx="3478244" cy="934286"/>
          </a:xfrm>
          <a:custGeom>
            <a:avLst/>
            <a:gdLst/>
            <a:ahLst/>
            <a:cxnLst/>
            <a:rect l="l" t="t" r="r" b="b"/>
            <a:pathLst>
              <a:path w="3478244" h="934286">
                <a:moveTo>
                  <a:pt x="0" y="0"/>
                </a:moveTo>
                <a:lnTo>
                  <a:pt x="3478244" y="0"/>
                </a:lnTo>
                <a:lnTo>
                  <a:pt x="3478244" y="934286"/>
                </a:lnTo>
                <a:lnTo>
                  <a:pt x="0" y="934286"/>
                </a:lnTo>
                <a:lnTo>
                  <a:pt x="0" y="0"/>
                </a:lnTo>
                <a:close/>
              </a:path>
            </a:pathLst>
          </a:custGeom>
          <a:blipFill>
            <a:blip r:embed="rId9"/>
            <a:stretch>
              <a:fillRect/>
            </a:stretch>
          </a:blipFill>
        </p:spPr>
        <p:txBody>
          <a:bodyPr/>
          <a:lstStyle/>
          <a:p>
            <a:endParaRPr lang="en-US"/>
          </a:p>
        </p:txBody>
      </p:sp>
      <p:sp>
        <p:nvSpPr>
          <p:cNvPr id="31" name="Freeform 31"/>
          <p:cNvSpPr/>
          <p:nvPr/>
        </p:nvSpPr>
        <p:spPr>
          <a:xfrm>
            <a:off x="4952378" y="2614225"/>
            <a:ext cx="8628194" cy="6536073"/>
          </a:xfrm>
          <a:custGeom>
            <a:avLst/>
            <a:gdLst/>
            <a:ahLst/>
            <a:cxnLst/>
            <a:rect l="l" t="t" r="r" b="b"/>
            <a:pathLst>
              <a:path w="8628194" h="6536073">
                <a:moveTo>
                  <a:pt x="0" y="0"/>
                </a:moveTo>
                <a:lnTo>
                  <a:pt x="8628193" y="0"/>
                </a:lnTo>
                <a:lnTo>
                  <a:pt x="8628193" y="6536073"/>
                </a:lnTo>
                <a:lnTo>
                  <a:pt x="0" y="6536073"/>
                </a:lnTo>
                <a:lnTo>
                  <a:pt x="0" y="0"/>
                </a:lnTo>
                <a:close/>
              </a:path>
            </a:pathLst>
          </a:custGeom>
          <a:blipFill>
            <a:blip r:embed="rId10"/>
            <a:stretch>
              <a:fillRect/>
            </a:stretch>
          </a:blipFill>
        </p:spPr>
        <p:txBody>
          <a:bodyPr/>
          <a:lstStyle/>
          <a:p>
            <a:endParaRPr lang="en-US"/>
          </a:p>
        </p:txBody>
      </p:sp>
      <p:sp>
        <p:nvSpPr>
          <p:cNvPr id="32" name="TextBox 32"/>
          <p:cNvSpPr txBox="1"/>
          <p:nvPr/>
        </p:nvSpPr>
        <p:spPr>
          <a:xfrm>
            <a:off x="2085721" y="1189200"/>
            <a:ext cx="9848830" cy="789922"/>
          </a:xfrm>
          <a:prstGeom prst="rect">
            <a:avLst/>
          </a:prstGeom>
        </p:spPr>
        <p:txBody>
          <a:bodyPr lIns="0" tIns="0" rIns="0" bIns="0" rtlCol="0" anchor="t">
            <a:spAutoFit/>
          </a:bodyPr>
          <a:lstStyle/>
          <a:p>
            <a:pPr marL="0" lvl="0" indent="0" algn="l">
              <a:lnSpc>
                <a:spcPts val="5986"/>
              </a:lnSpc>
            </a:pPr>
            <a:r>
              <a:rPr lang="en-US" sz="6046" b="1" spc="-374">
                <a:solidFill>
                  <a:srgbClr val="424141"/>
                </a:solidFill>
                <a:latin typeface="Aptos Bold"/>
                <a:ea typeface="Aptos Bold"/>
                <a:cs typeface="Aptos Bold"/>
                <a:sym typeface="Aptos Bold"/>
              </a:rPr>
              <a:t>GIAO DIỆN CỦA AURA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sp>
        <p:nvSpPr>
          <p:cNvPr id="12" name="Freeform 12"/>
          <p:cNvSpPr/>
          <p:nvPr/>
        </p:nvSpPr>
        <p:spPr>
          <a:xfrm flipH="1">
            <a:off x="10722138" y="2076319"/>
            <a:ext cx="941613" cy="818027"/>
          </a:xfrm>
          <a:custGeom>
            <a:avLst/>
            <a:gdLst/>
            <a:ahLst/>
            <a:cxnLst/>
            <a:rect l="l" t="t" r="r" b="b"/>
            <a:pathLst>
              <a:path w="941613" h="818027">
                <a:moveTo>
                  <a:pt x="941614" y="0"/>
                </a:moveTo>
                <a:lnTo>
                  <a:pt x="0" y="0"/>
                </a:lnTo>
                <a:lnTo>
                  <a:pt x="0" y="818027"/>
                </a:lnTo>
                <a:lnTo>
                  <a:pt x="941614" y="818027"/>
                </a:lnTo>
                <a:lnTo>
                  <a:pt x="94161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AutoShape 13"/>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4" name="AutoShape 14"/>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5" name="AutoShape 15"/>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6" name="Freeform 16"/>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8" name="Group 18"/>
          <p:cNvGrpSpPr/>
          <p:nvPr/>
        </p:nvGrpSpPr>
        <p:grpSpPr>
          <a:xfrm>
            <a:off x="16839551" y="2894346"/>
            <a:ext cx="419749" cy="41974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0" name="TextBox 20"/>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1" name="Group 21"/>
          <p:cNvGrpSpPr/>
          <p:nvPr/>
        </p:nvGrpSpPr>
        <p:grpSpPr>
          <a:xfrm>
            <a:off x="16419760" y="2894346"/>
            <a:ext cx="419749" cy="41974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3" name="TextBox 23"/>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4" name="Group 24"/>
          <p:cNvGrpSpPr/>
          <p:nvPr/>
        </p:nvGrpSpPr>
        <p:grpSpPr>
          <a:xfrm>
            <a:off x="15999969" y="2894346"/>
            <a:ext cx="419749" cy="41974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26" name="TextBox 26"/>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27" name="Freeform 27"/>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8" name="Freeform 28"/>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9" name="Freeform 29"/>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0" name="Freeform 30"/>
          <p:cNvSpPr/>
          <p:nvPr/>
        </p:nvSpPr>
        <p:spPr>
          <a:xfrm>
            <a:off x="6713219" y="3080429"/>
            <a:ext cx="2969295" cy="6542514"/>
          </a:xfrm>
          <a:custGeom>
            <a:avLst/>
            <a:gdLst/>
            <a:ahLst/>
            <a:cxnLst/>
            <a:rect l="l" t="t" r="r" b="b"/>
            <a:pathLst>
              <a:path w="2969295" h="6542514">
                <a:moveTo>
                  <a:pt x="0" y="0"/>
                </a:moveTo>
                <a:lnTo>
                  <a:pt x="2969295" y="0"/>
                </a:lnTo>
                <a:lnTo>
                  <a:pt x="2969295" y="6542514"/>
                </a:lnTo>
                <a:lnTo>
                  <a:pt x="0" y="6542514"/>
                </a:lnTo>
                <a:lnTo>
                  <a:pt x="0" y="0"/>
                </a:lnTo>
                <a:close/>
              </a:path>
            </a:pathLst>
          </a:custGeom>
          <a:blipFill>
            <a:blip r:embed="rId9"/>
            <a:stretch>
              <a:fillRect/>
            </a:stretch>
          </a:blipFill>
        </p:spPr>
        <p:txBody>
          <a:bodyPr/>
          <a:lstStyle/>
          <a:p>
            <a:endParaRPr lang="en-US"/>
          </a:p>
        </p:txBody>
      </p:sp>
      <p:sp>
        <p:nvSpPr>
          <p:cNvPr id="31" name="Freeform 31"/>
          <p:cNvSpPr/>
          <p:nvPr/>
        </p:nvSpPr>
        <p:spPr>
          <a:xfrm>
            <a:off x="10515211" y="3080429"/>
            <a:ext cx="2986222" cy="6540906"/>
          </a:xfrm>
          <a:custGeom>
            <a:avLst/>
            <a:gdLst/>
            <a:ahLst/>
            <a:cxnLst/>
            <a:rect l="l" t="t" r="r" b="b"/>
            <a:pathLst>
              <a:path w="2986222" h="6540906">
                <a:moveTo>
                  <a:pt x="0" y="0"/>
                </a:moveTo>
                <a:lnTo>
                  <a:pt x="2986222" y="0"/>
                </a:lnTo>
                <a:lnTo>
                  <a:pt x="2986222" y="6540906"/>
                </a:lnTo>
                <a:lnTo>
                  <a:pt x="0" y="6540906"/>
                </a:lnTo>
                <a:lnTo>
                  <a:pt x="0" y="0"/>
                </a:lnTo>
                <a:close/>
              </a:path>
            </a:pathLst>
          </a:custGeom>
          <a:blipFill>
            <a:blip r:embed="rId10"/>
            <a:stretch>
              <a:fillRect/>
            </a:stretch>
          </a:blipFill>
        </p:spPr>
        <p:txBody>
          <a:bodyPr/>
          <a:lstStyle/>
          <a:p>
            <a:endParaRPr lang="en-US"/>
          </a:p>
        </p:txBody>
      </p:sp>
      <p:sp>
        <p:nvSpPr>
          <p:cNvPr id="32" name="Freeform 32"/>
          <p:cNvSpPr/>
          <p:nvPr/>
        </p:nvSpPr>
        <p:spPr>
          <a:xfrm>
            <a:off x="3025638" y="3106637"/>
            <a:ext cx="2979468" cy="6536073"/>
          </a:xfrm>
          <a:custGeom>
            <a:avLst/>
            <a:gdLst/>
            <a:ahLst/>
            <a:cxnLst/>
            <a:rect l="l" t="t" r="r" b="b"/>
            <a:pathLst>
              <a:path w="2979468" h="6536073">
                <a:moveTo>
                  <a:pt x="0" y="0"/>
                </a:moveTo>
                <a:lnTo>
                  <a:pt x="2979469" y="0"/>
                </a:lnTo>
                <a:lnTo>
                  <a:pt x="2979469" y="6536073"/>
                </a:lnTo>
                <a:lnTo>
                  <a:pt x="0" y="6536073"/>
                </a:lnTo>
                <a:lnTo>
                  <a:pt x="0" y="0"/>
                </a:lnTo>
                <a:close/>
              </a:path>
            </a:pathLst>
          </a:custGeom>
          <a:blipFill>
            <a:blip r:embed="rId11"/>
            <a:stretch>
              <a:fillRect/>
            </a:stretch>
          </a:blipFill>
        </p:spPr>
        <p:txBody>
          <a:bodyPr/>
          <a:lstStyle/>
          <a:p>
            <a:endParaRPr lang="en-US"/>
          </a:p>
        </p:txBody>
      </p:sp>
      <p:sp>
        <p:nvSpPr>
          <p:cNvPr id="33" name="Freeform 33"/>
          <p:cNvSpPr/>
          <p:nvPr/>
        </p:nvSpPr>
        <p:spPr>
          <a:xfrm>
            <a:off x="2009784" y="629287"/>
            <a:ext cx="3502578" cy="940822"/>
          </a:xfrm>
          <a:custGeom>
            <a:avLst/>
            <a:gdLst/>
            <a:ahLst/>
            <a:cxnLst/>
            <a:rect l="l" t="t" r="r" b="b"/>
            <a:pathLst>
              <a:path w="3502578" h="940822">
                <a:moveTo>
                  <a:pt x="0" y="0"/>
                </a:moveTo>
                <a:lnTo>
                  <a:pt x="3502578" y="0"/>
                </a:lnTo>
                <a:lnTo>
                  <a:pt x="3502578" y="940822"/>
                </a:lnTo>
                <a:lnTo>
                  <a:pt x="0" y="940822"/>
                </a:lnTo>
                <a:lnTo>
                  <a:pt x="0" y="0"/>
                </a:lnTo>
                <a:close/>
              </a:path>
            </a:pathLst>
          </a:custGeom>
          <a:blipFill>
            <a:blip r:embed="rId12"/>
            <a:stretch>
              <a:fillRect/>
            </a:stretch>
          </a:blipFill>
        </p:spPr>
        <p:txBody>
          <a:bodyPr/>
          <a:lstStyle/>
          <a:p>
            <a:endParaRPr lang="en-US"/>
          </a:p>
        </p:txBody>
      </p:sp>
      <p:sp>
        <p:nvSpPr>
          <p:cNvPr id="34" name="TextBox 34"/>
          <p:cNvSpPr txBox="1"/>
          <p:nvPr/>
        </p:nvSpPr>
        <p:spPr>
          <a:xfrm>
            <a:off x="2952598" y="2031700"/>
            <a:ext cx="9848830" cy="789922"/>
          </a:xfrm>
          <a:prstGeom prst="rect">
            <a:avLst/>
          </a:prstGeom>
        </p:spPr>
        <p:txBody>
          <a:bodyPr lIns="0" tIns="0" rIns="0" bIns="0" rtlCol="0" anchor="t">
            <a:spAutoFit/>
          </a:bodyPr>
          <a:lstStyle/>
          <a:p>
            <a:pPr marL="0" lvl="0" indent="0" algn="l">
              <a:lnSpc>
                <a:spcPts val="5986"/>
              </a:lnSpc>
            </a:pPr>
            <a:r>
              <a:rPr lang="en-US" sz="6046" b="1" spc="-374">
                <a:solidFill>
                  <a:srgbClr val="424141"/>
                </a:solidFill>
                <a:latin typeface="Aptos Bold"/>
                <a:ea typeface="Aptos Bold"/>
                <a:cs typeface="Aptos Bold"/>
                <a:sym typeface="Aptos Bold"/>
              </a:rPr>
              <a:t>GIAO DIỆN CỦA AURA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91925"/>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grpSp>
        <p:nvGrpSpPr>
          <p:cNvPr id="12" name="Group 12"/>
          <p:cNvGrpSpPr/>
          <p:nvPr/>
        </p:nvGrpSpPr>
        <p:grpSpPr>
          <a:xfrm>
            <a:off x="12058115" y="5751211"/>
            <a:ext cx="5201185" cy="2924972"/>
            <a:chOff x="0" y="0"/>
            <a:chExt cx="3114770" cy="1751643"/>
          </a:xfrm>
        </p:grpSpPr>
        <p:sp>
          <p:nvSpPr>
            <p:cNvPr id="13" name="Freeform 13"/>
            <p:cNvSpPr/>
            <p:nvPr/>
          </p:nvSpPr>
          <p:spPr>
            <a:xfrm>
              <a:off x="0" y="0"/>
              <a:ext cx="3114771" cy="1751643"/>
            </a:xfrm>
            <a:custGeom>
              <a:avLst/>
              <a:gdLst/>
              <a:ahLst/>
              <a:cxnLst/>
              <a:rect l="l" t="t" r="r" b="b"/>
              <a:pathLst>
                <a:path w="3114771" h="1751643">
                  <a:moveTo>
                    <a:pt x="47632" y="0"/>
                  </a:moveTo>
                  <a:lnTo>
                    <a:pt x="3067139" y="0"/>
                  </a:lnTo>
                  <a:cubicBezTo>
                    <a:pt x="3079772" y="0"/>
                    <a:pt x="3091887" y="5018"/>
                    <a:pt x="3100819" y="13951"/>
                  </a:cubicBezTo>
                  <a:cubicBezTo>
                    <a:pt x="3109752" y="22884"/>
                    <a:pt x="3114771" y="34999"/>
                    <a:pt x="3114771" y="47632"/>
                  </a:cubicBezTo>
                  <a:lnTo>
                    <a:pt x="3114771" y="1704011"/>
                  </a:lnTo>
                  <a:cubicBezTo>
                    <a:pt x="3114771" y="1716643"/>
                    <a:pt x="3109752" y="1728759"/>
                    <a:pt x="3100819" y="1737691"/>
                  </a:cubicBezTo>
                  <a:cubicBezTo>
                    <a:pt x="3091887" y="1746624"/>
                    <a:pt x="3079772" y="1751643"/>
                    <a:pt x="3067139" y="1751643"/>
                  </a:cubicBezTo>
                  <a:lnTo>
                    <a:pt x="47632" y="1751643"/>
                  </a:lnTo>
                  <a:cubicBezTo>
                    <a:pt x="34999" y="1751643"/>
                    <a:pt x="22884" y="1746624"/>
                    <a:pt x="13951" y="1737691"/>
                  </a:cubicBezTo>
                  <a:cubicBezTo>
                    <a:pt x="5018" y="1728759"/>
                    <a:pt x="0" y="1716643"/>
                    <a:pt x="0" y="1704011"/>
                  </a:cubicBezTo>
                  <a:lnTo>
                    <a:pt x="0" y="47632"/>
                  </a:lnTo>
                  <a:cubicBezTo>
                    <a:pt x="0" y="34999"/>
                    <a:pt x="5018" y="22884"/>
                    <a:pt x="13951" y="13951"/>
                  </a:cubicBezTo>
                  <a:cubicBezTo>
                    <a:pt x="22884" y="5018"/>
                    <a:pt x="34999" y="0"/>
                    <a:pt x="47632" y="0"/>
                  </a:cubicBezTo>
                  <a:close/>
                </a:path>
              </a:pathLst>
            </a:custGeom>
            <a:solidFill>
              <a:srgbClr val="EB574C"/>
            </a:solidFill>
            <a:ln w="9525" cap="rnd">
              <a:solidFill>
                <a:srgbClr val="424141"/>
              </a:solidFill>
              <a:prstDash val="solid"/>
              <a:round/>
            </a:ln>
          </p:spPr>
          <p:txBody>
            <a:bodyPr/>
            <a:lstStyle/>
            <a:p>
              <a:endParaRPr lang="en-US"/>
            </a:p>
          </p:txBody>
        </p:sp>
        <p:sp>
          <p:nvSpPr>
            <p:cNvPr id="14" name="TextBox 14"/>
            <p:cNvSpPr txBox="1"/>
            <p:nvPr/>
          </p:nvSpPr>
          <p:spPr>
            <a:xfrm>
              <a:off x="0" y="-38100"/>
              <a:ext cx="3114770" cy="1789743"/>
            </a:xfrm>
            <a:prstGeom prst="rect">
              <a:avLst/>
            </a:prstGeom>
          </p:spPr>
          <p:txBody>
            <a:bodyPr lIns="50800" tIns="50800" rIns="50800" bIns="50800" rtlCol="0" anchor="ctr"/>
            <a:lstStyle/>
            <a:p>
              <a:pPr marL="0" lvl="0" indent="0" algn="ctr">
                <a:lnSpc>
                  <a:spcPts val="1540"/>
                </a:lnSpc>
              </a:pPr>
              <a:endParaRPr/>
            </a:p>
          </p:txBody>
        </p:sp>
      </p:grpSp>
      <p:grpSp>
        <p:nvGrpSpPr>
          <p:cNvPr id="15" name="Group 15"/>
          <p:cNvGrpSpPr/>
          <p:nvPr/>
        </p:nvGrpSpPr>
        <p:grpSpPr>
          <a:xfrm>
            <a:off x="12375322" y="6029222"/>
            <a:ext cx="1785539" cy="2096766"/>
            <a:chOff x="0" y="0"/>
            <a:chExt cx="812800" cy="954475"/>
          </a:xfrm>
        </p:grpSpPr>
        <p:sp>
          <p:nvSpPr>
            <p:cNvPr id="16" name="Freeform 16"/>
            <p:cNvSpPr/>
            <p:nvPr/>
          </p:nvSpPr>
          <p:spPr>
            <a:xfrm>
              <a:off x="0" y="0"/>
              <a:ext cx="812800" cy="954475"/>
            </a:xfrm>
            <a:custGeom>
              <a:avLst/>
              <a:gdLst/>
              <a:ahLst/>
              <a:cxnLst/>
              <a:rect l="l" t="t" r="r" b="b"/>
              <a:pathLst>
                <a:path w="812800" h="954475">
                  <a:moveTo>
                    <a:pt x="73710" y="0"/>
                  </a:moveTo>
                  <a:lnTo>
                    <a:pt x="739090" y="0"/>
                  </a:lnTo>
                  <a:cubicBezTo>
                    <a:pt x="758639" y="0"/>
                    <a:pt x="777387" y="7766"/>
                    <a:pt x="791211" y="21589"/>
                  </a:cubicBezTo>
                  <a:cubicBezTo>
                    <a:pt x="805034" y="35413"/>
                    <a:pt x="812800" y="54161"/>
                    <a:pt x="812800" y="73710"/>
                  </a:cubicBezTo>
                  <a:lnTo>
                    <a:pt x="812800" y="880764"/>
                  </a:lnTo>
                  <a:cubicBezTo>
                    <a:pt x="812800" y="900314"/>
                    <a:pt x="805034" y="919062"/>
                    <a:pt x="791211" y="932885"/>
                  </a:cubicBezTo>
                  <a:cubicBezTo>
                    <a:pt x="777387" y="946709"/>
                    <a:pt x="758639" y="954475"/>
                    <a:pt x="739090" y="954475"/>
                  </a:cubicBezTo>
                  <a:lnTo>
                    <a:pt x="73710" y="954475"/>
                  </a:lnTo>
                  <a:cubicBezTo>
                    <a:pt x="54161" y="954475"/>
                    <a:pt x="35413" y="946709"/>
                    <a:pt x="21589" y="932885"/>
                  </a:cubicBezTo>
                  <a:cubicBezTo>
                    <a:pt x="7766" y="919062"/>
                    <a:pt x="0" y="900314"/>
                    <a:pt x="0" y="880764"/>
                  </a:cubicBezTo>
                  <a:lnTo>
                    <a:pt x="0" y="73710"/>
                  </a:lnTo>
                  <a:cubicBezTo>
                    <a:pt x="0" y="54161"/>
                    <a:pt x="7766" y="35413"/>
                    <a:pt x="21589" y="21589"/>
                  </a:cubicBezTo>
                  <a:cubicBezTo>
                    <a:pt x="35413" y="7766"/>
                    <a:pt x="54161" y="0"/>
                    <a:pt x="73710" y="0"/>
                  </a:cubicBezTo>
                  <a:close/>
                </a:path>
              </a:pathLst>
            </a:custGeom>
            <a:blipFill>
              <a:blip r:embed="rId3"/>
              <a:stretch>
                <a:fillRect t="-2647" b="-2647"/>
              </a:stretch>
            </a:blipFill>
            <a:ln w="9525" cap="sq">
              <a:solidFill>
                <a:srgbClr val="424141"/>
              </a:solidFill>
              <a:prstDash val="solid"/>
              <a:miter/>
            </a:ln>
          </p:spPr>
          <p:txBody>
            <a:bodyPr/>
            <a:lstStyle/>
            <a:p>
              <a:endParaRPr lang="en-US"/>
            </a:p>
          </p:txBody>
        </p:sp>
      </p:grpSp>
      <p:grpSp>
        <p:nvGrpSpPr>
          <p:cNvPr id="17" name="Group 17"/>
          <p:cNvGrpSpPr/>
          <p:nvPr/>
        </p:nvGrpSpPr>
        <p:grpSpPr>
          <a:xfrm>
            <a:off x="14394969" y="6029222"/>
            <a:ext cx="2585224" cy="2096766"/>
            <a:chOff x="0" y="0"/>
            <a:chExt cx="1176827" cy="954475"/>
          </a:xfrm>
        </p:grpSpPr>
        <p:sp>
          <p:nvSpPr>
            <p:cNvPr id="18" name="Freeform 18"/>
            <p:cNvSpPr/>
            <p:nvPr/>
          </p:nvSpPr>
          <p:spPr>
            <a:xfrm>
              <a:off x="0" y="0"/>
              <a:ext cx="1176827" cy="954475"/>
            </a:xfrm>
            <a:custGeom>
              <a:avLst/>
              <a:gdLst/>
              <a:ahLst/>
              <a:cxnLst/>
              <a:rect l="l" t="t" r="r" b="b"/>
              <a:pathLst>
                <a:path w="1176827" h="954475">
                  <a:moveTo>
                    <a:pt x="50910" y="0"/>
                  </a:moveTo>
                  <a:lnTo>
                    <a:pt x="1125917" y="0"/>
                  </a:lnTo>
                  <a:cubicBezTo>
                    <a:pt x="1154034" y="0"/>
                    <a:pt x="1176827" y="22793"/>
                    <a:pt x="1176827" y="50910"/>
                  </a:cubicBezTo>
                  <a:lnTo>
                    <a:pt x="1176827" y="903565"/>
                  </a:lnTo>
                  <a:cubicBezTo>
                    <a:pt x="1176827" y="917067"/>
                    <a:pt x="1171463" y="930016"/>
                    <a:pt x="1161916" y="939564"/>
                  </a:cubicBezTo>
                  <a:cubicBezTo>
                    <a:pt x="1152369" y="949111"/>
                    <a:pt x="1139420" y="954475"/>
                    <a:pt x="1125917" y="954475"/>
                  </a:cubicBezTo>
                  <a:lnTo>
                    <a:pt x="50910" y="954475"/>
                  </a:lnTo>
                  <a:cubicBezTo>
                    <a:pt x="37408" y="954475"/>
                    <a:pt x="24458" y="949111"/>
                    <a:pt x="14911" y="939564"/>
                  </a:cubicBezTo>
                  <a:cubicBezTo>
                    <a:pt x="5364" y="930016"/>
                    <a:pt x="0" y="917067"/>
                    <a:pt x="0" y="903565"/>
                  </a:cubicBezTo>
                  <a:lnTo>
                    <a:pt x="0" y="50910"/>
                  </a:lnTo>
                  <a:cubicBezTo>
                    <a:pt x="0" y="37408"/>
                    <a:pt x="5364" y="24458"/>
                    <a:pt x="14911" y="14911"/>
                  </a:cubicBezTo>
                  <a:cubicBezTo>
                    <a:pt x="24458" y="5364"/>
                    <a:pt x="37408" y="0"/>
                    <a:pt x="50910" y="0"/>
                  </a:cubicBezTo>
                  <a:close/>
                </a:path>
              </a:pathLst>
            </a:custGeom>
            <a:blipFill>
              <a:blip r:embed="rId4"/>
              <a:stretch>
                <a:fillRect l="-142" r="-142"/>
              </a:stretch>
            </a:blipFill>
            <a:ln w="9525" cap="sq">
              <a:solidFill>
                <a:srgbClr val="424141"/>
              </a:solidFill>
              <a:prstDash val="solid"/>
              <a:miter/>
            </a:ln>
          </p:spPr>
          <p:txBody>
            <a:bodyPr/>
            <a:lstStyle/>
            <a:p>
              <a:endParaRPr lang="en-US"/>
            </a:p>
          </p:txBody>
        </p:sp>
      </p:grpSp>
      <p:sp>
        <p:nvSpPr>
          <p:cNvPr id="19" name="TextBox 19"/>
          <p:cNvSpPr txBox="1"/>
          <p:nvPr/>
        </p:nvSpPr>
        <p:spPr>
          <a:xfrm>
            <a:off x="2952598" y="2212861"/>
            <a:ext cx="7623065" cy="1743302"/>
          </a:xfrm>
          <a:prstGeom prst="rect">
            <a:avLst/>
          </a:prstGeom>
        </p:spPr>
        <p:txBody>
          <a:bodyPr lIns="0" tIns="0" rIns="0" bIns="0" rtlCol="0" anchor="t">
            <a:spAutoFit/>
          </a:bodyPr>
          <a:lstStyle/>
          <a:p>
            <a:pPr marL="0" lvl="0" indent="0" algn="l">
              <a:lnSpc>
                <a:spcPts val="6726"/>
              </a:lnSpc>
            </a:pPr>
            <a:r>
              <a:rPr lang="en-US" sz="6794" b="1" spc="-421">
                <a:solidFill>
                  <a:srgbClr val="424141"/>
                </a:solidFill>
                <a:latin typeface="Aptos Bold"/>
                <a:ea typeface="Aptos Bold"/>
                <a:cs typeface="Aptos Bold"/>
                <a:sym typeface="Aptos Bold"/>
              </a:rPr>
              <a:t>QUERYFRAME</a:t>
            </a:r>
          </a:p>
          <a:p>
            <a:pPr marL="0" lvl="0" indent="0" algn="l">
              <a:lnSpc>
                <a:spcPts val="6726"/>
              </a:lnSpc>
            </a:pPr>
            <a:r>
              <a:rPr lang="en-US" sz="6794" b="1" spc="-421">
                <a:solidFill>
                  <a:srgbClr val="424141"/>
                </a:solidFill>
                <a:latin typeface="Aptos Bold"/>
                <a:ea typeface="Aptos Bold"/>
                <a:cs typeface="Aptos Bold"/>
                <a:sym typeface="Aptos Bold"/>
              </a:rPr>
              <a:t>BỘ LỌC AI HÓA</a:t>
            </a:r>
          </a:p>
        </p:txBody>
      </p:sp>
      <p:sp>
        <p:nvSpPr>
          <p:cNvPr id="20" name="Freeform 20"/>
          <p:cNvSpPr/>
          <p:nvPr/>
        </p:nvSpPr>
        <p:spPr>
          <a:xfrm flipH="1">
            <a:off x="10104857" y="3688715"/>
            <a:ext cx="941613" cy="818027"/>
          </a:xfrm>
          <a:custGeom>
            <a:avLst/>
            <a:gdLst/>
            <a:ahLst/>
            <a:cxnLst/>
            <a:rect l="l" t="t" r="r" b="b"/>
            <a:pathLst>
              <a:path w="941613" h="818027">
                <a:moveTo>
                  <a:pt x="941613" y="0"/>
                </a:moveTo>
                <a:lnTo>
                  <a:pt x="0" y="0"/>
                </a:lnTo>
                <a:lnTo>
                  <a:pt x="0" y="818027"/>
                </a:lnTo>
                <a:lnTo>
                  <a:pt x="941613" y="818027"/>
                </a:lnTo>
                <a:lnTo>
                  <a:pt x="94161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AutoShape 21"/>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2" name="AutoShape 22"/>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3" name="AutoShape 23"/>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4" name="Freeform 24"/>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5" name="Group 25"/>
          <p:cNvGrpSpPr/>
          <p:nvPr/>
        </p:nvGrpSpPr>
        <p:grpSpPr>
          <a:xfrm>
            <a:off x="12121219" y="2424196"/>
            <a:ext cx="5138081" cy="2967819"/>
            <a:chOff x="0" y="0"/>
            <a:chExt cx="1176827" cy="679750"/>
          </a:xfrm>
        </p:grpSpPr>
        <p:sp>
          <p:nvSpPr>
            <p:cNvPr id="26" name="Freeform 26"/>
            <p:cNvSpPr/>
            <p:nvPr/>
          </p:nvSpPr>
          <p:spPr>
            <a:xfrm>
              <a:off x="0" y="0"/>
              <a:ext cx="1176827" cy="679750"/>
            </a:xfrm>
            <a:custGeom>
              <a:avLst/>
              <a:gdLst/>
              <a:ahLst/>
              <a:cxnLst/>
              <a:rect l="l" t="t" r="r" b="b"/>
              <a:pathLst>
                <a:path w="1176827" h="679750">
                  <a:moveTo>
                    <a:pt x="25615" y="0"/>
                  </a:moveTo>
                  <a:lnTo>
                    <a:pt x="1151212" y="0"/>
                  </a:lnTo>
                  <a:cubicBezTo>
                    <a:pt x="1158005" y="0"/>
                    <a:pt x="1164521" y="2699"/>
                    <a:pt x="1169324" y="7502"/>
                  </a:cubicBezTo>
                  <a:cubicBezTo>
                    <a:pt x="1174128" y="12306"/>
                    <a:pt x="1176827" y="18822"/>
                    <a:pt x="1176827" y="25615"/>
                  </a:cubicBezTo>
                  <a:lnTo>
                    <a:pt x="1176827" y="654135"/>
                  </a:lnTo>
                  <a:cubicBezTo>
                    <a:pt x="1176827" y="660928"/>
                    <a:pt x="1174128" y="667444"/>
                    <a:pt x="1169324" y="672247"/>
                  </a:cubicBezTo>
                  <a:cubicBezTo>
                    <a:pt x="1164521" y="677051"/>
                    <a:pt x="1158005" y="679750"/>
                    <a:pt x="1151212" y="679750"/>
                  </a:cubicBezTo>
                  <a:lnTo>
                    <a:pt x="25615" y="679750"/>
                  </a:lnTo>
                  <a:cubicBezTo>
                    <a:pt x="18822" y="679750"/>
                    <a:pt x="12306" y="677051"/>
                    <a:pt x="7502" y="672247"/>
                  </a:cubicBezTo>
                  <a:cubicBezTo>
                    <a:pt x="2699" y="667444"/>
                    <a:pt x="0" y="660928"/>
                    <a:pt x="0" y="654135"/>
                  </a:cubicBezTo>
                  <a:lnTo>
                    <a:pt x="0" y="25615"/>
                  </a:lnTo>
                  <a:cubicBezTo>
                    <a:pt x="0" y="18822"/>
                    <a:pt x="2699" y="12306"/>
                    <a:pt x="7502" y="7502"/>
                  </a:cubicBezTo>
                  <a:cubicBezTo>
                    <a:pt x="12306" y="2699"/>
                    <a:pt x="18822" y="0"/>
                    <a:pt x="25615" y="0"/>
                  </a:cubicBezTo>
                  <a:close/>
                </a:path>
              </a:pathLst>
            </a:custGeom>
            <a:blipFill>
              <a:blip r:embed="rId7"/>
              <a:stretch>
                <a:fillRect l="-667" r="-667"/>
              </a:stretch>
            </a:blipFill>
            <a:ln w="9525" cap="sq">
              <a:solidFill>
                <a:srgbClr val="424141"/>
              </a:solidFill>
              <a:prstDash val="solid"/>
              <a:miter/>
            </a:ln>
          </p:spPr>
          <p:txBody>
            <a:bodyPr/>
            <a:lstStyle/>
            <a:p>
              <a:endParaRPr lang="en-US"/>
            </a:p>
          </p:txBody>
        </p:sp>
      </p:grpSp>
      <p:sp>
        <p:nvSpPr>
          <p:cNvPr id="27" name="Freeform 27"/>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28" name="Group 28"/>
          <p:cNvGrpSpPr/>
          <p:nvPr/>
        </p:nvGrpSpPr>
        <p:grpSpPr>
          <a:xfrm>
            <a:off x="2952598" y="5781033"/>
            <a:ext cx="3333328" cy="653335"/>
            <a:chOff x="0" y="0"/>
            <a:chExt cx="2315259" cy="453793"/>
          </a:xfrm>
        </p:grpSpPr>
        <p:sp>
          <p:nvSpPr>
            <p:cNvPr id="29" name="Freeform 29"/>
            <p:cNvSpPr/>
            <p:nvPr/>
          </p:nvSpPr>
          <p:spPr>
            <a:xfrm>
              <a:off x="0" y="0"/>
              <a:ext cx="2315259" cy="453793"/>
            </a:xfrm>
            <a:custGeom>
              <a:avLst/>
              <a:gdLst/>
              <a:ahLst/>
              <a:cxnLst/>
              <a:rect l="l" t="t" r="r" b="b"/>
              <a:pathLst>
                <a:path w="2315259" h="453793">
                  <a:moveTo>
                    <a:pt x="30194" y="0"/>
                  </a:moveTo>
                  <a:lnTo>
                    <a:pt x="2285066" y="0"/>
                  </a:lnTo>
                  <a:cubicBezTo>
                    <a:pt x="2301741" y="0"/>
                    <a:pt x="2315259" y="13518"/>
                    <a:pt x="2315259" y="30194"/>
                  </a:cubicBezTo>
                  <a:lnTo>
                    <a:pt x="2315259" y="423599"/>
                  </a:lnTo>
                  <a:cubicBezTo>
                    <a:pt x="2315259" y="431607"/>
                    <a:pt x="2312078" y="439287"/>
                    <a:pt x="2306416" y="444949"/>
                  </a:cubicBezTo>
                  <a:cubicBezTo>
                    <a:pt x="2300753" y="450612"/>
                    <a:pt x="2293074" y="453793"/>
                    <a:pt x="2285066" y="453793"/>
                  </a:cubicBezTo>
                  <a:lnTo>
                    <a:pt x="30194" y="453793"/>
                  </a:lnTo>
                  <a:cubicBezTo>
                    <a:pt x="22186" y="453793"/>
                    <a:pt x="14506" y="450612"/>
                    <a:pt x="8843" y="444949"/>
                  </a:cubicBezTo>
                  <a:cubicBezTo>
                    <a:pt x="3181" y="439287"/>
                    <a:pt x="0" y="431607"/>
                    <a:pt x="0" y="423599"/>
                  </a:cubicBezTo>
                  <a:lnTo>
                    <a:pt x="0" y="30194"/>
                  </a:lnTo>
                  <a:cubicBezTo>
                    <a:pt x="0" y="13518"/>
                    <a:pt x="13518" y="0"/>
                    <a:pt x="30194" y="0"/>
                  </a:cubicBezTo>
                  <a:close/>
                </a:path>
              </a:pathLst>
            </a:custGeom>
            <a:solidFill>
              <a:srgbClr val="EB574C"/>
            </a:solidFill>
            <a:ln w="9525" cap="sq">
              <a:solidFill>
                <a:srgbClr val="424141"/>
              </a:solidFill>
              <a:prstDash val="solid"/>
              <a:miter/>
            </a:ln>
          </p:spPr>
          <p:txBody>
            <a:bodyPr/>
            <a:lstStyle/>
            <a:p>
              <a:endParaRPr lang="en-US"/>
            </a:p>
          </p:txBody>
        </p:sp>
        <p:sp>
          <p:nvSpPr>
            <p:cNvPr id="30" name="TextBox 30"/>
            <p:cNvSpPr txBox="1"/>
            <p:nvPr/>
          </p:nvSpPr>
          <p:spPr>
            <a:xfrm>
              <a:off x="0" y="28575"/>
              <a:ext cx="2315259" cy="425218"/>
            </a:xfrm>
            <a:prstGeom prst="rect">
              <a:avLst/>
            </a:prstGeom>
          </p:spPr>
          <p:txBody>
            <a:bodyPr lIns="39013" tIns="39013" rIns="39013" bIns="39013" rtlCol="0" anchor="ctr"/>
            <a:lstStyle/>
            <a:p>
              <a:pPr marL="0" lvl="0" indent="0" algn="ctr">
                <a:lnSpc>
                  <a:spcPts val="1297"/>
                </a:lnSpc>
              </a:pPr>
              <a:endParaRPr/>
            </a:p>
          </p:txBody>
        </p:sp>
      </p:grpSp>
      <p:grpSp>
        <p:nvGrpSpPr>
          <p:cNvPr id="31" name="Group 31"/>
          <p:cNvGrpSpPr/>
          <p:nvPr/>
        </p:nvGrpSpPr>
        <p:grpSpPr>
          <a:xfrm>
            <a:off x="7477336" y="5781033"/>
            <a:ext cx="3333328" cy="653335"/>
            <a:chOff x="0" y="0"/>
            <a:chExt cx="2315259" cy="453793"/>
          </a:xfrm>
        </p:grpSpPr>
        <p:sp>
          <p:nvSpPr>
            <p:cNvPr id="32" name="Freeform 32"/>
            <p:cNvSpPr/>
            <p:nvPr/>
          </p:nvSpPr>
          <p:spPr>
            <a:xfrm>
              <a:off x="0" y="0"/>
              <a:ext cx="2315259" cy="453793"/>
            </a:xfrm>
            <a:custGeom>
              <a:avLst/>
              <a:gdLst/>
              <a:ahLst/>
              <a:cxnLst/>
              <a:rect l="l" t="t" r="r" b="b"/>
              <a:pathLst>
                <a:path w="2315259" h="453793">
                  <a:moveTo>
                    <a:pt x="30194" y="0"/>
                  </a:moveTo>
                  <a:lnTo>
                    <a:pt x="2285066" y="0"/>
                  </a:lnTo>
                  <a:cubicBezTo>
                    <a:pt x="2301741" y="0"/>
                    <a:pt x="2315259" y="13518"/>
                    <a:pt x="2315259" y="30194"/>
                  </a:cubicBezTo>
                  <a:lnTo>
                    <a:pt x="2315259" y="423599"/>
                  </a:lnTo>
                  <a:cubicBezTo>
                    <a:pt x="2315259" y="431607"/>
                    <a:pt x="2312078" y="439287"/>
                    <a:pt x="2306416" y="444949"/>
                  </a:cubicBezTo>
                  <a:cubicBezTo>
                    <a:pt x="2300753" y="450612"/>
                    <a:pt x="2293074" y="453793"/>
                    <a:pt x="2285066" y="453793"/>
                  </a:cubicBezTo>
                  <a:lnTo>
                    <a:pt x="30194" y="453793"/>
                  </a:lnTo>
                  <a:cubicBezTo>
                    <a:pt x="22186" y="453793"/>
                    <a:pt x="14506" y="450612"/>
                    <a:pt x="8843" y="444949"/>
                  </a:cubicBezTo>
                  <a:cubicBezTo>
                    <a:pt x="3181" y="439287"/>
                    <a:pt x="0" y="431607"/>
                    <a:pt x="0" y="423599"/>
                  </a:cubicBezTo>
                  <a:lnTo>
                    <a:pt x="0" y="30194"/>
                  </a:lnTo>
                  <a:cubicBezTo>
                    <a:pt x="0" y="13518"/>
                    <a:pt x="13518" y="0"/>
                    <a:pt x="30194" y="0"/>
                  </a:cubicBezTo>
                  <a:close/>
                </a:path>
              </a:pathLst>
            </a:custGeom>
            <a:solidFill>
              <a:srgbClr val="FFDE59"/>
            </a:solidFill>
            <a:ln w="9525" cap="sq">
              <a:solidFill>
                <a:srgbClr val="424141"/>
              </a:solidFill>
              <a:prstDash val="solid"/>
              <a:miter/>
            </a:ln>
          </p:spPr>
          <p:txBody>
            <a:bodyPr/>
            <a:lstStyle/>
            <a:p>
              <a:endParaRPr lang="en-US"/>
            </a:p>
          </p:txBody>
        </p:sp>
        <p:sp>
          <p:nvSpPr>
            <p:cNvPr id="33" name="TextBox 33"/>
            <p:cNvSpPr txBox="1"/>
            <p:nvPr/>
          </p:nvSpPr>
          <p:spPr>
            <a:xfrm>
              <a:off x="0" y="28575"/>
              <a:ext cx="2315259" cy="425218"/>
            </a:xfrm>
            <a:prstGeom prst="rect">
              <a:avLst/>
            </a:prstGeom>
          </p:spPr>
          <p:txBody>
            <a:bodyPr lIns="39013" tIns="39013" rIns="39013" bIns="39013" rtlCol="0" anchor="ctr"/>
            <a:lstStyle/>
            <a:p>
              <a:pPr marL="0" lvl="0" indent="0" algn="ctr">
                <a:lnSpc>
                  <a:spcPts val="1297"/>
                </a:lnSpc>
              </a:pPr>
              <a:endParaRPr/>
            </a:p>
          </p:txBody>
        </p:sp>
      </p:grpSp>
      <p:grpSp>
        <p:nvGrpSpPr>
          <p:cNvPr id="34" name="Group 34"/>
          <p:cNvGrpSpPr/>
          <p:nvPr/>
        </p:nvGrpSpPr>
        <p:grpSpPr>
          <a:xfrm>
            <a:off x="16627119" y="5143500"/>
            <a:ext cx="419749" cy="419749"/>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36" name="TextBox 36"/>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37" name="Group 37"/>
          <p:cNvGrpSpPr/>
          <p:nvPr/>
        </p:nvGrpSpPr>
        <p:grpSpPr>
          <a:xfrm>
            <a:off x="16207328" y="5143500"/>
            <a:ext cx="419749" cy="419749"/>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39" name="TextBox 39"/>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40" name="Group 40"/>
          <p:cNvGrpSpPr/>
          <p:nvPr/>
        </p:nvGrpSpPr>
        <p:grpSpPr>
          <a:xfrm>
            <a:off x="15787537" y="5143500"/>
            <a:ext cx="419749" cy="419749"/>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42" name="TextBox 42"/>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43" name="Freeform 43"/>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44" name="Freeform 44"/>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45" name="Freeform 45"/>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46" name="Freeform 46"/>
          <p:cNvSpPr/>
          <p:nvPr/>
        </p:nvSpPr>
        <p:spPr>
          <a:xfrm>
            <a:off x="2035705" y="637420"/>
            <a:ext cx="3472298" cy="932688"/>
          </a:xfrm>
          <a:custGeom>
            <a:avLst/>
            <a:gdLst/>
            <a:ahLst/>
            <a:cxnLst/>
            <a:rect l="l" t="t" r="r" b="b"/>
            <a:pathLst>
              <a:path w="3472298" h="932688">
                <a:moveTo>
                  <a:pt x="0" y="0"/>
                </a:moveTo>
                <a:lnTo>
                  <a:pt x="3472298" y="0"/>
                </a:lnTo>
                <a:lnTo>
                  <a:pt x="3472298" y="932689"/>
                </a:lnTo>
                <a:lnTo>
                  <a:pt x="0" y="932689"/>
                </a:lnTo>
                <a:lnTo>
                  <a:pt x="0" y="0"/>
                </a:lnTo>
                <a:close/>
              </a:path>
            </a:pathLst>
          </a:custGeom>
          <a:blipFill>
            <a:blip r:embed="rId12"/>
            <a:stretch>
              <a:fillRect/>
            </a:stretch>
          </a:blipFill>
        </p:spPr>
        <p:txBody>
          <a:bodyPr/>
          <a:lstStyle/>
          <a:p>
            <a:endParaRPr lang="en-US"/>
          </a:p>
        </p:txBody>
      </p:sp>
      <p:sp>
        <p:nvSpPr>
          <p:cNvPr id="47" name="TextBox 47"/>
          <p:cNvSpPr txBox="1"/>
          <p:nvPr/>
        </p:nvSpPr>
        <p:spPr>
          <a:xfrm>
            <a:off x="2952598" y="6746897"/>
            <a:ext cx="3701687" cy="1324356"/>
          </a:xfrm>
          <a:prstGeom prst="rect">
            <a:avLst/>
          </a:prstGeom>
        </p:spPr>
        <p:txBody>
          <a:bodyPr lIns="0" tIns="0" rIns="0" bIns="0" rtlCol="0" anchor="t">
            <a:spAutoFit/>
          </a:bodyPr>
          <a:lstStyle/>
          <a:p>
            <a:pPr marL="0" lvl="0" indent="0" algn="just">
              <a:lnSpc>
                <a:spcPts val="1782"/>
              </a:lnSpc>
            </a:pPr>
            <a:r>
              <a:rPr lang="en-US" sz="1800" spc="-66">
                <a:solidFill>
                  <a:srgbClr val="424141"/>
                </a:solidFill>
                <a:latin typeface="Aptos"/>
                <a:ea typeface="Aptos"/>
                <a:cs typeface="Aptos"/>
                <a:sym typeface="Aptos"/>
              </a:rPr>
              <a:t>"Laptop Dell dưới 20 triệu để học lập trình"</a:t>
            </a:r>
          </a:p>
          <a:p>
            <a:pPr marL="0" lvl="0" indent="0" algn="just">
              <a:lnSpc>
                <a:spcPts val="1782"/>
              </a:lnSpc>
            </a:pPr>
            <a:r>
              <a:rPr lang="en-US" sz="1800" spc="-66">
                <a:solidFill>
                  <a:srgbClr val="424141"/>
                </a:solidFill>
                <a:latin typeface="Aptos"/>
                <a:ea typeface="Aptos"/>
                <a:cs typeface="Aptos"/>
                <a:sym typeface="Aptos"/>
              </a:rPr>
              <a:t>→ Ngôn ngữ tự nhiên, không theo schema catalog</a:t>
            </a:r>
          </a:p>
          <a:p>
            <a:pPr marL="0" lvl="0" indent="0" algn="just">
              <a:lnSpc>
                <a:spcPts val="1782"/>
              </a:lnSpc>
            </a:pPr>
            <a:r>
              <a:rPr lang="en-US" sz="1800" spc="-66">
                <a:solidFill>
                  <a:srgbClr val="424141"/>
                </a:solidFill>
                <a:latin typeface="Aptos"/>
                <a:ea typeface="Aptos"/>
                <a:cs typeface="Aptos"/>
                <a:sym typeface="Aptos"/>
              </a:rPr>
              <a:t>→ QueryFrame chuyển đổi thành ràng buộc có cấu trúc</a:t>
            </a:r>
          </a:p>
        </p:txBody>
      </p:sp>
      <p:sp>
        <p:nvSpPr>
          <p:cNvPr id="48" name="TextBox 48"/>
          <p:cNvSpPr txBox="1"/>
          <p:nvPr/>
        </p:nvSpPr>
        <p:spPr>
          <a:xfrm>
            <a:off x="3187598" y="5952507"/>
            <a:ext cx="2863327" cy="319821"/>
          </a:xfrm>
          <a:prstGeom prst="rect">
            <a:avLst/>
          </a:prstGeom>
        </p:spPr>
        <p:txBody>
          <a:bodyPr lIns="0" tIns="0" rIns="0" bIns="0" rtlCol="0" anchor="t">
            <a:spAutoFit/>
          </a:bodyPr>
          <a:lstStyle/>
          <a:p>
            <a:pPr marL="0" lvl="0" indent="0" algn="ctr">
              <a:lnSpc>
                <a:spcPts val="2553"/>
              </a:lnSpc>
            </a:pPr>
            <a:r>
              <a:rPr lang="en-US" sz="2163" b="1" spc="-15">
                <a:solidFill>
                  <a:srgbClr val="FFFFFF"/>
                </a:solidFill>
                <a:latin typeface="Aptos Bold"/>
                <a:ea typeface="Aptos Bold"/>
                <a:cs typeface="Aptos Bold"/>
                <a:sym typeface="Aptos Bold"/>
              </a:rPr>
              <a:t>Câu hỏi người dùng:</a:t>
            </a:r>
          </a:p>
        </p:txBody>
      </p:sp>
      <p:sp>
        <p:nvSpPr>
          <p:cNvPr id="49" name="TextBox 49"/>
          <p:cNvSpPr txBox="1"/>
          <p:nvPr/>
        </p:nvSpPr>
        <p:spPr>
          <a:xfrm>
            <a:off x="7712337" y="5952507"/>
            <a:ext cx="2863327" cy="319821"/>
          </a:xfrm>
          <a:prstGeom prst="rect">
            <a:avLst/>
          </a:prstGeom>
        </p:spPr>
        <p:txBody>
          <a:bodyPr lIns="0" tIns="0" rIns="0" bIns="0" rtlCol="0" anchor="t">
            <a:spAutoFit/>
          </a:bodyPr>
          <a:lstStyle/>
          <a:p>
            <a:pPr marL="0" lvl="0" indent="0" algn="ctr">
              <a:lnSpc>
                <a:spcPts val="2553"/>
              </a:lnSpc>
            </a:pPr>
            <a:r>
              <a:rPr lang="en-US" sz="2163" b="1" spc="-15">
                <a:solidFill>
                  <a:srgbClr val="424141"/>
                </a:solidFill>
                <a:latin typeface="Aptos Bold"/>
                <a:ea typeface="Aptos Bold"/>
                <a:cs typeface="Aptos Bold"/>
                <a:sym typeface="Aptos Bold"/>
              </a:rPr>
              <a:t>QueryFrame Output:</a:t>
            </a:r>
          </a:p>
        </p:txBody>
      </p:sp>
      <p:sp>
        <p:nvSpPr>
          <p:cNvPr id="50" name="TextBox 50"/>
          <p:cNvSpPr txBox="1"/>
          <p:nvPr/>
        </p:nvSpPr>
        <p:spPr>
          <a:xfrm>
            <a:off x="7292857" y="6682205"/>
            <a:ext cx="3517807" cy="1607058"/>
          </a:xfrm>
          <a:prstGeom prst="rect">
            <a:avLst/>
          </a:prstGeom>
        </p:spPr>
        <p:txBody>
          <a:bodyPr lIns="0" tIns="0" rIns="0" bIns="0" rtlCol="0" anchor="t">
            <a:spAutoFit/>
          </a:bodyPr>
          <a:lstStyle/>
          <a:p>
            <a:pPr marL="0" lvl="0" indent="0" algn="just">
              <a:lnSpc>
                <a:spcPts val="2106"/>
              </a:lnSpc>
            </a:pPr>
            <a:r>
              <a:rPr lang="en-US" sz="1800" spc="-66">
                <a:solidFill>
                  <a:srgbClr val="424141"/>
                </a:solidFill>
                <a:latin typeface="Aptos"/>
                <a:ea typeface="Aptos"/>
                <a:cs typeface="Aptos"/>
                <a:sym typeface="Aptos"/>
              </a:rPr>
              <a:t>• category: Laptop</a:t>
            </a:r>
          </a:p>
          <a:p>
            <a:pPr marL="0" lvl="0" indent="0" algn="just">
              <a:lnSpc>
                <a:spcPts val="2106"/>
              </a:lnSpc>
            </a:pPr>
            <a:r>
              <a:rPr lang="en-US" sz="1800" spc="-66">
                <a:solidFill>
                  <a:srgbClr val="424141"/>
                </a:solidFill>
                <a:latin typeface="Aptos"/>
                <a:ea typeface="Aptos"/>
                <a:cs typeface="Aptos"/>
                <a:sym typeface="Aptos"/>
              </a:rPr>
              <a:t>• brand: Dell</a:t>
            </a:r>
          </a:p>
          <a:p>
            <a:pPr marL="0" lvl="0" indent="0" algn="just">
              <a:lnSpc>
                <a:spcPts val="2106"/>
              </a:lnSpc>
            </a:pPr>
            <a:r>
              <a:rPr lang="en-US" sz="1800" spc="-66">
                <a:solidFill>
                  <a:srgbClr val="424141"/>
                </a:solidFill>
                <a:latin typeface="Aptos"/>
                <a:ea typeface="Aptos"/>
                <a:cs typeface="Aptos"/>
                <a:sym typeface="Aptos"/>
              </a:rPr>
              <a:t>• budget_max: 20.000.000</a:t>
            </a:r>
          </a:p>
          <a:p>
            <a:pPr marL="0" lvl="0" indent="0" algn="just">
              <a:lnSpc>
                <a:spcPts val="2106"/>
              </a:lnSpc>
            </a:pPr>
            <a:r>
              <a:rPr lang="en-US" sz="1800" spc="-66">
                <a:solidFill>
                  <a:srgbClr val="424141"/>
                </a:solidFill>
                <a:latin typeface="Aptos"/>
                <a:ea typeface="Aptos"/>
                <a:cs typeface="Aptos"/>
                <a:sym typeface="Aptos"/>
              </a:rPr>
              <a:t>• use_case: programming</a:t>
            </a:r>
          </a:p>
          <a:p>
            <a:pPr marL="0" lvl="0" indent="0" algn="just">
              <a:lnSpc>
                <a:spcPts val="2106"/>
              </a:lnSpc>
            </a:pPr>
            <a:r>
              <a:rPr lang="en-US" sz="1800" spc="-66">
                <a:solidFill>
                  <a:srgbClr val="424141"/>
                </a:solidFill>
                <a:latin typeface="Aptos"/>
                <a:ea typeface="Aptos"/>
                <a:cs typeface="Aptos"/>
                <a:sym typeface="Aptos"/>
              </a:rPr>
              <a:t>• requested_attributes: RAM, SSD, CPU</a:t>
            </a:r>
          </a:p>
          <a:p>
            <a:pPr marL="0" lvl="0" indent="0" algn="just">
              <a:lnSpc>
                <a:spcPts val="2106"/>
              </a:lnSpc>
            </a:pPr>
            <a:endParaRPr lang="en-US" sz="1800" spc="-66">
              <a:solidFill>
                <a:srgbClr val="424141"/>
              </a:solidFill>
              <a:latin typeface="Aptos"/>
              <a:ea typeface="Aptos"/>
              <a:cs typeface="Aptos"/>
              <a:sym typeface="Aptos"/>
            </a:endParaRPr>
          </a:p>
        </p:txBody>
      </p:sp>
      <p:sp>
        <p:nvSpPr>
          <p:cNvPr id="51" name="TextBox 51"/>
          <p:cNvSpPr txBox="1"/>
          <p:nvPr/>
        </p:nvSpPr>
        <p:spPr>
          <a:xfrm>
            <a:off x="7215093" y="8499497"/>
            <a:ext cx="3517807" cy="448056"/>
          </a:xfrm>
          <a:prstGeom prst="rect">
            <a:avLst/>
          </a:prstGeom>
        </p:spPr>
        <p:txBody>
          <a:bodyPr lIns="0" tIns="0" rIns="0" bIns="0" rtlCol="0" anchor="t">
            <a:spAutoFit/>
          </a:bodyPr>
          <a:lstStyle/>
          <a:p>
            <a:pPr marL="0" lvl="0" indent="0" algn="just">
              <a:lnSpc>
                <a:spcPts val="1782"/>
              </a:lnSpc>
            </a:pPr>
            <a:r>
              <a:rPr lang="en-US" sz="1800" spc="-66">
                <a:solidFill>
                  <a:srgbClr val="424141"/>
                </a:solidFill>
                <a:latin typeface="Aptos"/>
                <a:ea typeface="Aptos"/>
                <a:cs typeface="Aptos"/>
                <a:sym typeface="Aptos"/>
              </a:rPr>
              <a:t>= &gt;Giảm mơ hồ • Dễ retrieval</a:t>
            </a:r>
          </a:p>
          <a:p>
            <a:pPr marL="0" lvl="0" indent="0" algn="just">
              <a:lnSpc>
                <a:spcPts val="1782"/>
              </a:lnSpc>
            </a:pPr>
            <a:r>
              <a:rPr lang="en-US" sz="1800" spc="-66">
                <a:solidFill>
                  <a:srgbClr val="424141"/>
                </a:solidFill>
                <a:latin typeface="Aptos"/>
                <a:ea typeface="Aptos"/>
                <a:cs typeface="Aptos"/>
                <a:sym typeface="Aptos"/>
              </a:rPr>
              <a:t>= &gt;Dễ kiểm tra và bảo trì</a:t>
            </a:r>
          </a:p>
        </p:txBody>
      </p:sp>
      <p:sp>
        <p:nvSpPr>
          <p:cNvPr id="52" name="TextBox 52"/>
          <p:cNvSpPr txBox="1"/>
          <p:nvPr/>
        </p:nvSpPr>
        <p:spPr>
          <a:xfrm>
            <a:off x="5272204" y="4709963"/>
            <a:ext cx="3941870" cy="435864"/>
          </a:xfrm>
          <a:prstGeom prst="rect">
            <a:avLst/>
          </a:prstGeom>
        </p:spPr>
        <p:txBody>
          <a:bodyPr lIns="0" tIns="0" rIns="0" bIns="0" rtlCol="0" anchor="t">
            <a:spAutoFit/>
          </a:bodyPr>
          <a:lstStyle/>
          <a:p>
            <a:pPr marL="0" lvl="0" indent="0" algn="l">
              <a:lnSpc>
                <a:spcPts val="1682"/>
              </a:lnSpc>
            </a:pPr>
            <a:r>
              <a:rPr lang="en-US" sz="1699" spc="-105">
                <a:solidFill>
                  <a:srgbClr val="424141"/>
                </a:solidFill>
                <a:latin typeface="Aptos"/>
                <a:ea typeface="Aptos"/>
                <a:cs typeface="Aptos"/>
                <a:sym typeface="Aptos"/>
              </a:rPr>
              <a:t>QueryFrame là cách biến câu hỏi tự nhiên thành bộ lọc có cấu trúc.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484820" y="5848675"/>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grpSp>
        <p:nvGrpSpPr>
          <p:cNvPr id="12" name="Group 12"/>
          <p:cNvGrpSpPr/>
          <p:nvPr/>
        </p:nvGrpSpPr>
        <p:grpSpPr>
          <a:xfrm>
            <a:off x="11993201" y="3104220"/>
            <a:ext cx="5266099" cy="5571963"/>
            <a:chOff x="0" y="0"/>
            <a:chExt cx="3153645" cy="3336814"/>
          </a:xfrm>
        </p:grpSpPr>
        <p:sp>
          <p:nvSpPr>
            <p:cNvPr id="13" name="Freeform 13"/>
            <p:cNvSpPr/>
            <p:nvPr/>
          </p:nvSpPr>
          <p:spPr>
            <a:xfrm>
              <a:off x="0" y="0"/>
              <a:ext cx="3153645" cy="3336813"/>
            </a:xfrm>
            <a:custGeom>
              <a:avLst/>
              <a:gdLst/>
              <a:ahLst/>
              <a:cxnLst/>
              <a:rect l="l" t="t" r="r" b="b"/>
              <a:pathLst>
                <a:path w="3153645" h="3336813">
                  <a:moveTo>
                    <a:pt x="47045" y="0"/>
                  </a:moveTo>
                  <a:lnTo>
                    <a:pt x="3106600" y="0"/>
                  </a:lnTo>
                  <a:cubicBezTo>
                    <a:pt x="3119077" y="0"/>
                    <a:pt x="3131044" y="4956"/>
                    <a:pt x="3139866" y="13779"/>
                  </a:cubicBezTo>
                  <a:cubicBezTo>
                    <a:pt x="3148689" y="22602"/>
                    <a:pt x="3153645" y="34568"/>
                    <a:pt x="3153645" y="47045"/>
                  </a:cubicBezTo>
                  <a:lnTo>
                    <a:pt x="3153645" y="3289769"/>
                  </a:lnTo>
                  <a:cubicBezTo>
                    <a:pt x="3153645" y="3302246"/>
                    <a:pt x="3148689" y="3314212"/>
                    <a:pt x="3139866" y="3323034"/>
                  </a:cubicBezTo>
                  <a:cubicBezTo>
                    <a:pt x="3131044" y="3331857"/>
                    <a:pt x="3119077" y="3336813"/>
                    <a:pt x="3106600" y="3336813"/>
                  </a:cubicBezTo>
                  <a:lnTo>
                    <a:pt x="47045" y="3336813"/>
                  </a:lnTo>
                  <a:cubicBezTo>
                    <a:pt x="34568" y="3336813"/>
                    <a:pt x="22602" y="3331857"/>
                    <a:pt x="13779" y="3323034"/>
                  </a:cubicBezTo>
                  <a:cubicBezTo>
                    <a:pt x="4956" y="3314212"/>
                    <a:pt x="0" y="3302246"/>
                    <a:pt x="0" y="3289769"/>
                  </a:cubicBezTo>
                  <a:lnTo>
                    <a:pt x="0" y="47045"/>
                  </a:lnTo>
                  <a:cubicBezTo>
                    <a:pt x="0" y="34568"/>
                    <a:pt x="4956" y="22602"/>
                    <a:pt x="13779" y="13779"/>
                  </a:cubicBezTo>
                  <a:cubicBezTo>
                    <a:pt x="22602" y="4956"/>
                    <a:pt x="34568" y="0"/>
                    <a:pt x="47045" y="0"/>
                  </a:cubicBezTo>
                  <a:close/>
                </a:path>
              </a:pathLst>
            </a:custGeom>
            <a:solidFill>
              <a:srgbClr val="EB574C"/>
            </a:solidFill>
            <a:ln w="9525" cap="rnd">
              <a:solidFill>
                <a:srgbClr val="424141"/>
              </a:solidFill>
              <a:prstDash val="solid"/>
              <a:round/>
            </a:ln>
          </p:spPr>
          <p:txBody>
            <a:bodyPr/>
            <a:lstStyle/>
            <a:p>
              <a:endParaRPr lang="en-US"/>
            </a:p>
          </p:txBody>
        </p:sp>
        <p:sp>
          <p:nvSpPr>
            <p:cNvPr id="14" name="TextBox 14"/>
            <p:cNvSpPr txBox="1"/>
            <p:nvPr/>
          </p:nvSpPr>
          <p:spPr>
            <a:xfrm>
              <a:off x="0" y="-38100"/>
              <a:ext cx="3153645" cy="3374914"/>
            </a:xfrm>
            <a:prstGeom prst="rect">
              <a:avLst/>
            </a:prstGeom>
          </p:spPr>
          <p:txBody>
            <a:bodyPr lIns="50800" tIns="50800" rIns="50800" bIns="50800" rtlCol="0" anchor="ctr"/>
            <a:lstStyle/>
            <a:p>
              <a:pPr marL="0" lvl="0" indent="0" algn="ctr">
                <a:lnSpc>
                  <a:spcPts val="1540"/>
                </a:lnSpc>
              </a:pPr>
              <a:endParaRPr/>
            </a:p>
          </p:txBody>
        </p:sp>
      </p:grpSp>
      <p:sp>
        <p:nvSpPr>
          <p:cNvPr id="15" name="Freeform 15"/>
          <p:cNvSpPr/>
          <p:nvPr/>
        </p:nvSpPr>
        <p:spPr>
          <a:xfrm flipH="1">
            <a:off x="10333694" y="2496069"/>
            <a:ext cx="941613" cy="818027"/>
          </a:xfrm>
          <a:custGeom>
            <a:avLst/>
            <a:gdLst/>
            <a:ahLst/>
            <a:cxnLst/>
            <a:rect l="l" t="t" r="r" b="b"/>
            <a:pathLst>
              <a:path w="941613" h="818027">
                <a:moveTo>
                  <a:pt x="941614" y="0"/>
                </a:moveTo>
                <a:lnTo>
                  <a:pt x="0" y="0"/>
                </a:lnTo>
                <a:lnTo>
                  <a:pt x="0" y="818026"/>
                </a:lnTo>
                <a:lnTo>
                  <a:pt x="941614" y="818026"/>
                </a:lnTo>
                <a:lnTo>
                  <a:pt x="94161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AutoShape 16"/>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7" name="AutoShape 17"/>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8" name="AutoShape 18"/>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9" name="Freeform 19"/>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Freeform 20"/>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21" name="Group 21"/>
          <p:cNvGrpSpPr/>
          <p:nvPr/>
        </p:nvGrpSpPr>
        <p:grpSpPr>
          <a:xfrm>
            <a:off x="16839551" y="2247599"/>
            <a:ext cx="419749" cy="41974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3" name="TextBox 23"/>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4" name="Group 24"/>
          <p:cNvGrpSpPr/>
          <p:nvPr/>
        </p:nvGrpSpPr>
        <p:grpSpPr>
          <a:xfrm>
            <a:off x="16419760" y="2247599"/>
            <a:ext cx="419749" cy="41974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6" name="TextBox 26"/>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7" name="Group 27"/>
          <p:cNvGrpSpPr/>
          <p:nvPr/>
        </p:nvGrpSpPr>
        <p:grpSpPr>
          <a:xfrm>
            <a:off x="15999969" y="2247599"/>
            <a:ext cx="419749" cy="419749"/>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29" name="TextBox 29"/>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30" name="Freeform 30"/>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31" name="Group 31"/>
          <p:cNvGrpSpPr/>
          <p:nvPr/>
        </p:nvGrpSpPr>
        <p:grpSpPr>
          <a:xfrm>
            <a:off x="12375567" y="5848675"/>
            <a:ext cx="4501367" cy="2180472"/>
            <a:chOff x="0" y="0"/>
            <a:chExt cx="2049080" cy="992578"/>
          </a:xfrm>
        </p:grpSpPr>
        <p:sp>
          <p:nvSpPr>
            <p:cNvPr id="32" name="Freeform 32"/>
            <p:cNvSpPr/>
            <p:nvPr/>
          </p:nvSpPr>
          <p:spPr>
            <a:xfrm>
              <a:off x="0" y="0"/>
              <a:ext cx="2049080" cy="992578"/>
            </a:xfrm>
            <a:custGeom>
              <a:avLst/>
              <a:gdLst/>
              <a:ahLst/>
              <a:cxnLst/>
              <a:rect l="l" t="t" r="r" b="b"/>
              <a:pathLst>
                <a:path w="2049080" h="992578">
                  <a:moveTo>
                    <a:pt x="29238" y="0"/>
                  </a:moveTo>
                  <a:lnTo>
                    <a:pt x="2019841" y="0"/>
                  </a:lnTo>
                  <a:cubicBezTo>
                    <a:pt x="2035989" y="0"/>
                    <a:pt x="2049080" y="13090"/>
                    <a:pt x="2049080" y="29238"/>
                  </a:cubicBezTo>
                  <a:lnTo>
                    <a:pt x="2049080" y="963340"/>
                  </a:lnTo>
                  <a:cubicBezTo>
                    <a:pt x="2049080" y="979488"/>
                    <a:pt x="2035989" y="992578"/>
                    <a:pt x="2019841" y="992578"/>
                  </a:cubicBezTo>
                  <a:lnTo>
                    <a:pt x="29238" y="992578"/>
                  </a:lnTo>
                  <a:cubicBezTo>
                    <a:pt x="13090" y="992578"/>
                    <a:pt x="0" y="979488"/>
                    <a:pt x="0" y="963340"/>
                  </a:cubicBezTo>
                  <a:lnTo>
                    <a:pt x="0" y="29238"/>
                  </a:lnTo>
                  <a:cubicBezTo>
                    <a:pt x="0" y="13090"/>
                    <a:pt x="13090" y="0"/>
                    <a:pt x="29238" y="0"/>
                  </a:cubicBezTo>
                  <a:close/>
                </a:path>
              </a:pathLst>
            </a:custGeom>
            <a:blipFill>
              <a:blip r:embed="rId7"/>
              <a:stretch>
                <a:fillRect t="-8835" b="-8835"/>
              </a:stretch>
            </a:blipFill>
            <a:ln w="9525" cap="sq">
              <a:solidFill>
                <a:srgbClr val="424141"/>
              </a:solidFill>
              <a:prstDash val="solid"/>
              <a:miter/>
            </a:ln>
          </p:spPr>
          <p:txBody>
            <a:bodyPr/>
            <a:lstStyle/>
            <a:p>
              <a:endParaRPr lang="en-US"/>
            </a:p>
          </p:txBody>
        </p:sp>
      </p:grpSp>
      <p:grpSp>
        <p:nvGrpSpPr>
          <p:cNvPr id="33" name="Group 33"/>
          <p:cNvGrpSpPr/>
          <p:nvPr/>
        </p:nvGrpSpPr>
        <p:grpSpPr>
          <a:xfrm>
            <a:off x="2952598" y="4315634"/>
            <a:ext cx="3974300" cy="5066145"/>
            <a:chOff x="0" y="0"/>
            <a:chExt cx="2380041" cy="3033901"/>
          </a:xfrm>
        </p:grpSpPr>
        <p:sp>
          <p:nvSpPr>
            <p:cNvPr id="34" name="Freeform 34"/>
            <p:cNvSpPr/>
            <p:nvPr/>
          </p:nvSpPr>
          <p:spPr>
            <a:xfrm>
              <a:off x="0" y="0"/>
              <a:ext cx="2380041" cy="3033901"/>
            </a:xfrm>
            <a:custGeom>
              <a:avLst/>
              <a:gdLst/>
              <a:ahLst/>
              <a:cxnLst/>
              <a:rect l="l" t="t" r="r" b="b"/>
              <a:pathLst>
                <a:path w="2380041" h="3033901">
                  <a:moveTo>
                    <a:pt x="62336" y="0"/>
                  </a:moveTo>
                  <a:lnTo>
                    <a:pt x="2317705" y="0"/>
                  </a:lnTo>
                  <a:cubicBezTo>
                    <a:pt x="2352132" y="0"/>
                    <a:pt x="2380041" y="27909"/>
                    <a:pt x="2380041" y="62336"/>
                  </a:cubicBezTo>
                  <a:lnTo>
                    <a:pt x="2380041" y="2971565"/>
                  </a:lnTo>
                  <a:cubicBezTo>
                    <a:pt x="2380041" y="3005992"/>
                    <a:pt x="2352132" y="3033901"/>
                    <a:pt x="2317705" y="3033901"/>
                  </a:cubicBezTo>
                  <a:lnTo>
                    <a:pt x="62336" y="3033901"/>
                  </a:lnTo>
                  <a:cubicBezTo>
                    <a:pt x="27909" y="3033901"/>
                    <a:pt x="0" y="3005992"/>
                    <a:pt x="0" y="2971565"/>
                  </a:cubicBezTo>
                  <a:lnTo>
                    <a:pt x="0" y="62336"/>
                  </a:lnTo>
                  <a:cubicBezTo>
                    <a:pt x="0" y="27909"/>
                    <a:pt x="27909" y="0"/>
                    <a:pt x="62336" y="0"/>
                  </a:cubicBezTo>
                  <a:close/>
                </a:path>
              </a:pathLst>
            </a:custGeom>
            <a:solidFill>
              <a:srgbClr val="FFF3C2"/>
            </a:solidFill>
            <a:ln w="9525" cap="rnd">
              <a:solidFill>
                <a:srgbClr val="424141"/>
              </a:solidFill>
              <a:prstDash val="solid"/>
              <a:round/>
            </a:ln>
          </p:spPr>
          <p:txBody>
            <a:bodyPr/>
            <a:lstStyle/>
            <a:p>
              <a:endParaRPr lang="en-US"/>
            </a:p>
          </p:txBody>
        </p:sp>
        <p:sp>
          <p:nvSpPr>
            <p:cNvPr id="35" name="TextBox 35"/>
            <p:cNvSpPr txBox="1"/>
            <p:nvPr/>
          </p:nvSpPr>
          <p:spPr>
            <a:xfrm>
              <a:off x="0" y="-38100"/>
              <a:ext cx="2380041" cy="3072001"/>
            </a:xfrm>
            <a:prstGeom prst="rect">
              <a:avLst/>
            </a:prstGeom>
          </p:spPr>
          <p:txBody>
            <a:bodyPr lIns="50800" tIns="50800" rIns="50800" bIns="50800" rtlCol="0" anchor="ctr"/>
            <a:lstStyle/>
            <a:p>
              <a:pPr marL="0" lvl="0" indent="0" algn="ctr">
                <a:lnSpc>
                  <a:spcPts val="1540"/>
                </a:lnSpc>
              </a:pPr>
              <a:endParaRPr/>
            </a:p>
          </p:txBody>
        </p:sp>
      </p:grpSp>
      <p:grpSp>
        <p:nvGrpSpPr>
          <p:cNvPr id="36" name="Group 36"/>
          <p:cNvGrpSpPr/>
          <p:nvPr/>
        </p:nvGrpSpPr>
        <p:grpSpPr>
          <a:xfrm>
            <a:off x="6926898" y="4315634"/>
            <a:ext cx="3974300" cy="5066145"/>
            <a:chOff x="0" y="0"/>
            <a:chExt cx="2380041" cy="3033901"/>
          </a:xfrm>
        </p:grpSpPr>
        <p:sp>
          <p:nvSpPr>
            <p:cNvPr id="37" name="Freeform 37"/>
            <p:cNvSpPr/>
            <p:nvPr/>
          </p:nvSpPr>
          <p:spPr>
            <a:xfrm>
              <a:off x="0" y="0"/>
              <a:ext cx="2380041" cy="3033901"/>
            </a:xfrm>
            <a:custGeom>
              <a:avLst/>
              <a:gdLst/>
              <a:ahLst/>
              <a:cxnLst/>
              <a:rect l="l" t="t" r="r" b="b"/>
              <a:pathLst>
                <a:path w="2380041" h="3033901">
                  <a:moveTo>
                    <a:pt x="62336" y="0"/>
                  </a:moveTo>
                  <a:lnTo>
                    <a:pt x="2317705" y="0"/>
                  </a:lnTo>
                  <a:cubicBezTo>
                    <a:pt x="2352132" y="0"/>
                    <a:pt x="2380041" y="27909"/>
                    <a:pt x="2380041" y="62336"/>
                  </a:cubicBezTo>
                  <a:lnTo>
                    <a:pt x="2380041" y="2971565"/>
                  </a:lnTo>
                  <a:cubicBezTo>
                    <a:pt x="2380041" y="3005992"/>
                    <a:pt x="2352132" y="3033901"/>
                    <a:pt x="2317705" y="3033901"/>
                  </a:cubicBezTo>
                  <a:lnTo>
                    <a:pt x="62336" y="3033901"/>
                  </a:lnTo>
                  <a:cubicBezTo>
                    <a:pt x="27909" y="3033901"/>
                    <a:pt x="0" y="3005992"/>
                    <a:pt x="0" y="2971565"/>
                  </a:cubicBezTo>
                  <a:lnTo>
                    <a:pt x="0" y="62336"/>
                  </a:lnTo>
                  <a:cubicBezTo>
                    <a:pt x="0" y="27909"/>
                    <a:pt x="27909" y="0"/>
                    <a:pt x="62336" y="0"/>
                  </a:cubicBezTo>
                  <a:close/>
                </a:path>
              </a:pathLst>
            </a:custGeom>
            <a:solidFill>
              <a:srgbClr val="FFF3C2"/>
            </a:solidFill>
            <a:ln w="9525" cap="rnd">
              <a:solidFill>
                <a:srgbClr val="424141"/>
              </a:solidFill>
              <a:prstDash val="solid"/>
              <a:round/>
            </a:ln>
          </p:spPr>
          <p:txBody>
            <a:bodyPr/>
            <a:lstStyle/>
            <a:p>
              <a:endParaRPr lang="en-US"/>
            </a:p>
          </p:txBody>
        </p:sp>
        <p:sp>
          <p:nvSpPr>
            <p:cNvPr id="38" name="TextBox 38"/>
            <p:cNvSpPr txBox="1"/>
            <p:nvPr/>
          </p:nvSpPr>
          <p:spPr>
            <a:xfrm>
              <a:off x="0" y="-38100"/>
              <a:ext cx="2380041" cy="3072001"/>
            </a:xfrm>
            <a:prstGeom prst="rect">
              <a:avLst/>
            </a:prstGeom>
          </p:spPr>
          <p:txBody>
            <a:bodyPr lIns="50800" tIns="50800" rIns="50800" bIns="50800" rtlCol="0" anchor="ctr"/>
            <a:lstStyle/>
            <a:p>
              <a:pPr marL="0" lvl="0" indent="0" algn="ctr">
                <a:lnSpc>
                  <a:spcPts val="1540"/>
                </a:lnSpc>
              </a:pPr>
              <a:endParaRPr/>
            </a:p>
          </p:txBody>
        </p:sp>
      </p:grpSp>
      <p:grpSp>
        <p:nvGrpSpPr>
          <p:cNvPr id="39" name="Group 39"/>
          <p:cNvGrpSpPr/>
          <p:nvPr/>
        </p:nvGrpSpPr>
        <p:grpSpPr>
          <a:xfrm>
            <a:off x="12375567" y="3491149"/>
            <a:ext cx="4501367" cy="2180472"/>
            <a:chOff x="0" y="0"/>
            <a:chExt cx="2049080" cy="992578"/>
          </a:xfrm>
        </p:grpSpPr>
        <p:sp>
          <p:nvSpPr>
            <p:cNvPr id="40" name="Freeform 40"/>
            <p:cNvSpPr/>
            <p:nvPr/>
          </p:nvSpPr>
          <p:spPr>
            <a:xfrm>
              <a:off x="0" y="0"/>
              <a:ext cx="2049080" cy="992578"/>
            </a:xfrm>
            <a:custGeom>
              <a:avLst/>
              <a:gdLst/>
              <a:ahLst/>
              <a:cxnLst/>
              <a:rect l="l" t="t" r="r" b="b"/>
              <a:pathLst>
                <a:path w="2049080" h="992578">
                  <a:moveTo>
                    <a:pt x="29238" y="0"/>
                  </a:moveTo>
                  <a:lnTo>
                    <a:pt x="2019841" y="0"/>
                  </a:lnTo>
                  <a:cubicBezTo>
                    <a:pt x="2035989" y="0"/>
                    <a:pt x="2049080" y="13090"/>
                    <a:pt x="2049080" y="29238"/>
                  </a:cubicBezTo>
                  <a:lnTo>
                    <a:pt x="2049080" y="963340"/>
                  </a:lnTo>
                  <a:cubicBezTo>
                    <a:pt x="2049080" y="979488"/>
                    <a:pt x="2035989" y="992578"/>
                    <a:pt x="2019841" y="992578"/>
                  </a:cubicBezTo>
                  <a:lnTo>
                    <a:pt x="29238" y="992578"/>
                  </a:lnTo>
                  <a:cubicBezTo>
                    <a:pt x="13090" y="992578"/>
                    <a:pt x="0" y="979488"/>
                    <a:pt x="0" y="963340"/>
                  </a:cubicBezTo>
                  <a:lnTo>
                    <a:pt x="0" y="29238"/>
                  </a:lnTo>
                  <a:cubicBezTo>
                    <a:pt x="0" y="13090"/>
                    <a:pt x="13090" y="0"/>
                    <a:pt x="29238" y="0"/>
                  </a:cubicBezTo>
                  <a:close/>
                </a:path>
              </a:pathLst>
            </a:custGeom>
            <a:blipFill>
              <a:blip r:embed="rId8"/>
              <a:stretch>
                <a:fillRect t="-8835" b="-8835"/>
              </a:stretch>
            </a:blipFill>
            <a:ln w="9525" cap="sq">
              <a:solidFill>
                <a:srgbClr val="424141"/>
              </a:solidFill>
              <a:prstDash val="solid"/>
              <a:miter/>
            </a:ln>
          </p:spPr>
          <p:txBody>
            <a:bodyPr/>
            <a:lstStyle/>
            <a:p>
              <a:endParaRPr lang="en-US"/>
            </a:p>
          </p:txBody>
        </p:sp>
      </p:grpSp>
      <p:sp>
        <p:nvSpPr>
          <p:cNvPr id="41" name="Freeform 41"/>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42" name="Freeform 42"/>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43" name="Freeform 43"/>
          <p:cNvSpPr/>
          <p:nvPr/>
        </p:nvSpPr>
        <p:spPr>
          <a:xfrm>
            <a:off x="2165313" y="741457"/>
            <a:ext cx="3474097" cy="933172"/>
          </a:xfrm>
          <a:custGeom>
            <a:avLst/>
            <a:gdLst/>
            <a:ahLst/>
            <a:cxnLst/>
            <a:rect l="l" t="t" r="r" b="b"/>
            <a:pathLst>
              <a:path w="3474097" h="933172">
                <a:moveTo>
                  <a:pt x="0" y="0"/>
                </a:moveTo>
                <a:lnTo>
                  <a:pt x="3474097" y="0"/>
                </a:lnTo>
                <a:lnTo>
                  <a:pt x="3474097" y="933172"/>
                </a:lnTo>
                <a:lnTo>
                  <a:pt x="0" y="933172"/>
                </a:lnTo>
                <a:lnTo>
                  <a:pt x="0" y="0"/>
                </a:lnTo>
                <a:close/>
              </a:path>
            </a:pathLst>
          </a:custGeom>
          <a:blipFill>
            <a:blip r:embed="rId11"/>
            <a:stretch>
              <a:fillRect/>
            </a:stretch>
          </a:blipFill>
        </p:spPr>
        <p:txBody>
          <a:bodyPr/>
          <a:lstStyle/>
          <a:p>
            <a:endParaRPr lang="en-US"/>
          </a:p>
        </p:txBody>
      </p:sp>
      <p:sp>
        <p:nvSpPr>
          <p:cNvPr id="44" name="TextBox 44"/>
          <p:cNvSpPr txBox="1"/>
          <p:nvPr/>
        </p:nvSpPr>
        <p:spPr>
          <a:xfrm>
            <a:off x="2987076" y="2352374"/>
            <a:ext cx="6961996" cy="599550"/>
          </a:xfrm>
          <a:prstGeom prst="rect">
            <a:avLst/>
          </a:prstGeom>
        </p:spPr>
        <p:txBody>
          <a:bodyPr lIns="0" tIns="0" rIns="0" bIns="0" rtlCol="0" anchor="t">
            <a:spAutoFit/>
          </a:bodyPr>
          <a:lstStyle/>
          <a:p>
            <a:pPr marL="0" lvl="0" indent="0" algn="l">
              <a:lnSpc>
                <a:spcPts val="4576"/>
              </a:lnSpc>
            </a:pPr>
            <a:r>
              <a:rPr lang="en-US" sz="4623" b="1" spc="-286">
                <a:solidFill>
                  <a:srgbClr val="424141"/>
                </a:solidFill>
                <a:latin typeface="Aptos Bold"/>
                <a:ea typeface="Aptos Bold"/>
                <a:cs typeface="Aptos Bold"/>
                <a:sym typeface="Aptos Bold"/>
              </a:rPr>
              <a:t>AGENTSTATE &amp; RESOLVER</a:t>
            </a:r>
          </a:p>
        </p:txBody>
      </p:sp>
      <p:sp>
        <p:nvSpPr>
          <p:cNvPr id="45" name="TextBox 45"/>
          <p:cNvSpPr txBox="1"/>
          <p:nvPr/>
        </p:nvSpPr>
        <p:spPr>
          <a:xfrm>
            <a:off x="3411421" y="5005995"/>
            <a:ext cx="3056653" cy="3408426"/>
          </a:xfrm>
          <a:prstGeom prst="rect">
            <a:avLst/>
          </a:prstGeom>
        </p:spPr>
        <p:txBody>
          <a:bodyPr lIns="0" tIns="0" rIns="0" bIns="0" rtlCol="0" anchor="t">
            <a:spAutoFit/>
          </a:bodyPr>
          <a:lstStyle/>
          <a:p>
            <a:pPr marL="0" lvl="0" indent="0" algn="just">
              <a:lnSpc>
                <a:spcPts val="2772"/>
              </a:lnSpc>
            </a:pPr>
            <a:r>
              <a:rPr lang="en-US" sz="1800" spc="-66">
                <a:solidFill>
                  <a:srgbClr val="000000"/>
                </a:solidFill>
                <a:latin typeface="Aptos"/>
                <a:ea typeface="Aptos"/>
                <a:cs typeface="Aptos"/>
                <a:sym typeface="Aptos"/>
              </a:rPr>
              <a:t>Hội thoại ví dụ:</a:t>
            </a:r>
          </a:p>
          <a:p>
            <a:pPr marL="0" lvl="0" indent="0" algn="just">
              <a:lnSpc>
                <a:spcPts val="2772"/>
              </a:lnSpc>
            </a:pPr>
            <a:r>
              <a:rPr lang="en-US" sz="1800" spc="-66">
                <a:solidFill>
                  <a:srgbClr val="000000"/>
                </a:solidFill>
                <a:latin typeface="Aptos"/>
                <a:ea typeface="Aptos"/>
                <a:cs typeface="Aptos"/>
                <a:sym typeface="Aptos"/>
              </a:rPr>
              <a:t>User: "Cho tôi 3 laptop Dell dưới 20 triệu."</a:t>
            </a:r>
          </a:p>
          <a:p>
            <a:pPr marL="0" lvl="0" indent="0" algn="just">
              <a:lnSpc>
                <a:spcPts val="2772"/>
              </a:lnSpc>
            </a:pPr>
            <a:r>
              <a:rPr lang="en-US" sz="1800" spc="-66">
                <a:solidFill>
                  <a:srgbClr val="000000"/>
                </a:solidFill>
                <a:latin typeface="Aptos"/>
                <a:ea typeface="Aptos"/>
                <a:cs typeface="Aptos"/>
                <a:sym typeface="Aptos"/>
              </a:rPr>
              <a:t>AI: "Gợi ý A, B, C."</a:t>
            </a:r>
          </a:p>
          <a:p>
            <a:pPr marL="0" lvl="0" indent="0" algn="just">
              <a:lnSpc>
                <a:spcPts val="2772"/>
              </a:lnSpc>
            </a:pPr>
            <a:r>
              <a:rPr lang="en-US" sz="1800" spc="-66">
                <a:solidFill>
                  <a:srgbClr val="000000"/>
                </a:solidFill>
                <a:latin typeface="Aptos"/>
                <a:ea typeface="Aptos"/>
                <a:cs typeface="Aptos"/>
                <a:sym typeface="Aptos"/>
              </a:rPr>
              <a:t>User: "Mẫu thứ hai có hợp lập trình không?"</a:t>
            </a:r>
          </a:p>
          <a:p>
            <a:pPr marL="0" lvl="0" indent="0" algn="just">
              <a:lnSpc>
                <a:spcPts val="2772"/>
              </a:lnSpc>
            </a:pPr>
            <a:r>
              <a:rPr lang="en-US" sz="1800" spc="-66">
                <a:solidFill>
                  <a:srgbClr val="000000"/>
                </a:solidFill>
                <a:latin typeface="Aptos"/>
                <a:ea typeface="Aptos"/>
                <a:cs typeface="Aptos"/>
                <a:sym typeface="Aptos"/>
              </a:rPr>
              <a:t>AgentState lưu:</a:t>
            </a:r>
          </a:p>
          <a:p>
            <a:pPr marL="0" lvl="0" indent="0" algn="just">
              <a:lnSpc>
                <a:spcPts val="2772"/>
              </a:lnSpc>
            </a:pPr>
            <a:r>
              <a:rPr lang="en-US" sz="1800" spc="-66">
                <a:solidFill>
                  <a:srgbClr val="000000"/>
                </a:solidFill>
                <a:latin typeface="Aptos"/>
                <a:ea typeface="Aptos"/>
                <a:cs typeface="Aptos"/>
                <a:sym typeface="Aptos"/>
              </a:rPr>
              <a:t>• candidate_codes: [A, B, C]</a:t>
            </a:r>
          </a:p>
          <a:p>
            <a:pPr marL="0" lvl="0" indent="0" algn="just">
              <a:lnSpc>
                <a:spcPts val="2772"/>
              </a:lnSpc>
            </a:pPr>
            <a:r>
              <a:rPr lang="en-US" sz="1800" spc="-66">
                <a:solidFill>
                  <a:srgbClr val="000000"/>
                </a:solidFill>
                <a:latin typeface="Aptos"/>
                <a:ea typeface="Aptos"/>
                <a:cs typeface="Aptos"/>
                <a:sym typeface="Aptos"/>
              </a:rPr>
              <a:t>• focused_product: B</a:t>
            </a:r>
          </a:p>
          <a:p>
            <a:pPr marL="0" lvl="0" indent="0" algn="just">
              <a:lnSpc>
                <a:spcPts val="2772"/>
              </a:lnSpc>
            </a:pPr>
            <a:r>
              <a:rPr lang="en-US" sz="1800" spc="-66">
                <a:solidFill>
                  <a:srgbClr val="000000"/>
                </a:solidFill>
                <a:latin typeface="Aptos"/>
                <a:ea typeface="Aptos"/>
                <a:cs typeface="Aptos"/>
                <a:sym typeface="Aptos"/>
              </a:rPr>
              <a:t>• conversation_turn: 3</a:t>
            </a:r>
          </a:p>
        </p:txBody>
      </p:sp>
      <p:sp>
        <p:nvSpPr>
          <p:cNvPr id="46" name="TextBox 46"/>
          <p:cNvSpPr txBox="1"/>
          <p:nvPr/>
        </p:nvSpPr>
        <p:spPr>
          <a:xfrm>
            <a:off x="7385721" y="4986945"/>
            <a:ext cx="3056653" cy="3314319"/>
          </a:xfrm>
          <a:prstGeom prst="rect">
            <a:avLst/>
          </a:prstGeom>
        </p:spPr>
        <p:txBody>
          <a:bodyPr lIns="0" tIns="0" rIns="0" bIns="0" rtlCol="0" anchor="t">
            <a:spAutoFit/>
          </a:bodyPr>
          <a:lstStyle/>
          <a:p>
            <a:pPr marL="0" lvl="0" indent="0" algn="just">
              <a:lnSpc>
                <a:spcPts val="2988"/>
              </a:lnSpc>
            </a:pPr>
            <a:r>
              <a:rPr lang="en-US" sz="1800" spc="-66">
                <a:solidFill>
                  <a:srgbClr val="000000"/>
                </a:solidFill>
                <a:latin typeface="Aptos"/>
                <a:ea typeface="Aptos"/>
                <a:cs typeface="Aptos"/>
                <a:sym typeface="Aptos"/>
              </a:rPr>
              <a:t>ProductResolver:</a:t>
            </a:r>
          </a:p>
          <a:p>
            <a:pPr marL="0" lvl="0" indent="0" algn="just">
              <a:lnSpc>
                <a:spcPts val="2988"/>
              </a:lnSpc>
            </a:pPr>
            <a:r>
              <a:rPr lang="en-US" sz="1800" spc="-66">
                <a:solidFill>
                  <a:srgbClr val="000000"/>
                </a:solidFill>
                <a:latin typeface="Aptos"/>
                <a:ea typeface="Aptos"/>
                <a:cs typeface="Aptos"/>
                <a:sym typeface="Aptos"/>
              </a:rPr>
              <a:t>"mẫu thứ hai"</a:t>
            </a:r>
          </a:p>
          <a:p>
            <a:pPr marL="0" lvl="0" indent="0" algn="just">
              <a:lnSpc>
                <a:spcPts val="2988"/>
              </a:lnSpc>
            </a:pPr>
            <a:r>
              <a:rPr lang="en-US" sz="1800" spc="-66">
                <a:solidFill>
                  <a:srgbClr val="000000"/>
                </a:solidFill>
                <a:latin typeface="Aptos"/>
                <a:ea typeface="Aptos"/>
                <a:cs typeface="Aptos"/>
                <a:sym typeface="Aptos"/>
              </a:rPr>
              <a:t>→ product_code = B</a:t>
            </a:r>
          </a:p>
          <a:p>
            <a:pPr marL="0" lvl="0" indent="0" algn="just">
              <a:lnSpc>
                <a:spcPts val="2988"/>
              </a:lnSpc>
            </a:pPr>
            <a:r>
              <a:rPr lang="en-US" sz="1800" spc="-66">
                <a:solidFill>
                  <a:srgbClr val="000000"/>
                </a:solidFill>
                <a:latin typeface="Aptos"/>
                <a:ea typeface="Aptos"/>
                <a:cs typeface="Aptos"/>
                <a:sym typeface="Aptos"/>
              </a:rPr>
              <a:t>Ánh xạ tham chiếu:</a:t>
            </a:r>
          </a:p>
          <a:p>
            <a:pPr marL="0" lvl="0" indent="0" algn="just">
              <a:lnSpc>
                <a:spcPts val="2988"/>
              </a:lnSpc>
            </a:pPr>
            <a:r>
              <a:rPr lang="en-US" sz="1800" spc="-66">
                <a:solidFill>
                  <a:srgbClr val="000000"/>
                </a:solidFill>
                <a:latin typeface="Aptos"/>
                <a:ea typeface="Aptos"/>
                <a:cs typeface="Aptos"/>
                <a:sym typeface="Aptos"/>
              </a:rPr>
              <a:t>• Vị trí thứ tự → SKU</a:t>
            </a:r>
          </a:p>
          <a:p>
            <a:pPr marL="0" lvl="0" indent="0" algn="just">
              <a:lnSpc>
                <a:spcPts val="2988"/>
              </a:lnSpc>
            </a:pPr>
            <a:r>
              <a:rPr lang="en-US" sz="1800" spc="-66">
                <a:solidFill>
                  <a:srgbClr val="000000"/>
                </a:solidFill>
                <a:latin typeface="Aptos"/>
                <a:ea typeface="Aptos"/>
                <a:cs typeface="Aptos"/>
                <a:sym typeface="Aptos"/>
              </a:rPr>
              <a:t>• Tên gợi nhớ → code</a:t>
            </a:r>
          </a:p>
          <a:p>
            <a:pPr marL="0" lvl="0" indent="0" algn="just">
              <a:lnSpc>
                <a:spcPts val="2988"/>
              </a:lnSpc>
            </a:pPr>
            <a:r>
              <a:rPr lang="en-US" sz="1800" spc="-66">
                <a:solidFill>
                  <a:srgbClr val="000000"/>
                </a:solidFill>
                <a:latin typeface="Aptos"/>
                <a:ea typeface="Aptos"/>
                <a:cs typeface="Aptos"/>
                <a:sym typeface="Aptos"/>
              </a:rPr>
              <a:t>• Ngữ cảnh trước → state</a:t>
            </a:r>
          </a:p>
          <a:p>
            <a:pPr marL="0" lvl="0" indent="0" algn="just">
              <a:lnSpc>
                <a:spcPts val="2988"/>
              </a:lnSpc>
            </a:pPr>
            <a:r>
              <a:rPr lang="en-US" sz="1800" spc="-66">
                <a:solidFill>
                  <a:srgbClr val="000000"/>
                </a:solidFill>
                <a:latin typeface="Aptos"/>
                <a:ea typeface="Aptos"/>
                <a:cs typeface="Aptos"/>
                <a:sym typeface="Aptos"/>
              </a:rPr>
              <a:t>Kết quả: AI không mất ngữ cảnh qua nhiều lượt hội thoại.</a:t>
            </a:r>
          </a:p>
        </p:txBody>
      </p:sp>
      <p:sp>
        <p:nvSpPr>
          <p:cNvPr id="47" name="TextBox 47"/>
          <p:cNvSpPr txBox="1"/>
          <p:nvPr/>
        </p:nvSpPr>
        <p:spPr>
          <a:xfrm>
            <a:off x="6823799" y="3224337"/>
            <a:ext cx="3328445" cy="790310"/>
          </a:xfrm>
          <a:prstGeom prst="rect">
            <a:avLst/>
          </a:prstGeom>
        </p:spPr>
        <p:txBody>
          <a:bodyPr lIns="0" tIns="0" rIns="0" bIns="0" rtlCol="0" anchor="t">
            <a:spAutoFit/>
          </a:bodyPr>
          <a:lstStyle/>
          <a:p>
            <a:pPr algn="ctr">
              <a:lnSpc>
                <a:spcPts val="2114"/>
              </a:lnSpc>
              <a:spcBef>
                <a:spcPct val="0"/>
              </a:spcBef>
            </a:pPr>
            <a:r>
              <a:rPr lang="en-US" sz="1510" spc="-55">
                <a:solidFill>
                  <a:srgbClr val="000000"/>
                </a:solidFill>
                <a:latin typeface="Aptos"/>
                <a:ea typeface="Aptos"/>
                <a:cs typeface="Aptos"/>
                <a:sym typeface="Aptos"/>
              </a:rPr>
              <a:t>ProductResolver là thành phần ánh xạ cách nói mơ hồ của người dùng thành mã sản phẩm cụ thể.</a:t>
            </a:r>
          </a:p>
        </p:txBody>
      </p:sp>
      <p:sp>
        <p:nvSpPr>
          <p:cNvPr id="48" name="TextBox 48"/>
          <p:cNvSpPr txBox="1"/>
          <p:nvPr/>
        </p:nvSpPr>
        <p:spPr>
          <a:xfrm>
            <a:off x="3014167" y="3090987"/>
            <a:ext cx="3453907" cy="1057010"/>
          </a:xfrm>
          <a:prstGeom prst="rect">
            <a:avLst/>
          </a:prstGeom>
        </p:spPr>
        <p:txBody>
          <a:bodyPr lIns="0" tIns="0" rIns="0" bIns="0" rtlCol="0" anchor="t">
            <a:spAutoFit/>
          </a:bodyPr>
          <a:lstStyle/>
          <a:p>
            <a:pPr algn="ctr">
              <a:lnSpc>
                <a:spcPts val="2114"/>
              </a:lnSpc>
              <a:spcBef>
                <a:spcPct val="0"/>
              </a:spcBef>
            </a:pPr>
            <a:r>
              <a:rPr lang="en-US" sz="1510" spc="-55">
                <a:solidFill>
                  <a:srgbClr val="000000"/>
                </a:solidFill>
                <a:latin typeface="Aptos"/>
                <a:ea typeface="Aptos"/>
                <a:cs typeface="Aptos"/>
                <a:sym typeface="Aptos"/>
              </a:rPr>
              <a:t>State là bộ nhớ ngắn hạn của phiên hội thoại. Nó giúp hệ thống nhớ người dùng vừa hỏi gì, đang xem sản phẩm nào, các sản phẩm nào vừa được gợi ý.</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607177"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2773732" y="4678470"/>
            <a:ext cx="4100858" cy="2243954"/>
            <a:chOff x="0" y="0"/>
            <a:chExt cx="2848370" cy="1558603"/>
          </a:xfrm>
        </p:grpSpPr>
        <p:sp>
          <p:nvSpPr>
            <p:cNvPr id="12" name="Freeform 12"/>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13809D"/>
            </a:solidFill>
            <a:ln w="9525" cap="sq">
              <a:solidFill>
                <a:srgbClr val="424141"/>
              </a:solidFill>
              <a:prstDash val="solid"/>
              <a:miter/>
            </a:ln>
          </p:spPr>
          <p:txBody>
            <a:bodyPr/>
            <a:lstStyle/>
            <a:p>
              <a:endParaRPr lang="en-US"/>
            </a:p>
          </p:txBody>
        </p:sp>
        <p:sp>
          <p:nvSpPr>
            <p:cNvPr id="13" name="TextBox 13"/>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sp>
        <p:nvSpPr>
          <p:cNvPr id="14" name="Freeform 14"/>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grpSp>
        <p:nvGrpSpPr>
          <p:cNvPr id="15" name="Group 15"/>
          <p:cNvGrpSpPr/>
          <p:nvPr/>
        </p:nvGrpSpPr>
        <p:grpSpPr>
          <a:xfrm>
            <a:off x="13146794" y="2424196"/>
            <a:ext cx="4112506" cy="6251987"/>
            <a:chOff x="0" y="0"/>
            <a:chExt cx="2462806" cy="3744052"/>
          </a:xfrm>
        </p:grpSpPr>
        <p:sp>
          <p:nvSpPr>
            <p:cNvPr id="16" name="Freeform 16"/>
            <p:cNvSpPr/>
            <p:nvPr/>
          </p:nvSpPr>
          <p:spPr>
            <a:xfrm>
              <a:off x="0" y="0"/>
              <a:ext cx="2462806" cy="3744052"/>
            </a:xfrm>
            <a:custGeom>
              <a:avLst/>
              <a:gdLst/>
              <a:ahLst/>
              <a:cxnLst/>
              <a:rect l="l" t="t" r="r" b="b"/>
              <a:pathLst>
                <a:path w="2462806" h="3744052">
                  <a:moveTo>
                    <a:pt x="60241" y="0"/>
                  </a:moveTo>
                  <a:lnTo>
                    <a:pt x="2402565" y="0"/>
                  </a:lnTo>
                  <a:cubicBezTo>
                    <a:pt x="2435835" y="0"/>
                    <a:pt x="2462806" y="26971"/>
                    <a:pt x="2462806" y="60241"/>
                  </a:cubicBezTo>
                  <a:lnTo>
                    <a:pt x="2462806" y="3683811"/>
                  </a:lnTo>
                  <a:cubicBezTo>
                    <a:pt x="2462806" y="3717081"/>
                    <a:pt x="2435835" y="3744052"/>
                    <a:pt x="2402565" y="3744052"/>
                  </a:cubicBezTo>
                  <a:lnTo>
                    <a:pt x="60241" y="3744052"/>
                  </a:lnTo>
                  <a:cubicBezTo>
                    <a:pt x="26971" y="3744052"/>
                    <a:pt x="0" y="3717081"/>
                    <a:pt x="0" y="3683811"/>
                  </a:cubicBezTo>
                  <a:lnTo>
                    <a:pt x="0" y="60241"/>
                  </a:lnTo>
                  <a:cubicBezTo>
                    <a:pt x="0" y="26971"/>
                    <a:pt x="26971" y="0"/>
                    <a:pt x="60241" y="0"/>
                  </a:cubicBezTo>
                  <a:close/>
                </a:path>
              </a:pathLst>
            </a:custGeom>
            <a:solidFill>
              <a:srgbClr val="EB574C"/>
            </a:solidFill>
            <a:ln w="9525" cap="rnd">
              <a:solidFill>
                <a:srgbClr val="424141"/>
              </a:solidFill>
              <a:prstDash val="solid"/>
              <a:round/>
            </a:ln>
          </p:spPr>
          <p:txBody>
            <a:bodyPr/>
            <a:lstStyle/>
            <a:p>
              <a:endParaRPr lang="en-US"/>
            </a:p>
          </p:txBody>
        </p:sp>
        <p:sp>
          <p:nvSpPr>
            <p:cNvPr id="17" name="TextBox 17"/>
            <p:cNvSpPr txBox="1"/>
            <p:nvPr/>
          </p:nvSpPr>
          <p:spPr>
            <a:xfrm>
              <a:off x="0" y="-38100"/>
              <a:ext cx="2462806" cy="3782152"/>
            </a:xfrm>
            <a:prstGeom prst="rect">
              <a:avLst/>
            </a:prstGeom>
          </p:spPr>
          <p:txBody>
            <a:bodyPr lIns="50800" tIns="50800" rIns="50800" bIns="50800" rtlCol="0" anchor="ctr"/>
            <a:lstStyle/>
            <a:p>
              <a:pPr marL="0" lvl="0" indent="0" algn="ctr">
                <a:lnSpc>
                  <a:spcPts val="1540"/>
                </a:lnSpc>
              </a:pPr>
              <a:endParaRPr/>
            </a:p>
          </p:txBody>
        </p:sp>
      </p:grpSp>
      <p:grpSp>
        <p:nvGrpSpPr>
          <p:cNvPr id="18" name="Group 18"/>
          <p:cNvGrpSpPr/>
          <p:nvPr/>
        </p:nvGrpSpPr>
        <p:grpSpPr>
          <a:xfrm>
            <a:off x="13436891" y="2700962"/>
            <a:ext cx="3532312" cy="2336656"/>
            <a:chOff x="0" y="0"/>
            <a:chExt cx="1607953" cy="1063676"/>
          </a:xfrm>
        </p:grpSpPr>
        <p:sp>
          <p:nvSpPr>
            <p:cNvPr id="19" name="Freeform 19"/>
            <p:cNvSpPr/>
            <p:nvPr/>
          </p:nvSpPr>
          <p:spPr>
            <a:xfrm>
              <a:off x="0" y="0"/>
              <a:ext cx="1607953" cy="1063675"/>
            </a:xfrm>
            <a:custGeom>
              <a:avLst/>
              <a:gdLst/>
              <a:ahLst/>
              <a:cxnLst/>
              <a:rect l="l" t="t" r="r" b="b"/>
              <a:pathLst>
                <a:path w="1607953" h="1063675">
                  <a:moveTo>
                    <a:pt x="37260" y="0"/>
                  </a:moveTo>
                  <a:lnTo>
                    <a:pt x="1570694" y="0"/>
                  </a:lnTo>
                  <a:cubicBezTo>
                    <a:pt x="1591271" y="0"/>
                    <a:pt x="1607953" y="16682"/>
                    <a:pt x="1607953" y="37260"/>
                  </a:cubicBezTo>
                  <a:lnTo>
                    <a:pt x="1607953" y="1026416"/>
                  </a:lnTo>
                  <a:cubicBezTo>
                    <a:pt x="1607953" y="1046994"/>
                    <a:pt x="1591271" y="1063675"/>
                    <a:pt x="1570694" y="1063675"/>
                  </a:cubicBezTo>
                  <a:lnTo>
                    <a:pt x="37260" y="1063675"/>
                  </a:lnTo>
                  <a:cubicBezTo>
                    <a:pt x="16682" y="1063675"/>
                    <a:pt x="0" y="1046994"/>
                    <a:pt x="0" y="1026416"/>
                  </a:cubicBezTo>
                  <a:lnTo>
                    <a:pt x="0" y="37260"/>
                  </a:lnTo>
                  <a:cubicBezTo>
                    <a:pt x="0" y="16682"/>
                    <a:pt x="16682" y="0"/>
                    <a:pt x="37260" y="0"/>
                  </a:cubicBezTo>
                  <a:close/>
                </a:path>
              </a:pathLst>
            </a:custGeom>
            <a:blipFill>
              <a:blip r:embed="rId3"/>
              <a:stretch>
                <a:fillRect t="-925" b="-925"/>
              </a:stretch>
            </a:blipFill>
            <a:ln w="9525" cap="sq">
              <a:solidFill>
                <a:srgbClr val="424141"/>
              </a:solidFill>
              <a:prstDash val="solid"/>
              <a:miter/>
            </a:ln>
          </p:spPr>
          <p:txBody>
            <a:bodyPr/>
            <a:lstStyle/>
            <a:p>
              <a:endParaRPr lang="en-US"/>
            </a:p>
          </p:txBody>
        </p:sp>
      </p:grpSp>
      <p:grpSp>
        <p:nvGrpSpPr>
          <p:cNvPr id="20" name="Group 20"/>
          <p:cNvGrpSpPr/>
          <p:nvPr/>
        </p:nvGrpSpPr>
        <p:grpSpPr>
          <a:xfrm>
            <a:off x="13451179" y="5190984"/>
            <a:ext cx="3503737" cy="2880406"/>
            <a:chOff x="0" y="0"/>
            <a:chExt cx="1594946" cy="1311197"/>
          </a:xfrm>
        </p:grpSpPr>
        <p:sp>
          <p:nvSpPr>
            <p:cNvPr id="21" name="Freeform 21"/>
            <p:cNvSpPr/>
            <p:nvPr/>
          </p:nvSpPr>
          <p:spPr>
            <a:xfrm>
              <a:off x="0" y="0"/>
              <a:ext cx="1594945" cy="1311197"/>
            </a:xfrm>
            <a:custGeom>
              <a:avLst/>
              <a:gdLst/>
              <a:ahLst/>
              <a:cxnLst/>
              <a:rect l="l" t="t" r="r" b="b"/>
              <a:pathLst>
                <a:path w="1594945" h="1311197">
                  <a:moveTo>
                    <a:pt x="37564" y="0"/>
                  </a:moveTo>
                  <a:lnTo>
                    <a:pt x="1557382" y="0"/>
                  </a:lnTo>
                  <a:cubicBezTo>
                    <a:pt x="1578128" y="0"/>
                    <a:pt x="1594945" y="16818"/>
                    <a:pt x="1594945" y="37564"/>
                  </a:cubicBezTo>
                  <a:lnTo>
                    <a:pt x="1594945" y="1273634"/>
                  </a:lnTo>
                  <a:cubicBezTo>
                    <a:pt x="1594945" y="1283596"/>
                    <a:pt x="1590988" y="1293151"/>
                    <a:pt x="1583943" y="1300195"/>
                  </a:cubicBezTo>
                  <a:cubicBezTo>
                    <a:pt x="1576899" y="1307240"/>
                    <a:pt x="1567344" y="1311197"/>
                    <a:pt x="1557382" y="1311197"/>
                  </a:cubicBezTo>
                  <a:lnTo>
                    <a:pt x="37564" y="1311197"/>
                  </a:lnTo>
                  <a:cubicBezTo>
                    <a:pt x="27601" y="1311197"/>
                    <a:pt x="18047" y="1307240"/>
                    <a:pt x="11002" y="1300195"/>
                  </a:cubicBezTo>
                  <a:cubicBezTo>
                    <a:pt x="3958" y="1293151"/>
                    <a:pt x="0" y="1283596"/>
                    <a:pt x="0" y="1273634"/>
                  </a:cubicBezTo>
                  <a:lnTo>
                    <a:pt x="0" y="37564"/>
                  </a:lnTo>
                  <a:cubicBezTo>
                    <a:pt x="0" y="27601"/>
                    <a:pt x="3958" y="18047"/>
                    <a:pt x="11002" y="11002"/>
                  </a:cubicBezTo>
                  <a:cubicBezTo>
                    <a:pt x="18047" y="3958"/>
                    <a:pt x="27601" y="0"/>
                    <a:pt x="37564" y="0"/>
                  </a:cubicBezTo>
                  <a:close/>
                </a:path>
              </a:pathLst>
            </a:custGeom>
            <a:blipFill>
              <a:blip r:embed="rId4"/>
              <a:stretch>
                <a:fillRect l="-825" r="-825"/>
              </a:stretch>
            </a:blipFill>
            <a:ln w="9525" cap="sq">
              <a:solidFill>
                <a:srgbClr val="424141"/>
              </a:solidFill>
              <a:prstDash val="solid"/>
              <a:miter/>
            </a:ln>
          </p:spPr>
          <p:txBody>
            <a:bodyPr/>
            <a:lstStyle/>
            <a:p>
              <a:endParaRPr lang="en-US"/>
            </a:p>
          </p:txBody>
        </p:sp>
      </p:grpSp>
      <p:sp>
        <p:nvSpPr>
          <p:cNvPr id="22" name="TextBox 22"/>
          <p:cNvSpPr txBox="1"/>
          <p:nvPr/>
        </p:nvSpPr>
        <p:spPr>
          <a:xfrm>
            <a:off x="2952598" y="2231911"/>
            <a:ext cx="8845603" cy="1998250"/>
          </a:xfrm>
          <a:prstGeom prst="rect">
            <a:avLst/>
          </a:prstGeom>
        </p:spPr>
        <p:txBody>
          <a:bodyPr lIns="0" tIns="0" rIns="0" bIns="0" rtlCol="0" anchor="t">
            <a:spAutoFit/>
          </a:bodyPr>
          <a:lstStyle/>
          <a:p>
            <a:pPr marL="0" lvl="0" indent="0" algn="l">
              <a:lnSpc>
                <a:spcPts val="7704"/>
              </a:lnSpc>
            </a:pPr>
            <a:r>
              <a:rPr lang="en-US" sz="7782" b="1" spc="-482">
                <a:solidFill>
                  <a:srgbClr val="424141"/>
                </a:solidFill>
                <a:latin typeface="Aptos Bold"/>
                <a:ea typeface="Aptos Bold"/>
                <a:cs typeface="Aptos Bold"/>
                <a:sym typeface="Aptos Bold"/>
              </a:rPr>
              <a:t>EVIDENCE LEDGER</a:t>
            </a:r>
          </a:p>
          <a:p>
            <a:pPr marL="0" lvl="0" indent="0" algn="l">
              <a:lnSpc>
                <a:spcPts val="7704"/>
              </a:lnSpc>
            </a:pPr>
            <a:r>
              <a:rPr lang="en-US" sz="7782" b="1" spc="-482">
                <a:solidFill>
                  <a:srgbClr val="424141"/>
                </a:solidFill>
                <a:latin typeface="Aptos Bold"/>
                <a:ea typeface="Aptos Bold"/>
                <a:cs typeface="Aptos Bold"/>
                <a:sym typeface="Aptos Bold"/>
              </a:rPr>
              <a:t>&amp; VERIFIER</a:t>
            </a:r>
          </a:p>
        </p:txBody>
      </p:sp>
      <p:sp>
        <p:nvSpPr>
          <p:cNvPr id="23" name="Freeform 23"/>
          <p:cNvSpPr/>
          <p:nvPr/>
        </p:nvSpPr>
        <p:spPr>
          <a:xfrm flipH="1">
            <a:off x="11494972" y="3015477"/>
            <a:ext cx="941613" cy="818027"/>
          </a:xfrm>
          <a:custGeom>
            <a:avLst/>
            <a:gdLst/>
            <a:ahLst/>
            <a:cxnLst/>
            <a:rect l="l" t="t" r="r" b="b"/>
            <a:pathLst>
              <a:path w="941613" h="818027">
                <a:moveTo>
                  <a:pt x="941614" y="0"/>
                </a:moveTo>
                <a:lnTo>
                  <a:pt x="0" y="0"/>
                </a:lnTo>
                <a:lnTo>
                  <a:pt x="0" y="818027"/>
                </a:lnTo>
                <a:lnTo>
                  <a:pt x="941614" y="818027"/>
                </a:lnTo>
                <a:lnTo>
                  <a:pt x="941614"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4" name="AutoShape 24"/>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5" name="AutoShape 25"/>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6" name="AutoShape 26"/>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7" name="Freeform 27"/>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8" name="Freeform 28"/>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9" name="Group 29"/>
          <p:cNvGrpSpPr/>
          <p:nvPr/>
        </p:nvGrpSpPr>
        <p:grpSpPr>
          <a:xfrm>
            <a:off x="2952598" y="4797729"/>
            <a:ext cx="2933893" cy="653335"/>
            <a:chOff x="0" y="0"/>
            <a:chExt cx="2037821" cy="453793"/>
          </a:xfrm>
        </p:grpSpPr>
        <p:sp>
          <p:nvSpPr>
            <p:cNvPr id="30" name="Freeform 30"/>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31" name="TextBox 31"/>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32" name="Group 32"/>
          <p:cNvGrpSpPr/>
          <p:nvPr/>
        </p:nvGrpSpPr>
        <p:grpSpPr>
          <a:xfrm>
            <a:off x="14273982" y="2554333"/>
            <a:ext cx="419749" cy="419749"/>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34" name="TextBox 34"/>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35" name="Group 35"/>
          <p:cNvGrpSpPr/>
          <p:nvPr/>
        </p:nvGrpSpPr>
        <p:grpSpPr>
          <a:xfrm>
            <a:off x="13854191" y="2554333"/>
            <a:ext cx="419749" cy="419749"/>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37" name="TextBox 37"/>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38" name="Group 38"/>
          <p:cNvGrpSpPr/>
          <p:nvPr/>
        </p:nvGrpSpPr>
        <p:grpSpPr>
          <a:xfrm>
            <a:off x="13434400" y="2554333"/>
            <a:ext cx="419749" cy="419749"/>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40" name="TextBox 40"/>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41" name="Freeform 41"/>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42" name="Group 42"/>
          <p:cNvGrpSpPr/>
          <p:nvPr/>
        </p:nvGrpSpPr>
        <p:grpSpPr>
          <a:xfrm>
            <a:off x="6141714" y="4525048"/>
            <a:ext cx="1025142" cy="1025142"/>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F5E"/>
            </a:solidFill>
            <a:ln w="19050" cap="sq">
              <a:solidFill>
                <a:srgbClr val="424141"/>
              </a:solidFill>
              <a:prstDash val="solid"/>
              <a:miter/>
            </a:ln>
          </p:spPr>
          <p:txBody>
            <a:bodyPr/>
            <a:lstStyle/>
            <a:p>
              <a:endParaRPr lang="en-US"/>
            </a:p>
          </p:txBody>
        </p:sp>
        <p:sp>
          <p:nvSpPr>
            <p:cNvPr id="44" name="TextBox 44"/>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45" name="Freeform 45"/>
          <p:cNvSpPr/>
          <p:nvPr/>
        </p:nvSpPr>
        <p:spPr>
          <a:xfrm>
            <a:off x="6387001" y="4724559"/>
            <a:ext cx="487589" cy="626118"/>
          </a:xfrm>
          <a:custGeom>
            <a:avLst/>
            <a:gdLst/>
            <a:ahLst/>
            <a:cxnLst/>
            <a:rect l="l" t="t" r="r" b="b"/>
            <a:pathLst>
              <a:path w="487589" h="626118">
                <a:moveTo>
                  <a:pt x="0" y="0"/>
                </a:moveTo>
                <a:lnTo>
                  <a:pt x="487589" y="0"/>
                </a:lnTo>
                <a:lnTo>
                  <a:pt x="487589" y="626118"/>
                </a:lnTo>
                <a:lnTo>
                  <a:pt x="0" y="62611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46" name="Group 46"/>
          <p:cNvGrpSpPr/>
          <p:nvPr/>
        </p:nvGrpSpPr>
        <p:grpSpPr>
          <a:xfrm>
            <a:off x="7585955" y="4678470"/>
            <a:ext cx="4100858" cy="2243954"/>
            <a:chOff x="0" y="0"/>
            <a:chExt cx="2848370" cy="1558603"/>
          </a:xfrm>
        </p:grpSpPr>
        <p:sp>
          <p:nvSpPr>
            <p:cNvPr id="47" name="Freeform 47"/>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1D648E"/>
            </a:solidFill>
            <a:ln w="9525" cap="sq">
              <a:solidFill>
                <a:srgbClr val="424141"/>
              </a:solidFill>
              <a:prstDash val="solid"/>
              <a:miter/>
            </a:ln>
          </p:spPr>
          <p:txBody>
            <a:bodyPr/>
            <a:lstStyle/>
            <a:p>
              <a:endParaRPr lang="en-US"/>
            </a:p>
          </p:txBody>
        </p:sp>
        <p:sp>
          <p:nvSpPr>
            <p:cNvPr id="48" name="TextBox 48"/>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grpSp>
        <p:nvGrpSpPr>
          <p:cNvPr id="49" name="Group 49"/>
          <p:cNvGrpSpPr/>
          <p:nvPr/>
        </p:nvGrpSpPr>
        <p:grpSpPr>
          <a:xfrm>
            <a:off x="7764821" y="4797729"/>
            <a:ext cx="2933893" cy="653335"/>
            <a:chOff x="0" y="0"/>
            <a:chExt cx="2037821" cy="453793"/>
          </a:xfrm>
        </p:grpSpPr>
        <p:sp>
          <p:nvSpPr>
            <p:cNvPr id="50" name="Freeform 50"/>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51" name="TextBox 51"/>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52" name="Group 52"/>
          <p:cNvGrpSpPr/>
          <p:nvPr/>
        </p:nvGrpSpPr>
        <p:grpSpPr>
          <a:xfrm>
            <a:off x="10955890" y="4525048"/>
            <a:ext cx="1025142" cy="1025142"/>
            <a:chOff x="0" y="0"/>
            <a:chExt cx="812800" cy="812800"/>
          </a:xfrm>
        </p:grpSpPr>
        <p:sp>
          <p:nvSpPr>
            <p:cNvPr id="53" name="Freeform 5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574C"/>
            </a:solidFill>
            <a:ln w="19050" cap="sq">
              <a:solidFill>
                <a:srgbClr val="424141"/>
              </a:solidFill>
              <a:prstDash val="solid"/>
              <a:miter/>
            </a:ln>
          </p:spPr>
          <p:txBody>
            <a:bodyPr/>
            <a:lstStyle/>
            <a:p>
              <a:endParaRPr lang="en-US"/>
            </a:p>
          </p:txBody>
        </p:sp>
        <p:sp>
          <p:nvSpPr>
            <p:cNvPr id="54" name="TextBox 54"/>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55" name="Freeform 55"/>
          <p:cNvSpPr/>
          <p:nvPr/>
        </p:nvSpPr>
        <p:spPr>
          <a:xfrm>
            <a:off x="11175017" y="4766550"/>
            <a:ext cx="586888" cy="542138"/>
          </a:xfrm>
          <a:custGeom>
            <a:avLst/>
            <a:gdLst/>
            <a:ahLst/>
            <a:cxnLst/>
            <a:rect l="l" t="t" r="r" b="b"/>
            <a:pathLst>
              <a:path w="586888" h="542138">
                <a:moveTo>
                  <a:pt x="0" y="0"/>
                </a:moveTo>
                <a:lnTo>
                  <a:pt x="586887" y="0"/>
                </a:lnTo>
                <a:lnTo>
                  <a:pt x="586887" y="542137"/>
                </a:lnTo>
                <a:lnTo>
                  <a:pt x="0" y="542137"/>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56" name="Group 56"/>
          <p:cNvGrpSpPr/>
          <p:nvPr/>
        </p:nvGrpSpPr>
        <p:grpSpPr>
          <a:xfrm>
            <a:off x="2771749" y="7199671"/>
            <a:ext cx="4100858" cy="2243954"/>
            <a:chOff x="0" y="0"/>
            <a:chExt cx="2848370" cy="1558603"/>
          </a:xfrm>
        </p:grpSpPr>
        <p:sp>
          <p:nvSpPr>
            <p:cNvPr id="57" name="Freeform 57"/>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02388C"/>
            </a:solidFill>
            <a:ln w="9525" cap="sq">
              <a:solidFill>
                <a:srgbClr val="424141"/>
              </a:solidFill>
              <a:prstDash val="solid"/>
              <a:miter/>
            </a:ln>
          </p:spPr>
          <p:txBody>
            <a:bodyPr/>
            <a:lstStyle/>
            <a:p>
              <a:endParaRPr lang="en-US"/>
            </a:p>
          </p:txBody>
        </p:sp>
        <p:sp>
          <p:nvSpPr>
            <p:cNvPr id="58" name="TextBox 58"/>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grpSp>
        <p:nvGrpSpPr>
          <p:cNvPr id="59" name="Group 59"/>
          <p:cNvGrpSpPr/>
          <p:nvPr/>
        </p:nvGrpSpPr>
        <p:grpSpPr>
          <a:xfrm>
            <a:off x="2950615" y="7318930"/>
            <a:ext cx="2933893" cy="653335"/>
            <a:chOff x="0" y="0"/>
            <a:chExt cx="2037821" cy="453793"/>
          </a:xfrm>
        </p:grpSpPr>
        <p:sp>
          <p:nvSpPr>
            <p:cNvPr id="60" name="Freeform 60"/>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61" name="TextBox 61"/>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62" name="Group 62"/>
          <p:cNvGrpSpPr/>
          <p:nvPr/>
        </p:nvGrpSpPr>
        <p:grpSpPr>
          <a:xfrm>
            <a:off x="6139731" y="7046249"/>
            <a:ext cx="1025142" cy="1025142"/>
            <a:chOff x="0" y="0"/>
            <a:chExt cx="812800" cy="812800"/>
          </a:xfrm>
        </p:grpSpPr>
        <p:sp>
          <p:nvSpPr>
            <p:cNvPr id="63" name="Freeform 6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F5E"/>
            </a:solidFill>
            <a:ln w="19050" cap="sq">
              <a:solidFill>
                <a:srgbClr val="424141"/>
              </a:solidFill>
              <a:prstDash val="solid"/>
              <a:miter/>
            </a:ln>
          </p:spPr>
          <p:txBody>
            <a:bodyPr/>
            <a:lstStyle/>
            <a:p>
              <a:endParaRPr lang="en-US"/>
            </a:p>
          </p:txBody>
        </p:sp>
        <p:sp>
          <p:nvSpPr>
            <p:cNvPr id="64" name="TextBox 64"/>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65" name="Group 65"/>
          <p:cNvGrpSpPr/>
          <p:nvPr/>
        </p:nvGrpSpPr>
        <p:grpSpPr>
          <a:xfrm>
            <a:off x="7583973" y="7199671"/>
            <a:ext cx="4100858" cy="2243954"/>
            <a:chOff x="0" y="0"/>
            <a:chExt cx="2848370" cy="1558603"/>
          </a:xfrm>
        </p:grpSpPr>
        <p:sp>
          <p:nvSpPr>
            <p:cNvPr id="66" name="Freeform 66"/>
            <p:cNvSpPr/>
            <p:nvPr/>
          </p:nvSpPr>
          <p:spPr>
            <a:xfrm>
              <a:off x="0" y="0"/>
              <a:ext cx="2848370" cy="1558603"/>
            </a:xfrm>
            <a:custGeom>
              <a:avLst/>
              <a:gdLst/>
              <a:ahLst/>
              <a:cxnLst/>
              <a:rect l="l" t="t" r="r" b="b"/>
              <a:pathLst>
                <a:path w="2848370" h="1558603">
                  <a:moveTo>
                    <a:pt x="24542" y="0"/>
                  </a:moveTo>
                  <a:lnTo>
                    <a:pt x="2823827" y="0"/>
                  </a:lnTo>
                  <a:cubicBezTo>
                    <a:pt x="2837381" y="0"/>
                    <a:pt x="2848370" y="10988"/>
                    <a:pt x="2848370" y="24542"/>
                  </a:cubicBezTo>
                  <a:lnTo>
                    <a:pt x="2848370" y="1534061"/>
                  </a:lnTo>
                  <a:cubicBezTo>
                    <a:pt x="2848370" y="1540570"/>
                    <a:pt x="2845784" y="1546812"/>
                    <a:pt x="2841181" y="1551415"/>
                  </a:cubicBezTo>
                  <a:cubicBezTo>
                    <a:pt x="2836579" y="1556017"/>
                    <a:pt x="2830336" y="1558603"/>
                    <a:pt x="2823827" y="1558603"/>
                  </a:cubicBezTo>
                  <a:lnTo>
                    <a:pt x="24542" y="1558603"/>
                  </a:lnTo>
                  <a:cubicBezTo>
                    <a:pt x="18033" y="1558603"/>
                    <a:pt x="11791" y="1556017"/>
                    <a:pt x="7188" y="1551415"/>
                  </a:cubicBezTo>
                  <a:cubicBezTo>
                    <a:pt x="2586" y="1546812"/>
                    <a:pt x="0" y="1540570"/>
                    <a:pt x="0" y="1534061"/>
                  </a:cubicBezTo>
                  <a:lnTo>
                    <a:pt x="0" y="24542"/>
                  </a:lnTo>
                  <a:cubicBezTo>
                    <a:pt x="0" y="18033"/>
                    <a:pt x="2586" y="11791"/>
                    <a:pt x="7188" y="7188"/>
                  </a:cubicBezTo>
                  <a:cubicBezTo>
                    <a:pt x="11791" y="2586"/>
                    <a:pt x="18033" y="0"/>
                    <a:pt x="24542" y="0"/>
                  </a:cubicBezTo>
                  <a:close/>
                </a:path>
              </a:pathLst>
            </a:custGeom>
            <a:solidFill>
              <a:srgbClr val="0B1046"/>
            </a:solidFill>
            <a:ln w="9525" cap="sq">
              <a:solidFill>
                <a:srgbClr val="424141"/>
              </a:solidFill>
              <a:prstDash val="solid"/>
              <a:miter/>
            </a:ln>
          </p:spPr>
          <p:txBody>
            <a:bodyPr/>
            <a:lstStyle/>
            <a:p>
              <a:endParaRPr lang="en-US"/>
            </a:p>
          </p:txBody>
        </p:sp>
        <p:sp>
          <p:nvSpPr>
            <p:cNvPr id="67" name="TextBox 67"/>
            <p:cNvSpPr txBox="1"/>
            <p:nvPr/>
          </p:nvSpPr>
          <p:spPr>
            <a:xfrm>
              <a:off x="0" y="28575"/>
              <a:ext cx="2848370" cy="1530028"/>
            </a:xfrm>
            <a:prstGeom prst="rect">
              <a:avLst/>
            </a:prstGeom>
          </p:spPr>
          <p:txBody>
            <a:bodyPr lIns="39013" tIns="39013" rIns="39013" bIns="39013" rtlCol="0" anchor="ctr"/>
            <a:lstStyle/>
            <a:p>
              <a:pPr marL="0" lvl="0" indent="0" algn="ctr">
                <a:lnSpc>
                  <a:spcPts val="1297"/>
                </a:lnSpc>
              </a:pPr>
              <a:endParaRPr/>
            </a:p>
          </p:txBody>
        </p:sp>
      </p:grpSp>
      <p:grpSp>
        <p:nvGrpSpPr>
          <p:cNvPr id="68" name="Group 68"/>
          <p:cNvGrpSpPr/>
          <p:nvPr/>
        </p:nvGrpSpPr>
        <p:grpSpPr>
          <a:xfrm>
            <a:off x="7762839" y="7318930"/>
            <a:ext cx="2933893" cy="653335"/>
            <a:chOff x="0" y="0"/>
            <a:chExt cx="2037821" cy="453793"/>
          </a:xfrm>
        </p:grpSpPr>
        <p:sp>
          <p:nvSpPr>
            <p:cNvPr id="69" name="Freeform 69"/>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70" name="TextBox 70"/>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71" name="Group 71"/>
          <p:cNvGrpSpPr/>
          <p:nvPr/>
        </p:nvGrpSpPr>
        <p:grpSpPr>
          <a:xfrm>
            <a:off x="10953907" y="7046249"/>
            <a:ext cx="1025142" cy="1025142"/>
            <a:chOff x="0" y="0"/>
            <a:chExt cx="812800" cy="812800"/>
          </a:xfrm>
        </p:grpSpPr>
        <p:sp>
          <p:nvSpPr>
            <p:cNvPr id="72" name="Freeform 7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388C"/>
            </a:solidFill>
            <a:ln w="19050" cap="sq">
              <a:solidFill>
                <a:srgbClr val="424141"/>
              </a:solidFill>
              <a:prstDash val="solid"/>
              <a:miter/>
            </a:ln>
          </p:spPr>
          <p:txBody>
            <a:bodyPr/>
            <a:lstStyle/>
            <a:p>
              <a:endParaRPr lang="en-US"/>
            </a:p>
          </p:txBody>
        </p:sp>
        <p:sp>
          <p:nvSpPr>
            <p:cNvPr id="73" name="TextBox 73"/>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74" name="Freeform 74"/>
          <p:cNvSpPr/>
          <p:nvPr/>
        </p:nvSpPr>
        <p:spPr>
          <a:xfrm>
            <a:off x="11128359" y="7220700"/>
            <a:ext cx="676239" cy="676239"/>
          </a:xfrm>
          <a:custGeom>
            <a:avLst/>
            <a:gdLst/>
            <a:ahLst/>
            <a:cxnLst/>
            <a:rect l="l" t="t" r="r" b="b"/>
            <a:pathLst>
              <a:path w="676239" h="676239">
                <a:moveTo>
                  <a:pt x="0" y="0"/>
                </a:moveTo>
                <a:lnTo>
                  <a:pt x="676238" y="0"/>
                </a:lnTo>
                <a:lnTo>
                  <a:pt x="676238" y="676239"/>
                </a:lnTo>
                <a:lnTo>
                  <a:pt x="0" y="676239"/>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75" name="Freeform 75"/>
          <p:cNvSpPr/>
          <p:nvPr/>
        </p:nvSpPr>
        <p:spPr>
          <a:xfrm>
            <a:off x="6360490" y="7299472"/>
            <a:ext cx="583624" cy="518695"/>
          </a:xfrm>
          <a:custGeom>
            <a:avLst/>
            <a:gdLst/>
            <a:ahLst/>
            <a:cxnLst/>
            <a:rect l="l" t="t" r="r" b="b"/>
            <a:pathLst>
              <a:path w="583624" h="518695">
                <a:moveTo>
                  <a:pt x="0" y="0"/>
                </a:moveTo>
                <a:lnTo>
                  <a:pt x="583624" y="0"/>
                </a:lnTo>
                <a:lnTo>
                  <a:pt x="583624" y="518695"/>
                </a:lnTo>
                <a:lnTo>
                  <a:pt x="0" y="51869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76" name="Freeform 76"/>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77" name="Freeform 77"/>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78" name="Freeform 78"/>
          <p:cNvSpPr/>
          <p:nvPr/>
        </p:nvSpPr>
        <p:spPr>
          <a:xfrm>
            <a:off x="1924143" y="688935"/>
            <a:ext cx="3510317" cy="942901"/>
          </a:xfrm>
          <a:custGeom>
            <a:avLst/>
            <a:gdLst/>
            <a:ahLst/>
            <a:cxnLst/>
            <a:rect l="l" t="t" r="r" b="b"/>
            <a:pathLst>
              <a:path w="3510317" h="942901">
                <a:moveTo>
                  <a:pt x="0" y="0"/>
                </a:moveTo>
                <a:lnTo>
                  <a:pt x="3510317" y="0"/>
                </a:lnTo>
                <a:lnTo>
                  <a:pt x="3510317" y="942901"/>
                </a:lnTo>
                <a:lnTo>
                  <a:pt x="0" y="942901"/>
                </a:lnTo>
                <a:lnTo>
                  <a:pt x="0" y="0"/>
                </a:lnTo>
                <a:close/>
              </a:path>
            </a:pathLst>
          </a:custGeom>
          <a:blipFill>
            <a:blip r:embed="rId15"/>
            <a:stretch>
              <a:fillRect/>
            </a:stretch>
          </a:blipFill>
        </p:spPr>
        <p:txBody>
          <a:bodyPr/>
          <a:lstStyle/>
          <a:p>
            <a:endParaRPr lang="en-US"/>
          </a:p>
        </p:txBody>
      </p:sp>
      <p:sp>
        <p:nvSpPr>
          <p:cNvPr id="79" name="TextBox 79"/>
          <p:cNvSpPr txBox="1"/>
          <p:nvPr/>
        </p:nvSpPr>
        <p:spPr>
          <a:xfrm>
            <a:off x="2784942" y="8010365"/>
            <a:ext cx="3627456" cy="1404747"/>
          </a:xfrm>
          <a:prstGeom prst="rect">
            <a:avLst/>
          </a:prstGeom>
        </p:spPr>
        <p:txBody>
          <a:bodyPr lIns="0" tIns="0" rIns="0" bIns="0" rtlCol="0" anchor="t">
            <a:spAutoFit/>
          </a:bodyPr>
          <a:lstStyle/>
          <a:p>
            <a:pPr marL="345443" lvl="1" indent="-172721" algn="just">
              <a:lnSpc>
                <a:spcPts val="1584"/>
              </a:lnSpc>
              <a:buFont typeface="Arial"/>
              <a:buChar char="•"/>
            </a:pPr>
            <a:r>
              <a:rPr lang="en-US" sz="1600" spc="-59">
                <a:solidFill>
                  <a:srgbClr val="FFFFFF"/>
                </a:solidFill>
                <a:latin typeface="Aptos"/>
                <a:ea typeface="Aptos"/>
                <a:cs typeface="Aptos"/>
                <a:sym typeface="Aptos"/>
              </a:rPr>
              <a:t>products_used: sản phẩm đã dùng để tạo câu trả lời.</a:t>
            </a:r>
          </a:p>
          <a:p>
            <a:pPr marL="345443" lvl="1" indent="-172721" algn="just">
              <a:lnSpc>
                <a:spcPts val="1584"/>
              </a:lnSpc>
              <a:buFont typeface="Arial"/>
              <a:buChar char="•"/>
            </a:pPr>
            <a:r>
              <a:rPr lang="en-US" sz="1600" spc="-59">
                <a:solidFill>
                  <a:srgbClr val="FFFFFF"/>
                </a:solidFill>
                <a:latin typeface="Aptos"/>
                <a:ea typeface="Aptos"/>
                <a:cs typeface="Aptos"/>
                <a:sym typeface="Aptos"/>
              </a:rPr>
              <a:t>facts_used: các dữ kiện đã dùng.</a:t>
            </a:r>
          </a:p>
          <a:p>
            <a:pPr marL="345443" lvl="1" indent="-172721" algn="just">
              <a:lnSpc>
                <a:spcPts val="1584"/>
              </a:lnSpc>
              <a:buFont typeface="Arial"/>
              <a:buChar char="•"/>
            </a:pPr>
            <a:r>
              <a:rPr lang="en-US" sz="1600" spc="-59">
                <a:solidFill>
                  <a:srgbClr val="FFFFFF"/>
                </a:solidFill>
                <a:latin typeface="Aptos"/>
                <a:ea typeface="Aptos"/>
                <a:cs typeface="Aptos"/>
                <a:sym typeface="Aptos"/>
              </a:rPr>
              <a:t>missing_fields: trường còn thiếu dữ liệu.</a:t>
            </a:r>
          </a:p>
          <a:p>
            <a:pPr marL="345443" lvl="1" indent="-172721" algn="just">
              <a:lnSpc>
                <a:spcPts val="1584"/>
              </a:lnSpc>
              <a:buFont typeface="Arial"/>
              <a:buChar char="•"/>
            </a:pPr>
            <a:r>
              <a:rPr lang="en-US" sz="1600" spc="-59">
                <a:solidFill>
                  <a:srgbClr val="FFFFFF"/>
                </a:solidFill>
                <a:latin typeface="Aptos"/>
                <a:ea typeface="Aptos"/>
                <a:cs typeface="Aptos"/>
                <a:sym typeface="Aptos"/>
              </a:rPr>
              <a:t>constraints_checked: các ràng buộc đã được kiểm tra.</a:t>
            </a:r>
          </a:p>
          <a:p>
            <a:pPr marL="0" lvl="0" indent="0" algn="just">
              <a:lnSpc>
                <a:spcPts val="1584"/>
              </a:lnSpc>
            </a:pPr>
            <a:endParaRPr lang="en-US" sz="1600" spc="-59">
              <a:solidFill>
                <a:srgbClr val="FFFFFF"/>
              </a:solidFill>
              <a:latin typeface="Aptos"/>
              <a:ea typeface="Aptos"/>
              <a:cs typeface="Aptos"/>
              <a:sym typeface="Aptos"/>
            </a:endParaRPr>
          </a:p>
        </p:txBody>
      </p:sp>
      <p:sp>
        <p:nvSpPr>
          <p:cNvPr id="80" name="TextBox 80"/>
          <p:cNvSpPr txBox="1"/>
          <p:nvPr/>
        </p:nvSpPr>
        <p:spPr>
          <a:xfrm>
            <a:off x="3159438" y="4959677"/>
            <a:ext cx="2520213" cy="310033"/>
          </a:xfrm>
          <a:prstGeom prst="rect">
            <a:avLst/>
          </a:prstGeom>
        </p:spPr>
        <p:txBody>
          <a:bodyPr lIns="0" tIns="0" rIns="0" bIns="0" rtlCol="0" anchor="t">
            <a:spAutoFit/>
          </a:bodyPr>
          <a:lstStyle/>
          <a:p>
            <a:pPr marL="0" lvl="0" indent="0" algn="ctr">
              <a:lnSpc>
                <a:spcPts val="2431"/>
              </a:lnSpc>
            </a:pPr>
            <a:r>
              <a:rPr lang="en-US" sz="2060" b="1" spc="-14">
                <a:solidFill>
                  <a:srgbClr val="424141"/>
                </a:solidFill>
                <a:latin typeface="Aptos Bold"/>
                <a:ea typeface="Aptos Bold"/>
                <a:cs typeface="Aptos Bold"/>
                <a:sym typeface="Aptos Bold"/>
              </a:rPr>
              <a:t>Evidence Ledger</a:t>
            </a:r>
          </a:p>
        </p:txBody>
      </p:sp>
      <p:sp>
        <p:nvSpPr>
          <p:cNvPr id="81" name="TextBox 81"/>
          <p:cNvSpPr txBox="1"/>
          <p:nvPr/>
        </p:nvSpPr>
        <p:spPr>
          <a:xfrm>
            <a:off x="7815562" y="5712585"/>
            <a:ext cx="3627456" cy="804672"/>
          </a:xfrm>
          <a:prstGeom prst="rect">
            <a:avLst/>
          </a:prstGeom>
        </p:spPr>
        <p:txBody>
          <a:bodyPr lIns="0" tIns="0" rIns="0" bIns="0" rtlCol="0" anchor="t">
            <a:spAutoFit/>
          </a:bodyPr>
          <a:lstStyle/>
          <a:p>
            <a:pPr marL="0" lvl="0" indent="0" algn="just">
              <a:lnSpc>
                <a:spcPts val="1584"/>
              </a:lnSpc>
            </a:pPr>
            <a:r>
              <a:rPr lang="en-US" sz="1600" spc="-59">
                <a:solidFill>
                  <a:srgbClr val="FFFFFF"/>
                </a:solidFill>
                <a:latin typeface="Aptos"/>
                <a:ea typeface="Aptos"/>
                <a:cs typeface="Aptos"/>
                <a:sym typeface="Aptos"/>
              </a:rPr>
              <a:t>Kiểm tra toàn bộ claim trước khi trả về FE:</a:t>
            </a:r>
          </a:p>
          <a:p>
            <a:pPr marL="0" lvl="0" indent="0" algn="just">
              <a:lnSpc>
                <a:spcPts val="1584"/>
              </a:lnSpc>
            </a:pPr>
            <a:r>
              <a:rPr lang="en-US" sz="1600" spc="-59">
                <a:solidFill>
                  <a:srgbClr val="FFFFFF"/>
                </a:solidFill>
                <a:latin typeface="Aptos"/>
                <a:ea typeface="Aptos"/>
                <a:cs typeface="Aptos"/>
                <a:sym typeface="Aptos"/>
              </a:rPr>
              <a:t>• Đối chiếu catalog thật</a:t>
            </a:r>
          </a:p>
          <a:p>
            <a:pPr marL="0" lvl="0" indent="0" algn="just">
              <a:lnSpc>
                <a:spcPts val="1584"/>
              </a:lnSpc>
            </a:pPr>
            <a:r>
              <a:rPr lang="en-US" sz="1600" spc="-59">
                <a:solidFill>
                  <a:srgbClr val="FFFFFF"/>
                </a:solidFill>
                <a:latin typeface="Aptos"/>
                <a:ea typeface="Aptos"/>
                <a:cs typeface="Aptos"/>
                <a:sym typeface="Aptos"/>
              </a:rPr>
              <a:t>• Chặn output sai</a:t>
            </a:r>
          </a:p>
          <a:p>
            <a:pPr marL="0" lvl="0" indent="0" algn="just">
              <a:lnSpc>
                <a:spcPts val="1584"/>
              </a:lnSpc>
            </a:pPr>
            <a:r>
              <a:rPr lang="en-US" sz="1600" spc="-59">
                <a:solidFill>
                  <a:srgbClr val="FFFFFF"/>
                </a:solidFill>
                <a:latin typeface="Aptos"/>
                <a:ea typeface="Aptos"/>
                <a:cs typeface="Aptos"/>
                <a:sym typeface="Aptos"/>
              </a:rPr>
              <a:t>• Gắn cờ thiếu dữ liệu</a:t>
            </a:r>
          </a:p>
        </p:txBody>
      </p:sp>
      <p:sp>
        <p:nvSpPr>
          <p:cNvPr id="82" name="TextBox 82"/>
          <p:cNvSpPr txBox="1"/>
          <p:nvPr/>
        </p:nvSpPr>
        <p:spPr>
          <a:xfrm>
            <a:off x="7971662" y="4959677"/>
            <a:ext cx="2520213" cy="310033"/>
          </a:xfrm>
          <a:prstGeom prst="rect">
            <a:avLst/>
          </a:prstGeom>
        </p:spPr>
        <p:txBody>
          <a:bodyPr lIns="0" tIns="0" rIns="0" bIns="0" rtlCol="0" anchor="t">
            <a:spAutoFit/>
          </a:bodyPr>
          <a:lstStyle/>
          <a:p>
            <a:pPr marL="0" lvl="0" indent="0" algn="ctr">
              <a:lnSpc>
                <a:spcPts val="2431"/>
              </a:lnSpc>
            </a:pPr>
            <a:r>
              <a:rPr lang="en-US" sz="2060" b="1" spc="-14">
                <a:solidFill>
                  <a:srgbClr val="424141"/>
                </a:solidFill>
                <a:latin typeface="Aptos Bold"/>
                <a:ea typeface="Aptos Bold"/>
                <a:cs typeface="Aptos Bold"/>
                <a:sym typeface="Aptos Bold"/>
              </a:rPr>
              <a:t>Verifier Engine</a:t>
            </a:r>
          </a:p>
        </p:txBody>
      </p:sp>
      <p:sp>
        <p:nvSpPr>
          <p:cNvPr id="83" name="TextBox 83"/>
          <p:cNvSpPr txBox="1"/>
          <p:nvPr/>
        </p:nvSpPr>
        <p:spPr>
          <a:xfrm>
            <a:off x="7867516" y="8292897"/>
            <a:ext cx="3627456" cy="804672"/>
          </a:xfrm>
          <a:prstGeom prst="rect">
            <a:avLst/>
          </a:prstGeom>
        </p:spPr>
        <p:txBody>
          <a:bodyPr lIns="0" tIns="0" rIns="0" bIns="0" rtlCol="0" anchor="t">
            <a:spAutoFit/>
          </a:bodyPr>
          <a:lstStyle/>
          <a:p>
            <a:pPr marL="0" lvl="0" indent="0" algn="just">
              <a:lnSpc>
                <a:spcPts val="1584"/>
              </a:lnSpc>
            </a:pPr>
            <a:r>
              <a:rPr lang="en-US" sz="1600" spc="-59">
                <a:solidFill>
                  <a:srgbClr val="FFFFFF"/>
                </a:solidFill>
                <a:latin typeface="Aptos"/>
                <a:ea typeface="Aptos"/>
                <a:cs typeface="Aptos"/>
                <a:sym typeface="Aptos"/>
              </a:rPr>
              <a:t>Các lỗi bị chặn:</a:t>
            </a:r>
          </a:p>
          <a:p>
            <a:pPr marL="0" lvl="0" indent="0" algn="just">
              <a:lnSpc>
                <a:spcPts val="1584"/>
              </a:lnSpc>
            </a:pPr>
            <a:r>
              <a:rPr lang="en-US" sz="1600" spc="-59">
                <a:solidFill>
                  <a:srgbClr val="FFFFFF"/>
                </a:solidFill>
                <a:latin typeface="Aptos"/>
                <a:ea typeface="Aptos"/>
                <a:cs typeface="Aptos"/>
                <a:sym typeface="Aptos"/>
              </a:rPr>
              <a:t>• unsupported_claim</a:t>
            </a:r>
          </a:p>
          <a:p>
            <a:pPr marL="0" lvl="0" indent="0" algn="just">
              <a:lnSpc>
                <a:spcPts val="1584"/>
              </a:lnSpc>
            </a:pPr>
            <a:r>
              <a:rPr lang="en-US" sz="1600" spc="-59">
                <a:solidFill>
                  <a:srgbClr val="FFFFFF"/>
                </a:solidFill>
                <a:latin typeface="Aptos"/>
                <a:ea typeface="Aptos"/>
                <a:cs typeface="Aptos"/>
                <a:sym typeface="Aptos"/>
              </a:rPr>
              <a:t>• product_not_found</a:t>
            </a:r>
          </a:p>
          <a:p>
            <a:pPr marL="0" lvl="0" indent="0" algn="just">
              <a:lnSpc>
                <a:spcPts val="1584"/>
              </a:lnSpc>
            </a:pPr>
            <a:r>
              <a:rPr lang="en-US" sz="1600" spc="-59">
                <a:solidFill>
                  <a:srgbClr val="FFFFFF"/>
                </a:solidFill>
                <a:latin typeface="Aptos"/>
                <a:ea typeface="Aptos"/>
                <a:cs typeface="Aptos"/>
                <a:sym typeface="Aptos"/>
              </a:rPr>
              <a:t>• missing_field_not_disclosed</a:t>
            </a:r>
          </a:p>
        </p:txBody>
      </p:sp>
      <p:sp>
        <p:nvSpPr>
          <p:cNvPr id="84" name="TextBox 84"/>
          <p:cNvSpPr txBox="1"/>
          <p:nvPr/>
        </p:nvSpPr>
        <p:spPr>
          <a:xfrm>
            <a:off x="7971662" y="7490581"/>
            <a:ext cx="2520213" cy="310033"/>
          </a:xfrm>
          <a:prstGeom prst="rect">
            <a:avLst/>
          </a:prstGeom>
        </p:spPr>
        <p:txBody>
          <a:bodyPr lIns="0" tIns="0" rIns="0" bIns="0" rtlCol="0" anchor="t">
            <a:spAutoFit/>
          </a:bodyPr>
          <a:lstStyle/>
          <a:p>
            <a:pPr marL="0" lvl="0" indent="0" algn="ctr">
              <a:lnSpc>
                <a:spcPts val="2431"/>
              </a:lnSpc>
            </a:pPr>
            <a:r>
              <a:rPr lang="en-US" sz="2060" b="1" spc="-14">
                <a:solidFill>
                  <a:srgbClr val="424141"/>
                </a:solidFill>
                <a:latin typeface="Aptos Bold"/>
                <a:ea typeface="Aptos Bold"/>
                <a:cs typeface="Aptos Bold"/>
                <a:sym typeface="Aptos Bold"/>
              </a:rPr>
              <a:t>Blocked: Claim Sai</a:t>
            </a:r>
          </a:p>
        </p:txBody>
      </p:sp>
      <p:sp>
        <p:nvSpPr>
          <p:cNvPr id="85" name="TextBox 85"/>
          <p:cNvSpPr txBox="1"/>
          <p:nvPr/>
        </p:nvSpPr>
        <p:spPr>
          <a:xfrm>
            <a:off x="3076249" y="7490581"/>
            <a:ext cx="2520213" cy="310033"/>
          </a:xfrm>
          <a:prstGeom prst="rect">
            <a:avLst/>
          </a:prstGeom>
        </p:spPr>
        <p:txBody>
          <a:bodyPr lIns="0" tIns="0" rIns="0" bIns="0" rtlCol="0" anchor="t">
            <a:spAutoFit/>
          </a:bodyPr>
          <a:lstStyle/>
          <a:p>
            <a:pPr marL="0" lvl="0" indent="0" algn="ctr">
              <a:lnSpc>
                <a:spcPts val="2431"/>
              </a:lnSpc>
            </a:pPr>
            <a:r>
              <a:rPr lang="en-US" sz="2060" b="1" spc="-14">
                <a:solidFill>
                  <a:srgbClr val="424141"/>
                </a:solidFill>
                <a:latin typeface="Aptos Bold"/>
                <a:ea typeface="Aptos Bold"/>
                <a:cs typeface="Aptos Bold"/>
                <a:sym typeface="Aptos Bold"/>
              </a:rPr>
              <a:t>Evidence Ledger</a:t>
            </a:r>
          </a:p>
        </p:txBody>
      </p:sp>
      <p:sp>
        <p:nvSpPr>
          <p:cNvPr id="86" name="TextBox 86"/>
          <p:cNvSpPr txBox="1"/>
          <p:nvPr/>
        </p:nvSpPr>
        <p:spPr>
          <a:xfrm>
            <a:off x="3026828" y="5604635"/>
            <a:ext cx="3627456" cy="734822"/>
          </a:xfrm>
          <a:prstGeom prst="rect">
            <a:avLst/>
          </a:prstGeom>
        </p:spPr>
        <p:txBody>
          <a:bodyPr lIns="0" tIns="0" rIns="0" bIns="0" rtlCol="0" anchor="t">
            <a:spAutoFit/>
          </a:bodyPr>
          <a:lstStyle/>
          <a:p>
            <a:pPr marL="0" lvl="0" indent="0" algn="just">
              <a:lnSpc>
                <a:spcPts val="1984"/>
              </a:lnSpc>
            </a:pPr>
            <a:r>
              <a:rPr lang="en-US" sz="1600" spc="-59">
                <a:solidFill>
                  <a:srgbClr val="FFFFFF"/>
                </a:solidFill>
                <a:latin typeface="Aptos"/>
                <a:ea typeface="Aptos"/>
                <a:cs typeface="Aptos"/>
                <a:sym typeface="Aptos"/>
              </a:rPr>
              <a:t>Evidence là bằng chứng dữ liệu. Trong AURA, evidence cho biết câu trả lời AI đang dựa trên những facts nào từ catalog.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536305" y="4662997"/>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2"/>
                </a:ext>
              </a:extLst>
            </a:blip>
            <a:stretch>
              <a:fillRect r="-20013"/>
            </a:stretch>
          </a:blipFill>
        </p:spPr>
        <p:txBody>
          <a:bodyPr/>
          <a:lstStyle/>
          <a:p>
            <a:endParaRPr lang="en-US"/>
          </a:p>
        </p:txBody>
      </p:sp>
      <p:grpSp>
        <p:nvGrpSpPr>
          <p:cNvPr id="12" name="Group 12"/>
          <p:cNvGrpSpPr/>
          <p:nvPr/>
        </p:nvGrpSpPr>
        <p:grpSpPr>
          <a:xfrm>
            <a:off x="11253471" y="4998657"/>
            <a:ext cx="3517176" cy="4183273"/>
            <a:chOff x="0" y="0"/>
            <a:chExt cx="2106289" cy="2505186"/>
          </a:xfrm>
        </p:grpSpPr>
        <p:sp>
          <p:nvSpPr>
            <p:cNvPr id="13" name="Freeform 13"/>
            <p:cNvSpPr/>
            <p:nvPr/>
          </p:nvSpPr>
          <p:spPr>
            <a:xfrm>
              <a:off x="0" y="0"/>
              <a:ext cx="2106288" cy="2505186"/>
            </a:xfrm>
            <a:custGeom>
              <a:avLst/>
              <a:gdLst/>
              <a:ahLst/>
              <a:cxnLst/>
              <a:rect l="l" t="t" r="r" b="b"/>
              <a:pathLst>
                <a:path w="2106288" h="2505186">
                  <a:moveTo>
                    <a:pt x="70438" y="0"/>
                  </a:moveTo>
                  <a:lnTo>
                    <a:pt x="2035851" y="0"/>
                  </a:lnTo>
                  <a:cubicBezTo>
                    <a:pt x="2074752" y="0"/>
                    <a:pt x="2106288" y="31536"/>
                    <a:pt x="2106288" y="70438"/>
                  </a:cubicBezTo>
                  <a:lnTo>
                    <a:pt x="2106288" y="2434748"/>
                  </a:lnTo>
                  <a:cubicBezTo>
                    <a:pt x="2106288" y="2453430"/>
                    <a:pt x="2098867" y="2471346"/>
                    <a:pt x="2085658" y="2484555"/>
                  </a:cubicBezTo>
                  <a:cubicBezTo>
                    <a:pt x="2072448" y="2497765"/>
                    <a:pt x="2054532" y="2505186"/>
                    <a:pt x="2035851" y="2505186"/>
                  </a:cubicBezTo>
                  <a:lnTo>
                    <a:pt x="70438" y="2505186"/>
                  </a:lnTo>
                  <a:cubicBezTo>
                    <a:pt x="31536" y="2505186"/>
                    <a:pt x="0" y="2473650"/>
                    <a:pt x="0" y="2434748"/>
                  </a:cubicBezTo>
                  <a:lnTo>
                    <a:pt x="0" y="70438"/>
                  </a:lnTo>
                  <a:cubicBezTo>
                    <a:pt x="0" y="31536"/>
                    <a:pt x="31536" y="0"/>
                    <a:pt x="70438" y="0"/>
                  </a:cubicBezTo>
                  <a:close/>
                </a:path>
              </a:pathLst>
            </a:custGeom>
            <a:solidFill>
              <a:srgbClr val="EB574C"/>
            </a:solidFill>
            <a:ln w="9525" cap="rnd">
              <a:solidFill>
                <a:srgbClr val="424141"/>
              </a:solidFill>
              <a:prstDash val="solid"/>
              <a:round/>
            </a:ln>
          </p:spPr>
          <p:txBody>
            <a:bodyPr/>
            <a:lstStyle/>
            <a:p>
              <a:endParaRPr lang="en-US"/>
            </a:p>
          </p:txBody>
        </p:sp>
        <p:sp>
          <p:nvSpPr>
            <p:cNvPr id="14" name="TextBox 14"/>
            <p:cNvSpPr txBox="1"/>
            <p:nvPr/>
          </p:nvSpPr>
          <p:spPr>
            <a:xfrm>
              <a:off x="0" y="-38100"/>
              <a:ext cx="2106289" cy="2543286"/>
            </a:xfrm>
            <a:prstGeom prst="rect">
              <a:avLst/>
            </a:prstGeom>
          </p:spPr>
          <p:txBody>
            <a:bodyPr lIns="50800" tIns="50800" rIns="50800" bIns="50800" rtlCol="0" anchor="ctr"/>
            <a:lstStyle/>
            <a:p>
              <a:pPr marL="0" lvl="0" indent="0" algn="ctr">
                <a:lnSpc>
                  <a:spcPts val="1540"/>
                </a:lnSpc>
              </a:pPr>
              <a:endParaRPr/>
            </a:p>
          </p:txBody>
        </p:sp>
      </p:grpSp>
      <p:sp>
        <p:nvSpPr>
          <p:cNvPr id="15" name="AutoShape 15"/>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6" name="AutoShape 16"/>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7" name="AutoShape 17"/>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8" name="Freeform 18"/>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Freeform 20"/>
          <p:cNvSpPr/>
          <p:nvPr/>
        </p:nvSpPr>
        <p:spPr>
          <a:xfrm rot="9212324" flipH="1">
            <a:off x="10028505" y="4589643"/>
            <a:ext cx="941613" cy="818027"/>
          </a:xfrm>
          <a:custGeom>
            <a:avLst/>
            <a:gdLst/>
            <a:ahLst/>
            <a:cxnLst/>
            <a:rect l="l" t="t" r="r" b="b"/>
            <a:pathLst>
              <a:path w="941613" h="818027">
                <a:moveTo>
                  <a:pt x="941614" y="0"/>
                </a:moveTo>
                <a:lnTo>
                  <a:pt x="0" y="0"/>
                </a:lnTo>
                <a:lnTo>
                  <a:pt x="0" y="818027"/>
                </a:lnTo>
                <a:lnTo>
                  <a:pt x="941614" y="818027"/>
                </a:lnTo>
                <a:lnTo>
                  <a:pt x="941614"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Freeform 21"/>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2" name="Freeform 22"/>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3" name="Freeform 23"/>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24" name="Group 24"/>
          <p:cNvGrpSpPr/>
          <p:nvPr/>
        </p:nvGrpSpPr>
        <p:grpSpPr>
          <a:xfrm>
            <a:off x="13187091" y="555407"/>
            <a:ext cx="3517176" cy="4183273"/>
            <a:chOff x="0" y="0"/>
            <a:chExt cx="2106289" cy="2505186"/>
          </a:xfrm>
        </p:grpSpPr>
        <p:sp>
          <p:nvSpPr>
            <p:cNvPr id="25" name="Freeform 25"/>
            <p:cNvSpPr/>
            <p:nvPr/>
          </p:nvSpPr>
          <p:spPr>
            <a:xfrm>
              <a:off x="0" y="0"/>
              <a:ext cx="2106288" cy="2505186"/>
            </a:xfrm>
            <a:custGeom>
              <a:avLst/>
              <a:gdLst/>
              <a:ahLst/>
              <a:cxnLst/>
              <a:rect l="l" t="t" r="r" b="b"/>
              <a:pathLst>
                <a:path w="2106288" h="2505186">
                  <a:moveTo>
                    <a:pt x="70438" y="0"/>
                  </a:moveTo>
                  <a:lnTo>
                    <a:pt x="2035851" y="0"/>
                  </a:lnTo>
                  <a:cubicBezTo>
                    <a:pt x="2074752" y="0"/>
                    <a:pt x="2106288" y="31536"/>
                    <a:pt x="2106288" y="70438"/>
                  </a:cubicBezTo>
                  <a:lnTo>
                    <a:pt x="2106288" y="2434748"/>
                  </a:lnTo>
                  <a:cubicBezTo>
                    <a:pt x="2106288" y="2453430"/>
                    <a:pt x="2098867" y="2471346"/>
                    <a:pt x="2085658" y="2484555"/>
                  </a:cubicBezTo>
                  <a:cubicBezTo>
                    <a:pt x="2072448" y="2497765"/>
                    <a:pt x="2054532" y="2505186"/>
                    <a:pt x="2035851" y="2505186"/>
                  </a:cubicBezTo>
                  <a:lnTo>
                    <a:pt x="70438" y="2505186"/>
                  </a:lnTo>
                  <a:cubicBezTo>
                    <a:pt x="31536" y="2505186"/>
                    <a:pt x="0" y="2473650"/>
                    <a:pt x="0" y="2434748"/>
                  </a:cubicBezTo>
                  <a:lnTo>
                    <a:pt x="0" y="70438"/>
                  </a:lnTo>
                  <a:cubicBezTo>
                    <a:pt x="0" y="31536"/>
                    <a:pt x="31536" y="0"/>
                    <a:pt x="70438" y="0"/>
                  </a:cubicBezTo>
                  <a:close/>
                </a:path>
              </a:pathLst>
            </a:custGeom>
            <a:solidFill>
              <a:srgbClr val="EB574C"/>
            </a:solidFill>
            <a:ln w="9525" cap="rnd">
              <a:solidFill>
                <a:srgbClr val="424141"/>
              </a:solidFill>
              <a:prstDash val="solid"/>
              <a:round/>
            </a:ln>
          </p:spPr>
          <p:txBody>
            <a:bodyPr/>
            <a:lstStyle/>
            <a:p>
              <a:endParaRPr lang="en-US"/>
            </a:p>
          </p:txBody>
        </p:sp>
        <p:sp>
          <p:nvSpPr>
            <p:cNvPr id="26" name="TextBox 26"/>
            <p:cNvSpPr txBox="1"/>
            <p:nvPr/>
          </p:nvSpPr>
          <p:spPr>
            <a:xfrm>
              <a:off x="0" y="-38100"/>
              <a:ext cx="2106289" cy="2543286"/>
            </a:xfrm>
            <a:prstGeom prst="rect">
              <a:avLst/>
            </a:prstGeom>
          </p:spPr>
          <p:txBody>
            <a:bodyPr lIns="50800" tIns="50800" rIns="50800" bIns="50800" rtlCol="0" anchor="ctr"/>
            <a:lstStyle/>
            <a:p>
              <a:pPr marL="0" lvl="0" indent="0" algn="ctr">
                <a:lnSpc>
                  <a:spcPts val="1540"/>
                </a:lnSpc>
              </a:pPr>
              <a:endParaRPr/>
            </a:p>
          </p:txBody>
        </p:sp>
      </p:grpSp>
      <p:grpSp>
        <p:nvGrpSpPr>
          <p:cNvPr id="27" name="Group 27"/>
          <p:cNvGrpSpPr/>
          <p:nvPr/>
        </p:nvGrpSpPr>
        <p:grpSpPr>
          <a:xfrm>
            <a:off x="8957996" y="7877928"/>
            <a:ext cx="390249" cy="454108"/>
            <a:chOff x="0" y="0"/>
            <a:chExt cx="698500" cy="812800"/>
          </a:xfrm>
        </p:grpSpPr>
        <p:sp>
          <p:nvSpPr>
            <p:cNvPr id="28" name="Freeform 28"/>
            <p:cNvSpPr/>
            <p:nvPr/>
          </p:nvSpPr>
          <p:spPr>
            <a:xfrm>
              <a:off x="0" y="45987"/>
              <a:ext cx="698500" cy="720825"/>
            </a:xfrm>
            <a:custGeom>
              <a:avLst/>
              <a:gdLst/>
              <a:ahLst/>
              <a:cxnLst/>
              <a:rect l="l" t="t" r="r" b="b"/>
              <a:pathLst>
                <a:path w="698500" h="720825">
                  <a:moveTo>
                    <a:pt x="496609" y="39749"/>
                  </a:moveTo>
                  <a:lnTo>
                    <a:pt x="551141" y="71477"/>
                  </a:lnTo>
                  <a:cubicBezTo>
                    <a:pt x="642374" y="124558"/>
                    <a:pt x="698500" y="222147"/>
                    <a:pt x="698500" y="327699"/>
                  </a:cubicBezTo>
                  <a:lnTo>
                    <a:pt x="698500" y="393127"/>
                  </a:lnTo>
                  <a:cubicBezTo>
                    <a:pt x="698500" y="498678"/>
                    <a:pt x="642374" y="596268"/>
                    <a:pt x="551141" y="649349"/>
                  </a:cubicBezTo>
                  <a:lnTo>
                    <a:pt x="496609" y="681077"/>
                  </a:lnTo>
                  <a:cubicBezTo>
                    <a:pt x="405518" y="734075"/>
                    <a:pt x="292982" y="734075"/>
                    <a:pt x="201891" y="681077"/>
                  </a:cubicBezTo>
                  <a:lnTo>
                    <a:pt x="147359" y="649349"/>
                  </a:lnTo>
                  <a:cubicBezTo>
                    <a:pt x="56126" y="596268"/>
                    <a:pt x="0" y="498678"/>
                    <a:pt x="0" y="393127"/>
                  </a:cubicBezTo>
                  <a:lnTo>
                    <a:pt x="0" y="327699"/>
                  </a:lnTo>
                  <a:cubicBezTo>
                    <a:pt x="0" y="222147"/>
                    <a:pt x="56126" y="124558"/>
                    <a:pt x="147359" y="71477"/>
                  </a:cubicBezTo>
                  <a:lnTo>
                    <a:pt x="201891" y="39749"/>
                  </a:lnTo>
                  <a:cubicBezTo>
                    <a:pt x="292982" y="-13249"/>
                    <a:pt x="405518" y="-13249"/>
                    <a:pt x="496609" y="39749"/>
                  </a:cubicBezTo>
                  <a:close/>
                </a:path>
              </a:pathLst>
            </a:custGeom>
            <a:solidFill>
              <a:srgbClr val="FCFDFE"/>
            </a:solidFill>
          </p:spPr>
          <p:txBody>
            <a:bodyPr/>
            <a:lstStyle/>
            <a:p>
              <a:endParaRPr lang="en-US"/>
            </a:p>
          </p:txBody>
        </p:sp>
        <p:sp>
          <p:nvSpPr>
            <p:cNvPr id="29" name="TextBox 29"/>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30" name="Group 30"/>
          <p:cNvGrpSpPr/>
          <p:nvPr/>
        </p:nvGrpSpPr>
        <p:grpSpPr>
          <a:xfrm>
            <a:off x="10279224" y="7151367"/>
            <a:ext cx="390249" cy="454108"/>
            <a:chOff x="0" y="0"/>
            <a:chExt cx="698500" cy="812800"/>
          </a:xfrm>
        </p:grpSpPr>
        <p:sp>
          <p:nvSpPr>
            <p:cNvPr id="31" name="Freeform 31"/>
            <p:cNvSpPr/>
            <p:nvPr/>
          </p:nvSpPr>
          <p:spPr>
            <a:xfrm>
              <a:off x="0" y="45987"/>
              <a:ext cx="698500" cy="720825"/>
            </a:xfrm>
            <a:custGeom>
              <a:avLst/>
              <a:gdLst/>
              <a:ahLst/>
              <a:cxnLst/>
              <a:rect l="l" t="t" r="r" b="b"/>
              <a:pathLst>
                <a:path w="698500" h="720825">
                  <a:moveTo>
                    <a:pt x="496609" y="39749"/>
                  </a:moveTo>
                  <a:lnTo>
                    <a:pt x="551141" y="71477"/>
                  </a:lnTo>
                  <a:cubicBezTo>
                    <a:pt x="642374" y="124558"/>
                    <a:pt x="698500" y="222147"/>
                    <a:pt x="698500" y="327699"/>
                  </a:cubicBezTo>
                  <a:lnTo>
                    <a:pt x="698500" y="393127"/>
                  </a:lnTo>
                  <a:cubicBezTo>
                    <a:pt x="698500" y="498678"/>
                    <a:pt x="642374" y="596268"/>
                    <a:pt x="551141" y="649349"/>
                  </a:cubicBezTo>
                  <a:lnTo>
                    <a:pt x="496609" y="681077"/>
                  </a:lnTo>
                  <a:cubicBezTo>
                    <a:pt x="405518" y="734075"/>
                    <a:pt x="292982" y="734075"/>
                    <a:pt x="201891" y="681077"/>
                  </a:cubicBezTo>
                  <a:lnTo>
                    <a:pt x="147359" y="649349"/>
                  </a:lnTo>
                  <a:cubicBezTo>
                    <a:pt x="56126" y="596268"/>
                    <a:pt x="0" y="498678"/>
                    <a:pt x="0" y="393127"/>
                  </a:cubicBezTo>
                  <a:lnTo>
                    <a:pt x="0" y="327699"/>
                  </a:lnTo>
                  <a:cubicBezTo>
                    <a:pt x="0" y="222147"/>
                    <a:pt x="56126" y="124558"/>
                    <a:pt x="147359" y="71477"/>
                  </a:cubicBezTo>
                  <a:lnTo>
                    <a:pt x="201891" y="39749"/>
                  </a:lnTo>
                  <a:cubicBezTo>
                    <a:pt x="292982" y="-13249"/>
                    <a:pt x="405518" y="-13249"/>
                    <a:pt x="496609" y="39749"/>
                  </a:cubicBezTo>
                  <a:close/>
                </a:path>
              </a:pathLst>
            </a:custGeom>
            <a:solidFill>
              <a:srgbClr val="FCFDFE"/>
            </a:solidFill>
          </p:spPr>
          <p:txBody>
            <a:bodyPr/>
            <a:lstStyle/>
            <a:p>
              <a:endParaRPr lang="en-US"/>
            </a:p>
          </p:txBody>
        </p:sp>
        <p:sp>
          <p:nvSpPr>
            <p:cNvPr id="32" name="TextBox 32"/>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33" name="Freeform 33"/>
          <p:cNvSpPr/>
          <p:nvPr/>
        </p:nvSpPr>
        <p:spPr>
          <a:xfrm>
            <a:off x="6206650" y="6731419"/>
            <a:ext cx="3430547" cy="3143238"/>
          </a:xfrm>
          <a:custGeom>
            <a:avLst/>
            <a:gdLst/>
            <a:ahLst/>
            <a:cxnLst/>
            <a:rect l="l" t="t" r="r" b="b"/>
            <a:pathLst>
              <a:path w="3430547" h="3143238">
                <a:moveTo>
                  <a:pt x="0" y="0"/>
                </a:moveTo>
                <a:lnTo>
                  <a:pt x="3430546" y="0"/>
                </a:lnTo>
                <a:lnTo>
                  <a:pt x="3430546" y="3143238"/>
                </a:lnTo>
                <a:lnTo>
                  <a:pt x="0" y="314323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34" name="Group 34"/>
          <p:cNvGrpSpPr/>
          <p:nvPr/>
        </p:nvGrpSpPr>
        <p:grpSpPr>
          <a:xfrm>
            <a:off x="2304352" y="9445229"/>
            <a:ext cx="4104592" cy="141418"/>
            <a:chOff x="0" y="0"/>
            <a:chExt cx="2196097" cy="75663"/>
          </a:xfrm>
        </p:grpSpPr>
        <p:sp>
          <p:nvSpPr>
            <p:cNvPr id="35" name="Freeform 35"/>
            <p:cNvSpPr/>
            <p:nvPr/>
          </p:nvSpPr>
          <p:spPr>
            <a:xfrm>
              <a:off x="0" y="0"/>
              <a:ext cx="2196097" cy="75663"/>
            </a:xfrm>
            <a:custGeom>
              <a:avLst/>
              <a:gdLst/>
              <a:ahLst/>
              <a:cxnLst/>
              <a:rect l="l" t="t" r="r" b="b"/>
              <a:pathLst>
                <a:path w="2196097" h="75663">
                  <a:moveTo>
                    <a:pt x="37832" y="0"/>
                  </a:moveTo>
                  <a:lnTo>
                    <a:pt x="2158265" y="0"/>
                  </a:lnTo>
                  <a:cubicBezTo>
                    <a:pt x="2168299" y="0"/>
                    <a:pt x="2177922" y="3986"/>
                    <a:pt x="2185016" y="11081"/>
                  </a:cubicBezTo>
                  <a:cubicBezTo>
                    <a:pt x="2192111" y="18175"/>
                    <a:pt x="2196097" y="27798"/>
                    <a:pt x="2196097" y="37832"/>
                  </a:cubicBezTo>
                  <a:lnTo>
                    <a:pt x="2196097" y="37832"/>
                  </a:lnTo>
                  <a:cubicBezTo>
                    <a:pt x="2196097" y="58726"/>
                    <a:pt x="2179159" y="75663"/>
                    <a:pt x="2158265"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endParaRPr lang="en-US"/>
            </a:p>
          </p:txBody>
        </p:sp>
        <p:sp>
          <p:nvSpPr>
            <p:cNvPr id="36" name="TextBox 36"/>
            <p:cNvSpPr txBox="1"/>
            <p:nvPr/>
          </p:nvSpPr>
          <p:spPr>
            <a:xfrm>
              <a:off x="0" y="-28575"/>
              <a:ext cx="2196097" cy="104238"/>
            </a:xfrm>
            <a:prstGeom prst="rect">
              <a:avLst/>
            </a:prstGeom>
          </p:spPr>
          <p:txBody>
            <a:bodyPr lIns="50800" tIns="50800" rIns="50800" bIns="50800" rtlCol="0" anchor="ctr"/>
            <a:lstStyle/>
            <a:p>
              <a:pPr algn="ctr">
                <a:lnSpc>
                  <a:spcPts val="2240"/>
                </a:lnSpc>
              </a:pPr>
              <a:endParaRPr/>
            </a:p>
          </p:txBody>
        </p:sp>
      </p:grpSp>
      <p:grpSp>
        <p:nvGrpSpPr>
          <p:cNvPr id="37" name="Group 37"/>
          <p:cNvGrpSpPr/>
          <p:nvPr/>
        </p:nvGrpSpPr>
        <p:grpSpPr>
          <a:xfrm>
            <a:off x="9056398" y="9445229"/>
            <a:ext cx="1930373" cy="141418"/>
            <a:chOff x="0" y="0"/>
            <a:chExt cx="1032816" cy="75663"/>
          </a:xfrm>
        </p:grpSpPr>
        <p:sp>
          <p:nvSpPr>
            <p:cNvPr id="38" name="Freeform 38"/>
            <p:cNvSpPr/>
            <p:nvPr/>
          </p:nvSpPr>
          <p:spPr>
            <a:xfrm>
              <a:off x="0" y="0"/>
              <a:ext cx="1032816" cy="75663"/>
            </a:xfrm>
            <a:custGeom>
              <a:avLst/>
              <a:gdLst/>
              <a:ahLst/>
              <a:cxnLst/>
              <a:rect l="l" t="t" r="r" b="b"/>
              <a:pathLst>
                <a:path w="1032816" h="75663">
                  <a:moveTo>
                    <a:pt x="37832" y="0"/>
                  </a:moveTo>
                  <a:lnTo>
                    <a:pt x="994984" y="0"/>
                  </a:lnTo>
                  <a:cubicBezTo>
                    <a:pt x="1015878" y="0"/>
                    <a:pt x="1032816" y="16938"/>
                    <a:pt x="1032816" y="37832"/>
                  </a:cubicBezTo>
                  <a:lnTo>
                    <a:pt x="1032816" y="37832"/>
                  </a:lnTo>
                  <a:cubicBezTo>
                    <a:pt x="1032816" y="47865"/>
                    <a:pt x="1028830" y="57488"/>
                    <a:pt x="1021735" y="64583"/>
                  </a:cubicBezTo>
                  <a:cubicBezTo>
                    <a:pt x="1014640" y="71678"/>
                    <a:pt x="1005018" y="75663"/>
                    <a:pt x="994984"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endParaRPr lang="en-US"/>
            </a:p>
          </p:txBody>
        </p:sp>
        <p:sp>
          <p:nvSpPr>
            <p:cNvPr id="39" name="TextBox 39"/>
            <p:cNvSpPr txBox="1"/>
            <p:nvPr/>
          </p:nvSpPr>
          <p:spPr>
            <a:xfrm>
              <a:off x="0" y="-28575"/>
              <a:ext cx="1032816" cy="104238"/>
            </a:xfrm>
            <a:prstGeom prst="rect">
              <a:avLst/>
            </a:prstGeom>
          </p:spPr>
          <p:txBody>
            <a:bodyPr lIns="50800" tIns="50800" rIns="50800" bIns="50800" rtlCol="0" anchor="ctr"/>
            <a:lstStyle/>
            <a:p>
              <a:pPr algn="ctr">
                <a:lnSpc>
                  <a:spcPts val="2240"/>
                </a:lnSpc>
              </a:pPr>
              <a:endParaRPr/>
            </a:p>
          </p:txBody>
        </p:sp>
      </p:grpSp>
      <p:sp>
        <p:nvSpPr>
          <p:cNvPr id="40" name="Freeform 40"/>
          <p:cNvSpPr/>
          <p:nvPr/>
        </p:nvSpPr>
        <p:spPr>
          <a:xfrm rot="5400000">
            <a:off x="3046999" y="9243867"/>
            <a:ext cx="671751" cy="589829"/>
          </a:xfrm>
          <a:custGeom>
            <a:avLst/>
            <a:gdLst/>
            <a:ahLst/>
            <a:cxnLst/>
            <a:rect l="l" t="t" r="r" b="b"/>
            <a:pathLst>
              <a:path w="671751" h="589829">
                <a:moveTo>
                  <a:pt x="0" y="0"/>
                </a:moveTo>
                <a:lnTo>
                  <a:pt x="671751" y="0"/>
                </a:lnTo>
                <a:lnTo>
                  <a:pt x="671751" y="589830"/>
                </a:lnTo>
                <a:lnTo>
                  <a:pt x="0" y="589830"/>
                </a:lnTo>
                <a:lnTo>
                  <a:pt x="0" y="0"/>
                </a:lnTo>
                <a:close/>
              </a:path>
            </a:pathLst>
          </a:custGeom>
          <a:blipFill>
            <a:blip r:embed="rId10">
              <a:alphaModFix amt="12000"/>
            </a:blip>
            <a:stretch>
              <a:fillRect l="-680" r="-680"/>
            </a:stretch>
          </a:blipFill>
          <a:ln cap="sq">
            <a:noFill/>
            <a:prstDash val="solid"/>
            <a:miter/>
          </a:ln>
        </p:spPr>
        <p:txBody>
          <a:bodyPr/>
          <a:lstStyle/>
          <a:p>
            <a:endParaRPr lang="en-US"/>
          </a:p>
        </p:txBody>
      </p:sp>
      <p:grpSp>
        <p:nvGrpSpPr>
          <p:cNvPr id="41" name="Group 41"/>
          <p:cNvGrpSpPr/>
          <p:nvPr/>
        </p:nvGrpSpPr>
        <p:grpSpPr>
          <a:xfrm>
            <a:off x="3127485" y="9202906"/>
            <a:ext cx="510779" cy="594362"/>
            <a:chOff x="0" y="0"/>
            <a:chExt cx="698500" cy="812800"/>
          </a:xfrm>
        </p:grpSpPr>
        <p:sp>
          <p:nvSpPr>
            <p:cNvPr id="42" name="Freeform 42"/>
            <p:cNvSpPr/>
            <p:nvPr/>
          </p:nvSpPr>
          <p:spPr>
            <a:xfrm>
              <a:off x="0" y="35136"/>
              <a:ext cx="698500" cy="742529"/>
            </a:xfrm>
            <a:custGeom>
              <a:avLst/>
              <a:gdLst/>
              <a:ahLst/>
              <a:cxnLst/>
              <a:rect l="l" t="t" r="r" b="b"/>
              <a:pathLst>
                <a:path w="698500" h="742529">
                  <a:moveTo>
                    <a:pt x="461837" y="30369"/>
                  </a:moveTo>
                  <a:lnTo>
                    <a:pt x="585913" y="102559"/>
                  </a:lnTo>
                  <a:cubicBezTo>
                    <a:pt x="655618" y="143115"/>
                    <a:pt x="698500" y="217676"/>
                    <a:pt x="698500" y="298320"/>
                  </a:cubicBezTo>
                  <a:lnTo>
                    <a:pt x="698500" y="444208"/>
                  </a:lnTo>
                  <a:cubicBezTo>
                    <a:pt x="698500" y="524852"/>
                    <a:pt x="655618" y="599413"/>
                    <a:pt x="585913" y="639969"/>
                  </a:cubicBezTo>
                  <a:lnTo>
                    <a:pt x="461837" y="712159"/>
                  </a:lnTo>
                  <a:cubicBezTo>
                    <a:pt x="392240" y="752652"/>
                    <a:pt x="306260" y="752652"/>
                    <a:pt x="236663" y="712159"/>
                  </a:cubicBezTo>
                  <a:lnTo>
                    <a:pt x="112587" y="639969"/>
                  </a:lnTo>
                  <a:cubicBezTo>
                    <a:pt x="42882" y="599413"/>
                    <a:pt x="0" y="524852"/>
                    <a:pt x="0" y="444208"/>
                  </a:cubicBezTo>
                  <a:lnTo>
                    <a:pt x="0" y="298320"/>
                  </a:lnTo>
                  <a:cubicBezTo>
                    <a:pt x="0" y="217676"/>
                    <a:pt x="42882" y="143115"/>
                    <a:pt x="112587" y="102559"/>
                  </a:cubicBezTo>
                  <a:lnTo>
                    <a:pt x="236663" y="30369"/>
                  </a:lnTo>
                  <a:cubicBezTo>
                    <a:pt x="306260" y="-10124"/>
                    <a:pt x="392240" y="-10124"/>
                    <a:pt x="461837" y="30369"/>
                  </a:cubicBezTo>
                  <a:close/>
                </a:path>
              </a:pathLst>
            </a:custGeom>
            <a:solidFill>
              <a:srgbClr val="FCFDFE"/>
            </a:solidFill>
          </p:spPr>
          <p:txBody>
            <a:bodyPr/>
            <a:lstStyle/>
            <a:p>
              <a:endParaRPr lang="en-US"/>
            </a:p>
          </p:txBody>
        </p:sp>
        <p:sp>
          <p:nvSpPr>
            <p:cNvPr id="43" name="TextBox 43"/>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44" name="Group 44"/>
          <p:cNvGrpSpPr/>
          <p:nvPr/>
        </p:nvGrpSpPr>
        <p:grpSpPr>
          <a:xfrm>
            <a:off x="3186841" y="9271975"/>
            <a:ext cx="392068" cy="456224"/>
            <a:chOff x="0" y="0"/>
            <a:chExt cx="698500" cy="812800"/>
          </a:xfrm>
        </p:grpSpPr>
        <p:sp>
          <p:nvSpPr>
            <p:cNvPr id="45" name="Freeform 45"/>
            <p:cNvSpPr/>
            <p:nvPr/>
          </p:nvSpPr>
          <p:spPr>
            <a:xfrm>
              <a:off x="0" y="22887"/>
              <a:ext cx="698500" cy="767026"/>
            </a:xfrm>
            <a:custGeom>
              <a:avLst/>
              <a:gdLst/>
              <a:ahLst/>
              <a:cxnLst/>
              <a:rect l="l" t="t" r="r" b="b"/>
              <a:pathLst>
                <a:path w="698500" h="767026">
                  <a:moveTo>
                    <a:pt x="422588" y="19782"/>
                  </a:moveTo>
                  <a:lnTo>
                    <a:pt x="625162" y="137644"/>
                  </a:lnTo>
                  <a:cubicBezTo>
                    <a:pt x="670567" y="164061"/>
                    <a:pt x="698500" y="212630"/>
                    <a:pt x="698500" y="265161"/>
                  </a:cubicBezTo>
                  <a:lnTo>
                    <a:pt x="698500" y="501865"/>
                  </a:lnTo>
                  <a:cubicBezTo>
                    <a:pt x="698500" y="554396"/>
                    <a:pt x="670567" y="602965"/>
                    <a:pt x="625162" y="629382"/>
                  </a:cubicBezTo>
                  <a:lnTo>
                    <a:pt x="422588" y="747244"/>
                  </a:lnTo>
                  <a:cubicBezTo>
                    <a:pt x="377253" y="773620"/>
                    <a:pt x="321247" y="773620"/>
                    <a:pt x="275912" y="747244"/>
                  </a:cubicBezTo>
                  <a:lnTo>
                    <a:pt x="73338" y="629382"/>
                  </a:lnTo>
                  <a:cubicBezTo>
                    <a:pt x="27933" y="602965"/>
                    <a:pt x="0" y="554396"/>
                    <a:pt x="0" y="501865"/>
                  </a:cubicBezTo>
                  <a:lnTo>
                    <a:pt x="0" y="265161"/>
                  </a:lnTo>
                  <a:cubicBezTo>
                    <a:pt x="0" y="212630"/>
                    <a:pt x="27933" y="164061"/>
                    <a:pt x="73338" y="137644"/>
                  </a:cubicBezTo>
                  <a:lnTo>
                    <a:pt x="275912" y="19782"/>
                  </a:lnTo>
                  <a:cubicBezTo>
                    <a:pt x="321247" y="-6594"/>
                    <a:pt x="377253" y="-6594"/>
                    <a:pt x="422588" y="19782"/>
                  </a:cubicBezTo>
                  <a:close/>
                </a:path>
              </a:pathLst>
            </a:custGeom>
            <a:solidFill>
              <a:srgbClr val="AB87FF"/>
            </a:solidFill>
          </p:spPr>
          <p:txBody>
            <a:bodyPr/>
            <a:lstStyle/>
            <a:p>
              <a:endParaRPr lang="en-US"/>
            </a:p>
          </p:txBody>
        </p:sp>
        <p:sp>
          <p:nvSpPr>
            <p:cNvPr id="46" name="TextBox 46"/>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47" name="Freeform 47"/>
          <p:cNvSpPr/>
          <p:nvPr/>
        </p:nvSpPr>
        <p:spPr>
          <a:xfrm rot="5400000">
            <a:off x="5137598" y="9243867"/>
            <a:ext cx="671751" cy="589829"/>
          </a:xfrm>
          <a:custGeom>
            <a:avLst/>
            <a:gdLst/>
            <a:ahLst/>
            <a:cxnLst/>
            <a:rect l="l" t="t" r="r" b="b"/>
            <a:pathLst>
              <a:path w="671751" h="589829">
                <a:moveTo>
                  <a:pt x="0" y="0"/>
                </a:moveTo>
                <a:lnTo>
                  <a:pt x="671752" y="0"/>
                </a:lnTo>
                <a:lnTo>
                  <a:pt x="671752" y="589830"/>
                </a:lnTo>
                <a:lnTo>
                  <a:pt x="0" y="589830"/>
                </a:lnTo>
                <a:lnTo>
                  <a:pt x="0" y="0"/>
                </a:lnTo>
                <a:close/>
              </a:path>
            </a:pathLst>
          </a:custGeom>
          <a:blipFill>
            <a:blip r:embed="rId10">
              <a:alphaModFix amt="12000"/>
            </a:blip>
            <a:stretch>
              <a:fillRect l="-680" r="-680"/>
            </a:stretch>
          </a:blipFill>
          <a:ln cap="sq">
            <a:noFill/>
            <a:prstDash val="solid"/>
            <a:miter/>
          </a:ln>
        </p:spPr>
        <p:txBody>
          <a:bodyPr/>
          <a:lstStyle/>
          <a:p>
            <a:endParaRPr lang="en-US"/>
          </a:p>
        </p:txBody>
      </p:sp>
      <p:grpSp>
        <p:nvGrpSpPr>
          <p:cNvPr id="48" name="Group 48"/>
          <p:cNvGrpSpPr/>
          <p:nvPr/>
        </p:nvGrpSpPr>
        <p:grpSpPr>
          <a:xfrm>
            <a:off x="5218084" y="9202906"/>
            <a:ext cx="510779" cy="594362"/>
            <a:chOff x="0" y="0"/>
            <a:chExt cx="698500" cy="812800"/>
          </a:xfrm>
        </p:grpSpPr>
        <p:sp>
          <p:nvSpPr>
            <p:cNvPr id="49" name="Freeform 49"/>
            <p:cNvSpPr/>
            <p:nvPr/>
          </p:nvSpPr>
          <p:spPr>
            <a:xfrm>
              <a:off x="0" y="35136"/>
              <a:ext cx="698500" cy="742529"/>
            </a:xfrm>
            <a:custGeom>
              <a:avLst/>
              <a:gdLst/>
              <a:ahLst/>
              <a:cxnLst/>
              <a:rect l="l" t="t" r="r" b="b"/>
              <a:pathLst>
                <a:path w="698500" h="742529">
                  <a:moveTo>
                    <a:pt x="461837" y="30369"/>
                  </a:moveTo>
                  <a:lnTo>
                    <a:pt x="585913" y="102559"/>
                  </a:lnTo>
                  <a:cubicBezTo>
                    <a:pt x="655618" y="143115"/>
                    <a:pt x="698500" y="217676"/>
                    <a:pt x="698500" y="298320"/>
                  </a:cubicBezTo>
                  <a:lnTo>
                    <a:pt x="698500" y="444208"/>
                  </a:lnTo>
                  <a:cubicBezTo>
                    <a:pt x="698500" y="524852"/>
                    <a:pt x="655618" y="599413"/>
                    <a:pt x="585913" y="639969"/>
                  </a:cubicBezTo>
                  <a:lnTo>
                    <a:pt x="461837" y="712159"/>
                  </a:lnTo>
                  <a:cubicBezTo>
                    <a:pt x="392240" y="752652"/>
                    <a:pt x="306260" y="752652"/>
                    <a:pt x="236663" y="712159"/>
                  </a:cubicBezTo>
                  <a:lnTo>
                    <a:pt x="112587" y="639969"/>
                  </a:lnTo>
                  <a:cubicBezTo>
                    <a:pt x="42882" y="599413"/>
                    <a:pt x="0" y="524852"/>
                    <a:pt x="0" y="444208"/>
                  </a:cubicBezTo>
                  <a:lnTo>
                    <a:pt x="0" y="298320"/>
                  </a:lnTo>
                  <a:cubicBezTo>
                    <a:pt x="0" y="217676"/>
                    <a:pt x="42882" y="143115"/>
                    <a:pt x="112587" y="102559"/>
                  </a:cubicBezTo>
                  <a:lnTo>
                    <a:pt x="236663" y="30369"/>
                  </a:lnTo>
                  <a:cubicBezTo>
                    <a:pt x="306260" y="-10124"/>
                    <a:pt x="392240" y="-10124"/>
                    <a:pt x="461837" y="30369"/>
                  </a:cubicBezTo>
                  <a:close/>
                </a:path>
              </a:pathLst>
            </a:custGeom>
            <a:solidFill>
              <a:srgbClr val="FCFDFE"/>
            </a:solidFill>
          </p:spPr>
          <p:txBody>
            <a:bodyPr/>
            <a:lstStyle/>
            <a:p>
              <a:endParaRPr lang="en-US"/>
            </a:p>
          </p:txBody>
        </p:sp>
        <p:sp>
          <p:nvSpPr>
            <p:cNvPr id="50" name="TextBox 50"/>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51" name="Group 51"/>
          <p:cNvGrpSpPr/>
          <p:nvPr/>
        </p:nvGrpSpPr>
        <p:grpSpPr>
          <a:xfrm>
            <a:off x="5277440" y="9271975"/>
            <a:ext cx="392068" cy="456224"/>
            <a:chOff x="0" y="0"/>
            <a:chExt cx="698500" cy="812800"/>
          </a:xfrm>
        </p:grpSpPr>
        <p:sp>
          <p:nvSpPr>
            <p:cNvPr id="52" name="Freeform 52"/>
            <p:cNvSpPr/>
            <p:nvPr/>
          </p:nvSpPr>
          <p:spPr>
            <a:xfrm>
              <a:off x="0" y="22887"/>
              <a:ext cx="698500" cy="767026"/>
            </a:xfrm>
            <a:custGeom>
              <a:avLst/>
              <a:gdLst/>
              <a:ahLst/>
              <a:cxnLst/>
              <a:rect l="l" t="t" r="r" b="b"/>
              <a:pathLst>
                <a:path w="698500" h="767026">
                  <a:moveTo>
                    <a:pt x="422588" y="19782"/>
                  </a:moveTo>
                  <a:lnTo>
                    <a:pt x="625162" y="137644"/>
                  </a:lnTo>
                  <a:cubicBezTo>
                    <a:pt x="670567" y="164061"/>
                    <a:pt x="698500" y="212630"/>
                    <a:pt x="698500" y="265161"/>
                  </a:cubicBezTo>
                  <a:lnTo>
                    <a:pt x="698500" y="501865"/>
                  </a:lnTo>
                  <a:cubicBezTo>
                    <a:pt x="698500" y="554396"/>
                    <a:pt x="670567" y="602965"/>
                    <a:pt x="625162" y="629382"/>
                  </a:cubicBezTo>
                  <a:lnTo>
                    <a:pt x="422588" y="747244"/>
                  </a:lnTo>
                  <a:cubicBezTo>
                    <a:pt x="377253" y="773620"/>
                    <a:pt x="321247" y="773620"/>
                    <a:pt x="275912" y="747244"/>
                  </a:cubicBezTo>
                  <a:lnTo>
                    <a:pt x="73338" y="629382"/>
                  </a:lnTo>
                  <a:cubicBezTo>
                    <a:pt x="27933" y="602965"/>
                    <a:pt x="0" y="554396"/>
                    <a:pt x="0" y="501865"/>
                  </a:cubicBezTo>
                  <a:lnTo>
                    <a:pt x="0" y="265161"/>
                  </a:lnTo>
                  <a:cubicBezTo>
                    <a:pt x="0" y="212630"/>
                    <a:pt x="27933" y="164061"/>
                    <a:pt x="73338" y="137644"/>
                  </a:cubicBezTo>
                  <a:lnTo>
                    <a:pt x="275912" y="19782"/>
                  </a:lnTo>
                  <a:cubicBezTo>
                    <a:pt x="321247" y="-6594"/>
                    <a:pt x="377253" y="-6594"/>
                    <a:pt x="422588" y="19782"/>
                  </a:cubicBezTo>
                  <a:close/>
                </a:path>
              </a:pathLst>
            </a:custGeom>
            <a:solidFill>
              <a:srgbClr val="F27EDD"/>
            </a:solidFill>
          </p:spPr>
          <p:txBody>
            <a:bodyPr/>
            <a:lstStyle/>
            <a:p>
              <a:endParaRPr lang="en-US"/>
            </a:p>
          </p:txBody>
        </p:sp>
        <p:sp>
          <p:nvSpPr>
            <p:cNvPr id="53" name="TextBox 53"/>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54" name="Freeform 54"/>
          <p:cNvSpPr/>
          <p:nvPr/>
        </p:nvSpPr>
        <p:spPr>
          <a:xfrm rot="5400000">
            <a:off x="9854615" y="9243867"/>
            <a:ext cx="671751" cy="589829"/>
          </a:xfrm>
          <a:custGeom>
            <a:avLst/>
            <a:gdLst/>
            <a:ahLst/>
            <a:cxnLst/>
            <a:rect l="l" t="t" r="r" b="b"/>
            <a:pathLst>
              <a:path w="671751" h="589829">
                <a:moveTo>
                  <a:pt x="0" y="0"/>
                </a:moveTo>
                <a:lnTo>
                  <a:pt x="671751" y="0"/>
                </a:lnTo>
                <a:lnTo>
                  <a:pt x="671751" y="589830"/>
                </a:lnTo>
                <a:lnTo>
                  <a:pt x="0" y="589830"/>
                </a:lnTo>
                <a:lnTo>
                  <a:pt x="0" y="0"/>
                </a:lnTo>
                <a:close/>
              </a:path>
            </a:pathLst>
          </a:custGeom>
          <a:blipFill>
            <a:blip r:embed="rId10">
              <a:alphaModFix amt="12000"/>
            </a:blip>
            <a:stretch>
              <a:fillRect l="-680" r="-680"/>
            </a:stretch>
          </a:blipFill>
          <a:ln cap="sq">
            <a:noFill/>
            <a:prstDash val="solid"/>
            <a:miter/>
          </a:ln>
        </p:spPr>
        <p:txBody>
          <a:bodyPr/>
          <a:lstStyle/>
          <a:p>
            <a:endParaRPr lang="en-US"/>
          </a:p>
        </p:txBody>
      </p:sp>
      <p:grpSp>
        <p:nvGrpSpPr>
          <p:cNvPr id="55" name="Group 55"/>
          <p:cNvGrpSpPr/>
          <p:nvPr/>
        </p:nvGrpSpPr>
        <p:grpSpPr>
          <a:xfrm>
            <a:off x="9935101" y="9202906"/>
            <a:ext cx="510779" cy="594362"/>
            <a:chOff x="0" y="0"/>
            <a:chExt cx="698500" cy="812800"/>
          </a:xfrm>
        </p:grpSpPr>
        <p:sp>
          <p:nvSpPr>
            <p:cNvPr id="56" name="Freeform 56"/>
            <p:cNvSpPr/>
            <p:nvPr/>
          </p:nvSpPr>
          <p:spPr>
            <a:xfrm>
              <a:off x="0" y="35136"/>
              <a:ext cx="698500" cy="742529"/>
            </a:xfrm>
            <a:custGeom>
              <a:avLst/>
              <a:gdLst/>
              <a:ahLst/>
              <a:cxnLst/>
              <a:rect l="l" t="t" r="r" b="b"/>
              <a:pathLst>
                <a:path w="698500" h="742529">
                  <a:moveTo>
                    <a:pt x="461837" y="30369"/>
                  </a:moveTo>
                  <a:lnTo>
                    <a:pt x="585913" y="102559"/>
                  </a:lnTo>
                  <a:cubicBezTo>
                    <a:pt x="655618" y="143115"/>
                    <a:pt x="698500" y="217676"/>
                    <a:pt x="698500" y="298320"/>
                  </a:cubicBezTo>
                  <a:lnTo>
                    <a:pt x="698500" y="444208"/>
                  </a:lnTo>
                  <a:cubicBezTo>
                    <a:pt x="698500" y="524852"/>
                    <a:pt x="655618" y="599413"/>
                    <a:pt x="585913" y="639969"/>
                  </a:cubicBezTo>
                  <a:lnTo>
                    <a:pt x="461837" y="712159"/>
                  </a:lnTo>
                  <a:cubicBezTo>
                    <a:pt x="392240" y="752652"/>
                    <a:pt x="306260" y="752652"/>
                    <a:pt x="236663" y="712159"/>
                  </a:cubicBezTo>
                  <a:lnTo>
                    <a:pt x="112587" y="639969"/>
                  </a:lnTo>
                  <a:cubicBezTo>
                    <a:pt x="42882" y="599413"/>
                    <a:pt x="0" y="524852"/>
                    <a:pt x="0" y="444208"/>
                  </a:cubicBezTo>
                  <a:lnTo>
                    <a:pt x="0" y="298320"/>
                  </a:lnTo>
                  <a:cubicBezTo>
                    <a:pt x="0" y="217676"/>
                    <a:pt x="42882" y="143115"/>
                    <a:pt x="112587" y="102559"/>
                  </a:cubicBezTo>
                  <a:lnTo>
                    <a:pt x="236663" y="30369"/>
                  </a:lnTo>
                  <a:cubicBezTo>
                    <a:pt x="306260" y="-10124"/>
                    <a:pt x="392240" y="-10124"/>
                    <a:pt x="461837" y="30369"/>
                  </a:cubicBezTo>
                  <a:close/>
                </a:path>
              </a:pathLst>
            </a:custGeom>
            <a:solidFill>
              <a:srgbClr val="FCFDFE"/>
            </a:solidFill>
          </p:spPr>
          <p:txBody>
            <a:bodyPr/>
            <a:lstStyle/>
            <a:p>
              <a:endParaRPr lang="en-US"/>
            </a:p>
          </p:txBody>
        </p:sp>
        <p:sp>
          <p:nvSpPr>
            <p:cNvPr id="57" name="TextBox 57"/>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58" name="Group 58"/>
          <p:cNvGrpSpPr/>
          <p:nvPr/>
        </p:nvGrpSpPr>
        <p:grpSpPr>
          <a:xfrm>
            <a:off x="9994457" y="9271975"/>
            <a:ext cx="392068" cy="456224"/>
            <a:chOff x="0" y="0"/>
            <a:chExt cx="698500" cy="812800"/>
          </a:xfrm>
        </p:grpSpPr>
        <p:sp>
          <p:nvSpPr>
            <p:cNvPr id="59" name="Freeform 59"/>
            <p:cNvSpPr/>
            <p:nvPr/>
          </p:nvSpPr>
          <p:spPr>
            <a:xfrm>
              <a:off x="0" y="22887"/>
              <a:ext cx="698500" cy="767026"/>
            </a:xfrm>
            <a:custGeom>
              <a:avLst/>
              <a:gdLst/>
              <a:ahLst/>
              <a:cxnLst/>
              <a:rect l="l" t="t" r="r" b="b"/>
              <a:pathLst>
                <a:path w="698500" h="767026">
                  <a:moveTo>
                    <a:pt x="422588" y="19782"/>
                  </a:moveTo>
                  <a:lnTo>
                    <a:pt x="625162" y="137644"/>
                  </a:lnTo>
                  <a:cubicBezTo>
                    <a:pt x="670567" y="164061"/>
                    <a:pt x="698500" y="212630"/>
                    <a:pt x="698500" y="265161"/>
                  </a:cubicBezTo>
                  <a:lnTo>
                    <a:pt x="698500" y="501865"/>
                  </a:lnTo>
                  <a:cubicBezTo>
                    <a:pt x="698500" y="554396"/>
                    <a:pt x="670567" y="602965"/>
                    <a:pt x="625162" y="629382"/>
                  </a:cubicBezTo>
                  <a:lnTo>
                    <a:pt x="422588" y="747244"/>
                  </a:lnTo>
                  <a:cubicBezTo>
                    <a:pt x="377253" y="773620"/>
                    <a:pt x="321247" y="773620"/>
                    <a:pt x="275912" y="747244"/>
                  </a:cubicBezTo>
                  <a:lnTo>
                    <a:pt x="73338" y="629382"/>
                  </a:lnTo>
                  <a:cubicBezTo>
                    <a:pt x="27933" y="602965"/>
                    <a:pt x="0" y="554396"/>
                    <a:pt x="0" y="501865"/>
                  </a:cubicBezTo>
                  <a:lnTo>
                    <a:pt x="0" y="265161"/>
                  </a:lnTo>
                  <a:cubicBezTo>
                    <a:pt x="0" y="212630"/>
                    <a:pt x="27933" y="164061"/>
                    <a:pt x="73338" y="137644"/>
                  </a:cubicBezTo>
                  <a:lnTo>
                    <a:pt x="275912" y="19782"/>
                  </a:lnTo>
                  <a:cubicBezTo>
                    <a:pt x="321247" y="-6594"/>
                    <a:pt x="377253" y="-6594"/>
                    <a:pt x="422588" y="19782"/>
                  </a:cubicBezTo>
                  <a:close/>
                </a:path>
              </a:pathLst>
            </a:custGeom>
            <a:solidFill>
              <a:srgbClr val="FFD500"/>
            </a:solidFill>
          </p:spPr>
          <p:txBody>
            <a:bodyPr/>
            <a:lstStyle/>
            <a:p>
              <a:endParaRPr lang="en-US"/>
            </a:p>
          </p:txBody>
        </p:sp>
        <p:sp>
          <p:nvSpPr>
            <p:cNvPr id="60" name="TextBox 60"/>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61" name="Freeform 61"/>
          <p:cNvSpPr/>
          <p:nvPr/>
        </p:nvSpPr>
        <p:spPr>
          <a:xfrm rot="5400000">
            <a:off x="8745121" y="7714517"/>
            <a:ext cx="671751" cy="589829"/>
          </a:xfrm>
          <a:custGeom>
            <a:avLst/>
            <a:gdLst/>
            <a:ahLst/>
            <a:cxnLst/>
            <a:rect l="l" t="t" r="r" b="b"/>
            <a:pathLst>
              <a:path w="671751" h="589829">
                <a:moveTo>
                  <a:pt x="0" y="0"/>
                </a:moveTo>
                <a:lnTo>
                  <a:pt x="671752" y="0"/>
                </a:lnTo>
                <a:lnTo>
                  <a:pt x="671752" y="589829"/>
                </a:lnTo>
                <a:lnTo>
                  <a:pt x="0" y="589829"/>
                </a:lnTo>
                <a:lnTo>
                  <a:pt x="0" y="0"/>
                </a:lnTo>
                <a:close/>
              </a:path>
            </a:pathLst>
          </a:custGeom>
          <a:blipFill>
            <a:blip r:embed="rId10">
              <a:alphaModFix amt="12000"/>
            </a:blip>
            <a:stretch>
              <a:fillRect l="-680" r="-680"/>
            </a:stretch>
          </a:blipFill>
          <a:ln cap="sq">
            <a:noFill/>
            <a:prstDash val="solid"/>
            <a:miter/>
          </a:ln>
        </p:spPr>
        <p:txBody>
          <a:bodyPr/>
          <a:lstStyle/>
          <a:p>
            <a:endParaRPr lang="en-US"/>
          </a:p>
        </p:txBody>
      </p:sp>
      <p:grpSp>
        <p:nvGrpSpPr>
          <p:cNvPr id="62" name="Group 62"/>
          <p:cNvGrpSpPr/>
          <p:nvPr/>
        </p:nvGrpSpPr>
        <p:grpSpPr>
          <a:xfrm>
            <a:off x="8825607" y="7708677"/>
            <a:ext cx="510779" cy="594362"/>
            <a:chOff x="0" y="0"/>
            <a:chExt cx="698500" cy="812800"/>
          </a:xfrm>
        </p:grpSpPr>
        <p:sp>
          <p:nvSpPr>
            <p:cNvPr id="63" name="Freeform 63"/>
            <p:cNvSpPr/>
            <p:nvPr/>
          </p:nvSpPr>
          <p:spPr>
            <a:xfrm>
              <a:off x="0" y="35136"/>
              <a:ext cx="698500" cy="742529"/>
            </a:xfrm>
            <a:custGeom>
              <a:avLst/>
              <a:gdLst/>
              <a:ahLst/>
              <a:cxnLst/>
              <a:rect l="l" t="t" r="r" b="b"/>
              <a:pathLst>
                <a:path w="698500" h="742529">
                  <a:moveTo>
                    <a:pt x="461837" y="30369"/>
                  </a:moveTo>
                  <a:lnTo>
                    <a:pt x="585913" y="102559"/>
                  </a:lnTo>
                  <a:cubicBezTo>
                    <a:pt x="655618" y="143115"/>
                    <a:pt x="698500" y="217676"/>
                    <a:pt x="698500" y="298320"/>
                  </a:cubicBezTo>
                  <a:lnTo>
                    <a:pt x="698500" y="444208"/>
                  </a:lnTo>
                  <a:cubicBezTo>
                    <a:pt x="698500" y="524852"/>
                    <a:pt x="655618" y="599413"/>
                    <a:pt x="585913" y="639969"/>
                  </a:cubicBezTo>
                  <a:lnTo>
                    <a:pt x="461837" y="712159"/>
                  </a:lnTo>
                  <a:cubicBezTo>
                    <a:pt x="392240" y="752652"/>
                    <a:pt x="306260" y="752652"/>
                    <a:pt x="236663" y="712159"/>
                  </a:cubicBezTo>
                  <a:lnTo>
                    <a:pt x="112587" y="639969"/>
                  </a:lnTo>
                  <a:cubicBezTo>
                    <a:pt x="42882" y="599413"/>
                    <a:pt x="0" y="524852"/>
                    <a:pt x="0" y="444208"/>
                  </a:cubicBezTo>
                  <a:lnTo>
                    <a:pt x="0" y="298320"/>
                  </a:lnTo>
                  <a:cubicBezTo>
                    <a:pt x="0" y="217676"/>
                    <a:pt x="42882" y="143115"/>
                    <a:pt x="112587" y="102559"/>
                  </a:cubicBezTo>
                  <a:lnTo>
                    <a:pt x="236663" y="30369"/>
                  </a:lnTo>
                  <a:cubicBezTo>
                    <a:pt x="306260" y="-10124"/>
                    <a:pt x="392240" y="-10124"/>
                    <a:pt x="461837" y="30369"/>
                  </a:cubicBezTo>
                  <a:close/>
                </a:path>
              </a:pathLst>
            </a:custGeom>
            <a:solidFill>
              <a:srgbClr val="FCFDFE"/>
            </a:solidFill>
          </p:spPr>
          <p:txBody>
            <a:bodyPr/>
            <a:lstStyle/>
            <a:p>
              <a:endParaRPr lang="en-US"/>
            </a:p>
          </p:txBody>
        </p:sp>
        <p:sp>
          <p:nvSpPr>
            <p:cNvPr id="64" name="TextBox 64"/>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65" name="Group 65"/>
          <p:cNvGrpSpPr/>
          <p:nvPr/>
        </p:nvGrpSpPr>
        <p:grpSpPr>
          <a:xfrm>
            <a:off x="8884963" y="7761207"/>
            <a:ext cx="392068" cy="456224"/>
            <a:chOff x="0" y="0"/>
            <a:chExt cx="698500" cy="812800"/>
          </a:xfrm>
        </p:grpSpPr>
        <p:sp>
          <p:nvSpPr>
            <p:cNvPr id="66" name="Freeform 66"/>
            <p:cNvSpPr/>
            <p:nvPr/>
          </p:nvSpPr>
          <p:spPr>
            <a:xfrm>
              <a:off x="0" y="22887"/>
              <a:ext cx="698500" cy="767026"/>
            </a:xfrm>
            <a:custGeom>
              <a:avLst/>
              <a:gdLst/>
              <a:ahLst/>
              <a:cxnLst/>
              <a:rect l="l" t="t" r="r" b="b"/>
              <a:pathLst>
                <a:path w="698500" h="767026">
                  <a:moveTo>
                    <a:pt x="422588" y="19782"/>
                  </a:moveTo>
                  <a:lnTo>
                    <a:pt x="625162" y="137644"/>
                  </a:lnTo>
                  <a:cubicBezTo>
                    <a:pt x="670567" y="164061"/>
                    <a:pt x="698500" y="212630"/>
                    <a:pt x="698500" y="265161"/>
                  </a:cubicBezTo>
                  <a:lnTo>
                    <a:pt x="698500" y="501865"/>
                  </a:lnTo>
                  <a:cubicBezTo>
                    <a:pt x="698500" y="554396"/>
                    <a:pt x="670567" y="602965"/>
                    <a:pt x="625162" y="629382"/>
                  </a:cubicBezTo>
                  <a:lnTo>
                    <a:pt x="422588" y="747244"/>
                  </a:lnTo>
                  <a:cubicBezTo>
                    <a:pt x="377253" y="773620"/>
                    <a:pt x="321247" y="773620"/>
                    <a:pt x="275912" y="747244"/>
                  </a:cubicBezTo>
                  <a:lnTo>
                    <a:pt x="73338" y="629382"/>
                  </a:lnTo>
                  <a:cubicBezTo>
                    <a:pt x="27933" y="602965"/>
                    <a:pt x="0" y="554396"/>
                    <a:pt x="0" y="501865"/>
                  </a:cubicBezTo>
                  <a:lnTo>
                    <a:pt x="0" y="265161"/>
                  </a:lnTo>
                  <a:cubicBezTo>
                    <a:pt x="0" y="212630"/>
                    <a:pt x="27933" y="164061"/>
                    <a:pt x="73338" y="137644"/>
                  </a:cubicBezTo>
                  <a:lnTo>
                    <a:pt x="275912" y="19782"/>
                  </a:lnTo>
                  <a:cubicBezTo>
                    <a:pt x="321247" y="-6594"/>
                    <a:pt x="377253" y="-6594"/>
                    <a:pt x="422588" y="19782"/>
                  </a:cubicBezTo>
                  <a:close/>
                </a:path>
              </a:pathLst>
            </a:custGeom>
            <a:solidFill>
              <a:srgbClr val="FF94A0"/>
            </a:solidFill>
          </p:spPr>
          <p:txBody>
            <a:bodyPr/>
            <a:lstStyle/>
            <a:p>
              <a:endParaRPr lang="en-US"/>
            </a:p>
          </p:txBody>
        </p:sp>
        <p:sp>
          <p:nvSpPr>
            <p:cNvPr id="67" name="TextBox 67"/>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68" name="Freeform 68"/>
          <p:cNvSpPr/>
          <p:nvPr/>
        </p:nvSpPr>
        <p:spPr>
          <a:xfrm rot="5400000">
            <a:off x="6328458" y="7714517"/>
            <a:ext cx="671751" cy="589829"/>
          </a:xfrm>
          <a:custGeom>
            <a:avLst/>
            <a:gdLst/>
            <a:ahLst/>
            <a:cxnLst/>
            <a:rect l="l" t="t" r="r" b="b"/>
            <a:pathLst>
              <a:path w="671751" h="589829">
                <a:moveTo>
                  <a:pt x="0" y="0"/>
                </a:moveTo>
                <a:lnTo>
                  <a:pt x="671751" y="0"/>
                </a:lnTo>
                <a:lnTo>
                  <a:pt x="671751" y="589829"/>
                </a:lnTo>
                <a:lnTo>
                  <a:pt x="0" y="589829"/>
                </a:lnTo>
                <a:lnTo>
                  <a:pt x="0" y="0"/>
                </a:lnTo>
                <a:close/>
              </a:path>
            </a:pathLst>
          </a:custGeom>
          <a:blipFill>
            <a:blip r:embed="rId10">
              <a:alphaModFix amt="12000"/>
            </a:blip>
            <a:stretch>
              <a:fillRect l="-680" r="-680"/>
            </a:stretch>
          </a:blipFill>
          <a:ln cap="sq">
            <a:noFill/>
            <a:prstDash val="solid"/>
            <a:miter/>
          </a:ln>
        </p:spPr>
        <p:txBody>
          <a:bodyPr/>
          <a:lstStyle/>
          <a:p>
            <a:endParaRPr lang="en-US"/>
          </a:p>
        </p:txBody>
      </p:sp>
      <p:grpSp>
        <p:nvGrpSpPr>
          <p:cNvPr id="69" name="Group 69"/>
          <p:cNvGrpSpPr/>
          <p:nvPr/>
        </p:nvGrpSpPr>
        <p:grpSpPr>
          <a:xfrm>
            <a:off x="6408943" y="7673556"/>
            <a:ext cx="510779" cy="594362"/>
            <a:chOff x="0" y="0"/>
            <a:chExt cx="698500" cy="812800"/>
          </a:xfrm>
        </p:grpSpPr>
        <p:sp>
          <p:nvSpPr>
            <p:cNvPr id="70" name="Freeform 70"/>
            <p:cNvSpPr/>
            <p:nvPr/>
          </p:nvSpPr>
          <p:spPr>
            <a:xfrm>
              <a:off x="0" y="35136"/>
              <a:ext cx="698500" cy="742529"/>
            </a:xfrm>
            <a:custGeom>
              <a:avLst/>
              <a:gdLst/>
              <a:ahLst/>
              <a:cxnLst/>
              <a:rect l="l" t="t" r="r" b="b"/>
              <a:pathLst>
                <a:path w="698500" h="742529">
                  <a:moveTo>
                    <a:pt x="461837" y="30369"/>
                  </a:moveTo>
                  <a:lnTo>
                    <a:pt x="585913" y="102559"/>
                  </a:lnTo>
                  <a:cubicBezTo>
                    <a:pt x="655618" y="143115"/>
                    <a:pt x="698500" y="217676"/>
                    <a:pt x="698500" y="298320"/>
                  </a:cubicBezTo>
                  <a:lnTo>
                    <a:pt x="698500" y="444208"/>
                  </a:lnTo>
                  <a:cubicBezTo>
                    <a:pt x="698500" y="524852"/>
                    <a:pt x="655618" y="599413"/>
                    <a:pt x="585913" y="639969"/>
                  </a:cubicBezTo>
                  <a:lnTo>
                    <a:pt x="461837" y="712159"/>
                  </a:lnTo>
                  <a:cubicBezTo>
                    <a:pt x="392240" y="752652"/>
                    <a:pt x="306260" y="752652"/>
                    <a:pt x="236663" y="712159"/>
                  </a:cubicBezTo>
                  <a:lnTo>
                    <a:pt x="112587" y="639969"/>
                  </a:lnTo>
                  <a:cubicBezTo>
                    <a:pt x="42882" y="599413"/>
                    <a:pt x="0" y="524852"/>
                    <a:pt x="0" y="444208"/>
                  </a:cubicBezTo>
                  <a:lnTo>
                    <a:pt x="0" y="298320"/>
                  </a:lnTo>
                  <a:cubicBezTo>
                    <a:pt x="0" y="217676"/>
                    <a:pt x="42882" y="143115"/>
                    <a:pt x="112587" y="102559"/>
                  </a:cubicBezTo>
                  <a:lnTo>
                    <a:pt x="236663" y="30369"/>
                  </a:lnTo>
                  <a:cubicBezTo>
                    <a:pt x="306260" y="-10124"/>
                    <a:pt x="392240" y="-10124"/>
                    <a:pt x="461837" y="30369"/>
                  </a:cubicBezTo>
                  <a:close/>
                </a:path>
              </a:pathLst>
            </a:custGeom>
            <a:solidFill>
              <a:srgbClr val="FCFDFE"/>
            </a:solidFill>
          </p:spPr>
          <p:txBody>
            <a:bodyPr/>
            <a:lstStyle/>
            <a:p>
              <a:endParaRPr lang="en-US"/>
            </a:p>
          </p:txBody>
        </p:sp>
        <p:sp>
          <p:nvSpPr>
            <p:cNvPr id="71" name="TextBox 71"/>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72" name="Group 72"/>
          <p:cNvGrpSpPr/>
          <p:nvPr/>
        </p:nvGrpSpPr>
        <p:grpSpPr>
          <a:xfrm>
            <a:off x="6468299" y="7742624"/>
            <a:ext cx="392068" cy="456224"/>
            <a:chOff x="0" y="0"/>
            <a:chExt cx="698500" cy="812800"/>
          </a:xfrm>
        </p:grpSpPr>
        <p:sp>
          <p:nvSpPr>
            <p:cNvPr id="73" name="Freeform 73"/>
            <p:cNvSpPr/>
            <p:nvPr/>
          </p:nvSpPr>
          <p:spPr>
            <a:xfrm>
              <a:off x="0" y="22887"/>
              <a:ext cx="698500" cy="767026"/>
            </a:xfrm>
            <a:custGeom>
              <a:avLst/>
              <a:gdLst/>
              <a:ahLst/>
              <a:cxnLst/>
              <a:rect l="l" t="t" r="r" b="b"/>
              <a:pathLst>
                <a:path w="698500" h="767026">
                  <a:moveTo>
                    <a:pt x="422588" y="19782"/>
                  </a:moveTo>
                  <a:lnTo>
                    <a:pt x="625162" y="137644"/>
                  </a:lnTo>
                  <a:cubicBezTo>
                    <a:pt x="670567" y="164061"/>
                    <a:pt x="698500" y="212630"/>
                    <a:pt x="698500" y="265161"/>
                  </a:cubicBezTo>
                  <a:lnTo>
                    <a:pt x="698500" y="501865"/>
                  </a:lnTo>
                  <a:cubicBezTo>
                    <a:pt x="698500" y="554396"/>
                    <a:pt x="670567" y="602965"/>
                    <a:pt x="625162" y="629382"/>
                  </a:cubicBezTo>
                  <a:lnTo>
                    <a:pt x="422588" y="747244"/>
                  </a:lnTo>
                  <a:cubicBezTo>
                    <a:pt x="377253" y="773620"/>
                    <a:pt x="321247" y="773620"/>
                    <a:pt x="275912" y="747244"/>
                  </a:cubicBezTo>
                  <a:lnTo>
                    <a:pt x="73338" y="629382"/>
                  </a:lnTo>
                  <a:cubicBezTo>
                    <a:pt x="27933" y="602965"/>
                    <a:pt x="0" y="554396"/>
                    <a:pt x="0" y="501865"/>
                  </a:cubicBezTo>
                  <a:lnTo>
                    <a:pt x="0" y="265161"/>
                  </a:lnTo>
                  <a:cubicBezTo>
                    <a:pt x="0" y="212630"/>
                    <a:pt x="27933" y="164061"/>
                    <a:pt x="73338" y="137644"/>
                  </a:cubicBezTo>
                  <a:lnTo>
                    <a:pt x="275912" y="19782"/>
                  </a:lnTo>
                  <a:cubicBezTo>
                    <a:pt x="321247" y="-6594"/>
                    <a:pt x="377253" y="-6594"/>
                    <a:pt x="422588" y="19782"/>
                  </a:cubicBezTo>
                  <a:close/>
                </a:path>
              </a:pathLst>
            </a:custGeom>
            <a:solidFill>
              <a:srgbClr val="FFB376"/>
            </a:solidFill>
          </p:spPr>
          <p:txBody>
            <a:bodyPr/>
            <a:lstStyle/>
            <a:p>
              <a:endParaRPr lang="en-US"/>
            </a:p>
          </p:txBody>
        </p:sp>
        <p:sp>
          <p:nvSpPr>
            <p:cNvPr id="74" name="TextBox 74"/>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75" name="TextBox 75"/>
          <p:cNvSpPr txBox="1"/>
          <p:nvPr/>
        </p:nvSpPr>
        <p:spPr>
          <a:xfrm>
            <a:off x="5227604" y="7191778"/>
            <a:ext cx="1582749" cy="722918"/>
          </a:xfrm>
          <a:prstGeom prst="rect">
            <a:avLst/>
          </a:prstGeom>
        </p:spPr>
        <p:txBody>
          <a:bodyPr lIns="0" tIns="0" rIns="0" bIns="0" rtlCol="0" anchor="t">
            <a:spAutoFit/>
          </a:bodyPr>
          <a:lstStyle/>
          <a:p>
            <a:pPr algn="ctr">
              <a:lnSpc>
                <a:spcPts val="1176"/>
              </a:lnSpc>
            </a:pPr>
            <a:r>
              <a:rPr lang="en-US" sz="840">
                <a:solidFill>
                  <a:srgbClr val="000000"/>
                </a:solidFill>
                <a:latin typeface="Aptos"/>
                <a:ea typeface="Aptos"/>
                <a:cs typeface="Aptos"/>
                <a:sym typeface="Aptos"/>
              </a:rPr>
              <a:t>Nếu phát hiện lỗi hoặc thiếu dữ liệu, hệ thống không trả lời bừa mà chuyển sang phản hồi an toàn.</a:t>
            </a:r>
          </a:p>
          <a:p>
            <a:pPr algn="ctr">
              <a:lnSpc>
                <a:spcPts val="1176"/>
              </a:lnSpc>
            </a:pPr>
            <a:endParaRPr lang="en-US" sz="840">
              <a:solidFill>
                <a:srgbClr val="000000"/>
              </a:solidFill>
              <a:latin typeface="Aptos"/>
              <a:ea typeface="Aptos"/>
              <a:cs typeface="Aptos"/>
              <a:sym typeface="Aptos"/>
            </a:endParaRPr>
          </a:p>
          <a:p>
            <a:pPr algn="ctr">
              <a:lnSpc>
                <a:spcPts val="1176"/>
              </a:lnSpc>
            </a:pPr>
            <a:endParaRPr lang="en-US" sz="840">
              <a:solidFill>
                <a:srgbClr val="000000"/>
              </a:solidFill>
              <a:latin typeface="Aptos"/>
              <a:ea typeface="Aptos"/>
              <a:cs typeface="Aptos"/>
              <a:sym typeface="Aptos"/>
            </a:endParaRPr>
          </a:p>
        </p:txBody>
      </p:sp>
      <p:grpSp>
        <p:nvGrpSpPr>
          <p:cNvPr id="76" name="Group 76"/>
          <p:cNvGrpSpPr/>
          <p:nvPr/>
        </p:nvGrpSpPr>
        <p:grpSpPr>
          <a:xfrm>
            <a:off x="4175380" y="9128175"/>
            <a:ext cx="490658" cy="775526"/>
            <a:chOff x="0" y="0"/>
            <a:chExt cx="654211" cy="1034034"/>
          </a:xfrm>
        </p:grpSpPr>
        <p:grpSp>
          <p:nvGrpSpPr>
            <p:cNvPr id="77" name="Group 77"/>
            <p:cNvGrpSpPr/>
            <p:nvPr/>
          </p:nvGrpSpPr>
          <p:grpSpPr>
            <a:xfrm rot="2700000">
              <a:off x="-21676" y="224735"/>
              <a:ext cx="713748" cy="188557"/>
              <a:chOff x="0" y="0"/>
              <a:chExt cx="286410" cy="75663"/>
            </a:xfrm>
          </p:grpSpPr>
          <p:sp>
            <p:nvSpPr>
              <p:cNvPr id="78" name="Freeform 78"/>
              <p:cNvSpPr/>
              <p:nvPr/>
            </p:nvSpPr>
            <p:spPr>
              <a:xfrm>
                <a:off x="0" y="0"/>
                <a:ext cx="286410" cy="75663"/>
              </a:xfrm>
              <a:custGeom>
                <a:avLst/>
                <a:gdLst/>
                <a:ahLst/>
                <a:cxnLst/>
                <a:rect l="l" t="t" r="r" b="b"/>
                <a:pathLst>
                  <a:path w="286410" h="75663">
                    <a:moveTo>
                      <a:pt x="37832" y="0"/>
                    </a:moveTo>
                    <a:lnTo>
                      <a:pt x="248578" y="0"/>
                    </a:lnTo>
                    <a:cubicBezTo>
                      <a:pt x="269472" y="0"/>
                      <a:pt x="286410" y="16938"/>
                      <a:pt x="286410" y="37832"/>
                    </a:cubicBezTo>
                    <a:lnTo>
                      <a:pt x="286410" y="37832"/>
                    </a:lnTo>
                    <a:cubicBezTo>
                      <a:pt x="286410" y="47865"/>
                      <a:pt x="282424" y="57488"/>
                      <a:pt x="275329" y="64583"/>
                    </a:cubicBezTo>
                    <a:cubicBezTo>
                      <a:pt x="268234" y="71678"/>
                      <a:pt x="258612" y="75663"/>
                      <a:pt x="248578"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endParaRPr lang="en-US"/>
              </a:p>
            </p:txBody>
          </p:sp>
          <p:sp>
            <p:nvSpPr>
              <p:cNvPr id="79" name="TextBox 79"/>
              <p:cNvSpPr txBox="1"/>
              <p:nvPr/>
            </p:nvSpPr>
            <p:spPr>
              <a:xfrm>
                <a:off x="0" y="-28575"/>
                <a:ext cx="286410" cy="104238"/>
              </a:xfrm>
              <a:prstGeom prst="rect">
                <a:avLst/>
              </a:prstGeom>
            </p:spPr>
            <p:txBody>
              <a:bodyPr lIns="50800" tIns="50800" rIns="50800" bIns="50800" rtlCol="0" anchor="ctr"/>
              <a:lstStyle/>
              <a:p>
                <a:pPr algn="ctr">
                  <a:lnSpc>
                    <a:spcPts val="2240"/>
                  </a:lnSpc>
                </a:pPr>
                <a:endParaRPr/>
              </a:p>
            </p:txBody>
          </p:sp>
        </p:grpSp>
        <p:grpSp>
          <p:nvGrpSpPr>
            <p:cNvPr id="80" name="Group 80"/>
            <p:cNvGrpSpPr/>
            <p:nvPr/>
          </p:nvGrpSpPr>
          <p:grpSpPr>
            <a:xfrm rot="-2700000">
              <a:off x="-41213" y="612650"/>
              <a:ext cx="736637" cy="188557"/>
              <a:chOff x="0" y="0"/>
              <a:chExt cx="295594" cy="75663"/>
            </a:xfrm>
          </p:grpSpPr>
          <p:sp>
            <p:nvSpPr>
              <p:cNvPr id="81" name="Freeform 81"/>
              <p:cNvSpPr/>
              <p:nvPr/>
            </p:nvSpPr>
            <p:spPr>
              <a:xfrm>
                <a:off x="0" y="0"/>
                <a:ext cx="295594" cy="75663"/>
              </a:xfrm>
              <a:custGeom>
                <a:avLst/>
                <a:gdLst/>
                <a:ahLst/>
                <a:cxnLst/>
                <a:rect l="l" t="t" r="r" b="b"/>
                <a:pathLst>
                  <a:path w="295594" h="75663">
                    <a:moveTo>
                      <a:pt x="37832" y="0"/>
                    </a:moveTo>
                    <a:lnTo>
                      <a:pt x="257763" y="0"/>
                    </a:lnTo>
                    <a:cubicBezTo>
                      <a:pt x="267796" y="0"/>
                      <a:pt x="277419" y="3986"/>
                      <a:pt x="284514" y="11081"/>
                    </a:cubicBezTo>
                    <a:cubicBezTo>
                      <a:pt x="291609" y="18175"/>
                      <a:pt x="295594" y="27798"/>
                      <a:pt x="295594" y="37832"/>
                    </a:cubicBezTo>
                    <a:lnTo>
                      <a:pt x="295594" y="37832"/>
                    </a:lnTo>
                    <a:cubicBezTo>
                      <a:pt x="295594" y="58726"/>
                      <a:pt x="278657" y="75663"/>
                      <a:pt x="257763"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endParaRPr lang="en-US"/>
              </a:p>
            </p:txBody>
          </p:sp>
          <p:sp>
            <p:nvSpPr>
              <p:cNvPr id="82" name="TextBox 82"/>
              <p:cNvSpPr txBox="1"/>
              <p:nvPr/>
            </p:nvSpPr>
            <p:spPr>
              <a:xfrm>
                <a:off x="0" y="-28575"/>
                <a:ext cx="295594" cy="104238"/>
              </a:xfrm>
              <a:prstGeom prst="rect">
                <a:avLst/>
              </a:prstGeom>
            </p:spPr>
            <p:txBody>
              <a:bodyPr lIns="50800" tIns="50800" rIns="50800" bIns="50800" rtlCol="0" anchor="ctr"/>
              <a:lstStyle/>
              <a:p>
                <a:pPr algn="ctr">
                  <a:lnSpc>
                    <a:spcPts val="2240"/>
                  </a:lnSpc>
                </a:pPr>
                <a:endParaRPr/>
              </a:p>
            </p:txBody>
          </p:sp>
        </p:grpSp>
      </p:grpSp>
      <p:sp>
        <p:nvSpPr>
          <p:cNvPr id="83" name="Freeform 83"/>
          <p:cNvSpPr/>
          <p:nvPr/>
        </p:nvSpPr>
        <p:spPr>
          <a:xfrm>
            <a:off x="3291757" y="9384930"/>
            <a:ext cx="182236" cy="230314"/>
          </a:xfrm>
          <a:custGeom>
            <a:avLst/>
            <a:gdLst/>
            <a:ahLst/>
            <a:cxnLst/>
            <a:rect l="l" t="t" r="r" b="b"/>
            <a:pathLst>
              <a:path w="182236" h="230314">
                <a:moveTo>
                  <a:pt x="0" y="0"/>
                </a:moveTo>
                <a:lnTo>
                  <a:pt x="182236" y="0"/>
                </a:lnTo>
                <a:lnTo>
                  <a:pt x="182236" y="230314"/>
                </a:lnTo>
                <a:lnTo>
                  <a:pt x="0" y="230314"/>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4" name="Freeform 84"/>
          <p:cNvSpPr/>
          <p:nvPr/>
        </p:nvSpPr>
        <p:spPr>
          <a:xfrm>
            <a:off x="8941212" y="7855579"/>
            <a:ext cx="230371" cy="211077"/>
          </a:xfrm>
          <a:custGeom>
            <a:avLst/>
            <a:gdLst/>
            <a:ahLst/>
            <a:cxnLst/>
            <a:rect l="l" t="t" r="r" b="b"/>
            <a:pathLst>
              <a:path w="230371" h="211077">
                <a:moveTo>
                  <a:pt x="0" y="0"/>
                </a:moveTo>
                <a:lnTo>
                  <a:pt x="230371" y="0"/>
                </a:lnTo>
                <a:lnTo>
                  <a:pt x="230371" y="211078"/>
                </a:lnTo>
                <a:lnTo>
                  <a:pt x="0" y="211078"/>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85" name="Freeform 85"/>
          <p:cNvSpPr/>
          <p:nvPr/>
        </p:nvSpPr>
        <p:spPr>
          <a:xfrm>
            <a:off x="6549176" y="7855579"/>
            <a:ext cx="230314" cy="230314"/>
          </a:xfrm>
          <a:custGeom>
            <a:avLst/>
            <a:gdLst/>
            <a:ahLst/>
            <a:cxnLst/>
            <a:rect l="l" t="t" r="r" b="b"/>
            <a:pathLst>
              <a:path w="230314" h="230314">
                <a:moveTo>
                  <a:pt x="0" y="0"/>
                </a:moveTo>
                <a:lnTo>
                  <a:pt x="230314" y="0"/>
                </a:lnTo>
                <a:lnTo>
                  <a:pt x="230314" y="230315"/>
                </a:lnTo>
                <a:lnTo>
                  <a:pt x="0" y="230315"/>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86" name="Freeform 86"/>
          <p:cNvSpPr/>
          <p:nvPr/>
        </p:nvSpPr>
        <p:spPr>
          <a:xfrm>
            <a:off x="10075458" y="9385054"/>
            <a:ext cx="230066" cy="230066"/>
          </a:xfrm>
          <a:custGeom>
            <a:avLst/>
            <a:gdLst/>
            <a:ahLst/>
            <a:cxnLst/>
            <a:rect l="l" t="t" r="r" b="b"/>
            <a:pathLst>
              <a:path w="230066" h="230066">
                <a:moveTo>
                  <a:pt x="0" y="0"/>
                </a:moveTo>
                <a:lnTo>
                  <a:pt x="230065" y="0"/>
                </a:lnTo>
                <a:lnTo>
                  <a:pt x="230065" y="230066"/>
                </a:lnTo>
                <a:lnTo>
                  <a:pt x="0" y="230066"/>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87" name="Freeform 87"/>
          <p:cNvSpPr/>
          <p:nvPr/>
        </p:nvSpPr>
        <p:spPr>
          <a:xfrm>
            <a:off x="5358317" y="9384930"/>
            <a:ext cx="230314" cy="230314"/>
          </a:xfrm>
          <a:custGeom>
            <a:avLst/>
            <a:gdLst/>
            <a:ahLst/>
            <a:cxnLst/>
            <a:rect l="l" t="t" r="r" b="b"/>
            <a:pathLst>
              <a:path w="230314" h="230314">
                <a:moveTo>
                  <a:pt x="0" y="0"/>
                </a:moveTo>
                <a:lnTo>
                  <a:pt x="230314" y="0"/>
                </a:lnTo>
                <a:lnTo>
                  <a:pt x="230314" y="230314"/>
                </a:lnTo>
                <a:lnTo>
                  <a:pt x="0" y="230314"/>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grpSp>
        <p:nvGrpSpPr>
          <p:cNvPr id="88" name="Group 88"/>
          <p:cNvGrpSpPr/>
          <p:nvPr/>
        </p:nvGrpSpPr>
        <p:grpSpPr>
          <a:xfrm>
            <a:off x="8138239" y="6722592"/>
            <a:ext cx="510779" cy="594362"/>
            <a:chOff x="0" y="0"/>
            <a:chExt cx="698500" cy="812800"/>
          </a:xfrm>
        </p:grpSpPr>
        <p:sp>
          <p:nvSpPr>
            <p:cNvPr id="89" name="Freeform 89"/>
            <p:cNvSpPr/>
            <p:nvPr/>
          </p:nvSpPr>
          <p:spPr>
            <a:xfrm>
              <a:off x="0" y="35136"/>
              <a:ext cx="698500" cy="742529"/>
            </a:xfrm>
            <a:custGeom>
              <a:avLst/>
              <a:gdLst/>
              <a:ahLst/>
              <a:cxnLst/>
              <a:rect l="l" t="t" r="r" b="b"/>
              <a:pathLst>
                <a:path w="698500" h="742529">
                  <a:moveTo>
                    <a:pt x="461837" y="30369"/>
                  </a:moveTo>
                  <a:lnTo>
                    <a:pt x="585913" y="102559"/>
                  </a:lnTo>
                  <a:cubicBezTo>
                    <a:pt x="655618" y="143115"/>
                    <a:pt x="698500" y="217676"/>
                    <a:pt x="698500" y="298320"/>
                  </a:cubicBezTo>
                  <a:lnTo>
                    <a:pt x="698500" y="444208"/>
                  </a:lnTo>
                  <a:cubicBezTo>
                    <a:pt x="698500" y="524852"/>
                    <a:pt x="655618" y="599413"/>
                    <a:pt x="585913" y="639969"/>
                  </a:cubicBezTo>
                  <a:lnTo>
                    <a:pt x="461837" y="712159"/>
                  </a:lnTo>
                  <a:cubicBezTo>
                    <a:pt x="392240" y="752652"/>
                    <a:pt x="306260" y="752652"/>
                    <a:pt x="236663" y="712159"/>
                  </a:cubicBezTo>
                  <a:lnTo>
                    <a:pt x="112587" y="639969"/>
                  </a:lnTo>
                  <a:cubicBezTo>
                    <a:pt x="42882" y="599413"/>
                    <a:pt x="0" y="524852"/>
                    <a:pt x="0" y="444208"/>
                  </a:cubicBezTo>
                  <a:lnTo>
                    <a:pt x="0" y="298320"/>
                  </a:lnTo>
                  <a:cubicBezTo>
                    <a:pt x="0" y="217676"/>
                    <a:pt x="42882" y="143115"/>
                    <a:pt x="112587" y="102559"/>
                  </a:cubicBezTo>
                  <a:lnTo>
                    <a:pt x="236663" y="30369"/>
                  </a:lnTo>
                  <a:cubicBezTo>
                    <a:pt x="306260" y="-10124"/>
                    <a:pt x="392240" y="-10124"/>
                    <a:pt x="461837" y="30369"/>
                  </a:cubicBezTo>
                  <a:close/>
                </a:path>
              </a:pathLst>
            </a:custGeom>
            <a:solidFill>
              <a:srgbClr val="FCFDFE"/>
            </a:solidFill>
          </p:spPr>
          <p:txBody>
            <a:bodyPr/>
            <a:lstStyle/>
            <a:p>
              <a:endParaRPr lang="en-US"/>
            </a:p>
          </p:txBody>
        </p:sp>
        <p:sp>
          <p:nvSpPr>
            <p:cNvPr id="90" name="TextBox 90"/>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grpSp>
        <p:nvGrpSpPr>
          <p:cNvPr id="91" name="Group 91"/>
          <p:cNvGrpSpPr/>
          <p:nvPr/>
        </p:nvGrpSpPr>
        <p:grpSpPr>
          <a:xfrm>
            <a:off x="8197594" y="6791661"/>
            <a:ext cx="392068" cy="456224"/>
            <a:chOff x="0" y="0"/>
            <a:chExt cx="698500" cy="812800"/>
          </a:xfrm>
        </p:grpSpPr>
        <p:sp>
          <p:nvSpPr>
            <p:cNvPr id="92" name="Freeform 92"/>
            <p:cNvSpPr/>
            <p:nvPr/>
          </p:nvSpPr>
          <p:spPr>
            <a:xfrm>
              <a:off x="0" y="22887"/>
              <a:ext cx="698500" cy="767026"/>
            </a:xfrm>
            <a:custGeom>
              <a:avLst/>
              <a:gdLst/>
              <a:ahLst/>
              <a:cxnLst/>
              <a:rect l="l" t="t" r="r" b="b"/>
              <a:pathLst>
                <a:path w="698500" h="767026">
                  <a:moveTo>
                    <a:pt x="422588" y="19782"/>
                  </a:moveTo>
                  <a:lnTo>
                    <a:pt x="625162" y="137644"/>
                  </a:lnTo>
                  <a:cubicBezTo>
                    <a:pt x="670567" y="164061"/>
                    <a:pt x="698500" y="212630"/>
                    <a:pt x="698500" y="265161"/>
                  </a:cubicBezTo>
                  <a:lnTo>
                    <a:pt x="698500" y="501865"/>
                  </a:lnTo>
                  <a:cubicBezTo>
                    <a:pt x="698500" y="554396"/>
                    <a:pt x="670567" y="602965"/>
                    <a:pt x="625162" y="629382"/>
                  </a:cubicBezTo>
                  <a:lnTo>
                    <a:pt x="422588" y="747244"/>
                  </a:lnTo>
                  <a:cubicBezTo>
                    <a:pt x="377253" y="773620"/>
                    <a:pt x="321247" y="773620"/>
                    <a:pt x="275912" y="747244"/>
                  </a:cubicBezTo>
                  <a:lnTo>
                    <a:pt x="73338" y="629382"/>
                  </a:lnTo>
                  <a:cubicBezTo>
                    <a:pt x="27933" y="602965"/>
                    <a:pt x="0" y="554396"/>
                    <a:pt x="0" y="501865"/>
                  </a:cubicBezTo>
                  <a:lnTo>
                    <a:pt x="0" y="265161"/>
                  </a:lnTo>
                  <a:cubicBezTo>
                    <a:pt x="0" y="212630"/>
                    <a:pt x="27933" y="164061"/>
                    <a:pt x="73338" y="137644"/>
                  </a:cubicBezTo>
                  <a:lnTo>
                    <a:pt x="275912" y="19782"/>
                  </a:lnTo>
                  <a:cubicBezTo>
                    <a:pt x="321247" y="-6594"/>
                    <a:pt x="377253" y="-6594"/>
                    <a:pt x="422588" y="19782"/>
                  </a:cubicBezTo>
                  <a:close/>
                </a:path>
              </a:pathLst>
            </a:custGeom>
            <a:solidFill>
              <a:srgbClr val="FF94A0"/>
            </a:solidFill>
          </p:spPr>
          <p:txBody>
            <a:bodyPr/>
            <a:lstStyle/>
            <a:p>
              <a:endParaRPr lang="en-US"/>
            </a:p>
          </p:txBody>
        </p:sp>
        <p:sp>
          <p:nvSpPr>
            <p:cNvPr id="93" name="TextBox 93"/>
            <p:cNvSpPr txBox="1"/>
            <p:nvPr/>
          </p:nvSpPr>
          <p:spPr>
            <a:xfrm>
              <a:off x="0" y="92075"/>
              <a:ext cx="698500" cy="581025"/>
            </a:xfrm>
            <a:prstGeom prst="rect">
              <a:avLst/>
            </a:prstGeom>
          </p:spPr>
          <p:txBody>
            <a:bodyPr lIns="50800" tIns="50800" rIns="50800" bIns="50800" rtlCol="0" anchor="ctr"/>
            <a:lstStyle/>
            <a:p>
              <a:pPr algn="ctr">
                <a:lnSpc>
                  <a:spcPts val="2488"/>
                </a:lnSpc>
              </a:pPr>
              <a:endParaRPr/>
            </a:p>
          </p:txBody>
        </p:sp>
      </p:grpSp>
      <p:sp>
        <p:nvSpPr>
          <p:cNvPr id="94" name="Freeform 94"/>
          <p:cNvSpPr/>
          <p:nvPr/>
        </p:nvSpPr>
        <p:spPr>
          <a:xfrm>
            <a:off x="8278443" y="6914234"/>
            <a:ext cx="230371" cy="211077"/>
          </a:xfrm>
          <a:custGeom>
            <a:avLst/>
            <a:gdLst/>
            <a:ahLst/>
            <a:cxnLst/>
            <a:rect l="l" t="t" r="r" b="b"/>
            <a:pathLst>
              <a:path w="230371" h="211077">
                <a:moveTo>
                  <a:pt x="0" y="0"/>
                </a:moveTo>
                <a:lnTo>
                  <a:pt x="230371" y="0"/>
                </a:lnTo>
                <a:lnTo>
                  <a:pt x="230371" y="211078"/>
                </a:lnTo>
                <a:lnTo>
                  <a:pt x="0" y="211078"/>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5" name="Freeform 95"/>
          <p:cNvSpPr/>
          <p:nvPr/>
        </p:nvSpPr>
        <p:spPr>
          <a:xfrm>
            <a:off x="2091862" y="644949"/>
            <a:ext cx="3496769" cy="939262"/>
          </a:xfrm>
          <a:custGeom>
            <a:avLst/>
            <a:gdLst/>
            <a:ahLst/>
            <a:cxnLst/>
            <a:rect l="l" t="t" r="r" b="b"/>
            <a:pathLst>
              <a:path w="3496769" h="939262">
                <a:moveTo>
                  <a:pt x="0" y="0"/>
                </a:moveTo>
                <a:lnTo>
                  <a:pt x="3496769" y="0"/>
                </a:lnTo>
                <a:lnTo>
                  <a:pt x="3496769" y="939262"/>
                </a:lnTo>
                <a:lnTo>
                  <a:pt x="0" y="939262"/>
                </a:lnTo>
                <a:lnTo>
                  <a:pt x="0" y="0"/>
                </a:lnTo>
                <a:close/>
              </a:path>
            </a:pathLst>
          </a:custGeom>
          <a:blipFill>
            <a:blip r:embed="rId16"/>
            <a:stretch>
              <a:fillRect/>
            </a:stretch>
          </a:blipFill>
        </p:spPr>
        <p:txBody>
          <a:bodyPr/>
          <a:lstStyle/>
          <a:p>
            <a:endParaRPr lang="en-US"/>
          </a:p>
        </p:txBody>
      </p:sp>
      <p:sp>
        <p:nvSpPr>
          <p:cNvPr id="96" name="Freeform 96"/>
          <p:cNvSpPr/>
          <p:nvPr/>
        </p:nvSpPr>
        <p:spPr>
          <a:xfrm rot="-3592644">
            <a:off x="14492829" y="4658103"/>
            <a:ext cx="2538923" cy="2462755"/>
          </a:xfrm>
          <a:custGeom>
            <a:avLst/>
            <a:gdLst/>
            <a:ahLst/>
            <a:cxnLst/>
            <a:rect l="l" t="t" r="r" b="b"/>
            <a:pathLst>
              <a:path w="2538923" h="2462755">
                <a:moveTo>
                  <a:pt x="0" y="0"/>
                </a:moveTo>
                <a:lnTo>
                  <a:pt x="2538923" y="0"/>
                </a:lnTo>
                <a:lnTo>
                  <a:pt x="2538923" y="2462755"/>
                </a:lnTo>
                <a:lnTo>
                  <a:pt x="0" y="2462755"/>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97" name="TextBox 97"/>
          <p:cNvSpPr txBox="1"/>
          <p:nvPr/>
        </p:nvSpPr>
        <p:spPr>
          <a:xfrm>
            <a:off x="2952598" y="2193811"/>
            <a:ext cx="6913914" cy="2212739"/>
          </a:xfrm>
          <a:prstGeom prst="rect">
            <a:avLst/>
          </a:prstGeom>
        </p:spPr>
        <p:txBody>
          <a:bodyPr lIns="0" tIns="0" rIns="0" bIns="0" rtlCol="0" anchor="t">
            <a:spAutoFit/>
          </a:bodyPr>
          <a:lstStyle/>
          <a:p>
            <a:pPr marL="0" lvl="0" indent="0" algn="l">
              <a:lnSpc>
                <a:spcPts val="5766"/>
              </a:lnSpc>
            </a:pPr>
            <a:r>
              <a:rPr lang="en-US" sz="5824" b="1" spc="-361">
                <a:solidFill>
                  <a:srgbClr val="424141"/>
                </a:solidFill>
                <a:latin typeface="Aptos Bold"/>
                <a:ea typeface="Aptos Bold"/>
                <a:cs typeface="Aptos Bold"/>
                <a:sym typeface="Aptos Bold"/>
              </a:rPr>
              <a:t>RESPONSE CONTRACT, TRACE &amp; KIỂM THỬ</a:t>
            </a:r>
          </a:p>
        </p:txBody>
      </p:sp>
      <p:sp>
        <p:nvSpPr>
          <p:cNvPr id="98" name="TextBox 98"/>
          <p:cNvSpPr txBox="1"/>
          <p:nvPr/>
        </p:nvSpPr>
        <p:spPr>
          <a:xfrm>
            <a:off x="11613928" y="5161633"/>
            <a:ext cx="2760139" cy="183080"/>
          </a:xfrm>
          <a:prstGeom prst="rect">
            <a:avLst/>
          </a:prstGeom>
        </p:spPr>
        <p:txBody>
          <a:bodyPr lIns="0" tIns="0" rIns="0" bIns="0" rtlCol="0" anchor="t">
            <a:spAutoFit/>
          </a:bodyPr>
          <a:lstStyle/>
          <a:p>
            <a:pPr marL="0" lvl="0" indent="0" algn="just">
              <a:lnSpc>
                <a:spcPts val="1492"/>
              </a:lnSpc>
            </a:pPr>
            <a:r>
              <a:rPr lang="en-US" sz="1507" b="1" spc="-55">
                <a:solidFill>
                  <a:srgbClr val="FFFFFF"/>
                </a:solidFill>
                <a:latin typeface="Aptos Bold"/>
                <a:ea typeface="Aptos Bold"/>
                <a:cs typeface="Aptos Bold"/>
                <a:sym typeface="Aptos Bold"/>
              </a:rPr>
              <a:t>RESPONSE CONTRACT FIELDS</a:t>
            </a:r>
          </a:p>
        </p:txBody>
      </p:sp>
      <p:sp>
        <p:nvSpPr>
          <p:cNvPr id="99" name="TextBox 99"/>
          <p:cNvSpPr txBox="1"/>
          <p:nvPr/>
        </p:nvSpPr>
        <p:spPr>
          <a:xfrm>
            <a:off x="11512623" y="5349479"/>
            <a:ext cx="2861444" cy="3456351"/>
          </a:xfrm>
          <a:prstGeom prst="rect">
            <a:avLst/>
          </a:prstGeom>
        </p:spPr>
        <p:txBody>
          <a:bodyPr lIns="0" tIns="0" rIns="0" bIns="0" rtlCol="0" anchor="t">
            <a:spAutoFit/>
          </a:bodyPr>
          <a:lstStyle/>
          <a:p>
            <a:pPr marL="249887" lvl="1" indent="-124944" algn="just">
              <a:lnSpc>
                <a:spcPts val="1967"/>
              </a:lnSpc>
              <a:buFont typeface="Arial"/>
              <a:buChar char="•"/>
            </a:pPr>
            <a:r>
              <a:rPr lang="en-US" sz="1157" spc="-42">
                <a:solidFill>
                  <a:srgbClr val="FFFFFF"/>
                </a:solidFill>
                <a:latin typeface="Aptos"/>
                <a:ea typeface="Aptos"/>
                <a:cs typeface="Aptos"/>
                <a:sym typeface="Aptos"/>
              </a:rPr>
              <a:t>ChatResponse: schema phản hồi của API chat.</a:t>
            </a:r>
          </a:p>
          <a:p>
            <a:pPr marL="249887" lvl="1" indent="-124944" algn="just">
              <a:lnSpc>
                <a:spcPts val="1967"/>
              </a:lnSpc>
              <a:buFont typeface="Arial"/>
              <a:buChar char="•"/>
            </a:pPr>
            <a:r>
              <a:rPr lang="en-US" sz="1157" spc="-42">
                <a:solidFill>
                  <a:srgbClr val="FFFFFF"/>
                </a:solidFill>
                <a:latin typeface="Aptos"/>
                <a:ea typeface="Aptos"/>
                <a:cs typeface="Aptos"/>
                <a:sym typeface="Aptos"/>
              </a:rPr>
              <a:t>API response schema: cấu trúc dữ liệu mà backend cam kết trả về cho frontend.</a:t>
            </a:r>
          </a:p>
          <a:p>
            <a:pPr marL="249887" lvl="1" indent="-124944" algn="just">
              <a:lnSpc>
                <a:spcPts val="1967"/>
              </a:lnSpc>
              <a:buFont typeface="Arial"/>
              <a:buChar char="•"/>
            </a:pPr>
            <a:r>
              <a:rPr lang="en-US" sz="1157" spc="-42">
                <a:solidFill>
                  <a:srgbClr val="FFFFFF"/>
                </a:solidFill>
                <a:latin typeface="Aptos"/>
                <a:ea typeface="Aptos"/>
                <a:cs typeface="Aptos"/>
                <a:sym typeface="Aptos"/>
              </a:rPr>
              <a:t>answer_text: nội dung trả lời.</a:t>
            </a:r>
          </a:p>
          <a:p>
            <a:pPr marL="249887" lvl="1" indent="-124944" algn="just">
              <a:lnSpc>
                <a:spcPts val="1967"/>
              </a:lnSpc>
              <a:buFont typeface="Arial"/>
              <a:buChar char="•"/>
            </a:pPr>
            <a:r>
              <a:rPr lang="en-US" sz="1157" spc="-42">
                <a:solidFill>
                  <a:srgbClr val="FFFFFF"/>
                </a:solidFill>
                <a:latin typeface="Aptos"/>
                <a:ea typeface="Aptos"/>
                <a:cs typeface="Aptos"/>
                <a:sym typeface="Aptos"/>
              </a:rPr>
              <a:t>related_products: danh sách sản phẩm liên quan.</a:t>
            </a:r>
          </a:p>
          <a:p>
            <a:pPr marL="249887" lvl="1" indent="-124944" algn="just">
              <a:lnSpc>
                <a:spcPts val="1967"/>
              </a:lnSpc>
              <a:buFont typeface="Arial"/>
              <a:buChar char="•"/>
            </a:pPr>
            <a:r>
              <a:rPr lang="en-US" sz="1157" spc="-42">
                <a:solidFill>
                  <a:srgbClr val="FFFFFF"/>
                </a:solidFill>
                <a:latin typeface="Aptos"/>
                <a:ea typeface="Aptos"/>
                <a:cs typeface="Aptos"/>
                <a:sym typeface="Aptos"/>
              </a:rPr>
              <a:t>missing_fields: các trường dữ liệu còn thiếu.</a:t>
            </a:r>
          </a:p>
          <a:p>
            <a:pPr marL="249887" lvl="1" indent="-124944" algn="just">
              <a:lnSpc>
                <a:spcPts val="1967"/>
              </a:lnSpc>
              <a:buFont typeface="Arial"/>
              <a:buChar char="•"/>
            </a:pPr>
            <a:r>
              <a:rPr lang="en-US" sz="1157" spc="-42">
                <a:solidFill>
                  <a:srgbClr val="FFFFFF"/>
                </a:solidFill>
                <a:latin typeface="Aptos"/>
                <a:ea typeface="Aptos"/>
                <a:cs typeface="Aptos"/>
                <a:sym typeface="Aptos"/>
              </a:rPr>
              <a:t>verification: kết quả kiểm chứng.</a:t>
            </a:r>
          </a:p>
          <a:p>
            <a:pPr marL="249887" lvl="1" indent="-124944" algn="just">
              <a:lnSpc>
                <a:spcPts val="1967"/>
              </a:lnSpc>
              <a:buFont typeface="Arial"/>
              <a:buChar char="•"/>
            </a:pPr>
            <a:r>
              <a:rPr lang="en-US" sz="1157" spc="-42">
                <a:solidFill>
                  <a:srgbClr val="FFFFFF"/>
                </a:solidFill>
                <a:latin typeface="Aptos"/>
                <a:ea typeface="Aptos"/>
                <a:cs typeface="Aptos"/>
                <a:sym typeface="Aptos"/>
              </a:rPr>
              <a:t>conversation_state: trạng thái hội thoại sau lượt trả lời.</a:t>
            </a:r>
          </a:p>
          <a:p>
            <a:pPr marL="249887" lvl="1" indent="-124944" algn="just">
              <a:lnSpc>
                <a:spcPts val="1967"/>
              </a:lnSpc>
              <a:buFont typeface="Arial"/>
              <a:buChar char="•"/>
            </a:pPr>
            <a:r>
              <a:rPr lang="en-US" sz="1157" spc="-42">
                <a:solidFill>
                  <a:srgbClr val="FFFFFF"/>
                </a:solidFill>
                <a:latin typeface="Aptos"/>
                <a:ea typeface="Aptos"/>
                <a:cs typeface="Aptos"/>
                <a:sym typeface="Aptos"/>
              </a:rPr>
              <a:t>decision_trace: vết xử lý của request, dùng để debug.</a:t>
            </a:r>
          </a:p>
          <a:p>
            <a:pPr marL="0" lvl="0" indent="0" algn="just">
              <a:lnSpc>
                <a:spcPts val="1967"/>
              </a:lnSpc>
            </a:pPr>
            <a:endParaRPr lang="en-US" sz="1157" spc="-42">
              <a:solidFill>
                <a:srgbClr val="FFFFFF"/>
              </a:solidFill>
              <a:latin typeface="Aptos"/>
              <a:ea typeface="Aptos"/>
              <a:cs typeface="Aptos"/>
              <a:sym typeface="Aptos"/>
            </a:endParaRPr>
          </a:p>
        </p:txBody>
      </p:sp>
      <p:sp>
        <p:nvSpPr>
          <p:cNvPr id="100" name="TextBox 100"/>
          <p:cNvSpPr txBox="1"/>
          <p:nvPr/>
        </p:nvSpPr>
        <p:spPr>
          <a:xfrm>
            <a:off x="13356393" y="701228"/>
            <a:ext cx="3178571" cy="726005"/>
          </a:xfrm>
          <a:prstGeom prst="rect">
            <a:avLst/>
          </a:prstGeom>
        </p:spPr>
        <p:txBody>
          <a:bodyPr lIns="0" tIns="0" rIns="0" bIns="0" rtlCol="0" anchor="t">
            <a:spAutoFit/>
          </a:bodyPr>
          <a:lstStyle/>
          <a:p>
            <a:pPr marL="0" lvl="0" indent="0" algn="just">
              <a:lnSpc>
                <a:spcPts val="1492"/>
              </a:lnSpc>
            </a:pPr>
            <a:r>
              <a:rPr lang="en-US" sz="1507" spc="-55">
                <a:solidFill>
                  <a:srgbClr val="FFFFFF"/>
                </a:solidFill>
                <a:latin typeface="Aptos"/>
                <a:ea typeface="Aptos"/>
                <a:cs typeface="Aptos"/>
                <a:sym typeface="Aptos"/>
              </a:rPr>
              <a:t>Trace là nhật ký xử lý của từng request. Nó cho biết một câu hỏi đã đi qua những bước nào, bước nào thành công, bước nào lỗi.</a:t>
            </a:r>
          </a:p>
        </p:txBody>
      </p:sp>
      <p:sp>
        <p:nvSpPr>
          <p:cNvPr id="101" name="TextBox 101"/>
          <p:cNvSpPr txBox="1"/>
          <p:nvPr/>
        </p:nvSpPr>
        <p:spPr>
          <a:xfrm>
            <a:off x="4677194" y="8416761"/>
            <a:ext cx="1592560" cy="169615"/>
          </a:xfrm>
          <a:prstGeom prst="rect">
            <a:avLst/>
          </a:prstGeom>
        </p:spPr>
        <p:txBody>
          <a:bodyPr lIns="0" tIns="0" rIns="0" bIns="0" rtlCol="0" anchor="t">
            <a:spAutoFit/>
          </a:bodyPr>
          <a:lstStyle/>
          <a:p>
            <a:pPr algn="ctr">
              <a:lnSpc>
                <a:spcPts val="1323"/>
              </a:lnSpc>
            </a:pPr>
            <a:r>
              <a:rPr lang="en-US" sz="945" b="1">
                <a:solidFill>
                  <a:srgbClr val="000000"/>
                </a:solidFill>
                <a:latin typeface="Aptos Bold"/>
                <a:ea typeface="Aptos Bold"/>
                <a:cs typeface="Aptos Bold"/>
                <a:sym typeface="Aptos Bold"/>
              </a:rPr>
              <a:t>Plan</a:t>
            </a:r>
          </a:p>
        </p:txBody>
      </p:sp>
      <p:sp>
        <p:nvSpPr>
          <p:cNvPr id="102" name="TextBox 102"/>
          <p:cNvSpPr txBox="1"/>
          <p:nvPr/>
        </p:nvSpPr>
        <p:spPr>
          <a:xfrm>
            <a:off x="8804940" y="7041212"/>
            <a:ext cx="1592560" cy="169615"/>
          </a:xfrm>
          <a:prstGeom prst="rect">
            <a:avLst/>
          </a:prstGeom>
        </p:spPr>
        <p:txBody>
          <a:bodyPr lIns="0" tIns="0" rIns="0" bIns="0" rtlCol="0" anchor="t">
            <a:spAutoFit/>
          </a:bodyPr>
          <a:lstStyle/>
          <a:p>
            <a:pPr algn="ctr">
              <a:lnSpc>
                <a:spcPts val="1323"/>
              </a:lnSpc>
            </a:pPr>
            <a:r>
              <a:rPr lang="en-US" sz="945" b="1">
                <a:solidFill>
                  <a:srgbClr val="000000"/>
                </a:solidFill>
                <a:latin typeface="Aptos Bold"/>
                <a:ea typeface="Aptos Bold"/>
                <a:cs typeface="Aptos Bold"/>
                <a:sym typeface="Aptos Bold"/>
              </a:rPr>
              <a:t>Retrieve</a:t>
            </a:r>
          </a:p>
        </p:txBody>
      </p:sp>
      <p:sp>
        <p:nvSpPr>
          <p:cNvPr id="103" name="TextBox 103"/>
          <p:cNvSpPr txBox="1"/>
          <p:nvPr/>
        </p:nvSpPr>
        <p:spPr>
          <a:xfrm>
            <a:off x="4677194" y="8642156"/>
            <a:ext cx="1592560" cy="287793"/>
          </a:xfrm>
          <a:prstGeom prst="rect">
            <a:avLst/>
          </a:prstGeom>
        </p:spPr>
        <p:txBody>
          <a:bodyPr lIns="0" tIns="0" rIns="0" bIns="0" rtlCol="0" anchor="t">
            <a:spAutoFit/>
          </a:bodyPr>
          <a:lstStyle/>
          <a:p>
            <a:pPr algn="ctr">
              <a:lnSpc>
                <a:spcPts val="1176"/>
              </a:lnSpc>
            </a:pPr>
            <a:r>
              <a:rPr lang="en-US" sz="840">
                <a:solidFill>
                  <a:srgbClr val="000000"/>
                </a:solidFill>
                <a:latin typeface="Aptos"/>
                <a:ea typeface="Aptos"/>
                <a:cs typeface="Aptos"/>
                <a:sym typeface="Aptos"/>
              </a:rPr>
              <a:t>Hệ thống quyết định cần làm gì tiếp theo.</a:t>
            </a:r>
          </a:p>
        </p:txBody>
      </p:sp>
      <p:sp>
        <p:nvSpPr>
          <p:cNvPr id="104" name="TextBox 104"/>
          <p:cNvSpPr txBox="1"/>
          <p:nvPr/>
        </p:nvSpPr>
        <p:spPr>
          <a:xfrm>
            <a:off x="9394210" y="8642156"/>
            <a:ext cx="1592560" cy="287793"/>
          </a:xfrm>
          <a:prstGeom prst="rect">
            <a:avLst/>
          </a:prstGeom>
        </p:spPr>
        <p:txBody>
          <a:bodyPr lIns="0" tIns="0" rIns="0" bIns="0" rtlCol="0" anchor="t">
            <a:spAutoFit/>
          </a:bodyPr>
          <a:lstStyle/>
          <a:p>
            <a:pPr algn="ctr">
              <a:lnSpc>
                <a:spcPts val="1176"/>
              </a:lnSpc>
            </a:pPr>
            <a:r>
              <a:rPr lang="en-US" sz="840">
                <a:solidFill>
                  <a:srgbClr val="000000"/>
                </a:solidFill>
                <a:latin typeface="Aptos"/>
                <a:ea typeface="Aptos"/>
                <a:cs typeface="Aptos"/>
                <a:sym typeface="Aptos"/>
              </a:rPr>
              <a:t>Khi mọi thứ hợp lệ, hệ thống mới trả response cuối về frontend.</a:t>
            </a:r>
          </a:p>
        </p:txBody>
      </p:sp>
      <p:sp>
        <p:nvSpPr>
          <p:cNvPr id="105" name="TextBox 105"/>
          <p:cNvSpPr txBox="1"/>
          <p:nvPr/>
        </p:nvSpPr>
        <p:spPr>
          <a:xfrm>
            <a:off x="5227604" y="6991198"/>
            <a:ext cx="1582749" cy="169615"/>
          </a:xfrm>
          <a:prstGeom prst="rect">
            <a:avLst/>
          </a:prstGeom>
        </p:spPr>
        <p:txBody>
          <a:bodyPr lIns="0" tIns="0" rIns="0" bIns="0" rtlCol="0" anchor="t">
            <a:spAutoFit/>
          </a:bodyPr>
          <a:lstStyle/>
          <a:p>
            <a:pPr algn="ctr">
              <a:lnSpc>
                <a:spcPts val="1323"/>
              </a:lnSpc>
            </a:pPr>
            <a:r>
              <a:rPr lang="en-US" sz="945" b="1">
                <a:solidFill>
                  <a:srgbClr val="000000"/>
                </a:solidFill>
                <a:latin typeface="Aptos Bold"/>
                <a:ea typeface="Aptos Bold"/>
                <a:cs typeface="Aptos Bold"/>
                <a:sym typeface="Aptos Bold"/>
              </a:rPr>
              <a:t>Recover</a:t>
            </a:r>
          </a:p>
        </p:txBody>
      </p:sp>
      <p:sp>
        <p:nvSpPr>
          <p:cNvPr id="106" name="TextBox 106"/>
          <p:cNvSpPr txBox="1"/>
          <p:nvPr/>
        </p:nvSpPr>
        <p:spPr>
          <a:xfrm>
            <a:off x="9394210" y="8487281"/>
            <a:ext cx="1580420" cy="169615"/>
          </a:xfrm>
          <a:prstGeom prst="rect">
            <a:avLst/>
          </a:prstGeom>
        </p:spPr>
        <p:txBody>
          <a:bodyPr lIns="0" tIns="0" rIns="0" bIns="0" rtlCol="0" anchor="t">
            <a:spAutoFit/>
          </a:bodyPr>
          <a:lstStyle/>
          <a:p>
            <a:pPr algn="ctr">
              <a:lnSpc>
                <a:spcPts val="1323"/>
              </a:lnSpc>
            </a:pPr>
            <a:r>
              <a:rPr lang="en-US" sz="945" b="1">
                <a:solidFill>
                  <a:srgbClr val="000000"/>
                </a:solidFill>
                <a:latin typeface="Aptos Bold"/>
                <a:ea typeface="Aptos Bold"/>
                <a:cs typeface="Aptos Bold"/>
                <a:sym typeface="Aptos Bold"/>
              </a:rPr>
              <a:t>Commit</a:t>
            </a:r>
          </a:p>
        </p:txBody>
      </p:sp>
      <p:sp>
        <p:nvSpPr>
          <p:cNvPr id="107" name="TextBox 107"/>
          <p:cNvSpPr txBox="1"/>
          <p:nvPr/>
        </p:nvSpPr>
        <p:spPr>
          <a:xfrm>
            <a:off x="8856119" y="7191778"/>
            <a:ext cx="1449405" cy="577877"/>
          </a:xfrm>
          <a:prstGeom prst="rect">
            <a:avLst/>
          </a:prstGeom>
        </p:spPr>
        <p:txBody>
          <a:bodyPr lIns="0" tIns="0" rIns="0" bIns="0" rtlCol="0" anchor="t">
            <a:spAutoFit/>
          </a:bodyPr>
          <a:lstStyle/>
          <a:p>
            <a:pPr algn="ctr">
              <a:lnSpc>
                <a:spcPts val="1176"/>
              </a:lnSpc>
            </a:pPr>
            <a:r>
              <a:rPr lang="en-US" sz="840">
                <a:solidFill>
                  <a:srgbClr val="000000"/>
                </a:solidFill>
                <a:latin typeface="Aptos"/>
                <a:ea typeface="Aptos"/>
                <a:cs typeface="Aptos"/>
                <a:sym typeface="Aptos"/>
              </a:rPr>
              <a:t>Hệ thống đi lấy dữ liệu thật từ catalog.</a:t>
            </a:r>
          </a:p>
          <a:p>
            <a:pPr algn="ctr">
              <a:lnSpc>
                <a:spcPts val="1176"/>
              </a:lnSpc>
            </a:pPr>
            <a:endParaRPr lang="en-US" sz="840">
              <a:solidFill>
                <a:srgbClr val="000000"/>
              </a:solidFill>
              <a:latin typeface="Aptos"/>
              <a:ea typeface="Aptos"/>
              <a:cs typeface="Aptos"/>
              <a:sym typeface="Aptos"/>
            </a:endParaRPr>
          </a:p>
          <a:p>
            <a:pPr algn="ctr">
              <a:lnSpc>
                <a:spcPts val="1176"/>
              </a:lnSpc>
            </a:pPr>
            <a:endParaRPr lang="en-US" sz="840">
              <a:solidFill>
                <a:srgbClr val="000000"/>
              </a:solidFill>
              <a:latin typeface="Aptos"/>
              <a:ea typeface="Aptos"/>
              <a:cs typeface="Aptos"/>
              <a:sym typeface="Aptos"/>
            </a:endParaRPr>
          </a:p>
        </p:txBody>
      </p:sp>
      <p:sp>
        <p:nvSpPr>
          <p:cNvPr id="108" name="TextBox 108"/>
          <p:cNvSpPr txBox="1"/>
          <p:nvPr/>
        </p:nvSpPr>
        <p:spPr>
          <a:xfrm>
            <a:off x="2590369" y="8416761"/>
            <a:ext cx="1585011" cy="169615"/>
          </a:xfrm>
          <a:prstGeom prst="rect">
            <a:avLst/>
          </a:prstGeom>
        </p:spPr>
        <p:txBody>
          <a:bodyPr lIns="0" tIns="0" rIns="0" bIns="0" rtlCol="0" anchor="t">
            <a:spAutoFit/>
          </a:bodyPr>
          <a:lstStyle/>
          <a:p>
            <a:pPr algn="ctr">
              <a:lnSpc>
                <a:spcPts val="1323"/>
              </a:lnSpc>
            </a:pPr>
            <a:r>
              <a:rPr lang="en-US" sz="945" b="1">
                <a:solidFill>
                  <a:srgbClr val="000000"/>
                </a:solidFill>
                <a:latin typeface="Aptos Bold"/>
                <a:ea typeface="Aptos Bold"/>
                <a:cs typeface="Aptos Bold"/>
                <a:sym typeface="Aptos Bold"/>
              </a:rPr>
              <a:t>Perceive</a:t>
            </a:r>
          </a:p>
        </p:txBody>
      </p:sp>
      <p:sp>
        <p:nvSpPr>
          <p:cNvPr id="109" name="TextBox 109"/>
          <p:cNvSpPr txBox="1"/>
          <p:nvPr/>
        </p:nvSpPr>
        <p:spPr>
          <a:xfrm>
            <a:off x="2590369" y="8642156"/>
            <a:ext cx="1585011" cy="287793"/>
          </a:xfrm>
          <a:prstGeom prst="rect">
            <a:avLst/>
          </a:prstGeom>
        </p:spPr>
        <p:txBody>
          <a:bodyPr lIns="0" tIns="0" rIns="0" bIns="0" rtlCol="0" anchor="t">
            <a:spAutoFit/>
          </a:bodyPr>
          <a:lstStyle/>
          <a:p>
            <a:pPr algn="ctr">
              <a:lnSpc>
                <a:spcPts val="1176"/>
              </a:lnSpc>
            </a:pPr>
            <a:r>
              <a:rPr lang="en-US" sz="840">
                <a:solidFill>
                  <a:srgbClr val="000000"/>
                </a:solidFill>
                <a:latin typeface="Aptos"/>
                <a:ea typeface="Aptos"/>
                <a:cs typeface="Aptos"/>
                <a:sym typeface="Aptos"/>
              </a:rPr>
              <a:t>Hệ thống nhận câu hỏi người dùng và đọc ngữ cảnh hội thoại hiện tại.</a:t>
            </a:r>
          </a:p>
        </p:txBody>
      </p:sp>
      <p:sp>
        <p:nvSpPr>
          <p:cNvPr id="110" name="TextBox 110"/>
          <p:cNvSpPr txBox="1"/>
          <p:nvPr/>
        </p:nvSpPr>
        <p:spPr>
          <a:xfrm>
            <a:off x="7799452" y="6089178"/>
            <a:ext cx="1580420" cy="169615"/>
          </a:xfrm>
          <a:prstGeom prst="rect">
            <a:avLst/>
          </a:prstGeom>
        </p:spPr>
        <p:txBody>
          <a:bodyPr lIns="0" tIns="0" rIns="0" bIns="0" rtlCol="0" anchor="t">
            <a:spAutoFit/>
          </a:bodyPr>
          <a:lstStyle/>
          <a:p>
            <a:pPr algn="ctr">
              <a:lnSpc>
                <a:spcPts val="1323"/>
              </a:lnSpc>
            </a:pPr>
            <a:r>
              <a:rPr lang="en-US" sz="945" b="1">
                <a:solidFill>
                  <a:srgbClr val="000000"/>
                </a:solidFill>
                <a:latin typeface="Aptos Bold"/>
                <a:ea typeface="Aptos Bold"/>
                <a:cs typeface="Aptos Bold"/>
                <a:sym typeface="Aptos Bold"/>
              </a:rPr>
              <a:t>Verify </a:t>
            </a:r>
          </a:p>
        </p:txBody>
      </p:sp>
      <p:sp>
        <p:nvSpPr>
          <p:cNvPr id="111" name="TextBox 111"/>
          <p:cNvSpPr txBox="1"/>
          <p:nvPr/>
        </p:nvSpPr>
        <p:spPr>
          <a:xfrm>
            <a:off x="7795492" y="6239743"/>
            <a:ext cx="1580420" cy="287793"/>
          </a:xfrm>
          <a:prstGeom prst="rect">
            <a:avLst/>
          </a:prstGeom>
        </p:spPr>
        <p:txBody>
          <a:bodyPr lIns="0" tIns="0" rIns="0" bIns="0" rtlCol="0" anchor="t">
            <a:spAutoFit/>
          </a:bodyPr>
          <a:lstStyle/>
          <a:p>
            <a:pPr algn="ctr">
              <a:lnSpc>
                <a:spcPts val="1176"/>
              </a:lnSpc>
            </a:pPr>
            <a:r>
              <a:rPr lang="en-US" sz="840">
                <a:solidFill>
                  <a:srgbClr val="000000"/>
                </a:solidFill>
                <a:latin typeface="Aptos"/>
                <a:ea typeface="Aptos"/>
                <a:cs typeface="Aptos"/>
                <a:sym typeface="Aptos"/>
              </a:rPr>
              <a:t>Hệ thống kiểm tra câu trả lời nháp có đúng không.</a:t>
            </a:r>
          </a:p>
        </p:txBody>
      </p:sp>
      <p:sp>
        <p:nvSpPr>
          <p:cNvPr id="112" name="TextBox 112"/>
          <p:cNvSpPr txBox="1"/>
          <p:nvPr/>
        </p:nvSpPr>
        <p:spPr>
          <a:xfrm>
            <a:off x="6684576" y="4317793"/>
            <a:ext cx="3181936" cy="790310"/>
          </a:xfrm>
          <a:prstGeom prst="rect">
            <a:avLst/>
          </a:prstGeom>
        </p:spPr>
        <p:txBody>
          <a:bodyPr lIns="0" tIns="0" rIns="0" bIns="0" rtlCol="0" anchor="t">
            <a:spAutoFit/>
          </a:bodyPr>
          <a:lstStyle/>
          <a:p>
            <a:pPr algn="ctr">
              <a:lnSpc>
                <a:spcPts val="2114"/>
              </a:lnSpc>
              <a:spcBef>
                <a:spcPct val="0"/>
              </a:spcBef>
            </a:pPr>
            <a:r>
              <a:rPr lang="en-US" sz="1510" spc="-55">
                <a:solidFill>
                  <a:srgbClr val="000000"/>
                </a:solidFill>
                <a:latin typeface="Aptos"/>
                <a:ea typeface="Aptos"/>
                <a:cs typeface="Aptos"/>
                <a:sym typeface="Aptos"/>
              </a:rPr>
              <a:t>Contract là format phản hồi chuẩn giữa backend và frontend. Nó giúp hai phía hiểu cùng một cấu trúc dữ liệu.</a:t>
            </a:r>
          </a:p>
        </p:txBody>
      </p:sp>
      <p:sp>
        <p:nvSpPr>
          <p:cNvPr id="113" name="TextBox 113"/>
          <p:cNvSpPr txBox="1"/>
          <p:nvPr/>
        </p:nvSpPr>
        <p:spPr>
          <a:xfrm>
            <a:off x="13187091" y="1626378"/>
            <a:ext cx="3517176" cy="2127722"/>
          </a:xfrm>
          <a:prstGeom prst="rect">
            <a:avLst/>
          </a:prstGeom>
        </p:spPr>
        <p:txBody>
          <a:bodyPr lIns="0" tIns="0" rIns="0" bIns="0" rtlCol="0" anchor="t">
            <a:spAutoFit/>
          </a:bodyPr>
          <a:lstStyle/>
          <a:p>
            <a:pPr marL="261334" lvl="1" indent="-130667" algn="l">
              <a:lnSpc>
                <a:spcPts val="1948"/>
              </a:lnSpc>
              <a:buFont typeface="Arial"/>
              <a:buChar char="•"/>
            </a:pPr>
            <a:r>
              <a:rPr lang="en-US" sz="1210" spc="-44">
                <a:solidFill>
                  <a:srgbClr val="FFFFFF"/>
                </a:solidFill>
                <a:latin typeface="Aptos"/>
                <a:ea typeface="Aptos"/>
                <a:cs typeface="Aptos"/>
                <a:sym typeface="Aptos"/>
              </a:rPr>
              <a:t>perceive: tiếp nhận request và nạp state.</a:t>
            </a:r>
          </a:p>
          <a:p>
            <a:pPr marL="261334" lvl="1" indent="-130667" algn="l">
              <a:lnSpc>
                <a:spcPts val="1948"/>
              </a:lnSpc>
              <a:buFont typeface="Arial"/>
              <a:buChar char="•"/>
            </a:pPr>
            <a:r>
              <a:rPr lang="en-US" sz="1210" spc="-44">
                <a:solidFill>
                  <a:srgbClr val="FFFFFF"/>
                </a:solidFill>
                <a:latin typeface="Aptos"/>
                <a:ea typeface="Aptos"/>
                <a:cs typeface="Aptos"/>
                <a:sym typeface="Aptos"/>
              </a:rPr>
              <a:t>plan: xác định intent và hướng xử lý.</a:t>
            </a:r>
          </a:p>
          <a:p>
            <a:pPr marL="261334" lvl="1" indent="-130667" algn="l">
              <a:lnSpc>
                <a:spcPts val="1948"/>
              </a:lnSpc>
              <a:buFont typeface="Arial"/>
              <a:buChar char="•"/>
            </a:pPr>
            <a:r>
              <a:rPr lang="en-US" sz="1210" spc="-44">
                <a:solidFill>
                  <a:srgbClr val="FFFFFF"/>
                </a:solidFill>
                <a:latin typeface="Aptos"/>
                <a:ea typeface="Aptos"/>
                <a:cs typeface="Aptos"/>
                <a:sym typeface="Aptos"/>
              </a:rPr>
              <a:t>preflight: kiểm tra trước khi thực hiện.</a:t>
            </a:r>
          </a:p>
          <a:p>
            <a:pPr marL="261334" lvl="1" indent="-130667" algn="l">
              <a:lnSpc>
                <a:spcPts val="1948"/>
              </a:lnSpc>
              <a:buFont typeface="Arial"/>
              <a:buChar char="•"/>
            </a:pPr>
            <a:r>
              <a:rPr lang="en-US" sz="1210" spc="-44">
                <a:solidFill>
                  <a:srgbClr val="FFFFFF"/>
                </a:solidFill>
                <a:latin typeface="Aptos"/>
                <a:ea typeface="Aptos"/>
                <a:cs typeface="Aptos"/>
                <a:sym typeface="Aptos"/>
              </a:rPr>
              <a:t>retrieve_execute: truy xuất catalog và thực hiện xử lý chính.</a:t>
            </a:r>
          </a:p>
          <a:p>
            <a:pPr marL="261334" lvl="1" indent="-130667" algn="l">
              <a:lnSpc>
                <a:spcPts val="1948"/>
              </a:lnSpc>
              <a:buFont typeface="Arial"/>
              <a:buChar char="•"/>
            </a:pPr>
            <a:r>
              <a:rPr lang="en-US" sz="1210" spc="-44">
                <a:solidFill>
                  <a:srgbClr val="FFFFFF"/>
                </a:solidFill>
                <a:latin typeface="Aptos"/>
                <a:ea typeface="Aptos"/>
                <a:cs typeface="Aptos"/>
                <a:sym typeface="Aptos"/>
              </a:rPr>
              <a:t>postflight: kiểm tra sau khi có câu trả lời nháp.</a:t>
            </a:r>
          </a:p>
          <a:p>
            <a:pPr marL="261334" lvl="1" indent="-130667" algn="l">
              <a:lnSpc>
                <a:spcPts val="1948"/>
              </a:lnSpc>
              <a:buFont typeface="Arial"/>
              <a:buChar char="•"/>
            </a:pPr>
            <a:r>
              <a:rPr lang="en-US" sz="1210" spc="-44">
                <a:solidFill>
                  <a:srgbClr val="FFFFFF"/>
                </a:solidFill>
                <a:latin typeface="Aptos"/>
                <a:ea typeface="Aptos"/>
                <a:cs typeface="Aptos"/>
                <a:sym typeface="Aptos"/>
              </a:rPr>
              <a:t>recover: xử lý an toàn khi có lỗi.</a:t>
            </a:r>
          </a:p>
          <a:p>
            <a:pPr marL="261334" lvl="1" indent="-130667" algn="l">
              <a:lnSpc>
                <a:spcPts val="1948"/>
              </a:lnSpc>
              <a:buFont typeface="Arial"/>
              <a:buChar char="•"/>
            </a:pPr>
            <a:r>
              <a:rPr lang="en-US" sz="1210" spc="-44">
                <a:solidFill>
                  <a:srgbClr val="FFFFFF"/>
                </a:solidFill>
                <a:latin typeface="Aptos"/>
                <a:ea typeface="Aptos"/>
                <a:cs typeface="Aptos"/>
                <a:sym typeface="Aptos"/>
              </a:rPr>
              <a:t>commit: chốt response và cập nhật state.</a:t>
            </a:r>
          </a:p>
          <a:p>
            <a:pPr algn="l">
              <a:lnSpc>
                <a:spcPts val="1948"/>
              </a:lnSpc>
            </a:pPr>
            <a:endParaRPr lang="en-US" sz="1210" spc="-44">
              <a:solidFill>
                <a:srgbClr val="FFFFFF"/>
              </a:solidFill>
              <a:latin typeface="Aptos"/>
              <a:ea typeface="Aptos"/>
              <a:cs typeface="Aptos"/>
              <a:sym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437195" y="7171131"/>
            <a:ext cx="1387838" cy="961005"/>
            <a:chOff x="0" y="0"/>
            <a:chExt cx="365521" cy="253104"/>
          </a:xfrm>
        </p:grpSpPr>
        <p:sp>
          <p:nvSpPr>
            <p:cNvPr id="6" name="Freeform 6"/>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7" name="TextBox 7"/>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97652" y="167020"/>
            <a:ext cx="16414232" cy="9952960"/>
            <a:chOff x="0" y="0"/>
            <a:chExt cx="4323090" cy="2621356"/>
          </a:xfrm>
        </p:grpSpPr>
        <p:sp>
          <p:nvSpPr>
            <p:cNvPr id="9" name="Freeform 9"/>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10" name="TextBox 10"/>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2" name="Freeform 12"/>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3"/>
                </a:ext>
              </a:extLst>
            </a:blip>
            <a:stretch>
              <a:fillRect r="-20013"/>
            </a:stretch>
          </a:blipFill>
        </p:spPr>
        <p:txBody>
          <a:bodyPr/>
          <a:lstStyle/>
          <a:p>
            <a:endParaRPr lang="en-US"/>
          </a:p>
        </p:txBody>
      </p:sp>
      <p:grpSp>
        <p:nvGrpSpPr>
          <p:cNvPr id="13" name="Group 13"/>
          <p:cNvGrpSpPr/>
          <p:nvPr/>
        </p:nvGrpSpPr>
        <p:grpSpPr>
          <a:xfrm>
            <a:off x="12745908" y="4782705"/>
            <a:ext cx="4513392" cy="3893478"/>
            <a:chOff x="0" y="0"/>
            <a:chExt cx="2702880" cy="2331640"/>
          </a:xfrm>
        </p:grpSpPr>
        <p:sp>
          <p:nvSpPr>
            <p:cNvPr id="14" name="Freeform 14"/>
            <p:cNvSpPr/>
            <p:nvPr/>
          </p:nvSpPr>
          <p:spPr>
            <a:xfrm>
              <a:off x="0" y="0"/>
              <a:ext cx="2702880" cy="2331640"/>
            </a:xfrm>
            <a:custGeom>
              <a:avLst/>
              <a:gdLst/>
              <a:ahLst/>
              <a:cxnLst/>
              <a:rect l="l" t="t" r="r" b="b"/>
              <a:pathLst>
                <a:path w="2702880" h="2331640">
                  <a:moveTo>
                    <a:pt x="54890" y="0"/>
                  </a:moveTo>
                  <a:lnTo>
                    <a:pt x="2647990" y="0"/>
                  </a:lnTo>
                  <a:cubicBezTo>
                    <a:pt x="2678305" y="0"/>
                    <a:pt x="2702880" y="24575"/>
                    <a:pt x="2702880" y="54890"/>
                  </a:cubicBezTo>
                  <a:lnTo>
                    <a:pt x="2702880" y="2276750"/>
                  </a:lnTo>
                  <a:cubicBezTo>
                    <a:pt x="2702880" y="2307065"/>
                    <a:pt x="2678305" y="2331640"/>
                    <a:pt x="2647990" y="2331640"/>
                  </a:cubicBezTo>
                  <a:lnTo>
                    <a:pt x="54890" y="2331640"/>
                  </a:lnTo>
                  <a:cubicBezTo>
                    <a:pt x="24575" y="2331640"/>
                    <a:pt x="0" y="2307065"/>
                    <a:pt x="0" y="2276750"/>
                  </a:cubicBezTo>
                  <a:lnTo>
                    <a:pt x="0" y="54890"/>
                  </a:lnTo>
                  <a:cubicBezTo>
                    <a:pt x="0" y="24575"/>
                    <a:pt x="24575" y="0"/>
                    <a:pt x="54890" y="0"/>
                  </a:cubicBezTo>
                  <a:close/>
                </a:path>
              </a:pathLst>
            </a:custGeom>
            <a:solidFill>
              <a:srgbClr val="EB574C"/>
            </a:solidFill>
            <a:ln w="9525" cap="rnd">
              <a:solidFill>
                <a:srgbClr val="424141"/>
              </a:solidFill>
              <a:prstDash val="solid"/>
              <a:round/>
            </a:ln>
          </p:spPr>
          <p:txBody>
            <a:bodyPr/>
            <a:lstStyle/>
            <a:p>
              <a:endParaRPr lang="en-US"/>
            </a:p>
          </p:txBody>
        </p:sp>
        <p:sp>
          <p:nvSpPr>
            <p:cNvPr id="15" name="TextBox 15"/>
            <p:cNvSpPr txBox="1"/>
            <p:nvPr/>
          </p:nvSpPr>
          <p:spPr>
            <a:xfrm>
              <a:off x="0" y="-38100"/>
              <a:ext cx="2702880" cy="2369740"/>
            </a:xfrm>
            <a:prstGeom prst="rect">
              <a:avLst/>
            </a:prstGeom>
          </p:spPr>
          <p:txBody>
            <a:bodyPr lIns="50800" tIns="50800" rIns="50800" bIns="50800" rtlCol="0" anchor="ctr"/>
            <a:lstStyle/>
            <a:p>
              <a:pPr marL="0" lvl="0" indent="0" algn="ctr">
                <a:lnSpc>
                  <a:spcPts val="1540"/>
                </a:lnSpc>
              </a:pPr>
              <a:endParaRPr/>
            </a:p>
          </p:txBody>
        </p:sp>
      </p:grpSp>
      <p:sp>
        <p:nvSpPr>
          <p:cNvPr id="16" name="TextBox 16"/>
          <p:cNvSpPr txBox="1"/>
          <p:nvPr/>
        </p:nvSpPr>
        <p:spPr>
          <a:xfrm>
            <a:off x="2952598" y="2222386"/>
            <a:ext cx="11673652" cy="1858998"/>
          </a:xfrm>
          <a:prstGeom prst="rect">
            <a:avLst/>
          </a:prstGeom>
        </p:spPr>
        <p:txBody>
          <a:bodyPr lIns="0" tIns="0" rIns="0" bIns="0" rtlCol="0" anchor="t">
            <a:spAutoFit/>
          </a:bodyPr>
          <a:lstStyle/>
          <a:p>
            <a:pPr marL="0" lvl="0" indent="0" algn="l">
              <a:lnSpc>
                <a:spcPts val="7131"/>
              </a:lnSpc>
            </a:pPr>
            <a:r>
              <a:rPr lang="en-US" sz="7203" b="1" spc="-446">
                <a:solidFill>
                  <a:srgbClr val="424141"/>
                </a:solidFill>
                <a:latin typeface="Aptos Bold"/>
                <a:ea typeface="Aptos Bold"/>
                <a:cs typeface="Aptos Bold"/>
                <a:sym typeface="Aptos Bold"/>
              </a:rPr>
              <a:t>KẾT LUẬN &amp;</a:t>
            </a:r>
          </a:p>
          <a:p>
            <a:pPr marL="0" lvl="0" indent="0" algn="l">
              <a:lnSpc>
                <a:spcPts val="7131"/>
              </a:lnSpc>
            </a:pPr>
            <a:r>
              <a:rPr lang="en-US" sz="7203" b="1" spc="-446">
                <a:solidFill>
                  <a:srgbClr val="424141"/>
                </a:solidFill>
                <a:latin typeface="Aptos Bold"/>
                <a:ea typeface="Aptos Bold"/>
                <a:cs typeface="Aptos Bold"/>
                <a:sym typeface="Aptos Bold"/>
              </a:rPr>
              <a:t>HƯỚNG PHÁT TRIỂN</a:t>
            </a:r>
          </a:p>
        </p:txBody>
      </p:sp>
      <p:sp>
        <p:nvSpPr>
          <p:cNvPr id="17" name="Freeform 17"/>
          <p:cNvSpPr/>
          <p:nvPr/>
        </p:nvSpPr>
        <p:spPr>
          <a:xfrm flipH="1">
            <a:off x="11618850" y="3080447"/>
            <a:ext cx="941613" cy="818027"/>
          </a:xfrm>
          <a:custGeom>
            <a:avLst/>
            <a:gdLst/>
            <a:ahLst/>
            <a:cxnLst/>
            <a:rect l="l" t="t" r="r" b="b"/>
            <a:pathLst>
              <a:path w="941613" h="818027">
                <a:moveTo>
                  <a:pt x="941613" y="0"/>
                </a:moveTo>
                <a:lnTo>
                  <a:pt x="0" y="0"/>
                </a:lnTo>
                <a:lnTo>
                  <a:pt x="0" y="818027"/>
                </a:lnTo>
                <a:lnTo>
                  <a:pt x="941613" y="818027"/>
                </a:lnTo>
                <a:lnTo>
                  <a:pt x="94161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AutoShape 18"/>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19" name="AutoShape 19"/>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0" name="AutoShape 20"/>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1" name="Freeform 21"/>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2" name="Freeform 22"/>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3" name="Group 23"/>
          <p:cNvGrpSpPr/>
          <p:nvPr/>
        </p:nvGrpSpPr>
        <p:grpSpPr>
          <a:xfrm>
            <a:off x="16839551" y="2894346"/>
            <a:ext cx="419749" cy="419749"/>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5" name="TextBox 25"/>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6" name="Group 26"/>
          <p:cNvGrpSpPr/>
          <p:nvPr/>
        </p:nvGrpSpPr>
        <p:grpSpPr>
          <a:xfrm>
            <a:off x="16419760" y="2894346"/>
            <a:ext cx="419749" cy="419749"/>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424141"/>
              </a:solidFill>
              <a:prstDash val="solid"/>
              <a:miter/>
            </a:ln>
          </p:spPr>
          <p:txBody>
            <a:bodyPr/>
            <a:lstStyle/>
            <a:p>
              <a:endParaRPr lang="en-US"/>
            </a:p>
          </p:txBody>
        </p:sp>
        <p:sp>
          <p:nvSpPr>
            <p:cNvPr id="28" name="TextBox 28"/>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grpSp>
        <p:nvGrpSpPr>
          <p:cNvPr id="29" name="Group 29"/>
          <p:cNvGrpSpPr/>
          <p:nvPr/>
        </p:nvGrpSpPr>
        <p:grpSpPr>
          <a:xfrm>
            <a:off x="15999969" y="2894346"/>
            <a:ext cx="419749" cy="419749"/>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19050" cap="sq">
              <a:solidFill>
                <a:srgbClr val="424141"/>
              </a:solidFill>
              <a:prstDash val="solid"/>
              <a:miter/>
            </a:ln>
          </p:spPr>
          <p:txBody>
            <a:bodyPr/>
            <a:lstStyle/>
            <a:p>
              <a:endParaRPr lang="en-US"/>
            </a:p>
          </p:txBody>
        </p:sp>
        <p:sp>
          <p:nvSpPr>
            <p:cNvPr id="31" name="TextBox 31"/>
            <p:cNvSpPr txBox="1"/>
            <p:nvPr/>
          </p:nvSpPr>
          <p:spPr>
            <a:xfrm>
              <a:off x="76200" y="104775"/>
              <a:ext cx="660400" cy="631825"/>
            </a:xfrm>
            <a:prstGeom prst="rect">
              <a:avLst/>
            </a:prstGeom>
          </p:spPr>
          <p:txBody>
            <a:bodyPr lIns="39013" tIns="39013" rIns="39013" bIns="39013" rtlCol="0" anchor="ctr"/>
            <a:lstStyle/>
            <a:p>
              <a:pPr marL="0" lvl="0" indent="0" algn="ctr">
                <a:lnSpc>
                  <a:spcPts val="1297"/>
                </a:lnSpc>
              </a:pPr>
              <a:endParaRPr/>
            </a:p>
          </p:txBody>
        </p:sp>
      </p:grpSp>
      <p:sp>
        <p:nvSpPr>
          <p:cNvPr id="32" name="Freeform 32"/>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33" name="Group 33"/>
          <p:cNvGrpSpPr/>
          <p:nvPr/>
        </p:nvGrpSpPr>
        <p:grpSpPr>
          <a:xfrm>
            <a:off x="13073621" y="5031037"/>
            <a:ext cx="3857966" cy="3140036"/>
            <a:chOff x="0" y="0"/>
            <a:chExt cx="1756195" cy="1429384"/>
          </a:xfrm>
        </p:grpSpPr>
        <p:sp>
          <p:nvSpPr>
            <p:cNvPr id="34" name="Freeform 34"/>
            <p:cNvSpPr/>
            <p:nvPr/>
          </p:nvSpPr>
          <p:spPr>
            <a:xfrm>
              <a:off x="0" y="0"/>
              <a:ext cx="1756195" cy="1429384"/>
            </a:xfrm>
            <a:custGeom>
              <a:avLst/>
              <a:gdLst/>
              <a:ahLst/>
              <a:cxnLst/>
              <a:rect l="l" t="t" r="r" b="b"/>
              <a:pathLst>
                <a:path w="1756195" h="1429384">
                  <a:moveTo>
                    <a:pt x="34115" y="0"/>
                  </a:moveTo>
                  <a:lnTo>
                    <a:pt x="1722081" y="0"/>
                  </a:lnTo>
                  <a:cubicBezTo>
                    <a:pt x="1740922" y="0"/>
                    <a:pt x="1756195" y="15274"/>
                    <a:pt x="1756195" y="34115"/>
                  </a:cubicBezTo>
                  <a:lnTo>
                    <a:pt x="1756195" y="1395270"/>
                  </a:lnTo>
                  <a:cubicBezTo>
                    <a:pt x="1756195" y="1404317"/>
                    <a:pt x="1752601" y="1412994"/>
                    <a:pt x="1746203" y="1419392"/>
                  </a:cubicBezTo>
                  <a:cubicBezTo>
                    <a:pt x="1739805" y="1425790"/>
                    <a:pt x="1731128" y="1429384"/>
                    <a:pt x="1722081" y="1429384"/>
                  </a:cubicBezTo>
                  <a:lnTo>
                    <a:pt x="34115" y="1429384"/>
                  </a:lnTo>
                  <a:cubicBezTo>
                    <a:pt x="25067" y="1429384"/>
                    <a:pt x="16390" y="1425790"/>
                    <a:pt x="9992" y="1419392"/>
                  </a:cubicBezTo>
                  <a:cubicBezTo>
                    <a:pt x="3594" y="1412994"/>
                    <a:pt x="0" y="1404317"/>
                    <a:pt x="0" y="1395270"/>
                  </a:cubicBezTo>
                  <a:lnTo>
                    <a:pt x="0" y="34115"/>
                  </a:lnTo>
                  <a:cubicBezTo>
                    <a:pt x="0" y="25067"/>
                    <a:pt x="3594" y="16390"/>
                    <a:pt x="9992" y="9992"/>
                  </a:cubicBezTo>
                  <a:cubicBezTo>
                    <a:pt x="16390" y="3594"/>
                    <a:pt x="25067" y="0"/>
                    <a:pt x="34115" y="0"/>
                  </a:cubicBezTo>
                  <a:close/>
                </a:path>
              </a:pathLst>
            </a:custGeom>
            <a:blipFill>
              <a:blip r:embed="rId8"/>
              <a:stretch>
                <a:fillRect l="-318" r="-318"/>
              </a:stretch>
            </a:blipFill>
            <a:ln w="9525" cap="sq">
              <a:solidFill>
                <a:srgbClr val="424141"/>
              </a:solidFill>
              <a:prstDash val="solid"/>
              <a:miter/>
            </a:ln>
          </p:spPr>
          <p:txBody>
            <a:bodyPr/>
            <a:lstStyle/>
            <a:p>
              <a:endParaRPr lang="en-US"/>
            </a:p>
          </p:txBody>
        </p:sp>
      </p:grpSp>
      <p:grpSp>
        <p:nvGrpSpPr>
          <p:cNvPr id="35" name="Group 35"/>
          <p:cNvGrpSpPr/>
          <p:nvPr/>
        </p:nvGrpSpPr>
        <p:grpSpPr>
          <a:xfrm>
            <a:off x="2952598" y="4782705"/>
            <a:ext cx="8845603" cy="1899500"/>
            <a:chOff x="0" y="0"/>
            <a:chExt cx="5297259" cy="1137530"/>
          </a:xfrm>
        </p:grpSpPr>
        <p:sp>
          <p:nvSpPr>
            <p:cNvPr id="36" name="Freeform 36"/>
            <p:cNvSpPr/>
            <p:nvPr/>
          </p:nvSpPr>
          <p:spPr>
            <a:xfrm>
              <a:off x="0" y="0"/>
              <a:ext cx="5297258" cy="1137530"/>
            </a:xfrm>
            <a:custGeom>
              <a:avLst/>
              <a:gdLst/>
              <a:ahLst/>
              <a:cxnLst/>
              <a:rect l="l" t="t" r="r" b="b"/>
              <a:pathLst>
                <a:path w="5297258" h="1137530">
                  <a:moveTo>
                    <a:pt x="28007" y="0"/>
                  </a:moveTo>
                  <a:lnTo>
                    <a:pt x="5269251" y="0"/>
                  </a:lnTo>
                  <a:cubicBezTo>
                    <a:pt x="5284719" y="0"/>
                    <a:pt x="5297258" y="12539"/>
                    <a:pt x="5297258" y="28007"/>
                  </a:cubicBezTo>
                  <a:lnTo>
                    <a:pt x="5297258" y="1109523"/>
                  </a:lnTo>
                  <a:cubicBezTo>
                    <a:pt x="5297258" y="1124991"/>
                    <a:pt x="5284719" y="1137530"/>
                    <a:pt x="5269251" y="1137530"/>
                  </a:cubicBezTo>
                  <a:lnTo>
                    <a:pt x="28007" y="1137530"/>
                  </a:lnTo>
                  <a:cubicBezTo>
                    <a:pt x="12539" y="1137530"/>
                    <a:pt x="0" y="1124991"/>
                    <a:pt x="0" y="1109523"/>
                  </a:cubicBezTo>
                  <a:lnTo>
                    <a:pt x="0" y="28007"/>
                  </a:lnTo>
                  <a:cubicBezTo>
                    <a:pt x="0" y="12539"/>
                    <a:pt x="12539" y="0"/>
                    <a:pt x="28007" y="0"/>
                  </a:cubicBezTo>
                  <a:close/>
                </a:path>
              </a:pathLst>
            </a:custGeom>
            <a:solidFill>
              <a:srgbClr val="FF6F5E"/>
            </a:solidFill>
            <a:ln w="9525" cap="rnd">
              <a:solidFill>
                <a:srgbClr val="424141"/>
              </a:solidFill>
              <a:prstDash val="solid"/>
              <a:round/>
            </a:ln>
          </p:spPr>
          <p:txBody>
            <a:bodyPr/>
            <a:lstStyle/>
            <a:p>
              <a:endParaRPr lang="en-US"/>
            </a:p>
          </p:txBody>
        </p:sp>
        <p:sp>
          <p:nvSpPr>
            <p:cNvPr id="37" name="TextBox 37"/>
            <p:cNvSpPr txBox="1"/>
            <p:nvPr/>
          </p:nvSpPr>
          <p:spPr>
            <a:xfrm>
              <a:off x="0" y="-38100"/>
              <a:ext cx="5297259" cy="1175630"/>
            </a:xfrm>
            <a:prstGeom prst="rect">
              <a:avLst/>
            </a:prstGeom>
          </p:spPr>
          <p:txBody>
            <a:bodyPr lIns="50800" tIns="50800" rIns="50800" bIns="50800" rtlCol="0" anchor="ctr"/>
            <a:lstStyle/>
            <a:p>
              <a:pPr marL="0" lvl="0" indent="0" algn="ctr">
                <a:lnSpc>
                  <a:spcPts val="1540"/>
                </a:lnSpc>
              </a:pPr>
              <a:endParaRPr/>
            </a:p>
          </p:txBody>
        </p:sp>
      </p:grpSp>
      <p:grpSp>
        <p:nvGrpSpPr>
          <p:cNvPr id="38" name="Group 38"/>
          <p:cNvGrpSpPr/>
          <p:nvPr/>
        </p:nvGrpSpPr>
        <p:grpSpPr>
          <a:xfrm>
            <a:off x="3203955" y="4662997"/>
            <a:ext cx="2933893" cy="653335"/>
            <a:chOff x="0" y="0"/>
            <a:chExt cx="2037821" cy="453793"/>
          </a:xfrm>
        </p:grpSpPr>
        <p:sp>
          <p:nvSpPr>
            <p:cNvPr id="39" name="Freeform 39"/>
            <p:cNvSpPr/>
            <p:nvPr/>
          </p:nvSpPr>
          <p:spPr>
            <a:xfrm>
              <a:off x="0" y="0"/>
              <a:ext cx="2037821" cy="453793"/>
            </a:xfrm>
            <a:custGeom>
              <a:avLst/>
              <a:gdLst/>
              <a:ahLst/>
              <a:cxnLst/>
              <a:rect l="l" t="t" r="r" b="b"/>
              <a:pathLst>
                <a:path w="2037821" h="453793">
                  <a:moveTo>
                    <a:pt x="34304" y="0"/>
                  </a:moveTo>
                  <a:lnTo>
                    <a:pt x="2003516" y="0"/>
                  </a:lnTo>
                  <a:cubicBezTo>
                    <a:pt x="2012614" y="0"/>
                    <a:pt x="2021340" y="3614"/>
                    <a:pt x="2027773" y="10047"/>
                  </a:cubicBezTo>
                  <a:cubicBezTo>
                    <a:pt x="2034206" y="16481"/>
                    <a:pt x="2037821" y="25206"/>
                    <a:pt x="2037821" y="34304"/>
                  </a:cubicBezTo>
                  <a:lnTo>
                    <a:pt x="2037821" y="419488"/>
                  </a:lnTo>
                  <a:cubicBezTo>
                    <a:pt x="2037821" y="438434"/>
                    <a:pt x="2022462" y="453793"/>
                    <a:pt x="2003516" y="453793"/>
                  </a:cubicBezTo>
                  <a:lnTo>
                    <a:pt x="34304" y="453793"/>
                  </a:lnTo>
                  <a:cubicBezTo>
                    <a:pt x="15359" y="453793"/>
                    <a:pt x="0" y="438434"/>
                    <a:pt x="0" y="419488"/>
                  </a:cubicBezTo>
                  <a:lnTo>
                    <a:pt x="0" y="34304"/>
                  </a:lnTo>
                  <a:cubicBezTo>
                    <a:pt x="0" y="15359"/>
                    <a:pt x="15359" y="0"/>
                    <a:pt x="34304" y="0"/>
                  </a:cubicBezTo>
                  <a:close/>
                </a:path>
              </a:pathLst>
            </a:custGeom>
            <a:solidFill>
              <a:srgbClr val="FFDE59"/>
            </a:solidFill>
            <a:ln w="9525" cap="sq">
              <a:solidFill>
                <a:srgbClr val="424141"/>
              </a:solidFill>
              <a:prstDash val="solid"/>
              <a:miter/>
            </a:ln>
          </p:spPr>
          <p:txBody>
            <a:bodyPr/>
            <a:lstStyle/>
            <a:p>
              <a:endParaRPr lang="en-US"/>
            </a:p>
          </p:txBody>
        </p:sp>
        <p:sp>
          <p:nvSpPr>
            <p:cNvPr id="40" name="TextBox 40"/>
            <p:cNvSpPr txBox="1"/>
            <p:nvPr/>
          </p:nvSpPr>
          <p:spPr>
            <a:xfrm>
              <a:off x="0" y="28575"/>
              <a:ext cx="2037821" cy="425218"/>
            </a:xfrm>
            <a:prstGeom prst="rect">
              <a:avLst/>
            </a:prstGeom>
          </p:spPr>
          <p:txBody>
            <a:bodyPr lIns="39013" tIns="39013" rIns="39013" bIns="39013" rtlCol="0" anchor="ctr"/>
            <a:lstStyle/>
            <a:p>
              <a:pPr marL="0" lvl="0" indent="0" algn="ctr">
                <a:lnSpc>
                  <a:spcPts val="1297"/>
                </a:lnSpc>
              </a:pPr>
              <a:endParaRPr/>
            </a:p>
          </p:txBody>
        </p:sp>
      </p:grpSp>
      <p:grpSp>
        <p:nvGrpSpPr>
          <p:cNvPr id="41" name="Group 41"/>
          <p:cNvGrpSpPr/>
          <p:nvPr/>
        </p:nvGrpSpPr>
        <p:grpSpPr>
          <a:xfrm>
            <a:off x="2952598" y="7242240"/>
            <a:ext cx="8845603" cy="2001884"/>
            <a:chOff x="0" y="0"/>
            <a:chExt cx="5297259" cy="1198844"/>
          </a:xfrm>
        </p:grpSpPr>
        <p:sp>
          <p:nvSpPr>
            <p:cNvPr id="42" name="Freeform 42"/>
            <p:cNvSpPr/>
            <p:nvPr/>
          </p:nvSpPr>
          <p:spPr>
            <a:xfrm>
              <a:off x="0" y="0"/>
              <a:ext cx="5297258" cy="1198844"/>
            </a:xfrm>
            <a:custGeom>
              <a:avLst/>
              <a:gdLst/>
              <a:ahLst/>
              <a:cxnLst/>
              <a:rect l="l" t="t" r="r" b="b"/>
              <a:pathLst>
                <a:path w="5297258" h="1198844">
                  <a:moveTo>
                    <a:pt x="28007" y="0"/>
                  </a:moveTo>
                  <a:lnTo>
                    <a:pt x="5269251" y="0"/>
                  </a:lnTo>
                  <a:cubicBezTo>
                    <a:pt x="5284719" y="0"/>
                    <a:pt x="5297258" y="12539"/>
                    <a:pt x="5297258" y="28007"/>
                  </a:cubicBezTo>
                  <a:lnTo>
                    <a:pt x="5297258" y="1170836"/>
                  </a:lnTo>
                  <a:cubicBezTo>
                    <a:pt x="5297258" y="1186305"/>
                    <a:pt x="5284719" y="1198844"/>
                    <a:pt x="5269251" y="1198844"/>
                  </a:cubicBezTo>
                  <a:lnTo>
                    <a:pt x="28007" y="1198844"/>
                  </a:lnTo>
                  <a:cubicBezTo>
                    <a:pt x="12539" y="1198844"/>
                    <a:pt x="0" y="1186305"/>
                    <a:pt x="0" y="1170836"/>
                  </a:cubicBezTo>
                  <a:lnTo>
                    <a:pt x="0" y="28007"/>
                  </a:lnTo>
                  <a:cubicBezTo>
                    <a:pt x="0" y="12539"/>
                    <a:pt x="12539" y="0"/>
                    <a:pt x="28007" y="0"/>
                  </a:cubicBezTo>
                  <a:close/>
                </a:path>
              </a:pathLst>
            </a:custGeom>
            <a:solidFill>
              <a:srgbClr val="EB574C"/>
            </a:solidFill>
            <a:ln w="9525" cap="rnd">
              <a:solidFill>
                <a:srgbClr val="424141"/>
              </a:solidFill>
              <a:prstDash val="solid"/>
              <a:round/>
            </a:ln>
          </p:spPr>
          <p:txBody>
            <a:bodyPr/>
            <a:lstStyle/>
            <a:p>
              <a:endParaRPr lang="en-US"/>
            </a:p>
          </p:txBody>
        </p:sp>
        <p:sp>
          <p:nvSpPr>
            <p:cNvPr id="43" name="TextBox 43"/>
            <p:cNvSpPr txBox="1"/>
            <p:nvPr/>
          </p:nvSpPr>
          <p:spPr>
            <a:xfrm>
              <a:off x="0" y="-38100"/>
              <a:ext cx="5297259" cy="1236944"/>
            </a:xfrm>
            <a:prstGeom prst="rect">
              <a:avLst/>
            </a:prstGeom>
          </p:spPr>
          <p:txBody>
            <a:bodyPr lIns="50800" tIns="50800" rIns="50800" bIns="50800" rtlCol="0" anchor="ctr"/>
            <a:lstStyle/>
            <a:p>
              <a:pPr marL="0" lvl="0" indent="0" algn="ctr">
                <a:lnSpc>
                  <a:spcPts val="1540"/>
                </a:lnSpc>
              </a:pPr>
              <a:endParaRPr/>
            </a:p>
          </p:txBody>
        </p:sp>
      </p:grpSp>
      <p:grpSp>
        <p:nvGrpSpPr>
          <p:cNvPr id="44" name="Group 44"/>
          <p:cNvGrpSpPr/>
          <p:nvPr/>
        </p:nvGrpSpPr>
        <p:grpSpPr>
          <a:xfrm>
            <a:off x="3203955" y="7122532"/>
            <a:ext cx="3450330" cy="653335"/>
            <a:chOff x="0" y="0"/>
            <a:chExt cx="2396526" cy="453793"/>
          </a:xfrm>
        </p:grpSpPr>
        <p:sp>
          <p:nvSpPr>
            <p:cNvPr id="45" name="Freeform 45"/>
            <p:cNvSpPr/>
            <p:nvPr/>
          </p:nvSpPr>
          <p:spPr>
            <a:xfrm>
              <a:off x="0" y="0"/>
              <a:ext cx="2396526" cy="453793"/>
            </a:xfrm>
            <a:custGeom>
              <a:avLst/>
              <a:gdLst/>
              <a:ahLst/>
              <a:cxnLst/>
              <a:rect l="l" t="t" r="r" b="b"/>
              <a:pathLst>
                <a:path w="2396526" h="453793">
                  <a:moveTo>
                    <a:pt x="29170" y="0"/>
                  </a:moveTo>
                  <a:lnTo>
                    <a:pt x="2367357" y="0"/>
                  </a:lnTo>
                  <a:cubicBezTo>
                    <a:pt x="2383467" y="0"/>
                    <a:pt x="2396526" y="13060"/>
                    <a:pt x="2396526" y="29170"/>
                  </a:cubicBezTo>
                  <a:lnTo>
                    <a:pt x="2396526" y="424623"/>
                  </a:lnTo>
                  <a:cubicBezTo>
                    <a:pt x="2396526" y="440733"/>
                    <a:pt x="2383467" y="453793"/>
                    <a:pt x="2367357" y="453793"/>
                  </a:cubicBezTo>
                  <a:lnTo>
                    <a:pt x="29170" y="453793"/>
                  </a:lnTo>
                  <a:cubicBezTo>
                    <a:pt x="13060" y="453793"/>
                    <a:pt x="0" y="440733"/>
                    <a:pt x="0" y="424623"/>
                  </a:cubicBezTo>
                  <a:lnTo>
                    <a:pt x="0" y="29170"/>
                  </a:lnTo>
                  <a:cubicBezTo>
                    <a:pt x="0" y="13060"/>
                    <a:pt x="13060" y="0"/>
                    <a:pt x="29170" y="0"/>
                  </a:cubicBezTo>
                  <a:close/>
                </a:path>
              </a:pathLst>
            </a:custGeom>
            <a:solidFill>
              <a:srgbClr val="FFDE59"/>
            </a:solidFill>
            <a:ln w="9525" cap="sq">
              <a:solidFill>
                <a:srgbClr val="424141"/>
              </a:solidFill>
              <a:prstDash val="solid"/>
              <a:miter/>
            </a:ln>
          </p:spPr>
          <p:txBody>
            <a:bodyPr/>
            <a:lstStyle/>
            <a:p>
              <a:endParaRPr lang="en-US"/>
            </a:p>
          </p:txBody>
        </p:sp>
        <p:sp>
          <p:nvSpPr>
            <p:cNvPr id="46" name="TextBox 46"/>
            <p:cNvSpPr txBox="1"/>
            <p:nvPr/>
          </p:nvSpPr>
          <p:spPr>
            <a:xfrm>
              <a:off x="0" y="28575"/>
              <a:ext cx="2396526" cy="425218"/>
            </a:xfrm>
            <a:prstGeom prst="rect">
              <a:avLst/>
            </a:prstGeom>
          </p:spPr>
          <p:txBody>
            <a:bodyPr lIns="39013" tIns="39013" rIns="39013" bIns="39013" rtlCol="0" anchor="ctr"/>
            <a:lstStyle/>
            <a:p>
              <a:pPr marL="0" lvl="0" indent="0" algn="ctr">
                <a:lnSpc>
                  <a:spcPts val="1297"/>
                </a:lnSpc>
              </a:pPr>
              <a:endParaRPr/>
            </a:p>
          </p:txBody>
        </p:sp>
      </p:grpSp>
      <p:sp>
        <p:nvSpPr>
          <p:cNvPr id="47" name="Freeform 47"/>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48" name="Freeform 48"/>
          <p:cNvSpPr/>
          <p:nvPr/>
        </p:nvSpPr>
        <p:spPr>
          <a:xfrm>
            <a:off x="2035705" y="624264"/>
            <a:ext cx="3498695" cy="939779"/>
          </a:xfrm>
          <a:custGeom>
            <a:avLst/>
            <a:gdLst/>
            <a:ahLst/>
            <a:cxnLst/>
            <a:rect l="l" t="t" r="r" b="b"/>
            <a:pathLst>
              <a:path w="3498695" h="939779">
                <a:moveTo>
                  <a:pt x="0" y="0"/>
                </a:moveTo>
                <a:lnTo>
                  <a:pt x="3498696" y="0"/>
                </a:lnTo>
                <a:lnTo>
                  <a:pt x="3498696" y="939779"/>
                </a:lnTo>
                <a:lnTo>
                  <a:pt x="0" y="939779"/>
                </a:lnTo>
                <a:lnTo>
                  <a:pt x="0" y="0"/>
                </a:lnTo>
                <a:close/>
              </a:path>
            </a:pathLst>
          </a:custGeom>
          <a:blipFill>
            <a:blip r:embed="rId10"/>
            <a:stretch>
              <a:fillRect/>
            </a:stretch>
          </a:blipFill>
        </p:spPr>
        <p:txBody>
          <a:bodyPr/>
          <a:lstStyle/>
          <a:p>
            <a:endParaRPr lang="en-US"/>
          </a:p>
        </p:txBody>
      </p:sp>
      <p:sp>
        <p:nvSpPr>
          <p:cNvPr id="49" name="TextBox 49"/>
          <p:cNvSpPr txBox="1"/>
          <p:nvPr/>
        </p:nvSpPr>
        <p:spPr>
          <a:xfrm>
            <a:off x="12412675" y="8688919"/>
            <a:ext cx="1249380" cy="276225"/>
          </a:xfrm>
          <a:prstGeom prst="rect">
            <a:avLst/>
          </a:prstGeom>
        </p:spPr>
        <p:txBody>
          <a:bodyPr lIns="0" tIns="0" rIns="0" bIns="0" rtlCol="0" anchor="t">
            <a:spAutoFit/>
          </a:bodyPr>
          <a:lstStyle/>
          <a:p>
            <a:pPr marL="0" lvl="0" indent="0" algn="l">
              <a:lnSpc>
                <a:spcPts val="2237"/>
              </a:lnSpc>
            </a:pPr>
            <a:r>
              <a:rPr lang="en-US" sz="1864">
                <a:solidFill>
                  <a:srgbClr val="FFFFFF"/>
                </a:solidFill>
                <a:latin typeface="Aptos"/>
                <a:ea typeface="Aptos"/>
                <a:cs typeface="Aptos"/>
                <a:sym typeface="Aptos"/>
              </a:rPr>
              <a:t>Repo</a:t>
            </a:r>
          </a:p>
        </p:txBody>
      </p:sp>
      <p:sp>
        <p:nvSpPr>
          <p:cNvPr id="50" name="TextBox 50"/>
          <p:cNvSpPr txBox="1"/>
          <p:nvPr/>
        </p:nvSpPr>
        <p:spPr>
          <a:xfrm>
            <a:off x="3376352" y="5429147"/>
            <a:ext cx="7998094" cy="583610"/>
          </a:xfrm>
          <a:prstGeom prst="rect">
            <a:avLst/>
          </a:prstGeom>
        </p:spPr>
        <p:txBody>
          <a:bodyPr lIns="0" tIns="0" rIns="0" bIns="0" rtlCol="0" anchor="t">
            <a:spAutoFit/>
          </a:bodyPr>
          <a:lstStyle/>
          <a:p>
            <a:pPr marL="329357" lvl="1" indent="-164679" algn="just">
              <a:lnSpc>
                <a:spcPts val="1510"/>
              </a:lnSpc>
              <a:buAutoNum type="arabicPeriod"/>
            </a:pPr>
            <a:r>
              <a:rPr lang="en-US" sz="1525" spc="-56">
                <a:solidFill>
                  <a:srgbClr val="FFFFFF"/>
                </a:solidFill>
                <a:latin typeface="Aptos"/>
                <a:ea typeface="Aptos"/>
                <a:cs typeface="Aptos"/>
                <a:sym typeface="Aptos"/>
              </a:rPr>
              <a:t>AURA giải quyết tư vấn sản phẩm công nghệ bằng AI có kiểm soát.</a:t>
            </a:r>
          </a:p>
          <a:p>
            <a:pPr marL="329357" lvl="1" indent="-164679" algn="just">
              <a:lnSpc>
                <a:spcPts val="1510"/>
              </a:lnSpc>
              <a:buAutoNum type="arabicPeriod"/>
            </a:pPr>
            <a:r>
              <a:rPr lang="en-US" sz="1525" spc="-56">
                <a:solidFill>
                  <a:srgbClr val="FFFFFF"/>
                </a:solidFill>
                <a:latin typeface="Aptos"/>
                <a:ea typeface="Aptos"/>
                <a:cs typeface="Aptos"/>
                <a:sym typeface="Aptos"/>
              </a:rPr>
              <a:t>Harness Engineering là đóng góp kỹ thuật trung tâm của hệ thống.</a:t>
            </a:r>
          </a:p>
          <a:p>
            <a:pPr marL="329357" lvl="1" indent="-164679" algn="just">
              <a:lnSpc>
                <a:spcPts val="1510"/>
              </a:lnSpc>
              <a:buAutoNum type="arabicPeriod"/>
            </a:pPr>
            <a:r>
              <a:rPr lang="en-US" sz="1525" spc="-56">
                <a:solidFill>
                  <a:srgbClr val="FFFFFF"/>
                </a:solidFill>
                <a:latin typeface="Aptos"/>
                <a:ea typeface="Aptos"/>
                <a:cs typeface="Aptos"/>
                <a:sym typeface="Aptos"/>
              </a:rPr>
              <a:t>Hệ thống đảm bảo grounding, verification, UI consistency và traceability.</a:t>
            </a:r>
          </a:p>
        </p:txBody>
      </p:sp>
      <p:sp>
        <p:nvSpPr>
          <p:cNvPr id="51" name="TextBox 51"/>
          <p:cNvSpPr txBox="1"/>
          <p:nvPr/>
        </p:nvSpPr>
        <p:spPr>
          <a:xfrm>
            <a:off x="3410795" y="4824946"/>
            <a:ext cx="2520213" cy="280961"/>
          </a:xfrm>
          <a:prstGeom prst="rect">
            <a:avLst/>
          </a:prstGeom>
        </p:spPr>
        <p:txBody>
          <a:bodyPr lIns="0" tIns="0" rIns="0" bIns="0" rtlCol="0" anchor="t">
            <a:spAutoFit/>
          </a:bodyPr>
          <a:lstStyle/>
          <a:p>
            <a:pPr marL="0" lvl="0" indent="0" algn="ctr">
              <a:lnSpc>
                <a:spcPts val="2200"/>
              </a:lnSpc>
            </a:pPr>
            <a:r>
              <a:rPr lang="en-US" sz="1864" b="1" spc="-13">
                <a:solidFill>
                  <a:srgbClr val="424141"/>
                </a:solidFill>
                <a:latin typeface="Aptos Bold"/>
                <a:ea typeface="Aptos Bold"/>
                <a:cs typeface="Aptos Bold"/>
                <a:sym typeface="Aptos Bold"/>
              </a:rPr>
              <a:t>Kết luận</a:t>
            </a:r>
          </a:p>
        </p:txBody>
      </p:sp>
      <p:sp>
        <p:nvSpPr>
          <p:cNvPr id="52" name="TextBox 52"/>
          <p:cNvSpPr txBox="1"/>
          <p:nvPr/>
        </p:nvSpPr>
        <p:spPr>
          <a:xfrm>
            <a:off x="3203955" y="7946666"/>
            <a:ext cx="8069254" cy="393110"/>
          </a:xfrm>
          <a:prstGeom prst="rect">
            <a:avLst/>
          </a:prstGeom>
        </p:spPr>
        <p:txBody>
          <a:bodyPr lIns="0" tIns="0" rIns="0" bIns="0" rtlCol="0" anchor="t">
            <a:spAutoFit/>
          </a:bodyPr>
          <a:lstStyle/>
          <a:p>
            <a:pPr marL="0" lvl="0" indent="0" algn="just">
              <a:lnSpc>
                <a:spcPts val="1510"/>
              </a:lnSpc>
            </a:pPr>
            <a:r>
              <a:rPr lang="en-US" sz="1525" spc="-56">
                <a:solidFill>
                  <a:srgbClr val="FFFFFF"/>
                </a:solidFill>
                <a:latin typeface="Aptos"/>
                <a:ea typeface="Aptos"/>
                <a:cs typeface="Aptos"/>
                <a:sym typeface="Aptos"/>
              </a:rPr>
              <a:t>• Mở rộng catalog &amp; database production.</a:t>
            </a:r>
          </a:p>
          <a:p>
            <a:pPr marL="0" lvl="0" indent="0" algn="just">
              <a:lnSpc>
                <a:spcPts val="1510"/>
              </a:lnSpc>
            </a:pPr>
            <a:r>
              <a:rPr lang="en-US" sz="1525" spc="-56">
                <a:solidFill>
                  <a:srgbClr val="FFFFFF"/>
                </a:solidFill>
                <a:latin typeface="Aptos"/>
                <a:ea typeface="Aptos"/>
                <a:cs typeface="Aptos"/>
                <a:sym typeface="Aptos"/>
              </a:rPr>
              <a:t>• Hybrid/vector retrieval nâng cao.</a:t>
            </a:r>
          </a:p>
        </p:txBody>
      </p:sp>
      <p:sp>
        <p:nvSpPr>
          <p:cNvPr id="53" name="TextBox 53"/>
          <p:cNvSpPr txBox="1"/>
          <p:nvPr/>
        </p:nvSpPr>
        <p:spPr>
          <a:xfrm>
            <a:off x="3410795" y="7284481"/>
            <a:ext cx="2959894" cy="280961"/>
          </a:xfrm>
          <a:prstGeom prst="rect">
            <a:avLst/>
          </a:prstGeom>
        </p:spPr>
        <p:txBody>
          <a:bodyPr lIns="0" tIns="0" rIns="0" bIns="0" rtlCol="0" anchor="t">
            <a:spAutoFit/>
          </a:bodyPr>
          <a:lstStyle/>
          <a:p>
            <a:pPr marL="0" lvl="0" indent="0" algn="ctr">
              <a:lnSpc>
                <a:spcPts val="2200"/>
              </a:lnSpc>
            </a:pPr>
            <a:r>
              <a:rPr lang="en-US" sz="1864" b="1" spc="-13">
                <a:solidFill>
                  <a:srgbClr val="424141"/>
                </a:solidFill>
                <a:latin typeface="Aptos Bold"/>
                <a:ea typeface="Aptos Bold"/>
                <a:cs typeface="Aptos Bold"/>
                <a:sym typeface="Aptos Bold"/>
              </a:rPr>
              <a:t>Roadmap phát triển</a:t>
            </a:r>
          </a:p>
        </p:txBody>
      </p:sp>
      <p:sp>
        <p:nvSpPr>
          <p:cNvPr id="54" name="TextBox 54"/>
          <p:cNvSpPr txBox="1"/>
          <p:nvPr/>
        </p:nvSpPr>
        <p:spPr>
          <a:xfrm>
            <a:off x="3203955" y="8368351"/>
            <a:ext cx="8069254" cy="202610"/>
          </a:xfrm>
          <a:prstGeom prst="rect">
            <a:avLst/>
          </a:prstGeom>
        </p:spPr>
        <p:txBody>
          <a:bodyPr lIns="0" tIns="0" rIns="0" bIns="0" rtlCol="0" anchor="t">
            <a:spAutoFit/>
          </a:bodyPr>
          <a:lstStyle/>
          <a:p>
            <a:pPr marL="0" lvl="0" indent="0" algn="just">
              <a:lnSpc>
                <a:spcPts val="1510"/>
              </a:lnSpc>
            </a:pPr>
            <a:r>
              <a:rPr lang="en-US" sz="1525" spc="-56">
                <a:solidFill>
                  <a:srgbClr val="FFFFFF"/>
                </a:solidFill>
                <a:latin typeface="Aptos"/>
                <a:ea typeface="Aptos"/>
                <a:cs typeface="Aptos"/>
                <a:sym typeface="Aptos"/>
              </a:rPr>
              <a:t>• Cá nhân hóa recommendation &amp; monitoring.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B574C"/>
        </a:solidFill>
        <a:effectLst/>
      </p:bgPr>
    </p:bg>
    <p:spTree>
      <p:nvGrpSpPr>
        <p:cNvPr id="1" name=""/>
        <p:cNvGrpSpPr/>
        <p:nvPr/>
      </p:nvGrpSpPr>
      <p:grpSpPr>
        <a:xfrm>
          <a:off x="0" y="0"/>
          <a:ext cx="0" cy="0"/>
          <a:chOff x="0" y="0"/>
          <a:chExt cx="0" cy="0"/>
        </a:xfrm>
      </p:grpSpPr>
      <p:grpSp>
        <p:nvGrpSpPr>
          <p:cNvPr id="2" name="Group 2"/>
          <p:cNvGrpSpPr/>
          <p:nvPr/>
        </p:nvGrpSpPr>
        <p:grpSpPr>
          <a:xfrm>
            <a:off x="209814" y="167020"/>
            <a:ext cx="2323166" cy="9952960"/>
            <a:chOff x="0" y="0"/>
            <a:chExt cx="611863" cy="2621356"/>
          </a:xfrm>
        </p:grpSpPr>
        <p:sp>
          <p:nvSpPr>
            <p:cNvPr id="3" name="Freeform 3"/>
            <p:cNvSpPr/>
            <p:nvPr/>
          </p:nvSpPr>
          <p:spPr>
            <a:xfrm>
              <a:off x="0" y="0"/>
              <a:ext cx="611863" cy="2621356"/>
            </a:xfrm>
            <a:custGeom>
              <a:avLst/>
              <a:gdLst/>
              <a:ahLst/>
              <a:cxnLst/>
              <a:rect l="l" t="t" r="r" b="b"/>
              <a:pathLst>
                <a:path w="611863" h="2621356">
                  <a:moveTo>
                    <a:pt x="166624" y="0"/>
                  </a:moveTo>
                  <a:lnTo>
                    <a:pt x="445238" y="0"/>
                  </a:lnTo>
                  <a:cubicBezTo>
                    <a:pt x="537262" y="0"/>
                    <a:pt x="611863" y="74600"/>
                    <a:pt x="611863" y="166624"/>
                  </a:cubicBezTo>
                  <a:lnTo>
                    <a:pt x="611863" y="2454731"/>
                  </a:lnTo>
                  <a:cubicBezTo>
                    <a:pt x="611863" y="2546755"/>
                    <a:pt x="537262" y="2621356"/>
                    <a:pt x="445238" y="2621356"/>
                  </a:cubicBezTo>
                  <a:lnTo>
                    <a:pt x="166624" y="2621356"/>
                  </a:lnTo>
                  <a:cubicBezTo>
                    <a:pt x="74600" y="2621356"/>
                    <a:pt x="0" y="2546755"/>
                    <a:pt x="0" y="2454731"/>
                  </a:cubicBezTo>
                  <a:lnTo>
                    <a:pt x="0" y="166624"/>
                  </a:lnTo>
                  <a:cubicBezTo>
                    <a:pt x="0" y="74600"/>
                    <a:pt x="74600" y="0"/>
                    <a:pt x="166624" y="0"/>
                  </a:cubicBezTo>
                  <a:close/>
                </a:path>
              </a:pathLst>
            </a:custGeom>
            <a:solidFill>
              <a:srgbClr val="FF8A38"/>
            </a:solidFill>
          </p:spPr>
          <p:txBody>
            <a:bodyPr/>
            <a:lstStyle/>
            <a:p>
              <a:endParaRPr lang="en-US"/>
            </a:p>
          </p:txBody>
        </p:sp>
        <p:sp>
          <p:nvSpPr>
            <p:cNvPr id="4" name="TextBox 4"/>
            <p:cNvSpPr txBox="1"/>
            <p:nvPr/>
          </p:nvSpPr>
          <p:spPr>
            <a:xfrm>
              <a:off x="0" y="-38100"/>
              <a:ext cx="611863" cy="265945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597652" y="167020"/>
            <a:ext cx="16414232" cy="9952960"/>
            <a:chOff x="0" y="0"/>
            <a:chExt cx="4323090" cy="2621356"/>
          </a:xfrm>
        </p:grpSpPr>
        <p:sp>
          <p:nvSpPr>
            <p:cNvPr id="6" name="Freeform 6"/>
            <p:cNvSpPr/>
            <p:nvPr/>
          </p:nvSpPr>
          <p:spPr>
            <a:xfrm>
              <a:off x="0" y="0"/>
              <a:ext cx="4323090" cy="2621356"/>
            </a:xfrm>
            <a:custGeom>
              <a:avLst/>
              <a:gdLst/>
              <a:ahLst/>
              <a:cxnLst/>
              <a:rect l="l" t="t" r="r" b="b"/>
              <a:pathLst>
                <a:path w="4323090" h="2621356">
                  <a:moveTo>
                    <a:pt x="23583" y="0"/>
                  </a:moveTo>
                  <a:lnTo>
                    <a:pt x="4299507" y="0"/>
                  </a:lnTo>
                  <a:cubicBezTo>
                    <a:pt x="4312532" y="0"/>
                    <a:pt x="4323090" y="10558"/>
                    <a:pt x="4323090" y="23583"/>
                  </a:cubicBezTo>
                  <a:lnTo>
                    <a:pt x="4323090" y="2597773"/>
                  </a:lnTo>
                  <a:cubicBezTo>
                    <a:pt x="4323090" y="2610797"/>
                    <a:pt x="4312532" y="2621356"/>
                    <a:pt x="4299507" y="2621356"/>
                  </a:cubicBezTo>
                  <a:lnTo>
                    <a:pt x="23583" y="2621356"/>
                  </a:lnTo>
                  <a:cubicBezTo>
                    <a:pt x="10558" y="2621356"/>
                    <a:pt x="0" y="2610797"/>
                    <a:pt x="0" y="2597773"/>
                  </a:cubicBezTo>
                  <a:lnTo>
                    <a:pt x="0" y="23583"/>
                  </a:lnTo>
                  <a:cubicBezTo>
                    <a:pt x="0" y="10558"/>
                    <a:pt x="10558" y="0"/>
                    <a:pt x="23583" y="0"/>
                  </a:cubicBezTo>
                  <a:close/>
                </a:path>
              </a:pathLst>
            </a:custGeom>
            <a:solidFill>
              <a:srgbClr val="FFFFFF"/>
            </a:solidFill>
          </p:spPr>
          <p:txBody>
            <a:bodyPr/>
            <a:lstStyle/>
            <a:p>
              <a:endParaRPr lang="en-US"/>
            </a:p>
          </p:txBody>
        </p:sp>
        <p:sp>
          <p:nvSpPr>
            <p:cNvPr id="7" name="TextBox 7"/>
            <p:cNvSpPr txBox="1"/>
            <p:nvPr/>
          </p:nvSpPr>
          <p:spPr>
            <a:xfrm>
              <a:off x="0" y="-38100"/>
              <a:ext cx="4323090" cy="2659456"/>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893194" y="-738207"/>
            <a:ext cx="6754060" cy="7420411"/>
            <a:chOff x="0" y="0"/>
            <a:chExt cx="4044722" cy="4443772"/>
          </a:xfrm>
        </p:grpSpPr>
        <p:sp>
          <p:nvSpPr>
            <p:cNvPr id="9" name="Freeform 9"/>
            <p:cNvSpPr/>
            <p:nvPr/>
          </p:nvSpPr>
          <p:spPr>
            <a:xfrm>
              <a:off x="0" y="0"/>
              <a:ext cx="4044722" cy="4443771"/>
            </a:xfrm>
            <a:custGeom>
              <a:avLst/>
              <a:gdLst/>
              <a:ahLst/>
              <a:cxnLst/>
              <a:rect l="l" t="t" r="r" b="b"/>
              <a:pathLst>
                <a:path w="4044722" h="4443771">
                  <a:moveTo>
                    <a:pt x="36680" y="0"/>
                  </a:moveTo>
                  <a:lnTo>
                    <a:pt x="4008042" y="0"/>
                  </a:lnTo>
                  <a:cubicBezTo>
                    <a:pt x="4028300" y="0"/>
                    <a:pt x="4044722" y="16422"/>
                    <a:pt x="4044722" y="36680"/>
                  </a:cubicBezTo>
                  <a:lnTo>
                    <a:pt x="4044722" y="4407091"/>
                  </a:lnTo>
                  <a:cubicBezTo>
                    <a:pt x="4044722" y="4416819"/>
                    <a:pt x="4040858" y="4426149"/>
                    <a:pt x="4033979" y="4433028"/>
                  </a:cubicBezTo>
                  <a:cubicBezTo>
                    <a:pt x="4027100" y="4439907"/>
                    <a:pt x="4017770" y="4443771"/>
                    <a:pt x="4008042" y="4443771"/>
                  </a:cubicBezTo>
                  <a:lnTo>
                    <a:pt x="36680" y="4443771"/>
                  </a:lnTo>
                  <a:cubicBezTo>
                    <a:pt x="16422" y="4443771"/>
                    <a:pt x="0" y="4427349"/>
                    <a:pt x="0" y="4407091"/>
                  </a:cubicBezTo>
                  <a:lnTo>
                    <a:pt x="0" y="36680"/>
                  </a:lnTo>
                  <a:cubicBezTo>
                    <a:pt x="0" y="26952"/>
                    <a:pt x="3865" y="17622"/>
                    <a:pt x="10743" y="10743"/>
                  </a:cubicBezTo>
                  <a:cubicBezTo>
                    <a:pt x="17622" y="3865"/>
                    <a:pt x="26952" y="0"/>
                    <a:pt x="36680" y="0"/>
                  </a:cubicBezTo>
                  <a:close/>
                </a:path>
              </a:pathLst>
            </a:custGeom>
            <a:solidFill>
              <a:srgbClr val="FF6F5E"/>
            </a:solidFill>
            <a:ln w="9525" cap="rnd">
              <a:solidFill>
                <a:srgbClr val="424141"/>
              </a:solidFill>
              <a:prstDash val="solid"/>
              <a:round/>
            </a:ln>
          </p:spPr>
          <p:txBody>
            <a:bodyPr/>
            <a:lstStyle/>
            <a:p>
              <a:endParaRPr lang="en-US"/>
            </a:p>
          </p:txBody>
        </p:sp>
        <p:sp>
          <p:nvSpPr>
            <p:cNvPr id="10" name="TextBox 10"/>
            <p:cNvSpPr txBox="1"/>
            <p:nvPr/>
          </p:nvSpPr>
          <p:spPr>
            <a:xfrm>
              <a:off x="0" y="-38100"/>
              <a:ext cx="4044722" cy="4481872"/>
            </a:xfrm>
            <a:prstGeom prst="rect">
              <a:avLst/>
            </a:prstGeom>
          </p:spPr>
          <p:txBody>
            <a:bodyPr lIns="50800" tIns="50800" rIns="50800" bIns="50800" rtlCol="0" anchor="ctr"/>
            <a:lstStyle/>
            <a:p>
              <a:pPr marL="0" lvl="0" indent="0" algn="ctr">
                <a:lnSpc>
                  <a:spcPts val="1540"/>
                </a:lnSpc>
              </a:pPr>
              <a:endParaRPr/>
            </a:p>
          </p:txBody>
        </p:sp>
      </p:grpSp>
      <p:sp>
        <p:nvSpPr>
          <p:cNvPr id="11" name="Freeform 11"/>
          <p:cNvSpPr/>
          <p:nvPr/>
        </p:nvSpPr>
        <p:spPr>
          <a:xfrm>
            <a:off x="628726" y="2424196"/>
            <a:ext cx="680025" cy="680025"/>
          </a:xfrm>
          <a:custGeom>
            <a:avLst/>
            <a:gdLst/>
            <a:ahLst/>
            <a:cxnLst/>
            <a:rect l="l" t="t" r="r" b="b"/>
            <a:pathLst>
              <a:path w="680025" h="680025">
                <a:moveTo>
                  <a:pt x="0" y="0"/>
                </a:moveTo>
                <a:lnTo>
                  <a:pt x="680025" y="0"/>
                </a:lnTo>
                <a:lnTo>
                  <a:pt x="680025" y="680024"/>
                </a:lnTo>
                <a:lnTo>
                  <a:pt x="0" y="6800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2" name="Freeform 12"/>
          <p:cNvSpPr/>
          <p:nvPr/>
        </p:nvSpPr>
        <p:spPr>
          <a:xfrm>
            <a:off x="680211" y="4944284"/>
            <a:ext cx="550013" cy="456288"/>
          </a:xfrm>
          <a:custGeom>
            <a:avLst/>
            <a:gdLst/>
            <a:ahLst/>
            <a:cxnLst/>
            <a:rect l="l" t="t" r="r" b="b"/>
            <a:pathLst>
              <a:path w="550013" h="456288">
                <a:moveTo>
                  <a:pt x="0" y="0"/>
                </a:moveTo>
                <a:lnTo>
                  <a:pt x="550013" y="0"/>
                </a:lnTo>
                <a:lnTo>
                  <a:pt x="550013" y="456288"/>
                </a:lnTo>
                <a:lnTo>
                  <a:pt x="0" y="456288"/>
                </a:lnTo>
                <a:lnTo>
                  <a:pt x="0" y="0"/>
                </a:lnTo>
                <a:close/>
              </a:path>
            </a:pathLst>
          </a:custGeom>
          <a:blipFill>
            <a:blip>
              <a:extLst>
                <a:ext uri="{96DAC541-7B7A-43D3-8B79-37D633B846F1}">
                  <asvg:svgBlip xmlns:asvg="http://schemas.microsoft.com/office/drawing/2016/SVG/main" r:embed="rId3"/>
                </a:ext>
              </a:extLst>
            </a:blip>
            <a:stretch>
              <a:fillRect r="-20013"/>
            </a:stretch>
          </a:blipFill>
        </p:spPr>
        <p:txBody>
          <a:bodyPr/>
          <a:lstStyle/>
          <a:p>
            <a:endParaRPr lang="en-US"/>
          </a:p>
        </p:txBody>
      </p:sp>
      <p:grpSp>
        <p:nvGrpSpPr>
          <p:cNvPr id="13" name="Group 13"/>
          <p:cNvGrpSpPr/>
          <p:nvPr/>
        </p:nvGrpSpPr>
        <p:grpSpPr>
          <a:xfrm>
            <a:off x="11338426" y="1244010"/>
            <a:ext cx="5863597" cy="5255299"/>
            <a:chOff x="0" y="0"/>
            <a:chExt cx="1644736" cy="1474109"/>
          </a:xfrm>
        </p:grpSpPr>
        <p:sp>
          <p:nvSpPr>
            <p:cNvPr id="14" name="Freeform 14"/>
            <p:cNvSpPr/>
            <p:nvPr/>
          </p:nvSpPr>
          <p:spPr>
            <a:xfrm>
              <a:off x="0" y="0"/>
              <a:ext cx="1644735" cy="1474109"/>
            </a:xfrm>
            <a:custGeom>
              <a:avLst/>
              <a:gdLst/>
              <a:ahLst/>
              <a:cxnLst/>
              <a:rect l="l" t="t" r="r" b="b"/>
              <a:pathLst>
                <a:path w="1644735" h="1474109">
                  <a:moveTo>
                    <a:pt x="473267" y="77131"/>
                  </a:moveTo>
                  <a:lnTo>
                    <a:pt x="404467" y="249131"/>
                  </a:lnTo>
                  <a:cubicBezTo>
                    <a:pt x="385834" y="295713"/>
                    <a:pt x="340719" y="326259"/>
                    <a:pt x="290548" y="326262"/>
                  </a:cubicBezTo>
                  <a:lnTo>
                    <a:pt x="122702" y="326262"/>
                  </a:lnTo>
                  <a:cubicBezTo>
                    <a:pt x="54936" y="326262"/>
                    <a:pt x="1" y="381197"/>
                    <a:pt x="0" y="448963"/>
                  </a:cubicBezTo>
                  <a:lnTo>
                    <a:pt x="0" y="1351408"/>
                  </a:lnTo>
                  <a:cubicBezTo>
                    <a:pt x="1" y="1419174"/>
                    <a:pt x="54936" y="1474109"/>
                    <a:pt x="122702" y="1474109"/>
                  </a:cubicBezTo>
                  <a:lnTo>
                    <a:pt x="1522033" y="1474109"/>
                  </a:lnTo>
                  <a:cubicBezTo>
                    <a:pt x="1589799" y="1474109"/>
                    <a:pt x="1644734" y="1419174"/>
                    <a:pt x="1644735" y="1351408"/>
                  </a:cubicBezTo>
                  <a:lnTo>
                    <a:pt x="1644735" y="122701"/>
                  </a:lnTo>
                  <a:cubicBezTo>
                    <a:pt x="1644734" y="54935"/>
                    <a:pt x="1589799" y="1"/>
                    <a:pt x="1522034" y="0"/>
                  </a:cubicBezTo>
                  <a:lnTo>
                    <a:pt x="587191" y="0"/>
                  </a:lnTo>
                  <a:cubicBezTo>
                    <a:pt x="537018" y="0"/>
                    <a:pt x="491900" y="30547"/>
                    <a:pt x="473267" y="77131"/>
                  </a:cubicBezTo>
                  <a:close/>
                </a:path>
              </a:pathLst>
            </a:custGeom>
            <a:blipFill>
              <a:blip r:embed="rId4"/>
              <a:stretch>
                <a:fillRect t="-5787" b="-5787"/>
              </a:stretch>
            </a:blipFill>
            <a:ln w="38100" cap="sq">
              <a:solidFill>
                <a:srgbClr val="424141"/>
              </a:solidFill>
              <a:prstDash val="solid"/>
              <a:miter/>
            </a:ln>
          </p:spPr>
          <p:txBody>
            <a:bodyPr/>
            <a:lstStyle/>
            <a:p>
              <a:endParaRPr lang="en-US"/>
            </a:p>
          </p:txBody>
        </p:sp>
      </p:grpSp>
      <p:sp>
        <p:nvSpPr>
          <p:cNvPr id="15" name="Freeform 15"/>
          <p:cNvSpPr/>
          <p:nvPr/>
        </p:nvSpPr>
        <p:spPr>
          <a:xfrm flipH="1">
            <a:off x="9219285" y="3057747"/>
            <a:ext cx="941613" cy="818027"/>
          </a:xfrm>
          <a:custGeom>
            <a:avLst/>
            <a:gdLst/>
            <a:ahLst/>
            <a:cxnLst/>
            <a:rect l="l" t="t" r="r" b="b"/>
            <a:pathLst>
              <a:path w="941613" h="818027">
                <a:moveTo>
                  <a:pt x="941613" y="0"/>
                </a:moveTo>
                <a:lnTo>
                  <a:pt x="0" y="0"/>
                </a:lnTo>
                <a:lnTo>
                  <a:pt x="0" y="818027"/>
                </a:lnTo>
                <a:lnTo>
                  <a:pt x="941613" y="818027"/>
                </a:lnTo>
                <a:lnTo>
                  <a:pt x="94161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6" name="Group 16"/>
          <p:cNvGrpSpPr/>
          <p:nvPr/>
        </p:nvGrpSpPr>
        <p:grpSpPr>
          <a:xfrm rot="-144823">
            <a:off x="2256675" y="4078185"/>
            <a:ext cx="6467525" cy="1419194"/>
            <a:chOff x="0" y="0"/>
            <a:chExt cx="1617968" cy="355037"/>
          </a:xfrm>
        </p:grpSpPr>
        <p:sp>
          <p:nvSpPr>
            <p:cNvPr id="17" name="Freeform 17"/>
            <p:cNvSpPr/>
            <p:nvPr/>
          </p:nvSpPr>
          <p:spPr>
            <a:xfrm>
              <a:off x="0" y="0"/>
              <a:ext cx="1617968" cy="355037"/>
            </a:xfrm>
            <a:custGeom>
              <a:avLst/>
              <a:gdLst/>
              <a:ahLst/>
              <a:cxnLst/>
              <a:rect l="l" t="t" r="r" b="b"/>
              <a:pathLst>
                <a:path w="1617968" h="355037">
                  <a:moveTo>
                    <a:pt x="75414" y="0"/>
                  </a:moveTo>
                  <a:lnTo>
                    <a:pt x="1542554" y="0"/>
                  </a:lnTo>
                  <a:cubicBezTo>
                    <a:pt x="1584204" y="0"/>
                    <a:pt x="1617968" y="33764"/>
                    <a:pt x="1617968" y="75414"/>
                  </a:cubicBezTo>
                  <a:lnTo>
                    <a:pt x="1617968" y="279623"/>
                  </a:lnTo>
                  <a:cubicBezTo>
                    <a:pt x="1617968" y="299624"/>
                    <a:pt x="1610022" y="318806"/>
                    <a:pt x="1595879" y="332949"/>
                  </a:cubicBezTo>
                  <a:cubicBezTo>
                    <a:pt x="1581736" y="347092"/>
                    <a:pt x="1562555" y="355037"/>
                    <a:pt x="1542554" y="355037"/>
                  </a:cubicBezTo>
                  <a:lnTo>
                    <a:pt x="75414" y="355037"/>
                  </a:lnTo>
                  <a:cubicBezTo>
                    <a:pt x="55413" y="355037"/>
                    <a:pt x="36231" y="347092"/>
                    <a:pt x="22088" y="332949"/>
                  </a:cubicBezTo>
                  <a:cubicBezTo>
                    <a:pt x="7945" y="318806"/>
                    <a:pt x="0" y="299624"/>
                    <a:pt x="0" y="279623"/>
                  </a:cubicBezTo>
                  <a:lnTo>
                    <a:pt x="0" y="75414"/>
                  </a:lnTo>
                  <a:cubicBezTo>
                    <a:pt x="0" y="55413"/>
                    <a:pt x="7945" y="36231"/>
                    <a:pt x="22088" y="22088"/>
                  </a:cubicBezTo>
                  <a:cubicBezTo>
                    <a:pt x="36231" y="7945"/>
                    <a:pt x="55413" y="0"/>
                    <a:pt x="75414" y="0"/>
                  </a:cubicBezTo>
                  <a:close/>
                </a:path>
              </a:pathLst>
            </a:custGeom>
            <a:solidFill>
              <a:srgbClr val="EB574C"/>
            </a:solidFill>
            <a:ln w="19050" cap="rnd">
              <a:solidFill>
                <a:srgbClr val="424141"/>
              </a:solidFill>
              <a:prstDash val="solid"/>
              <a:round/>
            </a:ln>
          </p:spPr>
          <p:txBody>
            <a:bodyPr/>
            <a:lstStyle/>
            <a:p>
              <a:endParaRPr lang="en-US"/>
            </a:p>
          </p:txBody>
        </p:sp>
        <p:sp>
          <p:nvSpPr>
            <p:cNvPr id="18" name="TextBox 18"/>
            <p:cNvSpPr txBox="1"/>
            <p:nvPr/>
          </p:nvSpPr>
          <p:spPr>
            <a:xfrm>
              <a:off x="0" y="-38100"/>
              <a:ext cx="1617968" cy="393137"/>
            </a:xfrm>
            <a:prstGeom prst="rect">
              <a:avLst/>
            </a:prstGeom>
          </p:spPr>
          <p:txBody>
            <a:bodyPr lIns="50800" tIns="50800" rIns="50800" bIns="50800" rtlCol="0" anchor="ctr"/>
            <a:lstStyle/>
            <a:p>
              <a:pPr marL="0" lvl="0" indent="0" algn="ctr">
                <a:lnSpc>
                  <a:spcPts val="2659"/>
                </a:lnSpc>
              </a:pPr>
              <a:endParaRPr/>
            </a:p>
          </p:txBody>
        </p:sp>
      </p:grpSp>
      <p:sp>
        <p:nvSpPr>
          <p:cNvPr id="19" name="AutoShape 19"/>
          <p:cNvSpPr/>
          <p:nvPr/>
        </p:nvSpPr>
        <p:spPr>
          <a:xfrm>
            <a:off x="628726" y="1279706"/>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0" name="AutoShape 20"/>
          <p:cNvSpPr/>
          <p:nvPr/>
        </p:nvSpPr>
        <p:spPr>
          <a:xfrm>
            <a:off x="628726" y="1427234"/>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1" name="AutoShape 21"/>
          <p:cNvSpPr/>
          <p:nvPr/>
        </p:nvSpPr>
        <p:spPr>
          <a:xfrm>
            <a:off x="628726" y="1570109"/>
            <a:ext cx="550013" cy="0"/>
          </a:xfrm>
          <a:prstGeom prst="line">
            <a:avLst/>
          </a:prstGeom>
          <a:ln w="47625" cap="flat">
            <a:solidFill>
              <a:srgbClr val="FFFFFF"/>
            </a:solidFill>
            <a:prstDash val="solid"/>
            <a:headEnd type="none" w="sm" len="sm"/>
            <a:tailEnd type="none" w="sm" len="sm"/>
          </a:ln>
        </p:spPr>
        <p:txBody>
          <a:bodyPr/>
          <a:lstStyle/>
          <a:p>
            <a:endParaRPr lang="en-US"/>
          </a:p>
        </p:txBody>
      </p:sp>
      <p:sp>
        <p:nvSpPr>
          <p:cNvPr id="22" name="Freeform 22"/>
          <p:cNvSpPr/>
          <p:nvPr/>
        </p:nvSpPr>
        <p:spPr>
          <a:xfrm>
            <a:off x="628726" y="6029222"/>
            <a:ext cx="652982" cy="652982"/>
          </a:xfrm>
          <a:custGeom>
            <a:avLst/>
            <a:gdLst/>
            <a:ahLst/>
            <a:cxnLst/>
            <a:rect l="l" t="t" r="r" b="b"/>
            <a:pathLst>
              <a:path w="652982" h="652982">
                <a:moveTo>
                  <a:pt x="0" y="0"/>
                </a:moveTo>
                <a:lnTo>
                  <a:pt x="652983" y="0"/>
                </a:lnTo>
                <a:lnTo>
                  <a:pt x="652983" y="652983"/>
                </a:lnTo>
                <a:lnTo>
                  <a:pt x="0" y="65298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3" name="Freeform 23"/>
          <p:cNvSpPr/>
          <p:nvPr/>
        </p:nvSpPr>
        <p:spPr>
          <a:xfrm>
            <a:off x="16942804" y="8770163"/>
            <a:ext cx="281761" cy="281761"/>
          </a:xfrm>
          <a:custGeom>
            <a:avLst/>
            <a:gdLst/>
            <a:ahLst/>
            <a:cxnLst/>
            <a:rect l="l" t="t" r="r" b="b"/>
            <a:pathLst>
              <a:path w="281761" h="281761">
                <a:moveTo>
                  <a:pt x="0" y="0"/>
                </a:moveTo>
                <a:lnTo>
                  <a:pt x="281761" y="0"/>
                </a:lnTo>
                <a:lnTo>
                  <a:pt x="281761" y="281761"/>
                </a:lnTo>
                <a:lnTo>
                  <a:pt x="0" y="28176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4" name="Group 24"/>
          <p:cNvGrpSpPr/>
          <p:nvPr/>
        </p:nvGrpSpPr>
        <p:grpSpPr>
          <a:xfrm>
            <a:off x="446720" y="8468781"/>
            <a:ext cx="1387838" cy="961005"/>
            <a:chOff x="0" y="0"/>
            <a:chExt cx="365521" cy="253104"/>
          </a:xfrm>
        </p:grpSpPr>
        <p:sp>
          <p:nvSpPr>
            <p:cNvPr id="25" name="Freeform 25"/>
            <p:cNvSpPr/>
            <p:nvPr/>
          </p:nvSpPr>
          <p:spPr>
            <a:xfrm>
              <a:off x="0" y="0"/>
              <a:ext cx="365521" cy="253104"/>
            </a:xfrm>
            <a:custGeom>
              <a:avLst/>
              <a:gdLst/>
              <a:ahLst/>
              <a:cxnLst/>
              <a:rect l="l" t="t" r="r" b="b"/>
              <a:pathLst>
                <a:path w="365521" h="253104">
                  <a:moveTo>
                    <a:pt x="126552" y="0"/>
                  </a:moveTo>
                  <a:lnTo>
                    <a:pt x="238969" y="0"/>
                  </a:lnTo>
                  <a:cubicBezTo>
                    <a:pt x="308862" y="0"/>
                    <a:pt x="365521" y="56659"/>
                    <a:pt x="365521" y="126552"/>
                  </a:cubicBezTo>
                  <a:lnTo>
                    <a:pt x="365521" y="126552"/>
                  </a:lnTo>
                  <a:cubicBezTo>
                    <a:pt x="365521" y="196445"/>
                    <a:pt x="308862" y="253104"/>
                    <a:pt x="238969" y="253104"/>
                  </a:cubicBezTo>
                  <a:lnTo>
                    <a:pt x="126552" y="253104"/>
                  </a:lnTo>
                  <a:cubicBezTo>
                    <a:pt x="56659" y="253104"/>
                    <a:pt x="0" y="196445"/>
                    <a:pt x="0" y="126552"/>
                  </a:cubicBezTo>
                  <a:lnTo>
                    <a:pt x="0" y="126552"/>
                  </a:lnTo>
                  <a:cubicBezTo>
                    <a:pt x="0" y="56659"/>
                    <a:pt x="56659" y="0"/>
                    <a:pt x="126552" y="0"/>
                  </a:cubicBezTo>
                  <a:close/>
                </a:path>
              </a:pathLst>
            </a:custGeom>
            <a:solidFill>
              <a:srgbClr val="FFFFFF"/>
            </a:solidFill>
          </p:spPr>
          <p:txBody>
            <a:bodyPr/>
            <a:lstStyle/>
            <a:p>
              <a:endParaRPr lang="en-US"/>
            </a:p>
          </p:txBody>
        </p:sp>
        <p:sp>
          <p:nvSpPr>
            <p:cNvPr id="26" name="TextBox 26"/>
            <p:cNvSpPr txBox="1"/>
            <p:nvPr/>
          </p:nvSpPr>
          <p:spPr>
            <a:xfrm>
              <a:off x="0" y="-38100"/>
              <a:ext cx="365521" cy="2912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7" name="Freeform 27"/>
          <p:cNvSpPr/>
          <p:nvPr/>
        </p:nvSpPr>
        <p:spPr>
          <a:xfrm>
            <a:off x="628726" y="8621062"/>
            <a:ext cx="652982" cy="652982"/>
          </a:xfrm>
          <a:custGeom>
            <a:avLst/>
            <a:gdLst/>
            <a:ahLst/>
            <a:cxnLst/>
            <a:rect l="l" t="t" r="r" b="b"/>
            <a:pathLst>
              <a:path w="652982" h="652982">
                <a:moveTo>
                  <a:pt x="0" y="0"/>
                </a:moveTo>
                <a:lnTo>
                  <a:pt x="652983" y="0"/>
                </a:lnTo>
                <a:lnTo>
                  <a:pt x="652983" y="652982"/>
                </a:lnTo>
                <a:lnTo>
                  <a:pt x="0" y="65298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8" name="Freeform 28"/>
          <p:cNvSpPr/>
          <p:nvPr/>
        </p:nvSpPr>
        <p:spPr>
          <a:xfrm>
            <a:off x="10429145" y="1336014"/>
            <a:ext cx="909280" cy="909280"/>
          </a:xfrm>
          <a:custGeom>
            <a:avLst/>
            <a:gdLst/>
            <a:ahLst/>
            <a:cxnLst/>
            <a:rect l="l" t="t" r="r" b="b"/>
            <a:pathLst>
              <a:path w="909280" h="909280">
                <a:moveTo>
                  <a:pt x="0" y="0"/>
                </a:moveTo>
                <a:lnTo>
                  <a:pt x="909281" y="0"/>
                </a:lnTo>
                <a:lnTo>
                  <a:pt x="909281" y="909280"/>
                </a:lnTo>
                <a:lnTo>
                  <a:pt x="0" y="90928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9" name="Freeform 29"/>
          <p:cNvSpPr/>
          <p:nvPr/>
        </p:nvSpPr>
        <p:spPr>
          <a:xfrm>
            <a:off x="628726" y="7339018"/>
            <a:ext cx="652982" cy="625231"/>
          </a:xfrm>
          <a:custGeom>
            <a:avLst/>
            <a:gdLst/>
            <a:ahLst/>
            <a:cxnLst/>
            <a:rect l="l" t="t" r="r" b="b"/>
            <a:pathLst>
              <a:path w="652982" h="625231">
                <a:moveTo>
                  <a:pt x="0" y="0"/>
                </a:moveTo>
                <a:lnTo>
                  <a:pt x="652983" y="0"/>
                </a:lnTo>
                <a:lnTo>
                  <a:pt x="652983" y="625231"/>
                </a:lnTo>
                <a:lnTo>
                  <a:pt x="0" y="625231"/>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30" name="Freeform 30"/>
          <p:cNvSpPr/>
          <p:nvPr/>
        </p:nvSpPr>
        <p:spPr>
          <a:xfrm>
            <a:off x="695867" y="3769890"/>
            <a:ext cx="545744" cy="545744"/>
          </a:xfrm>
          <a:custGeom>
            <a:avLst/>
            <a:gdLst/>
            <a:ahLst/>
            <a:cxnLst/>
            <a:rect l="l" t="t" r="r" b="b"/>
            <a:pathLst>
              <a:path w="545744" h="545744">
                <a:moveTo>
                  <a:pt x="0" y="0"/>
                </a:moveTo>
                <a:lnTo>
                  <a:pt x="545743" y="0"/>
                </a:lnTo>
                <a:lnTo>
                  <a:pt x="545743" y="545744"/>
                </a:lnTo>
                <a:lnTo>
                  <a:pt x="0" y="545744"/>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1" name="Freeform 31"/>
          <p:cNvSpPr/>
          <p:nvPr/>
        </p:nvSpPr>
        <p:spPr>
          <a:xfrm>
            <a:off x="1908175" y="636208"/>
            <a:ext cx="3476810" cy="933900"/>
          </a:xfrm>
          <a:custGeom>
            <a:avLst/>
            <a:gdLst/>
            <a:ahLst/>
            <a:cxnLst/>
            <a:rect l="l" t="t" r="r" b="b"/>
            <a:pathLst>
              <a:path w="3476810" h="933900">
                <a:moveTo>
                  <a:pt x="0" y="0"/>
                </a:moveTo>
                <a:lnTo>
                  <a:pt x="3476810" y="0"/>
                </a:lnTo>
                <a:lnTo>
                  <a:pt x="3476810" y="933901"/>
                </a:lnTo>
                <a:lnTo>
                  <a:pt x="0" y="933901"/>
                </a:lnTo>
                <a:lnTo>
                  <a:pt x="0" y="0"/>
                </a:lnTo>
                <a:close/>
              </a:path>
            </a:pathLst>
          </a:custGeom>
          <a:blipFill>
            <a:blip r:embed="rId12"/>
            <a:stretch>
              <a:fillRect/>
            </a:stretch>
          </a:blipFill>
        </p:spPr>
        <p:txBody>
          <a:bodyPr/>
          <a:lstStyle/>
          <a:p>
            <a:endParaRPr lang="en-US"/>
          </a:p>
        </p:txBody>
      </p:sp>
      <p:sp>
        <p:nvSpPr>
          <p:cNvPr id="32" name="TextBox 32"/>
          <p:cNvSpPr txBox="1"/>
          <p:nvPr/>
        </p:nvSpPr>
        <p:spPr>
          <a:xfrm>
            <a:off x="1908175" y="2073519"/>
            <a:ext cx="7921546" cy="1550670"/>
          </a:xfrm>
          <a:prstGeom prst="rect">
            <a:avLst/>
          </a:prstGeom>
        </p:spPr>
        <p:txBody>
          <a:bodyPr lIns="0" tIns="0" rIns="0" bIns="0" rtlCol="0" anchor="t">
            <a:spAutoFit/>
          </a:bodyPr>
          <a:lstStyle/>
          <a:p>
            <a:pPr marL="0" lvl="0" indent="0" algn="l">
              <a:lnSpc>
                <a:spcPts val="5940"/>
              </a:lnSpc>
            </a:pPr>
            <a:r>
              <a:rPr lang="en-US" sz="6000" b="1" spc="-372">
                <a:solidFill>
                  <a:srgbClr val="424141"/>
                </a:solidFill>
                <a:latin typeface="Aptos Bold"/>
                <a:ea typeface="Aptos Bold"/>
                <a:cs typeface="Aptos Bold"/>
                <a:sym typeface="Aptos Bold"/>
              </a:rPr>
              <a:t>CẢM ƠN THẦY VÀ MỌI NGƯỜI</a:t>
            </a:r>
          </a:p>
        </p:txBody>
      </p:sp>
      <p:sp>
        <p:nvSpPr>
          <p:cNvPr id="33" name="TextBox 33"/>
          <p:cNvSpPr txBox="1"/>
          <p:nvPr/>
        </p:nvSpPr>
        <p:spPr>
          <a:xfrm rot="-158741">
            <a:off x="2375296" y="4476310"/>
            <a:ext cx="6489155" cy="727607"/>
          </a:xfrm>
          <a:prstGeom prst="rect">
            <a:avLst/>
          </a:prstGeom>
        </p:spPr>
        <p:txBody>
          <a:bodyPr lIns="0" tIns="0" rIns="0" bIns="0" rtlCol="0" anchor="t">
            <a:spAutoFit/>
          </a:bodyPr>
          <a:lstStyle/>
          <a:p>
            <a:pPr marL="0" lvl="0" indent="0" algn="ctr">
              <a:lnSpc>
                <a:spcPts val="5441"/>
              </a:lnSpc>
            </a:pPr>
            <a:r>
              <a:rPr lang="en-US" sz="5496" spc="-219">
                <a:solidFill>
                  <a:srgbClr val="FFFFFF"/>
                </a:solidFill>
                <a:latin typeface="Aptos"/>
                <a:ea typeface="Aptos"/>
                <a:cs typeface="Aptos"/>
                <a:sym typeface="Aptos"/>
              </a:rPr>
              <a:t>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1641</Words>
  <Application>Microsoft Office PowerPoint</Application>
  <PresentationFormat>Custom</PresentationFormat>
  <Paragraphs>206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 Bold</vt:lpstr>
      <vt:lpstr>TT Hoves Bold</vt:lpstr>
      <vt:lpstr>Arial</vt:lpstr>
      <vt:lpstr>Aptos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AURA AI Sales Advisor: Harnessed Control
</dc:title>
  <cp:lastModifiedBy>duc minh</cp:lastModifiedBy>
  <cp:revision>2</cp:revision>
  <dcterms:created xsi:type="dcterms:W3CDTF">2006-08-16T00:00:00Z</dcterms:created>
  <dcterms:modified xsi:type="dcterms:W3CDTF">2026-06-25T16:59:33Z</dcterms:modified>
  <dc:identifier>DAHNkPYYmCo</dc:identifier>
</cp:coreProperties>
</file>