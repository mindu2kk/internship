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nter" charset="1" panose="020B0502030000000004"/>
      <p:regular r:id="rId22"/>
    </p:embeddedFont>
    <p:embeddedFont>
      <p:font typeface="Inter Bold" charset="1" panose="020B080203000000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64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6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png" Type="http://schemas.openxmlformats.org/officeDocument/2006/relationships/image"/><Relationship Id="rId4" Target="../media/image70.png" Type="http://schemas.openxmlformats.org/officeDocument/2006/relationships/image"/><Relationship Id="rId5" Target="../media/image7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png" Type="http://schemas.openxmlformats.org/officeDocument/2006/relationships/image"/><Relationship Id="rId3" Target="../media/image73.png" Type="http://schemas.openxmlformats.org/officeDocument/2006/relationships/image"/><Relationship Id="rId4" Target="../media/image74.png" Type="http://schemas.openxmlformats.org/officeDocument/2006/relationships/image"/><Relationship Id="rId5" Target="../media/image75.png" Type="http://schemas.openxmlformats.org/officeDocument/2006/relationships/image"/><Relationship Id="rId6" Target="../media/image7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54812" y="2651839"/>
            <a:ext cx="3336813" cy="3393045"/>
            <a:chOff x="0" y="0"/>
            <a:chExt cx="812800" cy="826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26497"/>
            </a:xfrm>
            <a:custGeom>
              <a:avLst/>
              <a:gdLst/>
              <a:ahLst/>
              <a:cxnLst/>
              <a:rect r="r" b="b" t="t" l="l"/>
              <a:pathLst>
                <a:path h="826497" w="812800">
                  <a:moveTo>
                    <a:pt x="406400" y="0"/>
                  </a:moveTo>
                  <a:cubicBezTo>
                    <a:pt x="181951" y="0"/>
                    <a:pt x="0" y="185018"/>
                    <a:pt x="0" y="413249"/>
                  </a:cubicBezTo>
                  <a:cubicBezTo>
                    <a:pt x="0" y="641480"/>
                    <a:pt x="181951" y="826497"/>
                    <a:pt x="406400" y="826497"/>
                  </a:cubicBezTo>
                  <a:cubicBezTo>
                    <a:pt x="630849" y="826497"/>
                    <a:pt x="812800" y="641480"/>
                    <a:pt x="812800" y="413249"/>
                  </a:cubicBezTo>
                  <a:cubicBezTo>
                    <a:pt x="812800" y="18501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23900" cap="sq">
              <a:solidFill>
                <a:srgbClr val="BEF52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9384"/>
              <a:ext cx="660400" cy="709629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96375" y="2651839"/>
            <a:ext cx="3336813" cy="3393045"/>
            <a:chOff x="0" y="0"/>
            <a:chExt cx="812800" cy="8264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26497"/>
            </a:xfrm>
            <a:custGeom>
              <a:avLst/>
              <a:gdLst/>
              <a:ahLst/>
              <a:cxnLst/>
              <a:rect r="r" b="b" t="t" l="l"/>
              <a:pathLst>
                <a:path h="826497" w="812800">
                  <a:moveTo>
                    <a:pt x="406400" y="0"/>
                  </a:moveTo>
                  <a:cubicBezTo>
                    <a:pt x="181951" y="0"/>
                    <a:pt x="0" y="185018"/>
                    <a:pt x="0" y="413249"/>
                  </a:cubicBezTo>
                  <a:cubicBezTo>
                    <a:pt x="0" y="641480"/>
                    <a:pt x="181951" y="826497"/>
                    <a:pt x="406400" y="826497"/>
                  </a:cubicBezTo>
                  <a:cubicBezTo>
                    <a:pt x="630849" y="826497"/>
                    <a:pt x="812800" y="641480"/>
                    <a:pt x="812800" y="413249"/>
                  </a:cubicBezTo>
                  <a:cubicBezTo>
                    <a:pt x="812800" y="18501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23900" cap="sq">
              <a:solidFill>
                <a:srgbClr val="7C46F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9384"/>
              <a:ext cx="660400" cy="709629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854812" y="5949634"/>
            <a:ext cx="3336813" cy="3393045"/>
            <a:chOff x="0" y="0"/>
            <a:chExt cx="812800" cy="826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26497"/>
            </a:xfrm>
            <a:custGeom>
              <a:avLst/>
              <a:gdLst/>
              <a:ahLst/>
              <a:cxnLst/>
              <a:rect r="r" b="b" t="t" l="l"/>
              <a:pathLst>
                <a:path h="826497" w="812800">
                  <a:moveTo>
                    <a:pt x="406400" y="0"/>
                  </a:moveTo>
                  <a:cubicBezTo>
                    <a:pt x="181951" y="0"/>
                    <a:pt x="0" y="185018"/>
                    <a:pt x="0" y="413249"/>
                  </a:cubicBezTo>
                  <a:cubicBezTo>
                    <a:pt x="0" y="641480"/>
                    <a:pt x="181951" y="826497"/>
                    <a:pt x="406400" y="826497"/>
                  </a:cubicBezTo>
                  <a:cubicBezTo>
                    <a:pt x="630849" y="826497"/>
                    <a:pt x="812800" y="641480"/>
                    <a:pt x="812800" y="413249"/>
                  </a:cubicBezTo>
                  <a:cubicBezTo>
                    <a:pt x="812800" y="18501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23900" cap="sq">
              <a:solidFill>
                <a:srgbClr val="FF871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9384"/>
              <a:ext cx="660400" cy="709629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96375" y="5949634"/>
            <a:ext cx="3336813" cy="3393045"/>
            <a:chOff x="0" y="0"/>
            <a:chExt cx="812800" cy="8264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26497"/>
            </a:xfrm>
            <a:custGeom>
              <a:avLst/>
              <a:gdLst/>
              <a:ahLst/>
              <a:cxnLst/>
              <a:rect r="r" b="b" t="t" l="l"/>
              <a:pathLst>
                <a:path h="826497" w="812800">
                  <a:moveTo>
                    <a:pt x="406400" y="0"/>
                  </a:moveTo>
                  <a:cubicBezTo>
                    <a:pt x="181951" y="0"/>
                    <a:pt x="0" y="185018"/>
                    <a:pt x="0" y="413249"/>
                  </a:cubicBezTo>
                  <a:cubicBezTo>
                    <a:pt x="0" y="641480"/>
                    <a:pt x="181951" y="826497"/>
                    <a:pt x="406400" y="826497"/>
                  </a:cubicBezTo>
                  <a:cubicBezTo>
                    <a:pt x="630849" y="826497"/>
                    <a:pt x="812800" y="641480"/>
                    <a:pt x="812800" y="413249"/>
                  </a:cubicBezTo>
                  <a:cubicBezTo>
                    <a:pt x="812800" y="18501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23900" cap="sq">
              <a:solidFill>
                <a:srgbClr val="FB51A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9384"/>
              <a:ext cx="660400" cy="709629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84609" y="4737868"/>
            <a:ext cx="2518781" cy="251878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636430" y="5397024"/>
            <a:ext cx="1015140" cy="1200470"/>
          </a:xfrm>
          <a:custGeom>
            <a:avLst/>
            <a:gdLst/>
            <a:ahLst/>
            <a:cxnLst/>
            <a:rect r="r" b="b" t="t" l="l"/>
            <a:pathLst>
              <a:path h="1200470" w="1015140">
                <a:moveTo>
                  <a:pt x="0" y="0"/>
                </a:moveTo>
                <a:lnTo>
                  <a:pt x="1015140" y="0"/>
                </a:lnTo>
                <a:lnTo>
                  <a:pt x="1015140" y="1200470"/>
                </a:lnTo>
                <a:lnTo>
                  <a:pt x="0" y="1200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0447154" y="7230151"/>
            <a:ext cx="654344" cy="765920"/>
          </a:xfrm>
          <a:custGeom>
            <a:avLst/>
            <a:gdLst/>
            <a:ahLst/>
            <a:cxnLst/>
            <a:rect r="r" b="b" t="t" l="l"/>
            <a:pathLst>
              <a:path h="765920" w="654344">
                <a:moveTo>
                  <a:pt x="0" y="0"/>
                </a:moveTo>
                <a:lnTo>
                  <a:pt x="654344" y="0"/>
                </a:lnTo>
                <a:lnTo>
                  <a:pt x="654344" y="765920"/>
                </a:lnTo>
                <a:lnTo>
                  <a:pt x="0" y="765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7193880" y="7320321"/>
            <a:ext cx="657532" cy="672987"/>
          </a:xfrm>
          <a:custGeom>
            <a:avLst/>
            <a:gdLst/>
            <a:ahLst/>
            <a:cxnLst/>
            <a:rect r="r" b="b" t="t" l="l"/>
            <a:pathLst>
              <a:path h="672987" w="657532">
                <a:moveTo>
                  <a:pt x="0" y="0"/>
                </a:moveTo>
                <a:lnTo>
                  <a:pt x="657532" y="0"/>
                </a:lnTo>
                <a:lnTo>
                  <a:pt x="657532" y="672987"/>
                </a:lnTo>
                <a:lnTo>
                  <a:pt x="0" y="672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7121787" y="3957832"/>
            <a:ext cx="741687" cy="825242"/>
          </a:xfrm>
          <a:custGeom>
            <a:avLst/>
            <a:gdLst/>
            <a:ahLst/>
            <a:cxnLst/>
            <a:rect r="r" b="b" t="t" l="l"/>
            <a:pathLst>
              <a:path h="825242" w="741687">
                <a:moveTo>
                  <a:pt x="0" y="0"/>
                </a:moveTo>
                <a:lnTo>
                  <a:pt x="741686" y="0"/>
                </a:lnTo>
                <a:lnTo>
                  <a:pt x="741686" y="825242"/>
                </a:lnTo>
                <a:lnTo>
                  <a:pt x="0" y="8252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0342290" y="3901887"/>
            <a:ext cx="762000" cy="817158"/>
          </a:xfrm>
          <a:custGeom>
            <a:avLst/>
            <a:gdLst/>
            <a:ahLst/>
            <a:cxnLst/>
            <a:rect r="r" b="b" t="t" l="l"/>
            <a:pathLst>
              <a:path h="817158" w="762000">
                <a:moveTo>
                  <a:pt x="0" y="0"/>
                </a:moveTo>
                <a:lnTo>
                  <a:pt x="762000" y="0"/>
                </a:lnTo>
                <a:lnTo>
                  <a:pt x="762000" y="817158"/>
                </a:lnTo>
                <a:lnTo>
                  <a:pt x="0" y="817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1808761" y="7326741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Lớp kiểm soát điều phối AI: state, verifier, evidence, contract, trace.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08761" y="4428232"/>
            <a:ext cx="2848994" cy="1102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Dữ liệu sản phẩm công nghệ chuẩn hóa, có cấu trúc, làm nền tảng cho tư vấn chính xác.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08761" y="3950132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Catalog Sản Phẩm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83375" y="4428232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LLM hiểu tiếng Việt tự nhiên, tư vấn sản phẩm phù hợp nhu cầu người dùng.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83375" y="3950132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AI Assistant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08761" y="6848641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Harness Engineering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83375" y="7326741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Frontend, Backend API và AI Core đồng bộ, đảm bảo UI nhất quán với câu trả lời AI.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83375" y="6848641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Hệ Thống Tích Hợp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09467" y="942975"/>
            <a:ext cx="11869067" cy="7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  <a:spcBef>
                <a:spcPct val="0"/>
              </a:spcBef>
            </a:pPr>
            <a:r>
              <a:rPr lang="en-US" b="true" sz="449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AURA AI Sales Advisor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04993" y="1913001"/>
            <a:ext cx="12478015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E-commerce AI Advisor được kiểm soát bằng Harness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7133" y="3277524"/>
            <a:ext cx="3754603" cy="5493869"/>
            <a:chOff x="0" y="0"/>
            <a:chExt cx="972917" cy="14236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2917" cy="1423607"/>
            </a:xfrm>
            <a:custGeom>
              <a:avLst/>
              <a:gdLst/>
              <a:ahLst/>
              <a:cxnLst/>
              <a:rect r="r" b="b" t="t" l="l"/>
              <a:pathLst>
                <a:path h="1423607" w="972917">
                  <a:moveTo>
                    <a:pt x="41240" y="0"/>
                  </a:moveTo>
                  <a:lnTo>
                    <a:pt x="931677" y="0"/>
                  </a:lnTo>
                  <a:cubicBezTo>
                    <a:pt x="954453" y="0"/>
                    <a:pt x="972917" y="18464"/>
                    <a:pt x="972917" y="41240"/>
                  </a:cubicBezTo>
                  <a:lnTo>
                    <a:pt x="972917" y="1382367"/>
                  </a:lnTo>
                  <a:cubicBezTo>
                    <a:pt x="972917" y="1405143"/>
                    <a:pt x="954453" y="1423607"/>
                    <a:pt x="931677" y="1423607"/>
                  </a:cubicBezTo>
                  <a:lnTo>
                    <a:pt x="41240" y="1423607"/>
                  </a:lnTo>
                  <a:cubicBezTo>
                    <a:pt x="18464" y="1423607"/>
                    <a:pt x="0" y="1405143"/>
                    <a:pt x="0" y="1382367"/>
                  </a:cubicBezTo>
                  <a:lnTo>
                    <a:pt x="0" y="41240"/>
                  </a:lnTo>
                  <a:cubicBezTo>
                    <a:pt x="0" y="18464"/>
                    <a:pt x="18464" y="0"/>
                    <a:pt x="412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72917" cy="1471232"/>
            </a:xfrm>
            <a:prstGeom prst="rect">
              <a:avLst/>
            </a:prstGeom>
          </p:spPr>
          <p:txBody>
            <a:bodyPr anchor="ctr" rtlCol="false" tIns="51633" lIns="51633" bIns="51633" rIns="51633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4203547" y="5148511"/>
            <a:ext cx="2179860" cy="1048009"/>
            <a:chOff x="0" y="0"/>
            <a:chExt cx="660400" cy="317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298431"/>
                  </a:moveTo>
                  <a:cubicBezTo>
                    <a:pt x="254109" y="309945"/>
                    <a:pt x="292600" y="317500"/>
                    <a:pt x="330378" y="317500"/>
                  </a:cubicBezTo>
                  <a:cubicBezTo>
                    <a:pt x="368157" y="317500"/>
                    <a:pt x="404509" y="311023"/>
                    <a:pt x="438009" y="299509"/>
                  </a:cubicBezTo>
                  <a:cubicBezTo>
                    <a:pt x="438723" y="299150"/>
                    <a:pt x="439435" y="299150"/>
                    <a:pt x="440148" y="298790"/>
                  </a:cubicBezTo>
                  <a:cubicBezTo>
                    <a:pt x="565955" y="252735"/>
                    <a:pt x="658618" y="131121"/>
                    <a:pt x="660400" y="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1782" y="131840"/>
                    <a:pt x="93019" y="253455"/>
                    <a:pt x="220252" y="298431"/>
                  </a:cubicBezTo>
                  <a:close/>
                </a:path>
              </a:pathLst>
            </a:custGeom>
            <a:solidFill>
              <a:srgbClr val="F6F6F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60400" cy="238125"/>
            </a:xfrm>
            <a:prstGeom prst="rect">
              <a:avLst/>
            </a:prstGeom>
          </p:spPr>
          <p:txBody>
            <a:bodyPr anchor="ctr" rtlCol="false" tIns="47995" lIns="47995" bIns="47995" rIns="47995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791120" y="5018752"/>
            <a:ext cx="1782688" cy="1307527"/>
            <a:chOff x="0" y="0"/>
            <a:chExt cx="660400" cy="4843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484376"/>
            </a:xfrm>
            <a:custGeom>
              <a:avLst/>
              <a:gdLst/>
              <a:ahLst/>
              <a:cxnLst/>
              <a:rect r="r" b="b" t="t" l="l"/>
              <a:pathLst>
                <a:path h="484376" w="660400">
                  <a:moveTo>
                    <a:pt x="220252" y="465307"/>
                  </a:moveTo>
                  <a:cubicBezTo>
                    <a:pt x="254109" y="476821"/>
                    <a:pt x="292600" y="484376"/>
                    <a:pt x="330378" y="484376"/>
                  </a:cubicBezTo>
                  <a:cubicBezTo>
                    <a:pt x="368157" y="484376"/>
                    <a:pt x="404509" y="477899"/>
                    <a:pt x="438009" y="466385"/>
                  </a:cubicBezTo>
                  <a:cubicBezTo>
                    <a:pt x="438723" y="466026"/>
                    <a:pt x="439435" y="466026"/>
                    <a:pt x="440148" y="465666"/>
                  </a:cubicBezTo>
                  <a:cubicBezTo>
                    <a:pt x="565955" y="419611"/>
                    <a:pt x="658618" y="297997"/>
                    <a:pt x="660400" y="163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63048"/>
                  </a:lnTo>
                  <a:cubicBezTo>
                    <a:pt x="1782" y="298716"/>
                    <a:pt x="93019" y="420331"/>
                    <a:pt x="220252" y="4653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60400" cy="405001"/>
            </a:xfrm>
            <a:prstGeom prst="rect">
              <a:avLst/>
            </a:prstGeom>
          </p:spPr>
          <p:txBody>
            <a:bodyPr anchor="ctr" rtlCol="false" tIns="47995" lIns="47995" bIns="47995" rIns="47995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8760" y="5013030"/>
            <a:ext cx="1317022" cy="13170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104079" lIns="104079" bIns="104079" rIns="104079"/>
            <a:lstStyle/>
            <a:p>
              <a:pPr algn="ctr" marL="0" indent="0" lvl="0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626321" y="3277524"/>
            <a:ext cx="3754603" cy="5493869"/>
            <a:chOff x="0" y="0"/>
            <a:chExt cx="972917" cy="14236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2917" cy="1423607"/>
            </a:xfrm>
            <a:custGeom>
              <a:avLst/>
              <a:gdLst/>
              <a:ahLst/>
              <a:cxnLst/>
              <a:rect r="r" b="b" t="t" l="l"/>
              <a:pathLst>
                <a:path h="1423607" w="972917">
                  <a:moveTo>
                    <a:pt x="41240" y="0"/>
                  </a:moveTo>
                  <a:lnTo>
                    <a:pt x="931677" y="0"/>
                  </a:lnTo>
                  <a:cubicBezTo>
                    <a:pt x="954453" y="0"/>
                    <a:pt x="972917" y="18464"/>
                    <a:pt x="972917" y="41240"/>
                  </a:cubicBezTo>
                  <a:lnTo>
                    <a:pt x="972917" y="1382367"/>
                  </a:lnTo>
                  <a:cubicBezTo>
                    <a:pt x="972917" y="1405143"/>
                    <a:pt x="954453" y="1423607"/>
                    <a:pt x="931677" y="1423607"/>
                  </a:cubicBezTo>
                  <a:lnTo>
                    <a:pt x="41240" y="1423607"/>
                  </a:lnTo>
                  <a:cubicBezTo>
                    <a:pt x="18464" y="1423607"/>
                    <a:pt x="0" y="1405143"/>
                    <a:pt x="0" y="1382367"/>
                  </a:cubicBezTo>
                  <a:lnTo>
                    <a:pt x="0" y="41240"/>
                  </a:lnTo>
                  <a:cubicBezTo>
                    <a:pt x="0" y="18464"/>
                    <a:pt x="18464" y="0"/>
                    <a:pt x="412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72917" cy="1471232"/>
            </a:xfrm>
            <a:prstGeom prst="rect">
              <a:avLst/>
            </a:prstGeom>
          </p:spPr>
          <p:txBody>
            <a:bodyPr anchor="ctr" rtlCol="false" tIns="51633" lIns="51633" bIns="51633" rIns="51633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00000">
            <a:off x="8142735" y="5148511"/>
            <a:ext cx="2179860" cy="1048009"/>
            <a:chOff x="0" y="0"/>
            <a:chExt cx="660400" cy="317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298431"/>
                  </a:moveTo>
                  <a:cubicBezTo>
                    <a:pt x="254109" y="309945"/>
                    <a:pt x="292600" y="317500"/>
                    <a:pt x="330378" y="317500"/>
                  </a:cubicBezTo>
                  <a:cubicBezTo>
                    <a:pt x="368157" y="317500"/>
                    <a:pt x="404509" y="311023"/>
                    <a:pt x="438009" y="299509"/>
                  </a:cubicBezTo>
                  <a:cubicBezTo>
                    <a:pt x="438723" y="299150"/>
                    <a:pt x="439435" y="299150"/>
                    <a:pt x="440148" y="298790"/>
                  </a:cubicBezTo>
                  <a:cubicBezTo>
                    <a:pt x="565955" y="252735"/>
                    <a:pt x="658618" y="131121"/>
                    <a:pt x="660400" y="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1782" y="131840"/>
                    <a:pt x="93019" y="253455"/>
                    <a:pt x="220252" y="298431"/>
                  </a:cubicBezTo>
                  <a:close/>
                </a:path>
              </a:pathLst>
            </a:custGeom>
            <a:solidFill>
              <a:srgbClr val="F6F6F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60400" cy="238125"/>
            </a:xfrm>
            <a:prstGeom prst="rect">
              <a:avLst/>
            </a:prstGeom>
          </p:spPr>
          <p:txBody>
            <a:bodyPr anchor="ctr" rtlCol="false" tIns="47995" lIns="47995" bIns="47995" rIns="47995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4730308" y="5018752"/>
            <a:ext cx="1782688" cy="1307527"/>
            <a:chOff x="0" y="0"/>
            <a:chExt cx="660400" cy="4843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400" cy="484376"/>
            </a:xfrm>
            <a:custGeom>
              <a:avLst/>
              <a:gdLst/>
              <a:ahLst/>
              <a:cxnLst/>
              <a:rect r="r" b="b" t="t" l="l"/>
              <a:pathLst>
                <a:path h="484376" w="660400">
                  <a:moveTo>
                    <a:pt x="220252" y="465307"/>
                  </a:moveTo>
                  <a:cubicBezTo>
                    <a:pt x="254109" y="476821"/>
                    <a:pt x="292600" y="484376"/>
                    <a:pt x="330378" y="484376"/>
                  </a:cubicBezTo>
                  <a:cubicBezTo>
                    <a:pt x="368157" y="484376"/>
                    <a:pt x="404509" y="477899"/>
                    <a:pt x="438009" y="466385"/>
                  </a:cubicBezTo>
                  <a:cubicBezTo>
                    <a:pt x="438723" y="466026"/>
                    <a:pt x="439435" y="466026"/>
                    <a:pt x="440148" y="465666"/>
                  </a:cubicBezTo>
                  <a:cubicBezTo>
                    <a:pt x="565955" y="419611"/>
                    <a:pt x="658618" y="297997"/>
                    <a:pt x="660400" y="163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63048"/>
                  </a:lnTo>
                  <a:cubicBezTo>
                    <a:pt x="1782" y="298716"/>
                    <a:pt x="93019" y="420331"/>
                    <a:pt x="220252" y="4653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60400" cy="405001"/>
            </a:xfrm>
            <a:prstGeom prst="rect">
              <a:avLst/>
            </a:prstGeom>
          </p:spPr>
          <p:txBody>
            <a:bodyPr anchor="ctr" rtlCol="false" tIns="47995" lIns="47995" bIns="47995" rIns="47995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67948" y="5013030"/>
            <a:ext cx="1317022" cy="131702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104079" lIns="104079" bIns="104079" rIns="104079"/>
            <a:lstStyle/>
            <a:p>
              <a:pPr algn="ctr" marL="0" indent="0" lvl="0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65509" y="3277524"/>
            <a:ext cx="3754603" cy="5493869"/>
            <a:chOff x="0" y="0"/>
            <a:chExt cx="972917" cy="14236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2917" cy="1423607"/>
            </a:xfrm>
            <a:custGeom>
              <a:avLst/>
              <a:gdLst/>
              <a:ahLst/>
              <a:cxnLst/>
              <a:rect r="r" b="b" t="t" l="l"/>
              <a:pathLst>
                <a:path h="1423607" w="972917">
                  <a:moveTo>
                    <a:pt x="41240" y="0"/>
                  </a:moveTo>
                  <a:lnTo>
                    <a:pt x="931677" y="0"/>
                  </a:lnTo>
                  <a:cubicBezTo>
                    <a:pt x="954453" y="0"/>
                    <a:pt x="972917" y="18464"/>
                    <a:pt x="972917" y="41240"/>
                  </a:cubicBezTo>
                  <a:lnTo>
                    <a:pt x="972917" y="1382367"/>
                  </a:lnTo>
                  <a:cubicBezTo>
                    <a:pt x="972917" y="1405143"/>
                    <a:pt x="954453" y="1423607"/>
                    <a:pt x="931677" y="1423607"/>
                  </a:cubicBezTo>
                  <a:lnTo>
                    <a:pt x="41240" y="1423607"/>
                  </a:lnTo>
                  <a:cubicBezTo>
                    <a:pt x="18464" y="1423607"/>
                    <a:pt x="0" y="1405143"/>
                    <a:pt x="0" y="1382367"/>
                  </a:cubicBezTo>
                  <a:lnTo>
                    <a:pt x="0" y="41240"/>
                  </a:lnTo>
                  <a:cubicBezTo>
                    <a:pt x="0" y="18464"/>
                    <a:pt x="18464" y="0"/>
                    <a:pt x="412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72917" cy="1471232"/>
            </a:xfrm>
            <a:prstGeom prst="rect">
              <a:avLst/>
            </a:prstGeom>
          </p:spPr>
          <p:txBody>
            <a:bodyPr anchor="ctr" rtlCol="false" tIns="51633" lIns="51633" bIns="51633" rIns="51633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5400000">
            <a:off x="12081923" y="5148511"/>
            <a:ext cx="2179860" cy="1048009"/>
            <a:chOff x="0" y="0"/>
            <a:chExt cx="660400" cy="317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298431"/>
                  </a:moveTo>
                  <a:cubicBezTo>
                    <a:pt x="254109" y="309945"/>
                    <a:pt x="292600" y="317500"/>
                    <a:pt x="330378" y="317500"/>
                  </a:cubicBezTo>
                  <a:cubicBezTo>
                    <a:pt x="368157" y="317500"/>
                    <a:pt x="404509" y="311023"/>
                    <a:pt x="438009" y="299509"/>
                  </a:cubicBezTo>
                  <a:cubicBezTo>
                    <a:pt x="438723" y="299150"/>
                    <a:pt x="439435" y="299150"/>
                    <a:pt x="440148" y="298790"/>
                  </a:cubicBezTo>
                  <a:cubicBezTo>
                    <a:pt x="565955" y="252735"/>
                    <a:pt x="658618" y="131121"/>
                    <a:pt x="660400" y="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1782" y="131840"/>
                    <a:pt x="93019" y="253455"/>
                    <a:pt x="220252" y="298431"/>
                  </a:cubicBezTo>
                  <a:close/>
                </a:path>
              </a:pathLst>
            </a:custGeom>
            <a:solidFill>
              <a:srgbClr val="F6F6F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60400" cy="238125"/>
            </a:xfrm>
            <a:prstGeom prst="rect">
              <a:avLst/>
            </a:prstGeom>
          </p:spPr>
          <p:txBody>
            <a:bodyPr anchor="ctr" rtlCol="false" tIns="47995" lIns="47995" bIns="47995" rIns="47995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8669496" y="5018752"/>
            <a:ext cx="1782688" cy="1307527"/>
            <a:chOff x="0" y="0"/>
            <a:chExt cx="660400" cy="4843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0400" cy="484376"/>
            </a:xfrm>
            <a:custGeom>
              <a:avLst/>
              <a:gdLst/>
              <a:ahLst/>
              <a:cxnLst/>
              <a:rect r="r" b="b" t="t" l="l"/>
              <a:pathLst>
                <a:path h="484376" w="660400">
                  <a:moveTo>
                    <a:pt x="220252" y="465307"/>
                  </a:moveTo>
                  <a:cubicBezTo>
                    <a:pt x="254109" y="476821"/>
                    <a:pt x="292600" y="484376"/>
                    <a:pt x="330378" y="484376"/>
                  </a:cubicBezTo>
                  <a:cubicBezTo>
                    <a:pt x="368157" y="484376"/>
                    <a:pt x="404509" y="477899"/>
                    <a:pt x="438009" y="466385"/>
                  </a:cubicBezTo>
                  <a:cubicBezTo>
                    <a:pt x="438723" y="466026"/>
                    <a:pt x="439435" y="466026"/>
                    <a:pt x="440148" y="465666"/>
                  </a:cubicBezTo>
                  <a:cubicBezTo>
                    <a:pt x="565955" y="419611"/>
                    <a:pt x="658618" y="297997"/>
                    <a:pt x="660400" y="163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63048"/>
                  </a:lnTo>
                  <a:cubicBezTo>
                    <a:pt x="1782" y="298716"/>
                    <a:pt x="93019" y="420331"/>
                    <a:pt x="220252" y="4653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60400" cy="405001"/>
            </a:xfrm>
            <a:prstGeom prst="rect">
              <a:avLst/>
            </a:prstGeom>
          </p:spPr>
          <p:txBody>
            <a:bodyPr anchor="ctr" rtlCol="false" tIns="47995" lIns="47995" bIns="47995" rIns="47995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07136" y="5013030"/>
            <a:ext cx="1317022" cy="1317022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104079" lIns="104079" bIns="104079" rIns="104079"/>
            <a:lstStyle/>
            <a:p>
              <a:pPr algn="ctr" marL="0" indent="0" lvl="0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504697" y="3277524"/>
            <a:ext cx="3754603" cy="5493869"/>
            <a:chOff x="0" y="0"/>
            <a:chExt cx="972917" cy="142360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2917" cy="1423607"/>
            </a:xfrm>
            <a:custGeom>
              <a:avLst/>
              <a:gdLst/>
              <a:ahLst/>
              <a:cxnLst/>
              <a:rect r="r" b="b" t="t" l="l"/>
              <a:pathLst>
                <a:path h="1423607" w="972917">
                  <a:moveTo>
                    <a:pt x="41240" y="0"/>
                  </a:moveTo>
                  <a:lnTo>
                    <a:pt x="931677" y="0"/>
                  </a:lnTo>
                  <a:cubicBezTo>
                    <a:pt x="954453" y="0"/>
                    <a:pt x="972917" y="18464"/>
                    <a:pt x="972917" y="41240"/>
                  </a:cubicBezTo>
                  <a:lnTo>
                    <a:pt x="972917" y="1382367"/>
                  </a:lnTo>
                  <a:cubicBezTo>
                    <a:pt x="972917" y="1405143"/>
                    <a:pt x="954453" y="1423607"/>
                    <a:pt x="931677" y="1423607"/>
                  </a:cubicBezTo>
                  <a:lnTo>
                    <a:pt x="41240" y="1423607"/>
                  </a:lnTo>
                  <a:cubicBezTo>
                    <a:pt x="18464" y="1423607"/>
                    <a:pt x="0" y="1405143"/>
                    <a:pt x="0" y="1382367"/>
                  </a:cubicBezTo>
                  <a:lnTo>
                    <a:pt x="0" y="41240"/>
                  </a:lnTo>
                  <a:cubicBezTo>
                    <a:pt x="0" y="18464"/>
                    <a:pt x="18464" y="0"/>
                    <a:pt x="412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72917" cy="1471232"/>
            </a:xfrm>
            <a:prstGeom prst="rect">
              <a:avLst/>
            </a:prstGeom>
          </p:spPr>
          <p:txBody>
            <a:bodyPr anchor="ctr" rtlCol="false" tIns="51633" lIns="51633" bIns="51633" rIns="51633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5400000">
            <a:off x="12608684" y="5018752"/>
            <a:ext cx="1782688" cy="1307527"/>
            <a:chOff x="0" y="0"/>
            <a:chExt cx="660400" cy="48437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60400" cy="484376"/>
            </a:xfrm>
            <a:custGeom>
              <a:avLst/>
              <a:gdLst/>
              <a:ahLst/>
              <a:cxnLst/>
              <a:rect r="r" b="b" t="t" l="l"/>
              <a:pathLst>
                <a:path h="484376" w="660400">
                  <a:moveTo>
                    <a:pt x="220252" y="465307"/>
                  </a:moveTo>
                  <a:cubicBezTo>
                    <a:pt x="254109" y="476821"/>
                    <a:pt x="292600" y="484376"/>
                    <a:pt x="330378" y="484376"/>
                  </a:cubicBezTo>
                  <a:cubicBezTo>
                    <a:pt x="368157" y="484376"/>
                    <a:pt x="404509" y="477899"/>
                    <a:pt x="438009" y="466385"/>
                  </a:cubicBezTo>
                  <a:cubicBezTo>
                    <a:pt x="438723" y="466026"/>
                    <a:pt x="439435" y="466026"/>
                    <a:pt x="440148" y="465666"/>
                  </a:cubicBezTo>
                  <a:cubicBezTo>
                    <a:pt x="565955" y="419611"/>
                    <a:pt x="658618" y="297997"/>
                    <a:pt x="660400" y="163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63048"/>
                  </a:lnTo>
                  <a:cubicBezTo>
                    <a:pt x="1782" y="298716"/>
                    <a:pt x="93019" y="420331"/>
                    <a:pt x="220252" y="4653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60400" cy="405001"/>
            </a:xfrm>
            <a:prstGeom prst="rect">
              <a:avLst/>
            </a:prstGeom>
          </p:spPr>
          <p:txBody>
            <a:bodyPr anchor="ctr" rtlCol="false" tIns="47995" lIns="47995" bIns="47995" rIns="47995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046324" y="5013030"/>
            <a:ext cx="1317022" cy="1317022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104079" lIns="104079" bIns="104079" rIns="104079"/>
            <a:lstStyle/>
            <a:p>
              <a:pPr algn="ctr" marL="0" indent="0" lvl="0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979595" y="3563274"/>
            <a:ext cx="1143000" cy="1142883"/>
            <a:chOff x="0" y="0"/>
            <a:chExt cx="269486" cy="26945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9486" cy="269458"/>
            </a:xfrm>
            <a:custGeom>
              <a:avLst/>
              <a:gdLst/>
              <a:ahLst/>
              <a:cxnLst/>
              <a:rect r="r" b="b" t="t" l="l"/>
              <a:pathLst>
                <a:path h="269458" w="269486">
                  <a:moveTo>
                    <a:pt x="134729" y="0"/>
                  </a:moveTo>
                  <a:lnTo>
                    <a:pt x="134757" y="0"/>
                  </a:lnTo>
                  <a:cubicBezTo>
                    <a:pt x="170489" y="0"/>
                    <a:pt x="204758" y="14195"/>
                    <a:pt x="230025" y="39461"/>
                  </a:cubicBezTo>
                  <a:cubicBezTo>
                    <a:pt x="255291" y="64728"/>
                    <a:pt x="269486" y="98997"/>
                    <a:pt x="269486" y="134729"/>
                  </a:cubicBezTo>
                  <a:lnTo>
                    <a:pt x="269486" y="134729"/>
                  </a:lnTo>
                  <a:cubicBezTo>
                    <a:pt x="269486" y="209138"/>
                    <a:pt x="209166" y="269458"/>
                    <a:pt x="134757" y="269458"/>
                  </a:cubicBezTo>
                  <a:lnTo>
                    <a:pt x="134729" y="269458"/>
                  </a:lnTo>
                  <a:cubicBezTo>
                    <a:pt x="60320" y="269458"/>
                    <a:pt x="0" y="209138"/>
                    <a:pt x="0" y="134729"/>
                  </a:cubicBezTo>
                  <a:lnTo>
                    <a:pt x="0" y="134729"/>
                  </a:lnTo>
                  <a:cubicBezTo>
                    <a:pt x="0" y="60320"/>
                    <a:pt x="60320" y="0"/>
                    <a:pt x="1347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EF522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269486" cy="326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49"/>
                </a:lnSpc>
                <a:spcBef>
                  <a:spcPct val="0"/>
                </a:spcBef>
              </a:pPr>
              <a:r>
                <a:rPr lang="en-US" b="true" sz="2678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980329" y="3563274"/>
            <a:ext cx="1143000" cy="1142883"/>
            <a:chOff x="0" y="0"/>
            <a:chExt cx="269486" cy="26945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9486" cy="269458"/>
            </a:xfrm>
            <a:custGeom>
              <a:avLst/>
              <a:gdLst/>
              <a:ahLst/>
              <a:cxnLst/>
              <a:rect r="r" b="b" t="t" l="l"/>
              <a:pathLst>
                <a:path h="269458" w="269486">
                  <a:moveTo>
                    <a:pt x="134729" y="0"/>
                  </a:moveTo>
                  <a:lnTo>
                    <a:pt x="134757" y="0"/>
                  </a:lnTo>
                  <a:cubicBezTo>
                    <a:pt x="170489" y="0"/>
                    <a:pt x="204758" y="14195"/>
                    <a:pt x="230025" y="39461"/>
                  </a:cubicBezTo>
                  <a:cubicBezTo>
                    <a:pt x="255291" y="64728"/>
                    <a:pt x="269486" y="98997"/>
                    <a:pt x="269486" y="134729"/>
                  </a:cubicBezTo>
                  <a:lnTo>
                    <a:pt x="269486" y="134729"/>
                  </a:lnTo>
                  <a:cubicBezTo>
                    <a:pt x="269486" y="209138"/>
                    <a:pt x="209166" y="269458"/>
                    <a:pt x="134757" y="269458"/>
                  </a:cubicBezTo>
                  <a:lnTo>
                    <a:pt x="134729" y="269458"/>
                  </a:lnTo>
                  <a:cubicBezTo>
                    <a:pt x="60320" y="269458"/>
                    <a:pt x="0" y="209138"/>
                    <a:pt x="0" y="134729"/>
                  </a:cubicBezTo>
                  <a:lnTo>
                    <a:pt x="0" y="134729"/>
                  </a:lnTo>
                  <a:cubicBezTo>
                    <a:pt x="0" y="60320"/>
                    <a:pt x="60320" y="0"/>
                    <a:pt x="1347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C46F8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269486" cy="326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49"/>
                </a:lnSpc>
                <a:spcBef>
                  <a:spcPct val="0"/>
                </a:spcBef>
              </a:pPr>
              <a:r>
                <a:rPr lang="en-US" b="true" sz="2678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914574" y="3563274"/>
            <a:ext cx="1143000" cy="1142883"/>
            <a:chOff x="0" y="0"/>
            <a:chExt cx="269486" cy="26945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9486" cy="269458"/>
            </a:xfrm>
            <a:custGeom>
              <a:avLst/>
              <a:gdLst/>
              <a:ahLst/>
              <a:cxnLst/>
              <a:rect r="r" b="b" t="t" l="l"/>
              <a:pathLst>
                <a:path h="269458" w="269486">
                  <a:moveTo>
                    <a:pt x="134729" y="0"/>
                  </a:moveTo>
                  <a:lnTo>
                    <a:pt x="134757" y="0"/>
                  </a:lnTo>
                  <a:cubicBezTo>
                    <a:pt x="170489" y="0"/>
                    <a:pt x="204758" y="14195"/>
                    <a:pt x="230025" y="39461"/>
                  </a:cubicBezTo>
                  <a:cubicBezTo>
                    <a:pt x="255291" y="64728"/>
                    <a:pt x="269486" y="98997"/>
                    <a:pt x="269486" y="134729"/>
                  </a:cubicBezTo>
                  <a:lnTo>
                    <a:pt x="269486" y="134729"/>
                  </a:lnTo>
                  <a:cubicBezTo>
                    <a:pt x="269486" y="209138"/>
                    <a:pt x="209166" y="269458"/>
                    <a:pt x="134757" y="269458"/>
                  </a:cubicBezTo>
                  <a:lnTo>
                    <a:pt x="134729" y="269458"/>
                  </a:lnTo>
                  <a:cubicBezTo>
                    <a:pt x="60320" y="269458"/>
                    <a:pt x="0" y="209138"/>
                    <a:pt x="0" y="134729"/>
                  </a:cubicBezTo>
                  <a:lnTo>
                    <a:pt x="0" y="134729"/>
                  </a:lnTo>
                  <a:cubicBezTo>
                    <a:pt x="0" y="60320"/>
                    <a:pt x="60320" y="0"/>
                    <a:pt x="1347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B51A2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269486" cy="326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49"/>
                </a:lnSpc>
                <a:spcBef>
                  <a:spcPct val="0"/>
                </a:spcBef>
              </a:pPr>
              <a:r>
                <a:rPr lang="en-US" b="true" sz="2678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853762" y="3563274"/>
            <a:ext cx="1143000" cy="1142883"/>
            <a:chOff x="0" y="0"/>
            <a:chExt cx="269486" cy="26945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69486" cy="269458"/>
            </a:xfrm>
            <a:custGeom>
              <a:avLst/>
              <a:gdLst/>
              <a:ahLst/>
              <a:cxnLst/>
              <a:rect r="r" b="b" t="t" l="l"/>
              <a:pathLst>
                <a:path h="269458" w="269486">
                  <a:moveTo>
                    <a:pt x="134729" y="0"/>
                  </a:moveTo>
                  <a:lnTo>
                    <a:pt x="134757" y="0"/>
                  </a:lnTo>
                  <a:cubicBezTo>
                    <a:pt x="170489" y="0"/>
                    <a:pt x="204758" y="14195"/>
                    <a:pt x="230025" y="39461"/>
                  </a:cubicBezTo>
                  <a:cubicBezTo>
                    <a:pt x="255291" y="64728"/>
                    <a:pt x="269486" y="98997"/>
                    <a:pt x="269486" y="134729"/>
                  </a:cubicBezTo>
                  <a:lnTo>
                    <a:pt x="269486" y="134729"/>
                  </a:lnTo>
                  <a:cubicBezTo>
                    <a:pt x="269486" y="209138"/>
                    <a:pt x="209166" y="269458"/>
                    <a:pt x="134757" y="269458"/>
                  </a:cubicBezTo>
                  <a:lnTo>
                    <a:pt x="134729" y="269458"/>
                  </a:lnTo>
                  <a:cubicBezTo>
                    <a:pt x="60320" y="269458"/>
                    <a:pt x="0" y="209138"/>
                    <a:pt x="0" y="134729"/>
                  </a:cubicBezTo>
                  <a:lnTo>
                    <a:pt x="0" y="134729"/>
                  </a:lnTo>
                  <a:cubicBezTo>
                    <a:pt x="0" y="60320"/>
                    <a:pt x="60320" y="0"/>
                    <a:pt x="1347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8715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269486" cy="326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49"/>
                </a:lnSpc>
                <a:spcBef>
                  <a:spcPct val="0"/>
                </a:spcBef>
              </a:pPr>
              <a:r>
                <a:rPr lang="en-US" b="true" sz="2678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1629648" y="5388783"/>
            <a:ext cx="515160" cy="695516"/>
          </a:xfrm>
          <a:custGeom>
            <a:avLst/>
            <a:gdLst/>
            <a:ahLst/>
            <a:cxnLst/>
            <a:rect r="r" b="b" t="t" l="l"/>
            <a:pathLst>
              <a:path h="695516" w="515160">
                <a:moveTo>
                  <a:pt x="0" y="0"/>
                </a:moveTo>
                <a:lnTo>
                  <a:pt x="515160" y="0"/>
                </a:lnTo>
                <a:lnTo>
                  <a:pt x="515160" y="695516"/>
                </a:lnTo>
                <a:lnTo>
                  <a:pt x="0" y="695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5464138" y="5350903"/>
            <a:ext cx="689535" cy="692130"/>
          </a:xfrm>
          <a:custGeom>
            <a:avLst/>
            <a:gdLst/>
            <a:ahLst/>
            <a:cxnLst/>
            <a:rect r="r" b="b" t="t" l="l"/>
            <a:pathLst>
              <a:path h="692130" w="689535">
                <a:moveTo>
                  <a:pt x="0" y="0"/>
                </a:moveTo>
                <a:lnTo>
                  <a:pt x="689534" y="0"/>
                </a:lnTo>
                <a:lnTo>
                  <a:pt x="689534" y="692130"/>
                </a:lnTo>
                <a:lnTo>
                  <a:pt x="0" y="6921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1" id="61"/>
          <p:cNvSpPr/>
          <p:nvPr/>
        </p:nvSpPr>
        <p:spPr>
          <a:xfrm flipH="false" flipV="false" rot="0">
            <a:off x="9396251" y="5371094"/>
            <a:ext cx="772279" cy="691120"/>
          </a:xfrm>
          <a:custGeom>
            <a:avLst/>
            <a:gdLst/>
            <a:ahLst/>
            <a:cxnLst/>
            <a:rect r="r" b="b" t="t" l="l"/>
            <a:pathLst>
              <a:path h="691120" w="772279">
                <a:moveTo>
                  <a:pt x="0" y="0"/>
                </a:moveTo>
                <a:lnTo>
                  <a:pt x="772279" y="0"/>
                </a:lnTo>
                <a:lnTo>
                  <a:pt x="772279" y="691120"/>
                </a:lnTo>
                <a:lnTo>
                  <a:pt x="0" y="691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2" id="62"/>
          <p:cNvSpPr/>
          <p:nvPr/>
        </p:nvSpPr>
        <p:spPr>
          <a:xfrm flipH="false" flipV="false" rot="0">
            <a:off x="13340350" y="5334995"/>
            <a:ext cx="689535" cy="807654"/>
          </a:xfrm>
          <a:custGeom>
            <a:avLst/>
            <a:gdLst/>
            <a:ahLst/>
            <a:cxnLst/>
            <a:rect r="r" b="b" t="t" l="l"/>
            <a:pathLst>
              <a:path h="807654" w="689535">
                <a:moveTo>
                  <a:pt x="0" y="0"/>
                </a:moveTo>
                <a:lnTo>
                  <a:pt x="689534" y="0"/>
                </a:lnTo>
                <a:lnTo>
                  <a:pt x="689534" y="807654"/>
                </a:lnTo>
                <a:lnTo>
                  <a:pt x="0" y="8076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3" id="63"/>
          <p:cNvSpPr txBox="true"/>
          <p:nvPr/>
        </p:nvSpPr>
        <p:spPr>
          <a:xfrm rot="0">
            <a:off x="2139937" y="7185985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Hàng trăm model, cấu hình và mức giá khác nhau gây bối rối cho người dùng.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079125" y="7185985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Người dùng phổ thông không am hiểu sâu về CPU, RAM, SSD, GPU.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018313" y="7185985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Nhu cầu được mô tả tự nhiên, không khớp với bộ lọc cứng truyền thống.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957501" y="7185985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Không có công cụ đủ thông minh để tư vấn đúng sản phẩm phù hợp nhu cầu.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139937" y="6582063"/>
            <a:ext cx="2848994" cy="29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0"/>
              </a:lnSpc>
              <a:spcBef>
                <a:spcPct val="0"/>
              </a:spcBef>
            </a:pPr>
            <a:r>
              <a:rPr lang="en-US" b="true" sz="17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Quá Nhiều Lựa Chọn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079125" y="6582063"/>
            <a:ext cx="2848994" cy="29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0"/>
              </a:lnSpc>
              <a:spcBef>
                <a:spcPct val="0"/>
              </a:spcBef>
            </a:pPr>
            <a:r>
              <a:rPr lang="en-US" b="true" sz="17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Thiếu Kiến Thức Kỹ Thuật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018313" y="6582063"/>
            <a:ext cx="2848994" cy="29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0"/>
              </a:lnSpc>
              <a:spcBef>
                <a:spcPct val="0"/>
              </a:spcBef>
            </a:pPr>
            <a:r>
              <a:rPr lang="en-US" b="true" sz="17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Ngôn Ngữ Tự Nhiên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957501" y="6582063"/>
            <a:ext cx="2848994" cy="29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0"/>
              </a:lnSpc>
              <a:spcBef>
                <a:spcPct val="0"/>
              </a:spcBef>
            </a:pPr>
            <a:r>
              <a:rPr lang="en-US" b="true" sz="17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Khó Chọn Đúng Sản Phẩm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209467" y="942975"/>
            <a:ext cx="11869067" cy="7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  <a:spcBef>
                <a:spcPct val="0"/>
              </a:spcBef>
            </a:pPr>
            <a:r>
              <a:rPr lang="en-US" b="true" sz="449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Vấn Đề Thực Tế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904993" y="1913001"/>
            <a:ext cx="12478015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Người dùng gặp khó khăn khi lựa chọn sản phẩm công nghệ phù hợp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3438" y="3055854"/>
            <a:ext cx="3960490" cy="396049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575" y="14575"/>
              <a:ext cx="783651" cy="783651"/>
            </a:xfrm>
            <a:custGeom>
              <a:avLst/>
              <a:gdLst/>
              <a:ahLst/>
              <a:cxnLst/>
              <a:rect r="r" b="b" t="t" l="l"/>
              <a:pathLst>
                <a:path h="783651" w="783651">
                  <a:moveTo>
                    <a:pt x="416705" y="10305"/>
                  </a:moveTo>
                  <a:lnTo>
                    <a:pt x="773345" y="366945"/>
                  </a:lnTo>
                  <a:cubicBezTo>
                    <a:pt x="779943" y="373543"/>
                    <a:pt x="783650" y="382493"/>
                    <a:pt x="783650" y="391825"/>
                  </a:cubicBezTo>
                  <a:cubicBezTo>
                    <a:pt x="783650" y="401157"/>
                    <a:pt x="779943" y="410107"/>
                    <a:pt x="773345" y="416705"/>
                  </a:cubicBezTo>
                  <a:lnTo>
                    <a:pt x="416705" y="773345"/>
                  </a:lnTo>
                  <a:cubicBezTo>
                    <a:pt x="410107" y="779943"/>
                    <a:pt x="401157" y="783650"/>
                    <a:pt x="391825" y="783650"/>
                  </a:cubicBezTo>
                  <a:cubicBezTo>
                    <a:pt x="382493" y="783650"/>
                    <a:pt x="373543" y="779943"/>
                    <a:pt x="366945" y="773345"/>
                  </a:cubicBezTo>
                  <a:lnTo>
                    <a:pt x="10305" y="416705"/>
                  </a:lnTo>
                  <a:cubicBezTo>
                    <a:pt x="3707" y="410107"/>
                    <a:pt x="0" y="401157"/>
                    <a:pt x="0" y="391825"/>
                  </a:cubicBezTo>
                  <a:cubicBezTo>
                    <a:pt x="0" y="382493"/>
                    <a:pt x="3707" y="373543"/>
                    <a:pt x="10305" y="366945"/>
                  </a:cubicBezTo>
                  <a:lnTo>
                    <a:pt x="366945" y="10305"/>
                  </a:lnTo>
                  <a:cubicBezTo>
                    <a:pt x="373543" y="3707"/>
                    <a:pt x="382493" y="0"/>
                    <a:pt x="391825" y="0"/>
                  </a:cubicBezTo>
                  <a:cubicBezTo>
                    <a:pt x="401157" y="0"/>
                    <a:pt x="410107" y="3707"/>
                    <a:pt x="416705" y="10305"/>
                  </a:cubicBez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6492" y="3908907"/>
            <a:ext cx="2254383" cy="22543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5431791" y="3055854"/>
            <a:ext cx="3960490" cy="39604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4575" y="14575"/>
              <a:ext cx="783651" cy="783651"/>
            </a:xfrm>
            <a:custGeom>
              <a:avLst/>
              <a:gdLst/>
              <a:ahLst/>
              <a:cxnLst/>
              <a:rect r="r" b="b" t="t" l="l"/>
              <a:pathLst>
                <a:path h="783651" w="783651">
                  <a:moveTo>
                    <a:pt x="416705" y="10305"/>
                  </a:moveTo>
                  <a:lnTo>
                    <a:pt x="773345" y="366945"/>
                  </a:lnTo>
                  <a:cubicBezTo>
                    <a:pt x="779943" y="373543"/>
                    <a:pt x="783650" y="382493"/>
                    <a:pt x="783650" y="391825"/>
                  </a:cubicBezTo>
                  <a:cubicBezTo>
                    <a:pt x="783650" y="401157"/>
                    <a:pt x="779943" y="410107"/>
                    <a:pt x="773345" y="416705"/>
                  </a:cubicBezTo>
                  <a:lnTo>
                    <a:pt x="416705" y="773345"/>
                  </a:lnTo>
                  <a:cubicBezTo>
                    <a:pt x="410107" y="779943"/>
                    <a:pt x="401157" y="783650"/>
                    <a:pt x="391825" y="783650"/>
                  </a:cubicBezTo>
                  <a:cubicBezTo>
                    <a:pt x="382493" y="783650"/>
                    <a:pt x="373543" y="779943"/>
                    <a:pt x="366945" y="773345"/>
                  </a:cubicBezTo>
                  <a:lnTo>
                    <a:pt x="10305" y="416705"/>
                  </a:lnTo>
                  <a:cubicBezTo>
                    <a:pt x="3707" y="410107"/>
                    <a:pt x="0" y="401157"/>
                    <a:pt x="0" y="391825"/>
                  </a:cubicBezTo>
                  <a:cubicBezTo>
                    <a:pt x="0" y="382493"/>
                    <a:pt x="3707" y="373543"/>
                    <a:pt x="10305" y="366945"/>
                  </a:cubicBezTo>
                  <a:lnTo>
                    <a:pt x="366945" y="10305"/>
                  </a:lnTo>
                  <a:cubicBezTo>
                    <a:pt x="373543" y="3707"/>
                    <a:pt x="382493" y="0"/>
                    <a:pt x="391825" y="0"/>
                  </a:cubicBezTo>
                  <a:cubicBezTo>
                    <a:pt x="401157" y="0"/>
                    <a:pt x="410107" y="3707"/>
                    <a:pt x="416705" y="10305"/>
                  </a:cubicBez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19999" y="3792646"/>
            <a:ext cx="2254383" cy="225438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9E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00000">
            <a:off x="12364072" y="3055854"/>
            <a:ext cx="3960490" cy="396049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4575" y="14575"/>
              <a:ext cx="783651" cy="783651"/>
            </a:xfrm>
            <a:custGeom>
              <a:avLst/>
              <a:gdLst/>
              <a:ahLst/>
              <a:cxnLst/>
              <a:rect r="r" b="b" t="t" l="l"/>
              <a:pathLst>
                <a:path h="783651" w="783651">
                  <a:moveTo>
                    <a:pt x="416705" y="10305"/>
                  </a:moveTo>
                  <a:lnTo>
                    <a:pt x="773345" y="366945"/>
                  </a:lnTo>
                  <a:cubicBezTo>
                    <a:pt x="779943" y="373543"/>
                    <a:pt x="783650" y="382493"/>
                    <a:pt x="783650" y="391825"/>
                  </a:cubicBezTo>
                  <a:cubicBezTo>
                    <a:pt x="783650" y="401157"/>
                    <a:pt x="779943" y="410107"/>
                    <a:pt x="773345" y="416705"/>
                  </a:cubicBezTo>
                  <a:lnTo>
                    <a:pt x="416705" y="773345"/>
                  </a:lnTo>
                  <a:cubicBezTo>
                    <a:pt x="410107" y="779943"/>
                    <a:pt x="401157" y="783650"/>
                    <a:pt x="391825" y="783650"/>
                  </a:cubicBezTo>
                  <a:cubicBezTo>
                    <a:pt x="382493" y="783650"/>
                    <a:pt x="373543" y="779943"/>
                    <a:pt x="366945" y="773345"/>
                  </a:cubicBezTo>
                  <a:lnTo>
                    <a:pt x="10305" y="416705"/>
                  </a:lnTo>
                  <a:cubicBezTo>
                    <a:pt x="3707" y="410107"/>
                    <a:pt x="0" y="401157"/>
                    <a:pt x="0" y="391825"/>
                  </a:cubicBezTo>
                  <a:cubicBezTo>
                    <a:pt x="0" y="382493"/>
                    <a:pt x="3707" y="373543"/>
                    <a:pt x="10305" y="366945"/>
                  </a:cubicBezTo>
                  <a:lnTo>
                    <a:pt x="366945" y="10305"/>
                  </a:lnTo>
                  <a:cubicBezTo>
                    <a:pt x="373543" y="3707"/>
                    <a:pt x="382493" y="0"/>
                    <a:pt x="391825" y="0"/>
                  </a:cubicBezTo>
                  <a:cubicBezTo>
                    <a:pt x="401157" y="0"/>
                    <a:pt x="410107" y="3707"/>
                    <a:pt x="416705" y="10305"/>
                  </a:cubicBez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17125" y="3908907"/>
            <a:ext cx="2254383" cy="225438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8900144" y="3055854"/>
            <a:ext cx="3960490" cy="396049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4575" y="14575"/>
              <a:ext cx="783651" cy="783651"/>
            </a:xfrm>
            <a:custGeom>
              <a:avLst/>
              <a:gdLst/>
              <a:ahLst/>
              <a:cxnLst/>
              <a:rect r="r" b="b" t="t" l="l"/>
              <a:pathLst>
                <a:path h="783651" w="783651">
                  <a:moveTo>
                    <a:pt x="416705" y="10305"/>
                  </a:moveTo>
                  <a:lnTo>
                    <a:pt x="773345" y="366945"/>
                  </a:lnTo>
                  <a:cubicBezTo>
                    <a:pt x="779943" y="373543"/>
                    <a:pt x="783650" y="382493"/>
                    <a:pt x="783650" y="391825"/>
                  </a:cubicBezTo>
                  <a:cubicBezTo>
                    <a:pt x="783650" y="401157"/>
                    <a:pt x="779943" y="410107"/>
                    <a:pt x="773345" y="416705"/>
                  </a:cubicBezTo>
                  <a:lnTo>
                    <a:pt x="416705" y="773345"/>
                  </a:lnTo>
                  <a:cubicBezTo>
                    <a:pt x="410107" y="779943"/>
                    <a:pt x="401157" y="783650"/>
                    <a:pt x="391825" y="783650"/>
                  </a:cubicBezTo>
                  <a:cubicBezTo>
                    <a:pt x="382493" y="783650"/>
                    <a:pt x="373543" y="779943"/>
                    <a:pt x="366945" y="773345"/>
                  </a:cubicBezTo>
                  <a:lnTo>
                    <a:pt x="10305" y="416705"/>
                  </a:lnTo>
                  <a:cubicBezTo>
                    <a:pt x="3707" y="410107"/>
                    <a:pt x="0" y="401157"/>
                    <a:pt x="0" y="391825"/>
                  </a:cubicBezTo>
                  <a:cubicBezTo>
                    <a:pt x="0" y="382493"/>
                    <a:pt x="3707" y="373543"/>
                    <a:pt x="10305" y="366945"/>
                  </a:cubicBezTo>
                  <a:lnTo>
                    <a:pt x="366945" y="10305"/>
                  </a:lnTo>
                  <a:cubicBezTo>
                    <a:pt x="373543" y="3707"/>
                    <a:pt x="382493" y="0"/>
                    <a:pt x="391825" y="0"/>
                  </a:cubicBezTo>
                  <a:cubicBezTo>
                    <a:pt x="401157" y="0"/>
                    <a:pt x="410107" y="3707"/>
                    <a:pt x="416705" y="10305"/>
                  </a:cubicBezTo>
                  <a:close/>
                </a:path>
              </a:pathLst>
            </a:custGeom>
            <a:solidFill>
              <a:srgbClr val="FB51A2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53198" y="3908907"/>
            <a:ext cx="2254383" cy="225438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431791" y="4552863"/>
            <a:ext cx="1138974" cy="966472"/>
            <a:chOff x="0" y="0"/>
            <a:chExt cx="957873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7873" cy="812800"/>
            </a:xfrm>
            <a:custGeom>
              <a:avLst/>
              <a:gdLst/>
              <a:ahLst/>
              <a:cxnLst/>
              <a:rect r="r" b="b" t="t" l="l"/>
              <a:pathLst>
                <a:path h="812800" w="957873">
                  <a:moveTo>
                    <a:pt x="957873" y="406400"/>
                  </a:moveTo>
                  <a:lnTo>
                    <a:pt x="551473" y="0"/>
                  </a:lnTo>
                  <a:lnTo>
                    <a:pt x="551473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551473" y="609600"/>
                  </a:lnTo>
                  <a:lnTo>
                    <a:pt x="551473" y="812800"/>
                  </a:lnTo>
                  <a:lnTo>
                    <a:pt x="957873" y="406400"/>
                  </a:ln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55575"/>
              <a:ext cx="85627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70453" y="4552863"/>
            <a:ext cx="1138974" cy="966472"/>
            <a:chOff x="0" y="0"/>
            <a:chExt cx="957873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7873" cy="812800"/>
            </a:xfrm>
            <a:custGeom>
              <a:avLst/>
              <a:gdLst/>
              <a:ahLst/>
              <a:cxnLst/>
              <a:rect r="r" b="b" t="t" l="l"/>
              <a:pathLst>
                <a:path h="812800" w="957873">
                  <a:moveTo>
                    <a:pt x="957873" y="406400"/>
                  </a:moveTo>
                  <a:lnTo>
                    <a:pt x="551473" y="0"/>
                  </a:lnTo>
                  <a:lnTo>
                    <a:pt x="551473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551473" y="609600"/>
                  </a:lnTo>
                  <a:lnTo>
                    <a:pt x="551473" y="812800"/>
                  </a:lnTo>
                  <a:lnTo>
                    <a:pt x="957873" y="406400"/>
                  </a:ln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55575"/>
              <a:ext cx="85627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364072" y="4552863"/>
            <a:ext cx="1138974" cy="966472"/>
            <a:chOff x="0" y="0"/>
            <a:chExt cx="957873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7873" cy="812800"/>
            </a:xfrm>
            <a:custGeom>
              <a:avLst/>
              <a:gdLst/>
              <a:ahLst/>
              <a:cxnLst/>
              <a:rect r="r" b="b" t="t" l="l"/>
              <a:pathLst>
                <a:path h="812800" w="957873">
                  <a:moveTo>
                    <a:pt x="957873" y="406400"/>
                  </a:moveTo>
                  <a:lnTo>
                    <a:pt x="551473" y="0"/>
                  </a:lnTo>
                  <a:lnTo>
                    <a:pt x="551473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551473" y="609600"/>
                  </a:lnTo>
                  <a:lnTo>
                    <a:pt x="551473" y="812800"/>
                  </a:lnTo>
                  <a:lnTo>
                    <a:pt x="957873" y="406400"/>
                  </a:ln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55575"/>
              <a:ext cx="85627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3299450" y="4706972"/>
            <a:ext cx="1160064" cy="998463"/>
          </a:xfrm>
          <a:custGeom>
            <a:avLst/>
            <a:gdLst/>
            <a:ahLst/>
            <a:cxnLst/>
            <a:rect r="r" b="b" t="t" l="l"/>
            <a:pathLst>
              <a:path h="998463" w="1160064">
                <a:moveTo>
                  <a:pt x="0" y="0"/>
                </a:moveTo>
                <a:lnTo>
                  <a:pt x="1160064" y="0"/>
                </a:lnTo>
                <a:lnTo>
                  <a:pt x="1160064" y="998464"/>
                </a:lnTo>
                <a:lnTo>
                  <a:pt x="0" y="998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435610" y="4366809"/>
            <a:ext cx="970081" cy="1205538"/>
          </a:xfrm>
          <a:custGeom>
            <a:avLst/>
            <a:gdLst/>
            <a:ahLst/>
            <a:cxnLst/>
            <a:rect r="r" b="b" t="t" l="l"/>
            <a:pathLst>
              <a:path h="1205538" w="970081">
                <a:moveTo>
                  <a:pt x="0" y="0"/>
                </a:moveTo>
                <a:lnTo>
                  <a:pt x="970082" y="0"/>
                </a:lnTo>
                <a:lnTo>
                  <a:pt x="970082" y="1205537"/>
                </a:lnTo>
                <a:lnTo>
                  <a:pt x="0" y="1205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13915835" y="4639445"/>
            <a:ext cx="880411" cy="855036"/>
          </a:xfrm>
          <a:custGeom>
            <a:avLst/>
            <a:gdLst/>
            <a:ahLst/>
            <a:cxnLst/>
            <a:rect r="r" b="b" t="t" l="l"/>
            <a:pathLst>
              <a:path h="855036" w="880411">
                <a:moveTo>
                  <a:pt x="0" y="0"/>
                </a:moveTo>
                <a:lnTo>
                  <a:pt x="880412" y="0"/>
                </a:lnTo>
                <a:lnTo>
                  <a:pt x="880412" y="855036"/>
                </a:lnTo>
                <a:lnTo>
                  <a:pt x="0" y="8550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263536" y="4004972"/>
            <a:ext cx="1685640" cy="1268947"/>
          </a:xfrm>
          <a:custGeom>
            <a:avLst/>
            <a:gdLst/>
            <a:ahLst/>
            <a:cxnLst/>
            <a:rect r="r" b="b" t="t" l="l"/>
            <a:pathLst>
              <a:path h="1268947" w="1685640">
                <a:moveTo>
                  <a:pt x="0" y="0"/>
                </a:moveTo>
                <a:lnTo>
                  <a:pt x="1685640" y="0"/>
                </a:lnTo>
                <a:lnTo>
                  <a:pt x="1685640" y="1268947"/>
                </a:lnTo>
                <a:lnTo>
                  <a:pt x="0" y="12689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901" r="0" b="-20615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473025" y="8144632"/>
            <a:ext cx="2709823" cy="46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1"/>
              </a:lnSpc>
              <a:spcBef>
                <a:spcPct val="0"/>
              </a:spcBef>
            </a:pPr>
            <a:r>
              <a:rPr lang="en-US" sz="1372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Yêu cầu người dùng biết rõ tiêu chí kỹ thuật (CPU, RAM, GPU...)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057125" y="8144632"/>
            <a:ext cx="2709823" cy="46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1"/>
              </a:lnSpc>
              <a:spcBef>
                <a:spcPct val="0"/>
              </a:spcBef>
            </a:pPr>
            <a:r>
              <a:rPr lang="en-US" sz="137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Dễ bịa thông số, giá sai, thiếu đồng bộ với catalog thực tế.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57791" y="8146148"/>
            <a:ext cx="2709823" cy="70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1"/>
              </a:lnSpc>
              <a:spcBef>
                <a:spcPct val="0"/>
              </a:spcBef>
            </a:pPr>
            <a:r>
              <a:rPr lang="en-US" sz="137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Có retrieval nhưng thiếu kiểm chứng, không xác thực claim AI đưa ra.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021719" y="8144632"/>
            <a:ext cx="2709823" cy="46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1"/>
              </a:lnSpc>
              <a:spcBef>
                <a:spcPct val="0"/>
              </a:spcBef>
            </a:pPr>
            <a:r>
              <a:rPr lang="en-US" sz="137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 Advisor có harness kiểm soát: grounding, verify, trace đầy đủ.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473025" y="7521660"/>
            <a:ext cx="2709823" cy="357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6"/>
              </a:lnSpc>
              <a:spcBef>
                <a:spcPct val="0"/>
              </a:spcBef>
            </a:pPr>
            <a:r>
              <a:rPr lang="en-US" b="true" sz="205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Bộ Lọc Truyền Thống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786413" y="7521660"/>
            <a:ext cx="2980535" cy="357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6"/>
              </a:lnSpc>
              <a:spcBef>
                <a:spcPct val="0"/>
              </a:spcBef>
            </a:pPr>
            <a:r>
              <a:rPr lang="en-US" b="true" sz="205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Chatbot Thông thường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57791" y="7523176"/>
            <a:ext cx="2709823" cy="357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6"/>
              </a:lnSpc>
              <a:spcBef>
                <a:spcPct val="0"/>
              </a:spcBef>
            </a:pPr>
            <a:r>
              <a:rPr lang="en-US" b="true" sz="205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RAG Đơn Thuần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021719" y="7521660"/>
            <a:ext cx="2709823" cy="357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6"/>
              </a:lnSpc>
              <a:spcBef>
                <a:spcPct val="0"/>
              </a:spcBef>
            </a:pPr>
            <a:r>
              <a:rPr lang="en-US" b="true" sz="205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Giải Pháp Cần Có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209467" y="942975"/>
            <a:ext cx="11869067" cy="7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  <a:spcBef>
                <a:spcPct val="0"/>
              </a:spcBef>
            </a:pPr>
            <a:r>
              <a:rPr lang="en-US" b="true" sz="449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Khoảng Trống Giải Pháp Hiện Tại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904993" y="1913001"/>
            <a:ext cx="12478015" cy="357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6"/>
              </a:lnSpc>
              <a:spcBef>
                <a:spcPct val="0"/>
              </a:spcBef>
            </a:pPr>
            <a:r>
              <a:rPr lang="en-US" sz="205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Các cách tiếp cận thông thường chưa đáp ứng đủ nhu cầu tư vấn sản phẩm công nghệ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4116" y="3865003"/>
            <a:ext cx="2573383" cy="2706674"/>
            <a:chOff x="0" y="0"/>
            <a:chExt cx="77277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2773" cy="812800"/>
            </a:xfrm>
            <a:custGeom>
              <a:avLst/>
              <a:gdLst/>
              <a:ahLst/>
              <a:cxnLst/>
              <a:rect r="r" b="b" t="t" l="l"/>
              <a:pathLst>
                <a:path h="812800" w="772773">
                  <a:moveTo>
                    <a:pt x="69195" y="0"/>
                  </a:moveTo>
                  <a:lnTo>
                    <a:pt x="703579" y="0"/>
                  </a:lnTo>
                  <a:cubicBezTo>
                    <a:pt x="721930" y="0"/>
                    <a:pt x="739530" y="7290"/>
                    <a:pt x="752507" y="20267"/>
                  </a:cubicBezTo>
                  <a:cubicBezTo>
                    <a:pt x="765483" y="33243"/>
                    <a:pt x="772773" y="50843"/>
                    <a:pt x="772773" y="69195"/>
                  </a:cubicBezTo>
                  <a:lnTo>
                    <a:pt x="772773" y="743605"/>
                  </a:lnTo>
                  <a:cubicBezTo>
                    <a:pt x="772773" y="781821"/>
                    <a:pt x="741794" y="812800"/>
                    <a:pt x="703579" y="812800"/>
                  </a:cubicBezTo>
                  <a:lnTo>
                    <a:pt x="69195" y="812800"/>
                  </a:lnTo>
                  <a:cubicBezTo>
                    <a:pt x="30979" y="812800"/>
                    <a:pt x="0" y="781821"/>
                    <a:pt x="0" y="743605"/>
                  </a:cubicBezTo>
                  <a:lnTo>
                    <a:pt x="0" y="69195"/>
                  </a:lnTo>
                  <a:cubicBezTo>
                    <a:pt x="0" y="30979"/>
                    <a:pt x="30979" y="0"/>
                    <a:pt x="69195" y="0"/>
                  </a:cubicBez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7277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227" y="4526010"/>
            <a:ext cx="2090045" cy="2090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14207" y="4717990"/>
            <a:ext cx="1706085" cy="170608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53161" y="5260004"/>
            <a:ext cx="628755" cy="620110"/>
          </a:xfrm>
          <a:custGeom>
            <a:avLst/>
            <a:gdLst/>
            <a:ahLst/>
            <a:cxnLst/>
            <a:rect r="r" b="b" t="t" l="l"/>
            <a:pathLst>
              <a:path h="620110" w="628755">
                <a:moveTo>
                  <a:pt x="0" y="0"/>
                </a:moveTo>
                <a:lnTo>
                  <a:pt x="628756" y="0"/>
                </a:lnTo>
                <a:lnTo>
                  <a:pt x="628756" y="620110"/>
                </a:lnTo>
                <a:lnTo>
                  <a:pt x="0" y="620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608941" y="3865003"/>
            <a:ext cx="2573383" cy="2706674"/>
            <a:chOff x="0" y="0"/>
            <a:chExt cx="772773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2773" cy="812800"/>
            </a:xfrm>
            <a:custGeom>
              <a:avLst/>
              <a:gdLst/>
              <a:ahLst/>
              <a:cxnLst/>
              <a:rect r="r" b="b" t="t" l="l"/>
              <a:pathLst>
                <a:path h="812800" w="772773">
                  <a:moveTo>
                    <a:pt x="69195" y="0"/>
                  </a:moveTo>
                  <a:lnTo>
                    <a:pt x="703579" y="0"/>
                  </a:lnTo>
                  <a:cubicBezTo>
                    <a:pt x="721930" y="0"/>
                    <a:pt x="739530" y="7290"/>
                    <a:pt x="752507" y="20267"/>
                  </a:cubicBezTo>
                  <a:cubicBezTo>
                    <a:pt x="765483" y="33243"/>
                    <a:pt x="772773" y="50843"/>
                    <a:pt x="772773" y="69195"/>
                  </a:cubicBezTo>
                  <a:lnTo>
                    <a:pt x="772773" y="743605"/>
                  </a:lnTo>
                  <a:cubicBezTo>
                    <a:pt x="772773" y="781821"/>
                    <a:pt x="741794" y="812800"/>
                    <a:pt x="703579" y="812800"/>
                  </a:cubicBezTo>
                  <a:lnTo>
                    <a:pt x="69195" y="812800"/>
                  </a:lnTo>
                  <a:cubicBezTo>
                    <a:pt x="30979" y="812800"/>
                    <a:pt x="0" y="781821"/>
                    <a:pt x="0" y="743605"/>
                  </a:cubicBezTo>
                  <a:lnTo>
                    <a:pt x="0" y="69195"/>
                  </a:lnTo>
                  <a:cubicBezTo>
                    <a:pt x="0" y="30979"/>
                    <a:pt x="30979" y="0"/>
                    <a:pt x="69195" y="0"/>
                  </a:cubicBez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7277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047052" y="4526010"/>
            <a:ext cx="2090045" cy="209004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239031" y="4717990"/>
            <a:ext cx="1706085" cy="170608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833765" y="3865003"/>
            <a:ext cx="2573383" cy="2706674"/>
            <a:chOff x="0" y="0"/>
            <a:chExt cx="772773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72773" cy="812800"/>
            </a:xfrm>
            <a:custGeom>
              <a:avLst/>
              <a:gdLst/>
              <a:ahLst/>
              <a:cxnLst/>
              <a:rect r="r" b="b" t="t" l="l"/>
              <a:pathLst>
                <a:path h="812800" w="772773">
                  <a:moveTo>
                    <a:pt x="69195" y="0"/>
                  </a:moveTo>
                  <a:lnTo>
                    <a:pt x="703579" y="0"/>
                  </a:lnTo>
                  <a:cubicBezTo>
                    <a:pt x="721930" y="0"/>
                    <a:pt x="739530" y="7290"/>
                    <a:pt x="752507" y="20267"/>
                  </a:cubicBezTo>
                  <a:cubicBezTo>
                    <a:pt x="765483" y="33243"/>
                    <a:pt x="772773" y="50843"/>
                    <a:pt x="772773" y="69195"/>
                  </a:cubicBezTo>
                  <a:lnTo>
                    <a:pt x="772773" y="743605"/>
                  </a:lnTo>
                  <a:cubicBezTo>
                    <a:pt x="772773" y="781821"/>
                    <a:pt x="741794" y="812800"/>
                    <a:pt x="703579" y="812800"/>
                  </a:cubicBezTo>
                  <a:lnTo>
                    <a:pt x="69195" y="812800"/>
                  </a:lnTo>
                  <a:cubicBezTo>
                    <a:pt x="30979" y="812800"/>
                    <a:pt x="0" y="781821"/>
                    <a:pt x="0" y="743605"/>
                  </a:cubicBezTo>
                  <a:lnTo>
                    <a:pt x="0" y="69195"/>
                  </a:lnTo>
                  <a:cubicBezTo>
                    <a:pt x="0" y="30979"/>
                    <a:pt x="30979" y="0"/>
                    <a:pt x="69195" y="0"/>
                  </a:cubicBez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7277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271876" y="4526010"/>
            <a:ext cx="2090045" cy="209004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463856" y="4717990"/>
            <a:ext cx="1706085" cy="170608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058590" y="3865003"/>
            <a:ext cx="2573383" cy="2706674"/>
            <a:chOff x="0" y="0"/>
            <a:chExt cx="772773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2773" cy="812800"/>
            </a:xfrm>
            <a:custGeom>
              <a:avLst/>
              <a:gdLst/>
              <a:ahLst/>
              <a:cxnLst/>
              <a:rect r="r" b="b" t="t" l="l"/>
              <a:pathLst>
                <a:path h="812800" w="772773">
                  <a:moveTo>
                    <a:pt x="69195" y="0"/>
                  </a:moveTo>
                  <a:lnTo>
                    <a:pt x="703579" y="0"/>
                  </a:lnTo>
                  <a:cubicBezTo>
                    <a:pt x="721930" y="0"/>
                    <a:pt x="739530" y="7290"/>
                    <a:pt x="752507" y="20267"/>
                  </a:cubicBezTo>
                  <a:cubicBezTo>
                    <a:pt x="765483" y="33243"/>
                    <a:pt x="772773" y="50843"/>
                    <a:pt x="772773" y="69195"/>
                  </a:cubicBezTo>
                  <a:lnTo>
                    <a:pt x="772773" y="743605"/>
                  </a:lnTo>
                  <a:cubicBezTo>
                    <a:pt x="772773" y="781821"/>
                    <a:pt x="741794" y="812800"/>
                    <a:pt x="703579" y="812800"/>
                  </a:cubicBezTo>
                  <a:lnTo>
                    <a:pt x="69195" y="812800"/>
                  </a:lnTo>
                  <a:cubicBezTo>
                    <a:pt x="30979" y="812800"/>
                    <a:pt x="0" y="781821"/>
                    <a:pt x="0" y="743605"/>
                  </a:cubicBezTo>
                  <a:lnTo>
                    <a:pt x="0" y="69195"/>
                  </a:lnTo>
                  <a:cubicBezTo>
                    <a:pt x="0" y="30979"/>
                    <a:pt x="30979" y="0"/>
                    <a:pt x="69195" y="0"/>
                  </a:cubicBez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7277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496701" y="4526010"/>
            <a:ext cx="2090045" cy="209004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B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688680" y="4717990"/>
            <a:ext cx="1706085" cy="1706085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283414" y="3865003"/>
            <a:ext cx="2573383" cy="2706674"/>
            <a:chOff x="0" y="0"/>
            <a:chExt cx="772773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72773" cy="812800"/>
            </a:xfrm>
            <a:custGeom>
              <a:avLst/>
              <a:gdLst/>
              <a:ahLst/>
              <a:cxnLst/>
              <a:rect r="r" b="b" t="t" l="l"/>
              <a:pathLst>
                <a:path h="812800" w="772773">
                  <a:moveTo>
                    <a:pt x="69195" y="0"/>
                  </a:moveTo>
                  <a:lnTo>
                    <a:pt x="703579" y="0"/>
                  </a:lnTo>
                  <a:cubicBezTo>
                    <a:pt x="721930" y="0"/>
                    <a:pt x="739530" y="7290"/>
                    <a:pt x="752507" y="20267"/>
                  </a:cubicBezTo>
                  <a:cubicBezTo>
                    <a:pt x="765483" y="33243"/>
                    <a:pt x="772773" y="50843"/>
                    <a:pt x="772773" y="69195"/>
                  </a:cubicBezTo>
                  <a:lnTo>
                    <a:pt x="772773" y="743605"/>
                  </a:lnTo>
                  <a:cubicBezTo>
                    <a:pt x="772773" y="781821"/>
                    <a:pt x="741794" y="812800"/>
                    <a:pt x="703579" y="812800"/>
                  </a:cubicBezTo>
                  <a:lnTo>
                    <a:pt x="69195" y="812800"/>
                  </a:lnTo>
                  <a:cubicBezTo>
                    <a:pt x="30979" y="812800"/>
                    <a:pt x="0" y="781821"/>
                    <a:pt x="0" y="743605"/>
                  </a:cubicBezTo>
                  <a:lnTo>
                    <a:pt x="0" y="69195"/>
                  </a:lnTo>
                  <a:cubicBezTo>
                    <a:pt x="0" y="30979"/>
                    <a:pt x="30979" y="0"/>
                    <a:pt x="69195" y="0"/>
                  </a:cubicBezTo>
                  <a:close/>
                </a:path>
              </a:pathLst>
            </a:custGeom>
            <a:solidFill>
              <a:srgbClr val="A60BF1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7277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721525" y="4526010"/>
            <a:ext cx="2090045" cy="2090045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B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913505" y="4717990"/>
            <a:ext cx="1706085" cy="1706085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108505" y="7767322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Xử lý ngôn ngữ tự nhiên tiếng Việt, không yêu cầu cú pháp cứng.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08505" y="7095553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Hiểu tiếng Việt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732091" y="7767322"/>
            <a:ext cx="2857500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Cấm hallucinate giá, RAM, CPU hay bất kỳ thông số kỹ thuật nào.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732091" y="7095553"/>
            <a:ext cx="2857500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Không bịa thông số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359930" y="7767322"/>
            <a:ext cx="2857500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Ghi trace đầy đủ để debug, đánh giá và kiểm thử chất lượng AI.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359930" y="7095553"/>
            <a:ext cx="2857500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Trace &amp; Test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441564" y="7767322"/>
            <a:ext cx="2857500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Chỉ tư vấn sản phẩm có thật trong catalog, không tự suy đoán.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441564" y="7096724"/>
            <a:ext cx="2857500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Bám sát catalog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069403" y="7767322"/>
            <a:ext cx="2857500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Câu trả lời AI đồng bộ với product cards hiển thị trên giao diện.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069403" y="7096724"/>
            <a:ext cx="2857500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Đồng bộ UI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209467" y="942975"/>
            <a:ext cx="11869067" cy="7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  <a:spcBef>
                <a:spcPct val="0"/>
              </a:spcBef>
            </a:pPr>
            <a:r>
              <a:rPr lang="en-US" b="true" sz="449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Câu hỏi kỹ thuật trọng tâm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361097" y="1913001"/>
            <a:ext cx="9565806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Làm sao đưa AI Advisor vào e-commerce mà vẫn kiểm soát được?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4730589" y="5247243"/>
            <a:ext cx="733894" cy="634927"/>
          </a:xfrm>
          <a:custGeom>
            <a:avLst/>
            <a:gdLst/>
            <a:ahLst/>
            <a:cxnLst/>
            <a:rect r="r" b="b" t="t" l="l"/>
            <a:pathLst>
              <a:path h="634927" w="733894">
                <a:moveTo>
                  <a:pt x="0" y="0"/>
                </a:moveTo>
                <a:lnTo>
                  <a:pt x="733894" y="0"/>
                </a:lnTo>
                <a:lnTo>
                  <a:pt x="733894" y="634927"/>
                </a:lnTo>
                <a:lnTo>
                  <a:pt x="0" y="634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7987875" y="5234533"/>
            <a:ext cx="659306" cy="659306"/>
          </a:xfrm>
          <a:custGeom>
            <a:avLst/>
            <a:gdLst/>
            <a:ahLst/>
            <a:cxnLst/>
            <a:rect r="r" b="b" t="t" l="l"/>
            <a:pathLst>
              <a:path h="659306" w="659306">
                <a:moveTo>
                  <a:pt x="0" y="0"/>
                </a:moveTo>
                <a:lnTo>
                  <a:pt x="659306" y="0"/>
                </a:lnTo>
                <a:lnTo>
                  <a:pt x="659306" y="659306"/>
                </a:lnTo>
                <a:lnTo>
                  <a:pt x="0" y="659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1082476" y="5240259"/>
            <a:ext cx="918732" cy="661974"/>
          </a:xfrm>
          <a:custGeom>
            <a:avLst/>
            <a:gdLst/>
            <a:ahLst/>
            <a:cxnLst/>
            <a:rect r="r" b="b" t="t" l="l"/>
            <a:pathLst>
              <a:path h="661974" w="918732">
                <a:moveTo>
                  <a:pt x="0" y="0"/>
                </a:moveTo>
                <a:lnTo>
                  <a:pt x="918732" y="0"/>
                </a:lnTo>
                <a:lnTo>
                  <a:pt x="918732" y="661974"/>
                </a:lnTo>
                <a:lnTo>
                  <a:pt x="0" y="661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4407752" y="5245382"/>
            <a:ext cx="736576" cy="659183"/>
          </a:xfrm>
          <a:custGeom>
            <a:avLst/>
            <a:gdLst/>
            <a:ahLst/>
            <a:cxnLst/>
            <a:rect r="r" b="b" t="t" l="l"/>
            <a:pathLst>
              <a:path h="659183" w="736576">
                <a:moveTo>
                  <a:pt x="0" y="0"/>
                </a:moveTo>
                <a:lnTo>
                  <a:pt x="736577" y="0"/>
                </a:lnTo>
                <a:lnTo>
                  <a:pt x="736577" y="659182"/>
                </a:lnTo>
                <a:lnTo>
                  <a:pt x="0" y="6591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54812" y="2651839"/>
            <a:ext cx="3336813" cy="3393045"/>
            <a:chOff x="0" y="0"/>
            <a:chExt cx="812800" cy="826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26497"/>
            </a:xfrm>
            <a:custGeom>
              <a:avLst/>
              <a:gdLst/>
              <a:ahLst/>
              <a:cxnLst/>
              <a:rect r="r" b="b" t="t" l="l"/>
              <a:pathLst>
                <a:path h="826497" w="812800">
                  <a:moveTo>
                    <a:pt x="406400" y="0"/>
                  </a:moveTo>
                  <a:cubicBezTo>
                    <a:pt x="181951" y="0"/>
                    <a:pt x="0" y="185018"/>
                    <a:pt x="0" y="413249"/>
                  </a:cubicBezTo>
                  <a:cubicBezTo>
                    <a:pt x="0" y="641480"/>
                    <a:pt x="181951" y="826497"/>
                    <a:pt x="406400" y="826497"/>
                  </a:cubicBezTo>
                  <a:cubicBezTo>
                    <a:pt x="630849" y="826497"/>
                    <a:pt x="812800" y="641480"/>
                    <a:pt x="812800" y="413249"/>
                  </a:cubicBezTo>
                  <a:cubicBezTo>
                    <a:pt x="812800" y="18501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23900" cap="sq">
              <a:solidFill>
                <a:srgbClr val="BEF52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9384"/>
              <a:ext cx="660400" cy="709629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96375" y="2651839"/>
            <a:ext cx="3336813" cy="3393045"/>
            <a:chOff x="0" y="0"/>
            <a:chExt cx="812800" cy="8264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26497"/>
            </a:xfrm>
            <a:custGeom>
              <a:avLst/>
              <a:gdLst/>
              <a:ahLst/>
              <a:cxnLst/>
              <a:rect r="r" b="b" t="t" l="l"/>
              <a:pathLst>
                <a:path h="826497" w="812800">
                  <a:moveTo>
                    <a:pt x="406400" y="0"/>
                  </a:moveTo>
                  <a:cubicBezTo>
                    <a:pt x="181951" y="0"/>
                    <a:pt x="0" y="185018"/>
                    <a:pt x="0" y="413249"/>
                  </a:cubicBezTo>
                  <a:cubicBezTo>
                    <a:pt x="0" y="641480"/>
                    <a:pt x="181951" y="826497"/>
                    <a:pt x="406400" y="826497"/>
                  </a:cubicBezTo>
                  <a:cubicBezTo>
                    <a:pt x="630849" y="826497"/>
                    <a:pt x="812800" y="641480"/>
                    <a:pt x="812800" y="413249"/>
                  </a:cubicBezTo>
                  <a:cubicBezTo>
                    <a:pt x="812800" y="18501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23900" cap="sq">
              <a:solidFill>
                <a:srgbClr val="7C46F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9384"/>
              <a:ext cx="660400" cy="709629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854812" y="5949634"/>
            <a:ext cx="3336813" cy="3393045"/>
            <a:chOff x="0" y="0"/>
            <a:chExt cx="812800" cy="826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26497"/>
            </a:xfrm>
            <a:custGeom>
              <a:avLst/>
              <a:gdLst/>
              <a:ahLst/>
              <a:cxnLst/>
              <a:rect r="r" b="b" t="t" l="l"/>
              <a:pathLst>
                <a:path h="826497" w="812800">
                  <a:moveTo>
                    <a:pt x="406400" y="0"/>
                  </a:moveTo>
                  <a:cubicBezTo>
                    <a:pt x="181951" y="0"/>
                    <a:pt x="0" y="185018"/>
                    <a:pt x="0" y="413249"/>
                  </a:cubicBezTo>
                  <a:cubicBezTo>
                    <a:pt x="0" y="641480"/>
                    <a:pt x="181951" y="826497"/>
                    <a:pt x="406400" y="826497"/>
                  </a:cubicBezTo>
                  <a:cubicBezTo>
                    <a:pt x="630849" y="826497"/>
                    <a:pt x="812800" y="641480"/>
                    <a:pt x="812800" y="413249"/>
                  </a:cubicBezTo>
                  <a:cubicBezTo>
                    <a:pt x="812800" y="18501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23900" cap="sq">
              <a:solidFill>
                <a:srgbClr val="FF871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9384"/>
              <a:ext cx="660400" cy="709629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96375" y="5949634"/>
            <a:ext cx="3336813" cy="3393045"/>
            <a:chOff x="0" y="0"/>
            <a:chExt cx="812800" cy="8264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26497"/>
            </a:xfrm>
            <a:custGeom>
              <a:avLst/>
              <a:gdLst/>
              <a:ahLst/>
              <a:cxnLst/>
              <a:rect r="r" b="b" t="t" l="l"/>
              <a:pathLst>
                <a:path h="826497" w="812800">
                  <a:moveTo>
                    <a:pt x="406400" y="0"/>
                  </a:moveTo>
                  <a:cubicBezTo>
                    <a:pt x="181951" y="0"/>
                    <a:pt x="0" y="185018"/>
                    <a:pt x="0" y="413249"/>
                  </a:cubicBezTo>
                  <a:cubicBezTo>
                    <a:pt x="0" y="641480"/>
                    <a:pt x="181951" y="826497"/>
                    <a:pt x="406400" y="826497"/>
                  </a:cubicBezTo>
                  <a:cubicBezTo>
                    <a:pt x="630849" y="826497"/>
                    <a:pt x="812800" y="641480"/>
                    <a:pt x="812800" y="413249"/>
                  </a:cubicBezTo>
                  <a:cubicBezTo>
                    <a:pt x="812800" y="18501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23900" cap="sq">
              <a:solidFill>
                <a:srgbClr val="FB51A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9384"/>
              <a:ext cx="660400" cy="709629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84609" y="4737868"/>
            <a:ext cx="2518781" cy="251878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636590" y="5550740"/>
            <a:ext cx="894957" cy="1061163"/>
          </a:xfrm>
          <a:custGeom>
            <a:avLst/>
            <a:gdLst/>
            <a:ahLst/>
            <a:cxnLst/>
            <a:rect r="r" b="b" t="t" l="l"/>
            <a:pathLst>
              <a:path h="1061163" w="894957">
                <a:moveTo>
                  <a:pt x="0" y="0"/>
                </a:moveTo>
                <a:lnTo>
                  <a:pt x="894957" y="0"/>
                </a:lnTo>
                <a:lnTo>
                  <a:pt x="894957" y="1061163"/>
                </a:lnTo>
                <a:lnTo>
                  <a:pt x="0" y="1061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0391823" y="7202106"/>
            <a:ext cx="765920" cy="867343"/>
          </a:xfrm>
          <a:custGeom>
            <a:avLst/>
            <a:gdLst/>
            <a:ahLst/>
            <a:cxnLst/>
            <a:rect r="r" b="b" t="t" l="l"/>
            <a:pathLst>
              <a:path h="867343" w="765920">
                <a:moveTo>
                  <a:pt x="0" y="0"/>
                </a:moveTo>
                <a:lnTo>
                  <a:pt x="765920" y="0"/>
                </a:lnTo>
                <a:lnTo>
                  <a:pt x="765920" y="867343"/>
                </a:lnTo>
                <a:lnTo>
                  <a:pt x="0" y="867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7230070" y="7250590"/>
            <a:ext cx="644828" cy="767123"/>
          </a:xfrm>
          <a:custGeom>
            <a:avLst/>
            <a:gdLst/>
            <a:ahLst/>
            <a:cxnLst/>
            <a:rect r="r" b="b" t="t" l="l"/>
            <a:pathLst>
              <a:path h="767123" w="644828">
                <a:moveTo>
                  <a:pt x="0" y="0"/>
                </a:moveTo>
                <a:lnTo>
                  <a:pt x="644827" y="0"/>
                </a:lnTo>
                <a:lnTo>
                  <a:pt x="644827" y="767123"/>
                </a:lnTo>
                <a:lnTo>
                  <a:pt x="0" y="767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7183154" y="3982507"/>
            <a:ext cx="603784" cy="797753"/>
          </a:xfrm>
          <a:custGeom>
            <a:avLst/>
            <a:gdLst/>
            <a:ahLst/>
            <a:cxnLst/>
            <a:rect r="r" b="b" t="t" l="l"/>
            <a:pathLst>
              <a:path h="797753" w="603784">
                <a:moveTo>
                  <a:pt x="0" y="0"/>
                </a:moveTo>
                <a:lnTo>
                  <a:pt x="603784" y="0"/>
                </a:lnTo>
                <a:lnTo>
                  <a:pt x="603784" y="797753"/>
                </a:lnTo>
                <a:lnTo>
                  <a:pt x="0" y="797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0378394" y="3964653"/>
            <a:ext cx="705063" cy="703697"/>
          </a:xfrm>
          <a:custGeom>
            <a:avLst/>
            <a:gdLst/>
            <a:ahLst/>
            <a:cxnLst/>
            <a:rect r="r" b="b" t="t" l="l"/>
            <a:pathLst>
              <a:path h="703697" w="705063">
                <a:moveTo>
                  <a:pt x="0" y="0"/>
                </a:moveTo>
                <a:lnTo>
                  <a:pt x="705064" y="0"/>
                </a:lnTo>
                <a:lnTo>
                  <a:pt x="705064" y="703697"/>
                </a:lnTo>
                <a:lnTo>
                  <a:pt x="0" y="7036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1808761" y="7326741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Kiểm chứng claim trước khi hiển thị, đảm bảo đồng bộ UI và câu trả lời.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08761" y="4428232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Truy xuất sản phẩm thật từ database, bám sát thông số và giá cả thực tế.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08761" y="3950132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Catalog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83375" y="4428232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Lưu ngữ cảnh hội thoại và ghi nhận bằng chứng cho mọi thông tin AI cung cấp.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83375" y="3950132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State &amp; Evidence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08761" y="6848641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Verifier &amp; Contract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83375" y="7326741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Ghi lại toàn bộ pipeline để debug, đánh giá và kiểm thử chất lượng hệ thống.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83375" y="6848641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Trace &amp; Test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09467" y="942975"/>
            <a:ext cx="11869067" cy="7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  <a:spcBef>
                <a:spcPct val="0"/>
              </a:spcBef>
            </a:pPr>
            <a:r>
              <a:rPr lang="en-US" b="true" sz="449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Ý Tưởng Giải Pháp Tổng Quan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04993" y="1913001"/>
            <a:ext cx="12478015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 Advisor được đặt trong lớp Harness kiểm soát — không để LLM trả lời tự do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53352" y="3514669"/>
            <a:ext cx="12765603" cy="3614162"/>
            <a:chOff x="0" y="0"/>
            <a:chExt cx="1777825" cy="503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7825" cy="503333"/>
            </a:xfrm>
            <a:custGeom>
              <a:avLst/>
              <a:gdLst/>
              <a:ahLst/>
              <a:cxnLst/>
              <a:rect r="r" b="b" t="t" l="l"/>
              <a:pathLst>
                <a:path h="503333" w="1777825">
                  <a:moveTo>
                    <a:pt x="60647" y="0"/>
                  </a:moveTo>
                  <a:lnTo>
                    <a:pt x="1717178" y="0"/>
                  </a:lnTo>
                  <a:cubicBezTo>
                    <a:pt x="1750672" y="0"/>
                    <a:pt x="1777825" y="27152"/>
                    <a:pt x="1777825" y="60647"/>
                  </a:cubicBezTo>
                  <a:lnTo>
                    <a:pt x="1777825" y="442686"/>
                  </a:lnTo>
                  <a:cubicBezTo>
                    <a:pt x="1777825" y="476180"/>
                    <a:pt x="1750672" y="503333"/>
                    <a:pt x="1717178" y="503333"/>
                  </a:cubicBezTo>
                  <a:lnTo>
                    <a:pt x="60647" y="503333"/>
                  </a:lnTo>
                  <a:cubicBezTo>
                    <a:pt x="27152" y="503333"/>
                    <a:pt x="0" y="476180"/>
                    <a:pt x="0" y="442686"/>
                  </a:cubicBezTo>
                  <a:lnTo>
                    <a:pt x="0" y="60647"/>
                  </a:lnTo>
                  <a:cubicBezTo>
                    <a:pt x="0" y="27152"/>
                    <a:pt x="27152" y="0"/>
                    <a:pt x="60647" y="0"/>
                  </a:cubicBezTo>
                  <a:close/>
                </a:path>
              </a:pathLst>
            </a:custGeom>
            <a:ln w="19050" cap="rnd">
              <a:solidFill>
                <a:srgbClr val="C6C6CF"/>
              </a:solidFill>
              <a:prstDash val="lg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77825" cy="550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16985" y="3514669"/>
            <a:ext cx="3614162" cy="361416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F522"/>
            </a:solidFill>
            <a:ln w="19050" cap="sq">
              <a:solidFill>
                <a:srgbClr val="C6C6CF"/>
              </a:solidFill>
              <a:prstDash val="lg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62042" y="4356076"/>
            <a:ext cx="1924048" cy="192404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32461" y="3533151"/>
            <a:ext cx="3614162" cy="361416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46F8"/>
            </a:solidFill>
            <a:ln w="19050" cap="sq">
              <a:solidFill>
                <a:srgbClr val="C6C6CF"/>
              </a:solidFill>
              <a:prstDash val="lgDash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04177" y="4359726"/>
            <a:ext cx="1924048" cy="192404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07048" y="3511020"/>
            <a:ext cx="3614162" cy="361416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51A2"/>
            </a:solidFill>
            <a:ln w="19050" cap="sq">
              <a:solidFill>
                <a:srgbClr val="C6C6CF"/>
              </a:solidFill>
              <a:prstDash val="lgDash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542036" y="4344211"/>
            <a:ext cx="1924048" cy="192404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400000">
            <a:off x="4501306" y="3404600"/>
            <a:ext cx="251587" cy="220139"/>
            <a:chOff x="0" y="0"/>
            <a:chExt cx="812800" cy="71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5400000">
            <a:off x="5636172" y="7017036"/>
            <a:ext cx="251587" cy="220139"/>
            <a:chOff x="0" y="0"/>
            <a:chExt cx="812800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8395739" y="3404600"/>
            <a:ext cx="251587" cy="220139"/>
            <a:chOff x="0" y="0"/>
            <a:chExt cx="812800" cy="711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9507219" y="7017036"/>
            <a:ext cx="251587" cy="220139"/>
            <a:chOff x="0" y="0"/>
            <a:chExt cx="812800" cy="711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5400000">
            <a:off x="12290171" y="3404600"/>
            <a:ext cx="251587" cy="220139"/>
            <a:chOff x="0" y="0"/>
            <a:chExt cx="812800" cy="711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5400000">
            <a:off x="13488335" y="7017036"/>
            <a:ext cx="251587" cy="220139"/>
            <a:chOff x="0" y="0"/>
            <a:chExt cx="812800" cy="711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3209467" y="4902236"/>
            <a:ext cx="789509" cy="807998"/>
          </a:xfrm>
          <a:custGeom>
            <a:avLst/>
            <a:gdLst/>
            <a:ahLst/>
            <a:cxnLst/>
            <a:rect r="r" b="b" t="t" l="l"/>
            <a:pathLst>
              <a:path h="807998" w="789509">
                <a:moveTo>
                  <a:pt x="0" y="0"/>
                </a:moveTo>
                <a:lnTo>
                  <a:pt x="789508" y="0"/>
                </a:lnTo>
                <a:lnTo>
                  <a:pt x="789508" y="807998"/>
                </a:lnTo>
                <a:lnTo>
                  <a:pt x="0" y="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8278347" y="4902236"/>
            <a:ext cx="857807" cy="831729"/>
          </a:xfrm>
          <a:custGeom>
            <a:avLst/>
            <a:gdLst/>
            <a:ahLst/>
            <a:cxnLst/>
            <a:rect r="r" b="b" t="t" l="l"/>
            <a:pathLst>
              <a:path h="831729" w="857807">
                <a:moveTo>
                  <a:pt x="0" y="0"/>
                </a:moveTo>
                <a:lnTo>
                  <a:pt x="857806" y="0"/>
                </a:lnTo>
                <a:lnTo>
                  <a:pt x="857806" y="831729"/>
                </a:lnTo>
                <a:lnTo>
                  <a:pt x="0" y="831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3" id="43"/>
          <p:cNvSpPr/>
          <p:nvPr/>
        </p:nvSpPr>
        <p:spPr>
          <a:xfrm flipH="false" flipV="false" rot="0">
            <a:off x="13122879" y="4723132"/>
            <a:ext cx="762360" cy="1010833"/>
          </a:xfrm>
          <a:custGeom>
            <a:avLst/>
            <a:gdLst/>
            <a:ahLst/>
            <a:cxnLst/>
            <a:rect r="r" b="b" t="t" l="l"/>
            <a:pathLst>
              <a:path h="1010833" w="762360">
                <a:moveTo>
                  <a:pt x="0" y="0"/>
                </a:moveTo>
                <a:lnTo>
                  <a:pt x="762361" y="0"/>
                </a:lnTo>
                <a:lnTo>
                  <a:pt x="762361" y="1010833"/>
                </a:lnTo>
                <a:lnTo>
                  <a:pt x="0" y="1010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4" id="44"/>
          <p:cNvSpPr txBox="true"/>
          <p:nvPr/>
        </p:nvSpPr>
        <p:spPr>
          <a:xfrm rot="0">
            <a:off x="3209467" y="942975"/>
            <a:ext cx="11869067" cy="7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  <a:spcBef>
                <a:spcPct val="0"/>
              </a:spcBef>
            </a:pPr>
            <a:r>
              <a:rPr lang="en-US" b="true" sz="4496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Harness Engineering là gì?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904993" y="1913001"/>
            <a:ext cx="12478015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Lớp hạ tầng điều phối và kiểm soát agent AI — bắt AI đi qua các bước cần thiết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888175" y="8441578"/>
            <a:ext cx="3647531" cy="54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Hiểu và sinh ngôn ngữ tự nhiên (LLM)</a:t>
            </a:r>
          </a:p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tiếng Việt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678831" y="8489351"/>
            <a:ext cx="2848994" cy="54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Quản lý state, tool, workflow,</a:t>
            </a:r>
          </a:p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kiểm chứng và ghi trace.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669960" y="8441578"/>
            <a:ext cx="2848994" cy="54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Catalog sản phẩm, API</a:t>
            </a:r>
          </a:p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backend và Frontend UI.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270146" y="782439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Model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471815" y="7760702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Harness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669960" y="782439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Environment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594963" y="4846294"/>
            <a:ext cx="0" cy="3838538"/>
          </a:xfrm>
          <a:prstGeom prst="line">
            <a:avLst/>
          </a:prstGeom>
          <a:ln cap="flat" w="19050">
            <a:solidFill>
              <a:srgbClr val="BEF522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-10800000">
            <a:off x="1463070" y="4253378"/>
            <a:ext cx="2643741" cy="2303317"/>
            <a:chOff x="0" y="0"/>
            <a:chExt cx="93293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2930" cy="812800"/>
            </a:xfrm>
            <a:custGeom>
              <a:avLst/>
              <a:gdLst/>
              <a:ahLst/>
              <a:cxnLst/>
              <a:rect r="r" b="b" t="t" l="l"/>
              <a:pathLst>
                <a:path h="812800" w="93293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32930" y="203200"/>
                  </a:lnTo>
                  <a:lnTo>
                    <a:pt x="93293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165100"/>
              <a:ext cx="831330" cy="444500"/>
            </a:xfrm>
            <a:prstGeom prst="rect">
              <a:avLst/>
            </a:prstGeom>
          </p:spPr>
          <p:txBody>
            <a:bodyPr anchor="ctr" rtlCol="false" tIns="38116" lIns="38116" bIns="38116" rIns="38116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992702" y="4813340"/>
            <a:ext cx="1180047" cy="118004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85407" lIns="85407" bIns="85407" rIns="85407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 flipV="true">
            <a:off x="7942200" y="4846294"/>
            <a:ext cx="0" cy="3838538"/>
          </a:xfrm>
          <a:prstGeom prst="line">
            <a:avLst/>
          </a:prstGeom>
          <a:ln cap="flat" w="19050">
            <a:solidFill>
              <a:srgbClr val="15C8FE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-10800000">
            <a:off x="7810307" y="4253378"/>
            <a:ext cx="2643741" cy="2303317"/>
            <a:chOff x="0" y="0"/>
            <a:chExt cx="93293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930" cy="812800"/>
            </a:xfrm>
            <a:custGeom>
              <a:avLst/>
              <a:gdLst/>
              <a:ahLst/>
              <a:cxnLst/>
              <a:rect r="r" b="b" t="t" l="l"/>
              <a:pathLst>
                <a:path h="812800" w="93293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32930" y="203200"/>
                  </a:lnTo>
                  <a:lnTo>
                    <a:pt x="93293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15C8F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165100"/>
              <a:ext cx="831330" cy="444500"/>
            </a:xfrm>
            <a:prstGeom prst="rect">
              <a:avLst/>
            </a:prstGeom>
          </p:spPr>
          <p:txBody>
            <a:bodyPr anchor="ctr" rtlCol="false" tIns="38116" lIns="38116" bIns="38116" rIns="38116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7339939" y="4813340"/>
            <a:ext cx="1180047" cy="118004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85407" lIns="85407" bIns="85407" rIns="85407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6" id="16"/>
          <p:cNvSpPr/>
          <p:nvPr/>
        </p:nvSpPr>
        <p:spPr>
          <a:xfrm flipV="true">
            <a:off x="14289438" y="4846294"/>
            <a:ext cx="0" cy="3838538"/>
          </a:xfrm>
          <a:prstGeom prst="line">
            <a:avLst/>
          </a:prstGeom>
          <a:ln cap="flat" w="19050">
            <a:solidFill>
              <a:srgbClr val="FF8715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-10800000">
            <a:off x="14157545" y="4253378"/>
            <a:ext cx="2643741" cy="2303317"/>
            <a:chOff x="0" y="0"/>
            <a:chExt cx="93293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2930" cy="812800"/>
            </a:xfrm>
            <a:custGeom>
              <a:avLst/>
              <a:gdLst/>
              <a:ahLst/>
              <a:cxnLst/>
              <a:rect r="r" b="b" t="t" l="l"/>
              <a:pathLst>
                <a:path h="812800" w="93293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32930" y="203200"/>
                  </a:lnTo>
                  <a:lnTo>
                    <a:pt x="93293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165100"/>
              <a:ext cx="831330" cy="444500"/>
            </a:xfrm>
            <a:prstGeom prst="rect">
              <a:avLst/>
            </a:prstGeom>
          </p:spPr>
          <p:txBody>
            <a:bodyPr anchor="ctr" rtlCol="false" tIns="38116" lIns="38116" bIns="38116" rIns="38116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13687177" y="4813340"/>
            <a:ext cx="1180047" cy="118004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85407" lIns="85407" bIns="85407" rIns="85407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V="true">
            <a:off x="4758210" y="3044339"/>
            <a:ext cx="0" cy="3865213"/>
          </a:xfrm>
          <a:prstGeom prst="line">
            <a:avLst/>
          </a:prstGeom>
          <a:ln cap="flat" w="19050">
            <a:solidFill>
              <a:srgbClr val="7C46F8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24" id="24"/>
          <p:cNvGrpSpPr/>
          <p:nvPr/>
        </p:nvGrpSpPr>
        <p:grpSpPr>
          <a:xfrm rot="-10800000">
            <a:off x="4638554" y="5169543"/>
            <a:ext cx="2643741" cy="2303317"/>
            <a:chOff x="0" y="0"/>
            <a:chExt cx="93293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2930" cy="812800"/>
            </a:xfrm>
            <a:custGeom>
              <a:avLst/>
              <a:gdLst/>
              <a:ahLst/>
              <a:cxnLst/>
              <a:rect r="r" b="b" t="t" l="l"/>
              <a:pathLst>
                <a:path h="812800" w="93293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32930" y="203200"/>
                  </a:lnTo>
                  <a:lnTo>
                    <a:pt x="93293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165100"/>
              <a:ext cx="831330" cy="444500"/>
            </a:xfrm>
            <a:prstGeom prst="rect">
              <a:avLst/>
            </a:prstGeom>
          </p:spPr>
          <p:txBody>
            <a:bodyPr anchor="ctr" rtlCol="false" tIns="38116" lIns="38116" bIns="38116" rIns="38116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10800000">
            <a:off x="4168186" y="5729505"/>
            <a:ext cx="1180047" cy="118004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85407" lIns="85407" bIns="85407" rIns="85407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0" id="30"/>
          <p:cNvSpPr/>
          <p:nvPr/>
        </p:nvSpPr>
        <p:spPr>
          <a:xfrm flipV="true">
            <a:off x="11105447" y="3044339"/>
            <a:ext cx="0" cy="3865213"/>
          </a:xfrm>
          <a:prstGeom prst="line">
            <a:avLst/>
          </a:prstGeom>
          <a:ln cap="flat" w="19050">
            <a:solidFill>
              <a:srgbClr val="FB51A2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31" id="31"/>
          <p:cNvGrpSpPr/>
          <p:nvPr/>
        </p:nvGrpSpPr>
        <p:grpSpPr>
          <a:xfrm rot="-10800000">
            <a:off x="10985792" y="5169543"/>
            <a:ext cx="2643741" cy="2303317"/>
            <a:chOff x="0" y="0"/>
            <a:chExt cx="93293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2930" cy="812800"/>
            </a:xfrm>
            <a:custGeom>
              <a:avLst/>
              <a:gdLst/>
              <a:ahLst/>
              <a:cxnLst/>
              <a:rect r="r" b="b" t="t" l="l"/>
              <a:pathLst>
                <a:path h="812800" w="93293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32930" y="203200"/>
                  </a:lnTo>
                  <a:lnTo>
                    <a:pt x="93293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01600" y="165100"/>
              <a:ext cx="831330" cy="444500"/>
            </a:xfrm>
            <a:prstGeom prst="rect">
              <a:avLst/>
            </a:prstGeom>
          </p:spPr>
          <p:txBody>
            <a:bodyPr anchor="ctr" rtlCol="false" tIns="38116" lIns="38116" bIns="38116" rIns="38116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10800000">
            <a:off x="10515424" y="5729505"/>
            <a:ext cx="1180047" cy="1180047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85407" lIns="85407" bIns="85407" rIns="85407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4520085" y="6081404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13859424" y="5167259"/>
            <a:ext cx="822036" cy="428946"/>
          </a:xfrm>
          <a:custGeom>
            <a:avLst/>
            <a:gdLst/>
            <a:ahLst/>
            <a:cxnLst/>
            <a:rect r="r" b="b" t="t" l="l"/>
            <a:pathLst>
              <a:path h="428946" w="822036">
                <a:moveTo>
                  <a:pt x="0" y="0"/>
                </a:moveTo>
                <a:lnTo>
                  <a:pt x="822037" y="0"/>
                </a:lnTo>
                <a:lnTo>
                  <a:pt x="822037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1348269" y="5212225"/>
            <a:ext cx="419784" cy="419784"/>
          </a:xfrm>
          <a:custGeom>
            <a:avLst/>
            <a:gdLst/>
            <a:ahLst/>
            <a:cxnLst/>
            <a:rect r="r" b="b" t="t" l="l"/>
            <a:pathLst>
              <a:path h="419784" w="419784">
                <a:moveTo>
                  <a:pt x="0" y="0"/>
                </a:moveTo>
                <a:lnTo>
                  <a:pt x="419785" y="0"/>
                </a:lnTo>
                <a:lnTo>
                  <a:pt x="419785" y="419784"/>
                </a:lnTo>
                <a:lnTo>
                  <a:pt x="0" y="419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7678535" y="5142252"/>
            <a:ext cx="478670" cy="503201"/>
          </a:xfrm>
          <a:custGeom>
            <a:avLst/>
            <a:gdLst/>
            <a:ahLst/>
            <a:cxnLst/>
            <a:rect r="r" b="b" t="t" l="l"/>
            <a:pathLst>
              <a:path h="503201" w="478670">
                <a:moveTo>
                  <a:pt x="0" y="0"/>
                </a:moveTo>
                <a:lnTo>
                  <a:pt x="478670" y="0"/>
                </a:lnTo>
                <a:lnTo>
                  <a:pt x="478670" y="503200"/>
                </a:lnTo>
                <a:lnTo>
                  <a:pt x="0" y="503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10796703" y="6080528"/>
            <a:ext cx="620677" cy="479028"/>
          </a:xfrm>
          <a:custGeom>
            <a:avLst/>
            <a:gdLst/>
            <a:ahLst/>
            <a:cxnLst/>
            <a:rect r="r" b="b" t="t" l="l"/>
            <a:pathLst>
              <a:path h="479028" w="620677">
                <a:moveTo>
                  <a:pt x="0" y="0"/>
                </a:moveTo>
                <a:lnTo>
                  <a:pt x="620676" y="0"/>
                </a:lnTo>
                <a:lnTo>
                  <a:pt x="620676" y="479029"/>
                </a:lnTo>
                <a:lnTo>
                  <a:pt x="0" y="4790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2" id="42"/>
          <p:cNvSpPr txBox="true"/>
          <p:nvPr/>
        </p:nvSpPr>
        <p:spPr>
          <a:xfrm rot="0">
            <a:off x="1785463" y="8144373"/>
            <a:ext cx="2848994" cy="488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7"/>
              </a:lnSpc>
              <a:spcBef>
                <a:spcPct val="0"/>
              </a:spcBef>
            </a:pPr>
            <a:r>
              <a:rPr lang="en-US" sz="1397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AgentState lưu lịch sử hội thoại, xử lý tham chiếu nhiều lượt.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85463" y="752470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Giữ Ngữ Cảnh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132700" y="8144373"/>
            <a:ext cx="2848994" cy="488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7"/>
              </a:lnSpc>
              <a:spcBef>
                <a:spcPct val="0"/>
              </a:spcBef>
            </a:pPr>
            <a:r>
              <a:rPr lang="en-US" sz="1397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Verifier chặn thông tin sai, thiếu dữ liệu phải báo rõ ràng.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132700" y="7517176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Kiểm Chứng Claim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479938" y="8144373"/>
            <a:ext cx="2848994" cy="488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7"/>
              </a:lnSpc>
              <a:spcBef>
                <a:spcPct val="0"/>
              </a:spcBef>
            </a:pPr>
            <a:r>
              <a:rPr lang="en-US" sz="1397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Decision trace ghi lại toàn bộ pipeline để đánh giá và cải thiện.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479938" y="7517176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Ghi Trace &amp; Debug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948710" y="3669759"/>
            <a:ext cx="2857500" cy="488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7"/>
              </a:lnSpc>
              <a:spcBef>
                <a:spcPct val="0"/>
              </a:spcBef>
            </a:pPr>
            <a:r>
              <a:rPr lang="en-US" sz="1397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QueryFrame ánh xạ ngôn ngữ tự nhiên sang truy vấn có cấu trúc.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948710" y="2996714"/>
            <a:ext cx="2857500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Truy Xuất Catalog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295947" y="3669759"/>
            <a:ext cx="2857500" cy="488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7"/>
              </a:lnSpc>
              <a:spcBef>
                <a:spcPct val="0"/>
              </a:spcBef>
            </a:pPr>
            <a:r>
              <a:rPr lang="en-US" sz="1397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Response Contract đảm bảo lời AI khớp với product cards hiển thị.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261940" y="2996714"/>
            <a:ext cx="2857500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Đồng Bộ UI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209467" y="942975"/>
            <a:ext cx="11869067" cy="705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4"/>
              </a:lnSpc>
              <a:spcBef>
                <a:spcPct val="0"/>
              </a:spcBef>
            </a:pPr>
            <a:r>
              <a:rPr lang="en-US" b="true" sz="409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Harness Engineering đóng góp gì trong AURA?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904993" y="1913001"/>
            <a:ext cx="12478015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Biến chatbot khó kiểm soát thành AI workflow có thể kiểm thử và truy xuất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53352" y="3514669"/>
            <a:ext cx="12765603" cy="3614162"/>
            <a:chOff x="0" y="0"/>
            <a:chExt cx="1777825" cy="503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7825" cy="503333"/>
            </a:xfrm>
            <a:custGeom>
              <a:avLst/>
              <a:gdLst/>
              <a:ahLst/>
              <a:cxnLst/>
              <a:rect r="r" b="b" t="t" l="l"/>
              <a:pathLst>
                <a:path h="503333" w="1777825">
                  <a:moveTo>
                    <a:pt x="60647" y="0"/>
                  </a:moveTo>
                  <a:lnTo>
                    <a:pt x="1717178" y="0"/>
                  </a:lnTo>
                  <a:cubicBezTo>
                    <a:pt x="1750672" y="0"/>
                    <a:pt x="1777825" y="27152"/>
                    <a:pt x="1777825" y="60647"/>
                  </a:cubicBezTo>
                  <a:lnTo>
                    <a:pt x="1777825" y="442686"/>
                  </a:lnTo>
                  <a:cubicBezTo>
                    <a:pt x="1777825" y="476180"/>
                    <a:pt x="1750672" y="503333"/>
                    <a:pt x="1717178" y="503333"/>
                  </a:cubicBezTo>
                  <a:lnTo>
                    <a:pt x="60647" y="503333"/>
                  </a:lnTo>
                  <a:cubicBezTo>
                    <a:pt x="27152" y="503333"/>
                    <a:pt x="0" y="476180"/>
                    <a:pt x="0" y="442686"/>
                  </a:cubicBezTo>
                  <a:lnTo>
                    <a:pt x="0" y="60647"/>
                  </a:lnTo>
                  <a:cubicBezTo>
                    <a:pt x="0" y="27152"/>
                    <a:pt x="27152" y="0"/>
                    <a:pt x="60647" y="0"/>
                  </a:cubicBezTo>
                  <a:close/>
                </a:path>
              </a:pathLst>
            </a:custGeom>
            <a:ln w="19050" cap="rnd">
              <a:solidFill>
                <a:srgbClr val="C6C6CF"/>
              </a:solidFill>
              <a:prstDash val="lg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77825" cy="550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0349" y="3514669"/>
            <a:ext cx="3614162" cy="361416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F522"/>
            </a:solidFill>
            <a:ln w="19050" cap="sq">
              <a:solidFill>
                <a:srgbClr val="C6C6CF"/>
              </a:solidFill>
              <a:prstDash val="lg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75405" y="4359726"/>
            <a:ext cx="1924048" cy="192404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43490" y="3514669"/>
            <a:ext cx="3614162" cy="361416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15"/>
            </a:solidFill>
            <a:ln w="19050" cap="sq">
              <a:solidFill>
                <a:srgbClr val="C6C6CF"/>
              </a:solidFill>
              <a:prstDash val="lgDash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988546" y="4359726"/>
            <a:ext cx="1924048" cy="192404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01396" y="3514669"/>
            <a:ext cx="3614162" cy="361416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46F8"/>
            </a:solidFill>
            <a:ln w="19050" cap="sq">
              <a:solidFill>
                <a:srgbClr val="C6C6CF"/>
              </a:solidFill>
              <a:prstDash val="lgDash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46452" y="4359726"/>
            <a:ext cx="1924048" cy="192404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72443" y="3514669"/>
            <a:ext cx="3614162" cy="361416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51A2"/>
            </a:solidFill>
            <a:ln w="19050" cap="sq">
              <a:solidFill>
                <a:srgbClr val="C6C6CF"/>
              </a:solidFill>
              <a:prstDash val="lg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117499" y="4359726"/>
            <a:ext cx="1924048" cy="192404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4501306" y="3404600"/>
            <a:ext cx="251587" cy="220139"/>
            <a:chOff x="0" y="0"/>
            <a:chExt cx="812800" cy="711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5636172" y="7017036"/>
            <a:ext cx="251587" cy="220139"/>
            <a:chOff x="0" y="0"/>
            <a:chExt cx="812800" cy="711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5400000">
            <a:off x="8395739" y="3404600"/>
            <a:ext cx="251587" cy="220139"/>
            <a:chOff x="0" y="0"/>
            <a:chExt cx="812800" cy="711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5400000">
            <a:off x="9507219" y="7017036"/>
            <a:ext cx="251587" cy="220139"/>
            <a:chOff x="0" y="0"/>
            <a:chExt cx="812800" cy="711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5400000">
            <a:off x="12290171" y="3404600"/>
            <a:ext cx="251587" cy="220139"/>
            <a:chOff x="0" y="0"/>
            <a:chExt cx="812800" cy="711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5400000">
            <a:off x="13488335" y="7017036"/>
            <a:ext cx="251587" cy="220139"/>
            <a:chOff x="0" y="0"/>
            <a:chExt cx="812800" cy="711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2948682" y="5035469"/>
            <a:ext cx="775846" cy="624806"/>
          </a:xfrm>
          <a:custGeom>
            <a:avLst/>
            <a:gdLst/>
            <a:ahLst/>
            <a:cxnLst/>
            <a:rect r="r" b="b" t="t" l="l"/>
            <a:pathLst>
              <a:path h="624806" w="775846">
                <a:moveTo>
                  <a:pt x="0" y="0"/>
                </a:moveTo>
                <a:lnTo>
                  <a:pt x="775846" y="0"/>
                </a:lnTo>
                <a:lnTo>
                  <a:pt x="775846" y="624806"/>
                </a:lnTo>
                <a:lnTo>
                  <a:pt x="0" y="62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6736623" y="4937523"/>
            <a:ext cx="943456" cy="740482"/>
          </a:xfrm>
          <a:custGeom>
            <a:avLst/>
            <a:gdLst/>
            <a:ahLst/>
            <a:cxnLst/>
            <a:rect r="r" b="b" t="t" l="l"/>
            <a:pathLst>
              <a:path h="740482" w="943456">
                <a:moveTo>
                  <a:pt x="0" y="0"/>
                </a:moveTo>
                <a:lnTo>
                  <a:pt x="943456" y="0"/>
                </a:lnTo>
                <a:lnTo>
                  <a:pt x="943456" y="740481"/>
                </a:lnTo>
                <a:lnTo>
                  <a:pt x="0" y="740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10648499" y="4922965"/>
            <a:ext cx="862818" cy="859646"/>
          </a:xfrm>
          <a:custGeom>
            <a:avLst/>
            <a:gdLst/>
            <a:ahLst/>
            <a:cxnLst/>
            <a:rect r="r" b="b" t="t" l="l"/>
            <a:pathLst>
              <a:path h="859646" w="862818">
                <a:moveTo>
                  <a:pt x="0" y="0"/>
                </a:moveTo>
                <a:lnTo>
                  <a:pt x="862818" y="0"/>
                </a:lnTo>
                <a:lnTo>
                  <a:pt x="862818" y="859645"/>
                </a:lnTo>
                <a:lnTo>
                  <a:pt x="0" y="859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0" id="50"/>
          <p:cNvSpPr txBox="true"/>
          <p:nvPr/>
        </p:nvSpPr>
        <p:spPr>
          <a:xfrm rot="0">
            <a:off x="3209467" y="942975"/>
            <a:ext cx="11869067" cy="7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  <a:spcBef>
                <a:spcPct val="0"/>
              </a:spcBef>
            </a:pPr>
            <a:r>
              <a:rPr lang="en-US" b="true" sz="4496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Kiến Trúc Tổng Thể Hệ Thống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904993" y="1913001"/>
            <a:ext cx="12478015" cy="34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14"/>
              </a:lnSpc>
              <a:spcBef>
                <a:spcPct val="0"/>
              </a:spcBef>
            </a:pPr>
            <a:r>
              <a:rPr lang="en-US" sz="2010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Hệ thống AURA được tổ chức thành bốn lớp rõ ràng, phân tách trách nhiệm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80496" y="8441578"/>
            <a:ext cx="2848994" cy="79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4"/>
              </a:lnSpc>
              <a:spcBef>
                <a:spcPct val="0"/>
              </a:spcBef>
            </a:pPr>
            <a:r>
              <a:rPr lang="en-US" sz="1531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ProductGrid, ProductCard, CopilotDrawer — giao diện tương tác người dùng.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656452" y="8441578"/>
            <a:ext cx="2848994" cy="79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4"/>
              </a:lnSpc>
              <a:spcBef>
                <a:spcPct val="0"/>
              </a:spcBef>
            </a:pPr>
            <a:r>
              <a:rPr lang="en-US" sz="1531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FastAPI, Pydantic — xử lý request, validate dữ liệu, định tuyến API.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782554" y="8441578"/>
            <a:ext cx="2848994" cy="79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4"/>
              </a:lnSpc>
              <a:spcBef>
                <a:spcPct val="0"/>
              </a:spcBef>
            </a:pPr>
            <a:r>
              <a:rPr lang="en-US" sz="1531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Intent Router, QueryFrame, Resolver, Verifier, Contract, Trace — điều phối AI workflow.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908657" y="8441578"/>
            <a:ext cx="2848994" cy="79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4"/>
              </a:lnSpc>
              <a:spcBef>
                <a:spcPct val="0"/>
              </a:spcBef>
            </a:pPr>
            <a:r>
              <a:rPr lang="en-US" sz="1531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Catalog sản phẩm công nghệ — nguồn dữ liệu chuẩn cho AI truy xuất.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80496" y="782439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Frontend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656452" y="782439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Backend API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782554" y="782439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AI Advisor Harness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908657" y="782439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 Layer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14565275" y="4841525"/>
            <a:ext cx="789509" cy="854678"/>
          </a:xfrm>
          <a:custGeom>
            <a:avLst/>
            <a:gdLst/>
            <a:ahLst/>
            <a:cxnLst/>
            <a:rect r="r" b="b" t="t" l="l"/>
            <a:pathLst>
              <a:path h="854678" w="789509">
                <a:moveTo>
                  <a:pt x="0" y="0"/>
                </a:moveTo>
                <a:lnTo>
                  <a:pt x="789509" y="0"/>
                </a:lnTo>
                <a:lnTo>
                  <a:pt x="789509" y="854678"/>
                </a:lnTo>
                <a:lnTo>
                  <a:pt x="0" y="8546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9020175"/>
            <a:ext cx="16230600" cy="0"/>
          </a:xfrm>
          <a:prstGeom prst="line">
            <a:avLst/>
          </a:prstGeom>
          <a:ln cap="flat" w="19050">
            <a:solidFill>
              <a:srgbClr val="C6C6CF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333625" y="8782050"/>
            <a:ext cx="476250" cy="47625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5889" lIns="45889" bIns="45889" rIns="45889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99400" y="3334382"/>
            <a:ext cx="2144700" cy="1012610"/>
            <a:chOff x="0" y="0"/>
            <a:chExt cx="564859" cy="2666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4859" cy="266696"/>
            </a:xfrm>
            <a:custGeom>
              <a:avLst/>
              <a:gdLst/>
              <a:ahLst/>
              <a:cxnLst/>
              <a:rect r="r" b="b" t="t" l="l"/>
              <a:pathLst>
                <a:path h="266696" w="564859">
                  <a:moveTo>
                    <a:pt x="104684" y="0"/>
                  </a:moveTo>
                  <a:lnTo>
                    <a:pt x="460175" y="0"/>
                  </a:lnTo>
                  <a:cubicBezTo>
                    <a:pt x="487939" y="0"/>
                    <a:pt x="514566" y="11029"/>
                    <a:pt x="534198" y="30661"/>
                  </a:cubicBezTo>
                  <a:cubicBezTo>
                    <a:pt x="553830" y="50293"/>
                    <a:pt x="564859" y="76920"/>
                    <a:pt x="564859" y="104684"/>
                  </a:cubicBezTo>
                  <a:lnTo>
                    <a:pt x="564859" y="162012"/>
                  </a:lnTo>
                  <a:cubicBezTo>
                    <a:pt x="564859" y="189776"/>
                    <a:pt x="553830" y="216402"/>
                    <a:pt x="534198" y="236034"/>
                  </a:cubicBezTo>
                  <a:cubicBezTo>
                    <a:pt x="514566" y="255666"/>
                    <a:pt x="487939" y="266696"/>
                    <a:pt x="460175" y="266696"/>
                  </a:cubicBezTo>
                  <a:lnTo>
                    <a:pt x="104684" y="266696"/>
                  </a:lnTo>
                  <a:cubicBezTo>
                    <a:pt x="76920" y="266696"/>
                    <a:pt x="50293" y="255666"/>
                    <a:pt x="30661" y="236034"/>
                  </a:cubicBezTo>
                  <a:cubicBezTo>
                    <a:pt x="11029" y="216402"/>
                    <a:pt x="0" y="189776"/>
                    <a:pt x="0" y="162012"/>
                  </a:cubicBezTo>
                  <a:lnTo>
                    <a:pt x="0" y="104684"/>
                  </a:lnTo>
                  <a:cubicBezTo>
                    <a:pt x="0" y="76920"/>
                    <a:pt x="11029" y="50293"/>
                    <a:pt x="30661" y="30661"/>
                  </a:cubicBezTo>
                  <a:cubicBezTo>
                    <a:pt x="50293" y="11029"/>
                    <a:pt x="76920" y="0"/>
                    <a:pt x="104684" y="0"/>
                  </a:cubicBez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64859" cy="314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85525" y="3334382"/>
            <a:ext cx="2144700" cy="1012610"/>
            <a:chOff x="0" y="0"/>
            <a:chExt cx="564859" cy="2666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4859" cy="266696"/>
            </a:xfrm>
            <a:custGeom>
              <a:avLst/>
              <a:gdLst/>
              <a:ahLst/>
              <a:cxnLst/>
              <a:rect r="r" b="b" t="t" l="l"/>
              <a:pathLst>
                <a:path h="266696" w="564859">
                  <a:moveTo>
                    <a:pt x="104684" y="0"/>
                  </a:moveTo>
                  <a:lnTo>
                    <a:pt x="460175" y="0"/>
                  </a:lnTo>
                  <a:cubicBezTo>
                    <a:pt x="487939" y="0"/>
                    <a:pt x="514566" y="11029"/>
                    <a:pt x="534198" y="30661"/>
                  </a:cubicBezTo>
                  <a:cubicBezTo>
                    <a:pt x="553830" y="50293"/>
                    <a:pt x="564859" y="76920"/>
                    <a:pt x="564859" y="104684"/>
                  </a:cubicBezTo>
                  <a:lnTo>
                    <a:pt x="564859" y="162012"/>
                  </a:lnTo>
                  <a:cubicBezTo>
                    <a:pt x="564859" y="189776"/>
                    <a:pt x="553830" y="216402"/>
                    <a:pt x="534198" y="236034"/>
                  </a:cubicBezTo>
                  <a:cubicBezTo>
                    <a:pt x="514566" y="255666"/>
                    <a:pt x="487939" y="266696"/>
                    <a:pt x="460175" y="266696"/>
                  </a:cubicBezTo>
                  <a:lnTo>
                    <a:pt x="104684" y="266696"/>
                  </a:lnTo>
                  <a:cubicBezTo>
                    <a:pt x="76920" y="266696"/>
                    <a:pt x="50293" y="255666"/>
                    <a:pt x="30661" y="236034"/>
                  </a:cubicBezTo>
                  <a:cubicBezTo>
                    <a:pt x="11029" y="216402"/>
                    <a:pt x="0" y="189776"/>
                    <a:pt x="0" y="162012"/>
                  </a:cubicBezTo>
                  <a:lnTo>
                    <a:pt x="0" y="104684"/>
                  </a:lnTo>
                  <a:cubicBezTo>
                    <a:pt x="0" y="76920"/>
                    <a:pt x="11029" y="50293"/>
                    <a:pt x="30661" y="30661"/>
                  </a:cubicBezTo>
                  <a:cubicBezTo>
                    <a:pt x="50293" y="11029"/>
                    <a:pt x="76920" y="0"/>
                    <a:pt x="104684" y="0"/>
                  </a:cubicBez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564859" cy="314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071650" y="3334382"/>
            <a:ext cx="2144700" cy="1012610"/>
            <a:chOff x="0" y="0"/>
            <a:chExt cx="564859" cy="2666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859" cy="266696"/>
            </a:xfrm>
            <a:custGeom>
              <a:avLst/>
              <a:gdLst/>
              <a:ahLst/>
              <a:cxnLst/>
              <a:rect r="r" b="b" t="t" l="l"/>
              <a:pathLst>
                <a:path h="266696" w="564859">
                  <a:moveTo>
                    <a:pt x="104684" y="0"/>
                  </a:moveTo>
                  <a:lnTo>
                    <a:pt x="460175" y="0"/>
                  </a:lnTo>
                  <a:cubicBezTo>
                    <a:pt x="487939" y="0"/>
                    <a:pt x="514566" y="11029"/>
                    <a:pt x="534198" y="30661"/>
                  </a:cubicBezTo>
                  <a:cubicBezTo>
                    <a:pt x="553830" y="50293"/>
                    <a:pt x="564859" y="76920"/>
                    <a:pt x="564859" y="104684"/>
                  </a:cubicBezTo>
                  <a:lnTo>
                    <a:pt x="564859" y="162012"/>
                  </a:lnTo>
                  <a:cubicBezTo>
                    <a:pt x="564859" y="189776"/>
                    <a:pt x="553830" y="216402"/>
                    <a:pt x="534198" y="236034"/>
                  </a:cubicBezTo>
                  <a:cubicBezTo>
                    <a:pt x="514566" y="255666"/>
                    <a:pt x="487939" y="266696"/>
                    <a:pt x="460175" y="266696"/>
                  </a:cubicBezTo>
                  <a:lnTo>
                    <a:pt x="104684" y="266696"/>
                  </a:lnTo>
                  <a:cubicBezTo>
                    <a:pt x="76920" y="266696"/>
                    <a:pt x="50293" y="255666"/>
                    <a:pt x="30661" y="236034"/>
                  </a:cubicBezTo>
                  <a:cubicBezTo>
                    <a:pt x="11029" y="216402"/>
                    <a:pt x="0" y="189776"/>
                    <a:pt x="0" y="162012"/>
                  </a:cubicBezTo>
                  <a:lnTo>
                    <a:pt x="0" y="104684"/>
                  </a:lnTo>
                  <a:cubicBezTo>
                    <a:pt x="0" y="76920"/>
                    <a:pt x="11029" y="50293"/>
                    <a:pt x="30661" y="30661"/>
                  </a:cubicBezTo>
                  <a:cubicBezTo>
                    <a:pt x="50293" y="11029"/>
                    <a:pt x="76920" y="0"/>
                    <a:pt x="104684" y="0"/>
                  </a:cubicBezTo>
                  <a:close/>
                </a:path>
              </a:pathLst>
            </a:custGeom>
            <a:solidFill>
              <a:srgbClr val="15C8F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64859" cy="314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357775" y="3334382"/>
            <a:ext cx="2144700" cy="1012610"/>
            <a:chOff x="0" y="0"/>
            <a:chExt cx="564859" cy="2666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4859" cy="266696"/>
            </a:xfrm>
            <a:custGeom>
              <a:avLst/>
              <a:gdLst/>
              <a:ahLst/>
              <a:cxnLst/>
              <a:rect r="r" b="b" t="t" l="l"/>
              <a:pathLst>
                <a:path h="266696" w="564859">
                  <a:moveTo>
                    <a:pt x="104684" y="0"/>
                  </a:moveTo>
                  <a:lnTo>
                    <a:pt x="460175" y="0"/>
                  </a:lnTo>
                  <a:cubicBezTo>
                    <a:pt x="487939" y="0"/>
                    <a:pt x="514566" y="11029"/>
                    <a:pt x="534198" y="30661"/>
                  </a:cubicBezTo>
                  <a:cubicBezTo>
                    <a:pt x="553830" y="50293"/>
                    <a:pt x="564859" y="76920"/>
                    <a:pt x="564859" y="104684"/>
                  </a:cubicBezTo>
                  <a:lnTo>
                    <a:pt x="564859" y="162012"/>
                  </a:lnTo>
                  <a:cubicBezTo>
                    <a:pt x="564859" y="189776"/>
                    <a:pt x="553830" y="216402"/>
                    <a:pt x="534198" y="236034"/>
                  </a:cubicBezTo>
                  <a:cubicBezTo>
                    <a:pt x="514566" y="255666"/>
                    <a:pt x="487939" y="266696"/>
                    <a:pt x="460175" y="266696"/>
                  </a:cubicBezTo>
                  <a:lnTo>
                    <a:pt x="104684" y="266696"/>
                  </a:lnTo>
                  <a:cubicBezTo>
                    <a:pt x="76920" y="266696"/>
                    <a:pt x="50293" y="255666"/>
                    <a:pt x="30661" y="236034"/>
                  </a:cubicBezTo>
                  <a:cubicBezTo>
                    <a:pt x="11029" y="216402"/>
                    <a:pt x="0" y="189776"/>
                    <a:pt x="0" y="162012"/>
                  </a:cubicBezTo>
                  <a:lnTo>
                    <a:pt x="0" y="104684"/>
                  </a:lnTo>
                  <a:cubicBezTo>
                    <a:pt x="0" y="76920"/>
                    <a:pt x="11029" y="50293"/>
                    <a:pt x="30661" y="30661"/>
                  </a:cubicBezTo>
                  <a:cubicBezTo>
                    <a:pt x="50293" y="11029"/>
                    <a:pt x="76920" y="0"/>
                    <a:pt x="104684" y="0"/>
                  </a:cubicBez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64859" cy="314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643900" y="3334382"/>
            <a:ext cx="2144700" cy="1012610"/>
            <a:chOff x="0" y="0"/>
            <a:chExt cx="564859" cy="2666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4859" cy="266696"/>
            </a:xfrm>
            <a:custGeom>
              <a:avLst/>
              <a:gdLst/>
              <a:ahLst/>
              <a:cxnLst/>
              <a:rect r="r" b="b" t="t" l="l"/>
              <a:pathLst>
                <a:path h="266696" w="564859">
                  <a:moveTo>
                    <a:pt x="104684" y="0"/>
                  </a:moveTo>
                  <a:lnTo>
                    <a:pt x="460175" y="0"/>
                  </a:lnTo>
                  <a:cubicBezTo>
                    <a:pt x="487939" y="0"/>
                    <a:pt x="514566" y="11029"/>
                    <a:pt x="534198" y="30661"/>
                  </a:cubicBezTo>
                  <a:cubicBezTo>
                    <a:pt x="553830" y="50293"/>
                    <a:pt x="564859" y="76920"/>
                    <a:pt x="564859" y="104684"/>
                  </a:cubicBezTo>
                  <a:lnTo>
                    <a:pt x="564859" y="162012"/>
                  </a:lnTo>
                  <a:cubicBezTo>
                    <a:pt x="564859" y="189776"/>
                    <a:pt x="553830" y="216402"/>
                    <a:pt x="534198" y="236034"/>
                  </a:cubicBezTo>
                  <a:cubicBezTo>
                    <a:pt x="514566" y="255666"/>
                    <a:pt x="487939" y="266696"/>
                    <a:pt x="460175" y="266696"/>
                  </a:cubicBezTo>
                  <a:lnTo>
                    <a:pt x="104684" y="266696"/>
                  </a:lnTo>
                  <a:cubicBezTo>
                    <a:pt x="76920" y="266696"/>
                    <a:pt x="50293" y="255666"/>
                    <a:pt x="30661" y="236034"/>
                  </a:cubicBezTo>
                  <a:cubicBezTo>
                    <a:pt x="11029" y="216402"/>
                    <a:pt x="0" y="189776"/>
                    <a:pt x="0" y="162012"/>
                  </a:cubicBezTo>
                  <a:lnTo>
                    <a:pt x="0" y="104684"/>
                  </a:lnTo>
                  <a:cubicBezTo>
                    <a:pt x="0" y="76920"/>
                    <a:pt x="11029" y="50293"/>
                    <a:pt x="30661" y="30661"/>
                  </a:cubicBezTo>
                  <a:cubicBezTo>
                    <a:pt x="50293" y="11029"/>
                    <a:pt x="76920" y="0"/>
                    <a:pt x="104684" y="0"/>
                  </a:cubicBez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564859" cy="314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3965992"/>
            <a:ext cx="3086100" cy="3216322"/>
            <a:chOff x="0" y="0"/>
            <a:chExt cx="812800" cy="8470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47097"/>
            </a:xfrm>
            <a:custGeom>
              <a:avLst/>
              <a:gdLst/>
              <a:ahLst/>
              <a:cxnLst/>
              <a:rect r="r" b="b" t="t" l="l"/>
              <a:pathLst>
                <a:path h="847097" w="812800">
                  <a:moveTo>
                    <a:pt x="72751" y="0"/>
                  </a:moveTo>
                  <a:lnTo>
                    <a:pt x="740049" y="0"/>
                  </a:lnTo>
                  <a:cubicBezTo>
                    <a:pt x="759344" y="0"/>
                    <a:pt x="777848" y="7665"/>
                    <a:pt x="791492" y="21308"/>
                  </a:cubicBezTo>
                  <a:cubicBezTo>
                    <a:pt x="805135" y="34952"/>
                    <a:pt x="812800" y="53456"/>
                    <a:pt x="812800" y="72751"/>
                  </a:cubicBezTo>
                  <a:lnTo>
                    <a:pt x="812800" y="774347"/>
                  </a:lnTo>
                  <a:cubicBezTo>
                    <a:pt x="812800" y="814526"/>
                    <a:pt x="780228" y="847097"/>
                    <a:pt x="740049" y="847097"/>
                  </a:cubicBezTo>
                  <a:lnTo>
                    <a:pt x="72751" y="847097"/>
                  </a:lnTo>
                  <a:cubicBezTo>
                    <a:pt x="53456" y="847097"/>
                    <a:pt x="34952" y="839432"/>
                    <a:pt x="21308" y="825789"/>
                  </a:cubicBezTo>
                  <a:cubicBezTo>
                    <a:pt x="7665" y="812146"/>
                    <a:pt x="0" y="793641"/>
                    <a:pt x="0" y="774347"/>
                  </a:cubicBezTo>
                  <a:lnTo>
                    <a:pt x="0" y="72751"/>
                  </a:lnTo>
                  <a:cubicBezTo>
                    <a:pt x="0" y="53456"/>
                    <a:pt x="7665" y="34952"/>
                    <a:pt x="21308" y="21308"/>
                  </a:cubicBezTo>
                  <a:cubicBezTo>
                    <a:pt x="34952" y="7665"/>
                    <a:pt x="53456" y="0"/>
                    <a:pt x="727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12800" cy="894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314825" y="3965992"/>
            <a:ext cx="3086100" cy="3216322"/>
            <a:chOff x="0" y="0"/>
            <a:chExt cx="812800" cy="8470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47097"/>
            </a:xfrm>
            <a:custGeom>
              <a:avLst/>
              <a:gdLst/>
              <a:ahLst/>
              <a:cxnLst/>
              <a:rect r="r" b="b" t="t" l="l"/>
              <a:pathLst>
                <a:path h="847097" w="812800">
                  <a:moveTo>
                    <a:pt x="72751" y="0"/>
                  </a:moveTo>
                  <a:lnTo>
                    <a:pt x="740049" y="0"/>
                  </a:lnTo>
                  <a:cubicBezTo>
                    <a:pt x="759344" y="0"/>
                    <a:pt x="777848" y="7665"/>
                    <a:pt x="791492" y="21308"/>
                  </a:cubicBezTo>
                  <a:cubicBezTo>
                    <a:pt x="805135" y="34952"/>
                    <a:pt x="812800" y="53456"/>
                    <a:pt x="812800" y="72751"/>
                  </a:cubicBezTo>
                  <a:lnTo>
                    <a:pt x="812800" y="774347"/>
                  </a:lnTo>
                  <a:cubicBezTo>
                    <a:pt x="812800" y="814526"/>
                    <a:pt x="780228" y="847097"/>
                    <a:pt x="740049" y="847097"/>
                  </a:cubicBezTo>
                  <a:lnTo>
                    <a:pt x="72751" y="847097"/>
                  </a:lnTo>
                  <a:cubicBezTo>
                    <a:pt x="53456" y="847097"/>
                    <a:pt x="34952" y="839432"/>
                    <a:pt x="21308" y="825789"/>
                  </a:cubicBezTo>
                  <a:cubicBezTo>
                    <a:pt x="7665" y="812146"/>
                    <a:pt x="0" y="793641"/>
                    <a:pt x="0" y="774347"/>
                  </a:cubicBezTo>
                  <a:lnTo>
                    <a:pt x="0" y="72751"/>
                  </a:lnTo>
                  <a:cubicBezTo>
                    <a:pt x="0" y="53456"/>
                    <a:pt x="7665" y="34952"/>
                    <a:pt x="21308" y="21308"/>
                  </a:cubicBezTo>
                  <a:cubicBezTo>
                    <a:pt x="34952" y="7665"/>
                    <a:pt x="53456" y="0"/>
                    <a:pt x="727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812800" cy="894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600950" y="3965992"/>
            <a:ext cx="3086100" cy="3216322"/>
            <a:chOff x="0" y="0"/>
            <a:chExt cx="812800" cy="8470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47097"/>
            </a:xfrm>
            <a:custGeom>
              <a:avLst/>
              <a:gdLst/>
              <a:ahLst/>
              <a:cxnLst/>
              <a:rect r="r" b="b" t="t" l="l"/>
              <a:pathLst>
                <a:path h="847097" w="812800">
                  <a:moveTo>
                    <a:pt x="72751" y="0"/>
                  </a:moveTo>
                  <a:lnTo>
                    <a:pt x="740049" y="0"/>
                  </a:lnTo>
                  <a:cubicBezTo>
                    <a:pt x="759344" y="0"/>
                    <a:pt x="777848" y="7665"/>
                    <a:pt x="791492" y="21308"/>
                  </a:cubicBezTo>
                  <a:cubicBezTo>
                    <a:pt x="805135" y="34952"/>
                    <a:pt x="812800" y="53456"/>
                    <a:pt x="812800" y="72751"/>
                  </a:cubicBezTo>
                  <a:lnTo>
                    <a:pt x="812800" y="774347"/>
                  </a:lnTo>
                  <a:cubicBezTo>
                    <a:pt x="812800" y="814526"/>
                    <a:pt x="780228" y="847097"/>
                    <a:pt x="740049" y="847097"/>
                  </a:cubicBezTo>
                  <a:lnTo>
                    <a:pt x="72751" y="847097"/>
                  </a:lnTo>
                  <a:cubicBezTo>
                    <a:pt x="53456" y="847097"/>
                    <a:pt x="34952" y="839432"/>
                    <a:pt x="21308" y="825789"/>
                  </a:cubicBezTo>
                  <a:cubicBezTo>
                    <a:pt x="7665" y="812146"/>
                    <a:pt x="0" y="793641"/>
                    <a:pt x="0" y="774347"/>
                  </a:cubicBezTo>
                  <a:lnTo>
                    <a:pt x="0" y="72751"/>
                  </a:lnTo>
                  <a:cubicBezTo>
                    <a:pt x="0" y="53456"/>
                    <a:pt x="7665" y="34952"/>
                    <a:pt x="21308" y="21308"/>
                  </a:cubicBezTo>
                  <a:cubicBezTo>
                    <a:pt x="34952" y="7665"/>
                    <a:pt x="53456" y="0"/>
                    <a:pt x="727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12800" cy="894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887075" y="3965992"/>
            <a:ext cx="3086100" cy="3216322"/>
            <a:chOff x="0" y="0"/>
            <a:chExt cx="812800" cy="8470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47097"/>
            </a:xfrm>
            <a:custGeom>
              <a:avLst/>
              <a:gdLst/>
              <a:ahLst/>
              <a:cxnLst/>
              <a:rect r="r" b="b" t="t" l="l"/>
              <a:pathLst>
                <a:path h="847097" w="812800">
                  <a:moveTo>
                    <a:pt x="72751" y="0"/>
                  </a:moveTo>
                  <a:lnTo>
                    <a:pt x="740049" y="0"/>
                  </a:lnTo>
                  <a:cubicBezTo>
                    <a:pt x="759344" y="0"/>
                    <a:pt x="777848" y="7665"/>
                    <a:pt x="791492" y="21308"/>
                  </a:cubicBezTo>
                  <a:cubicBezTo>
                    <a:pt x="805135" y="34952"/>
                    <a:pt x="812800" y="53456"/>
                    <a:pt x="812800" y="72751"/>
                  </a:cubicBezTo>
                  <a:lnTo>
                    <a:pt x="812800" y="774347"/>
                  </a:lnTo>
                  <a:cubicBezTo>
                    <a:pt x="812800" y="814526"/>
                    <a:pt x="780228" y="847097"/>
                    <a:pt x="740049" y="847097"/>
                  </a:cubicBezTo>
                  <a:lnTo>
                    <a:pt x="72751" y="847097"/>
                  </a:lnTo>
                  <a:cubicBezTo>
                    <a:pt x="53456" y="847097"/>
                    <a:pt x="34952" y="839432"/>
                    <a:pt x="21308" y="825789"/>
                  </a:cubicBezTo>
                  <a:cubicBezTo>
                    <a:pt x="7665" y="812146"/>
                    <a:pt x="0" y="793641"/>
                    <a:pt x="0" y="774347"/>
                  </a:cubicBezTo>
                  <a:lnTo>
                    <a:pt x="0" y="72751"/>
                  </a:lnTo>
                  <a:cubicBezTo>
                    <a:pt x="0" y="53456"/>
                    <a:pt x="7665" y="34952"/>
                    <a:pt x="21308" y="21308"/>
                  </a:cubicBezTo>
                  <a:cubicBezTo>
                    <a:pt x="34952" y="7665"/>
                    <a:pt x="53456" y="0"/>
                    <a:pt x="727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812800" cy="894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173200" y="3965992"/>
            <a:ext cx="3086100" cy="3216322"/>
            <a:chOff x="0" y="0"/>
            <a:chExt cx="812800" cy="84709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47097"/>
            </a:xfrm>
            <a:custGeom>
              <a:avLst/>
              <a:gdLst/>
              <a:ahLst/>
              <a:cxnLst/>
              <a:rect r="r" b="b" t="t" l="l"/>
              <a:pathLst>
                <a:path h="847097" w="812800">
                  <a:moveTo>
                    <a:pt x="72751" y="0"/>
                  </a:moveTo>
                  <a:lnTo>
                    <a:pt x="740049" y="0"/>
                  </a:lnTo>
                  <a:cubicBezTo>
                    <a:pt x="759344" y="0"/>
                    <a:pt x="777848" y="7665"/>
                    <a:pt x="791492" y="21308"/>
                  </a:cubicBezTo>
                  <a:cubicBezTo>
                    <a:pt x="805135" y="34952"/>
                    <a:pt x="812800" y="53456"/>
                    <a:pt x="812800" y="72751"/>
                  </a:cubicBezTo>
                  <a:lnTo>
                    <a:pt x="812800" y="774347"/>
                  </a:lnTo>
                  <a:cubicBezTo>
                    <a:pt x="812800" y="814526"/>
                    <a:pt x="780228" y="847097"/>
                    <a:pt x="740049" y="847097"/>
                  </a:cubicBezTo>
                  <a:lnTo>
                    <a:pt x="72751" y="847097"/>
                  </a:lnTo>
                  <a:cubicBezTo>
                    <a:pt x="53456" y="847097"/>
                    <a:pt x="34952" y="839432"/>
                    <a:pt x="21308" y="825789"/>
                  </a:cubicBezTo>
                  <a:cubicBezTo>
                    <a:pt x="7665" y="812146"/>
                    <a:pt x="0" y="793641"/>
                    <a:pt x="0" y="774347"/>
                  </a:cubicBezTo>
                  <a:lnTo>
                    <a:pt x="0" y="72751"/>
                  </a:lnTo>
                  <a:cubicBezTo>
                    <a:pt x="0" y="53456"/>
                    <a:pt x="7665" y="34952"/>
                    <a:pt x="21308" y="21308"/>
                  </a:cubicBezTo>
                  <a:cubicBezTo>
                    <a:pt x="34952" y="7665"/>
                    <a:pt x="53456" y="0"/>
                    <a:pt x="727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812800" cy="894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9400" y="7113276"/>
            <a:ext cx="2144700" cy="1031106"/>
            <a:chOff x="0" y="0"/>
            <a:chExt cx="660400" cy="317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298431"/>
                  </a:moveTo>
                  <a:cubicBezTo>
                    <a:pt x="254109" y="309945"/>
                    <a:pt x="292600" y="317500"/>
                    <a:pt x="330378" y="317500"/>
                  </a:cubicBezTo>
                  <a:cubicBezTo>
                    <a:pt x="368157" y="317500"/>
                    <a:pt x="404509" y="311023"/>
                    <a:pt x="438009" y="299509"/>
                  </a:cubicBezTo>
                  <a:cubicBezTo>
                    <a:pt x="438723" y="299150"/>
                    <a:pt x="439435" y="299150"/>
                    <a:pt x="440148" y="298790"/>
                  </a:cubicBezTo>
                  <a:cubicBezTo>
                    <a:pt x="565955" y="252735"/>
                    <a:pt x="658618" y="131121"/>
                    <a:pt x="660400" y="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1782" y="131840"/>
                    <a:pt x="93019" y="253455"/>
                    <a:pt x="220252" y="2984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60400" cy="238125"/>
            </a:xfrm>
            <a:prstGeom prst="rect">
              <a:avLst/>
            </a:prstGeom>
          </p:spPr>
          <p:txBody>
            <a:bodyPr anchor="ctr" rtlCol="false" tIns="47221" lIns="47221" bIns="47221" rIns="47221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731320" y="6231568"/>
            <a:ext cx="1680860" cy="1680860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7221" lIns="47221" bIns="47221" rIns="47221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AutoShape 42" id="42"/>
          <p:cNvSpPr/>
          <p:nvPr/>
        </p:nvSpPr>
        <p:spPr>
          <a:xfrm>
            <a:off x="2571750" y="8144382"/>
            <a:ext cx="0" cy="637668"/>
          </a:xfrm>
          <a:prstGeom prst="line">
            <a:avLst/>
          </a:prstGeom>
          <a:ln cap="flat" w="38100">
            <a:solidFill>
              <a:srgbClr val="BEF5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5619750" y="8782050"/>
            <a:ext cx="476250" cy="476250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5889" lIns="45889" bIns="45889" rIns="45889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785525" y="7113276"/>
            <a:ext cx="2144700" cy="1031106"/>
            <a:chOff x="0" y="0"/>
            <a:chExt cx="660400" cy="3175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298431"/>
                  </a:moveTo>
                  <a:cubicBezTo>
                    <a:pt x="254109" y="309945"/>
                    <a:pt x="292600" y="317500"/>
                    <a:pt x="330378" y="317500"/>
                  </a:cubicBezTo>
                  <a:cubicBezTo>
                    <a:pt x="368157" y="317500"/>
                    <a:pt x="404509" y="311023"/>
                    <a:pt x="438009" y="299509"/>
                  </a:cubicBezTo>
                  <a:cubicBezTo>
                    <a:pt x="438723" y="299150"/>
                    <a:pt x="439435" y="299150"/>
                    <a:pt x="440148" y="298790"/>
                  </a:cubicBezTo>
                  <a:cubicBezTo>
                    <a:pt x="565955" y="252735"/>
                    <a:pt x="658618" y="131121"/>
                    <a:pt x="660400" y="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1782" y="131840"/>
                    <a:pt x="93019" y="253455"/>
                    <a:pt x="220252" y="2984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660400" cy="238125"/>
            </a:xfrm>
            <a:prstGeom prst="rect">
              <a:avLst/>
            </a:prstGeom>
          </p:spPr>
          <p:txBody>
            <a:bodyPr anchor="ctr" rtlCol="false" tIns="47221" lIns="47221" bIns="47221" rIns="47221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017445" y="6231568"/>
            <a:ext cx="1680860" cy="1680860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7221" lIns="47221" bIns="47221" rIns="47221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AutoShape 52" id="52"/>
          <p:cNvSpPr/>
          <p:nvPr/>
        </p:nvSpPr>
        <p:spPr>
          <a:xfrm>
            <a:off x="5857875" y="8144382"/>
            <a:ext cx="0" cy="637668"/>
          </a:xfrm>
          <a:prstGeom prst="line">
            <a:avLst/>
          </a:prstGeom>
          <a:ln cap="flat" w="38100">
            <a:solidFill>
              <a:srgbClr val="7C46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8905875" y="8782050"/>
            <a:ext cx="476250" cy="476250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C8FE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5889" lIns="45889" bIns="45889" rIns="45889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071650" y="7113276"/>
            <a:ext cx="2144700" cy="1031106"/>
            <a:chOff x="0" y="0"/>
            <a:chExt cx="660400" cy="3175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298431"/>
                  </a:moveTo>
                  <a:cubicBezTo>
                    <a:pt x="254109" y="309945"/>
                    <a:pt x="292600" y="317500"/>
                    <a:pt x="330378" y="317500"/>
                  </a:cubicBezTo>
                  <a:cubicBezTo>
                    <a:pt x="368157" y="317500"/>
                    <a:pt x="404509" y="311023"/>
                    <a:pt x="438009" y="299509"/>
                  </a:cubicBezTo>
                  <a:cubicBezTo>
                    <a:pt x="438723" y="299150"/>
                    <a:pt x="439435" y="299150"/>
                    <a:pt x="440148" y="298790"/>
                  </a:cubicBezTo>
                  <a:cubicBezTo>
                    <a:pt x="565955" y="252735"/>
                    <a:pt x="658618" y="131121"/>
                    <a:pt x="660400" y="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1782" y="131840"/>
                    <a:pt x="93019" y="253455"/>
                    <a:pt x="220252" y="2984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660400" cy="238125"/>
            </a:xfrm>
            <a:prstGeom prst="rect">
              <a:avLst/>
            </a:prstGeom>
          </p:spPr>
          <p:txBody>
            <a:bodyPr anchor="ctr" rtlCol="false" tIns="47221" lIns="47221" bIns="47221" rIns="47221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303570" y="6231568"/>
            <a:ext cx="1680860" cy="1680860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C8FE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7221" lIns="47221" bIns="47221" rIns="47221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AutoShape 62" id="62"/>
          <p:cNvSpPr/>
          <p:nvPr/>
        </p:nvSpPr>
        <p:spPr>
          <a:xfrm>
            <a:off x="9144000" y="8144382"/>
            <a:ext cx="0" cy="637668"/>
          </a:xfrm>
          <a:prstGeom prst="line">
            <a:avLst/>
          </a:prstGeom>
          <a:ln cap="flat" w="38100">
            <a:solidFill>
              <a:srgbClr val="15C8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12192000" y="8782050"/>
            <a:ext cx="476250" cy="476250"/>
            <a:chOff x="0" y="0"/>
            <a:chExt cx="812800" cy="812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5889" lIns="45889" bIns="45889" rIns="45889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357775" y="7113276"/>
            <a:ext cx="2144700" cy="1031106"/>
            <a:chOff x="0" y="0"/>
            <a:chExt cx="660400" cy="3175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298431"/>
                  </a:moveTo>
                  <a:cubicBezTo>
                    <a:pt x="254109" y="309945"/>
                    <a:pt x="292600" y="317500"/>
                    <a:pt x="330378" y="317500"/>
                  </a:cubicBezTo>
                  <a:cubicBezTo>
                    <a:pt x="368157" y="317500"/>
                    <a:pt x="404509" y="311023"/>
                    <a:pt x="438009" y="299509"/>
                  </a:cubicBezTo>
                  <a:cubicBezTo>
                    <a:pt x="438723" y="299150"/>
                    <a:pt x="439435" y="299150"/>
                    <a:pt x="440148" y="298790"/>
                  </a:cubicBezTo>
                  <a:cubicBezTo>
                    <a:pt x="565955" y="252735"/>
                    <a:pt x="658618" y="131121"/>
                    <a:pt x="660400" y="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1782" y="131840"/>
                    <a:pt x="93019" y="253455"/>
                    <a:pt x="220252" y="2984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660400" cy="238125"/>
            </a:xfrm>
            <a:prstGeom prst="rect">
              <a:avLst/>
            </a:prstGeom>
          </p:spPr>
          <p:txBody>
            <a:bodyPr anchor="ctr" rtlCol="false" tIns="47221" lIns="47221" bIns="47221" rIns="47221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589695" y="6231568"/>
            <a:ext cx="1680860" cy="1680860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7221" lIns="47221" bIns="47221" rIns="47221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AutoShape 72" id="72"/>
          <p:cNvSpPr/>
          <p:nvPr/>
        </p:nvSpPr>
        <p:spPr>
          <a:xfrm>
            <a:off x="12430125" y="8144382"/>
            <a:ext cx="0" cy="637668"/>
          </a:xfrm>
          <a:prstGeom prst="line">
            <a:avLst/>
          </a:prstGeom>
          <a:ln cap="flat" w="38100">
            <a:solidFill>
              <a:srgbClr val="FB51A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3" id="73"/>
          <p:cNvGrpSpPr/>
          <p:nvPr/>
        </p:nvGrpSpPr>
        <p:grpSpPr>
          <a:xfrm rot="0">
            <a:off x="15478125" y="8782050"/>
            <a:ext cx="476250" cy="476250"/>
            <a:chOff x="0" y="0"/>
            <a:chExt cx="812800" cy="812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5889" lIns="45889" bIns="45889" rIns="45889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643900" y="7113276"/>
            <a:ext cx="2144700" cy="1031106"/>
            <a:chOff x="0" y="0"/>
            <a:chExt cx="660400" cy="3175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298431"/>
                  </a:moveTo>
                  <a:cubicBezTo>
                    <a:pt x="254109" y="309945"/>
                    <a:pt x="292600" y="317500"/>
                    <a:pt x="330378" y="317500"/>
                  </a:cubicBezTo>
                  <a:cubicBezTo>
                    <a:pt x="368157" y="317500"/>
                    <a:pt x="404509" y="311023"/>
                    <a:pt x="438009" y="299509"/>
                  </a:cubicBezTo>
                  <a:cubicBezTo>
                    <a:pt x="438723" y="299150"/>
                    <a:pt x="439435" y="299150"/>
                    <a:pt x="440148" y="298790"/>
                  </a:cubicBezTo>
                  <a:cubicBezTo>
                    <a:pt x="565955" y="252735"/>
                    <a:pt x="658618" y="131121"/>
                    <a:pt x="660400" y="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1782" y="131840"/>
                    <a:pt x="93019" y="253455"/>
                    <a:pt x="220252" y="2984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660400" cy="238125"/>
            </a:xfrm>
            <a:prstGeom prst="rect">
              <a:avLst/>
            </a:prstGeom>
          </p:spPr>
          <p:txBody>
            <a:bodyPr anchor="ctr" rtlCol="false" tIns="47221" lIns="47221" bIns="47221" rIns="47221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875820" y="6231568"/>
            <a:ext cx="1680860" cy="1680860"/>
            <a:chOff x="0" y="0"/>
            <a:chExt cx="812800" cy="812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7221" lIns="47221" bIns="47221" rIns="47221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AutoShape 82" id="82"/>
          <p:cNvSpPr/>
          <p:nvPr/>
        </p:nvSpPr>
        <p:spPr>
          <a:xfrm>
            <a:off x="15716250" y="8144382"/>
            <a:ext cx="0" cy="637668"/>
          </a:xfrm>
          <a:prstGeom prst="line">
            <a:avLst/>
          </a:prstGeom>
          <a:ln cap="flat" w="38100">
            <a:solidFill>
              <a:srgbClr val="FF87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3" id="83"/>
          <p:cNvSpPr/>
          <p:nvPr/>
        </p:nvSpPr>
        <p:spPr>
          <a:xfrm flipH="false" flipV="false" rot="0">
            <a:off x="2138406" y="6716297"/>
            <a:ext cx="812076" cy="717978"/>
          </a:xfrm>
          <a:custGeom>
            <a:avLst/>
            <a:gdLst/>
            <a:ahLst/>
            <a:cxnLst/>
            <a:rect r="r" b="b" t="t" l="l"/>
            <a:pathLst>
              <a:path h="717978" w="812076">
                <a:moveTo>
                  <a:pt x="0" y="0"/>
                </a:moveTo>
                <a:lnTo>
                  <a:pt x="812076" y="0"/>
                </a:lnTo>
                <a:lnTo>
                  <a:pt x="812076" y="717978"/>
                </a:lnTo>
                <a:lnTo>
                  <a:pt x="0" y="717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4" id="84"/>
          <p:cNvSpPr/>
          <p:nvPr/>
        </p:nvSpPr>
        <p:spPr>
          <a:xfrm flipH="false" flipV="false" rot="0">
            <a:off x="5532142" y="6716034"/>
            <a:ext cx="648792" cy="643076"/>
          </a:xfrm>
          <a:custGeom>
            <a:avLst/>
            <a:gdLst/>
            <a:ahLst/>
            <a:cxnLst/>
            <a:rect r="r" b="b" t="t" l="l"/>
            <a:pathLst>
              <a:path h="643076" w="648792">
                <a:moveTo>
                  <a:pt x="0" y="0"/>
                </a:moveTo>
                <a:lnTo>
                  <a:pt x="648792" y="0"/>
                </a:lnTo>
                <a:lnTo>
                  <a:pt x="648792" y="643076"/>
                </a:lnTo>
                <a:lnTo>
                  <a:pt x="0" y="643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5" id="85"/>
          <p:cNvSpPr/>
          <p:nvPr/>
        </p:nvSpPr>
        <p:spPr>
          <a:xfrm flipH="false" flipV="false" rot="0">
            <a:off x="8732901" y="6734378"/>
            <a:ext cx="855579" cy="721309"/>
          </a:xfrm>
          <a:custGeom>
            <a:avLst/>
            <a:gdLst/>
            <a:ahLst/>
            <a:cxnLst/>
            <a:rect r="r" b="b" t="t" l="l"/>
            <a:pathLst>
              <a:path h="721309" w="855579">
                <a:moveTo>
                  <a:pt x="0" y="0"/>
                </a:moveTo>
                <a:lnTo>
                  <a:pt x="855579" y="0"/>
                </a:lnTo>
                <a:lnTo>
                  <a:pt x="855579" y="721310"/>
                </a:lnTo>
                <a:lnTo>
                  <a:pt x="0" y="721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6" id="86"/>
          <p:cNvSpPr/>
          <p:nvPr/>
        </p:nvSpPr>
        <p:spPr>
          <a:xfrm flipH="false" flipV="false" rot="0">
            <a:off x="12047928" y="6584941"/>
            <a:ext cx="763766" cy="991878"/>
          </a:xfrm>
          <a:custGeom>
            <a:avLst/>
            <a:gdLst/>
            <a:ahLst/>
            <a:cxnLst/>
            <a:rect r="r" b="b" t="t" l="l"/>
            <a:pathLst>
              <a:path h="991878" w="763766">
                <a:moveTo>
                  <a:pt x="0" y="0"/>
                </a:moveTo>
                <a:lnTo>
                  <a:pt x="763766" y="0"/>
                </a:lnTo>
                <a:lnTo>
                  <a:pt x="763766" y="991878"/>
                </a:lnTo>
                <a:lnTo>
                  <a:pt x="0" y="9918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7" id="87"/>
          <p:cNvSpPr/>
          <p:nvPr/>
        </p:nvSpPr>
        <p:spPr>
          <a:xfrm flipH="false" flipV="false" rot="0">
            <a:off x="15423330" y="6720494"/>
            <a:ext cx="625135" cy="761644"/>
          </a:xfrm>
          <a:custGeom>
            <a:avLst/>
            <a:gdLst/>
            <a:ahLst/>
            <a:cxnLst/>
            <a:rect r="r" b="b" t="t" l="l"/>
            <a:pathLst>
              <a:path h="761644" w="625135">
                <a:moveTo>
                  <a:pt x="0" y="0"/>
                </a:moveTo>
                <a:lnTo>
                  <a:pt x="625135" y="0"/>
                </a:lnTo>
                <a:lnTo>
                  <a:pt x="625135" y="761644"/>
                </a:lnTo>
                <a:lnTo>
                  <a:pt x="0" y="761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8" id="88"/>
          <p:cNvSpPr txBox="true"/>
          <p:nvPr/>
        </p:nvSpPr>
        <p:spPr>
          <a:xfrm rot="0">
            <a:off x="1859501" y="3484414"/>
            <a:ext cx="1424497" cy="30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  <a:spcBef>
                <a:spcPct val="0"/>
              </a:spcBef>
            </a:pPr>
            <a:r>
              <a:rPr lang="en-US" b="true" sz="180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Bước 1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5145626" y="3484414"/>
            <a:ext cx="1424497" cy="30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  <a:spcBef>
                <a:spcPct val="0"/>
              </a:spcBef>
            </a:pPr>
            <a:r>
              <a:rPr lang="en-US" b="true" sz="180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Bước 2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8431751" y="3484414"/>
            <a:ext cx="1424497" cy="30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  <a:spcBef>
                <a:spcPct val="0"/>
              </a:spcBef>
            </a:pPr>
            <a:r>
              <a:rPr lang="en-US" b="true" sz="180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Bước 3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1717876" y="3484414"/>
            <a:ext cx="1424497" cy="30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  <a:spcBef>
                <a:spcPct val="0"/>
              </a:spcBef>
            </a:pPr>
            <a:r>
              <a:rPr lang="en-US" b="true" sz="180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Bước 4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5004001" y="3484414"/>
            <a:ext cx="1424497" cy="30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  <a:spcBef>
                <a:spcPct val="0"/>
              </a:spcBef>
            </a:pPr>
            <a:r>
              <a:rPr lang="en-US" b="true" sz="180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Bước 5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482616" y="5245665"/>
            <a:ext cx="2178269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Phân loại câu hỏi người dùng, xác định ý định và loại truy vấn sản phẩm.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4768741" y="5036115"/>
            <a:ext cx="2178269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Chuyển ngôn ngữ tự nhiên thành structured query: category, brand, budget, use_case.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482616" y="4491853"/>
            <a:ext cx="2178269" cy="30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  <a:spcBef>
                <a:spcPct val="0"/>
              </a:spcBef>
            </a:pPr>
            <a:r>
              <a:rPr lang="en-US" b="true" sz="180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Intent Router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4768741" y="4491853"/>
            <a:ext cx="2178269" cy="30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  <a:spcBef>
                <a:spcPct val="0"/>
              </a:spcBef>
            </a:pPr>
            <a:r>
              <a:rPr lang="en-US" b="true" sz="180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QueryFrame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8054866" y="5245665"/>
            <a:ext cx="2178269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Truy xuất sản phẩm từ catalog, xử lý tham chiếu hội thoại nhiều lượt.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8054866" y="4491853"/>
            <a:ext cx="2178269" cy="30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  <a:spcBef>
                <a:spcPct val="0"/>
              </a:spcBef>
            </a:pPr>
            <a:r>
              <a:rPr lang="en-US" b="true" sz="180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ProductResolver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1340991" y="5245665"/>
            <a:ext cx="2178269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Kiểm chứng claim AI, chặn thông tin sai lệch trước khi hiển thị kết quả.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1340991" y="4491853"/>
            <a:ext cx="2178269" cy="30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  <a:spcBef>
                <a:spcPct val="0"/>
              </a:spcBef>
            </a:pPr>
            <a:r>
              <a:rPr lang="en-US" b="true" sz="180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Evidence &amp; Verifier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4627116" y="5245665"/>
            <a:ext cx="2178269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Trả về dữ liệu có cấu trúc, đồng bộ answer_text với product cards trên UI.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4627116" y="4491853"/>
            <a:ext cx="2178269" cy="30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  <a:spcBef>
                <a:spcPct val="0"/>
              </a:spcBef>
            </a:pPr>
            <a:r>
              <a:rPr lang="en-US" b="true" sz="180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Response Contract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3209467" y="942975"/>
            <a:ext cx="11869067" cy="7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  <a:spcBef>
                <a:spcPct val="0"/>
              </a:spcBef>
            </a:pPr>
            <a:r>
              <a:rPr lang="en-US" b="true" sz="449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Luồng Xử Lý AI Advisor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2904993" y="1922526"/>
            <a:ext cx="12478015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4"/>
              </a:lnSpc>
              <a:spcBef>
                <a:spcPct val="0"/>
              </a:spcBef>
            </a:pPr>
            <a:r>
              <a:rPr lang="en-US" sz="1575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Pipeline kiểm soát chặt chẽ từ câu hỏi người dùng đến kết quả đồng bộ UI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53352" y="3514669"/>
            <a:ext cx="12765603" cy="3614162"/>
            <a:chOff x="0" y="0"/>
            <a:chExt cx="1777825" cy="503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7825" cy="503333"/>
            </a:xfrm>
            <a:custGeom>
              <a:avLst/>
              <a:gdLst/>
              <a:ahLst/>
              <a:cxnLst/>
              <a:rect r="r" b="b" t="t" l="l"/>
              <a:pathLst>
                <a:path h="503333" w="1777825">
                  <a:moveTo>
                    <a:pt x="60647" y="0"/>
                  </a:moveTo>
                  <a:lnTo>
                    <a:pt x="1717178" y="0"/>
                  </a:lnTo>
                  <a:cubicBezTo>
                    <a:pt x="1750672" y="0"/>
                    <a:pt x="1777825" y="27152"/>
                    <a:pt x="1777825" y="60647"/>
                  </a:cubicBezTo>
                  <a:lnTo>
                    <a:pt x="1777825" y="442686"/>
                  </a:lnTo>
                  <a:cubicBezTo>
                    <a:pt x="1777825" y="476180"/>
                    <a:pt x="1750672" y="503333"/>
                    <a:pt x="1717178" y="503333"/>
                  </a:cubicBezTo>
                  <a:lnTo>
                    <a:pt x="60647" y="503333"/>
                  </a:lnTo>
                  <a:cubicBezTo>
                    <a:pt x="27152" y="503333"/>
                    <a:pt x="0" y="476180"/>
                    <a:pt x="0" y="442686"/>
                  </a:cubicBezTo>
                  <a:lnTo>
                    <a:pt x="0" y="60647"/>
                  </a:lnTo>
                  <a:cubicBezTo>
                    <a:pt x="0" y="27152"/>
                    <a:pt x="27152" y="0"/>
                    <a:pt x="60647" y="0"/>
                  </a:cubicBezTo>
                  <a:close/>
                </a:path>
              </a:pathLst>
            </a:custGeom>
            <a:ln w="19050" cap="rnd">
              <a:solidFill>
                <a:srgbClr val="C6C6CF"/>
              </a:solidFill>
              <a:prstDash val="lg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77825" cy="550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0349" y="3514669"/>
            <a:ext cx="3614162" cy="361416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F522"/>
            </a:solidFill>
            <a:ln w="19050" cap="sq">
              <a:solidFill>
                <a:srgbClr val="C6C6CF"/>
              </a:solidFill>
              <a:prstDash val="lg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75405" y="4359726"/>
            <a:ext cx="1924048" cy="192404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43490" y="3514669"/>
            <a:ext cx="3614162" cy="361416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15"/>
            </a:solidFill>
            <a:ln w="19050" cap="sq">
              <a:solidFill>
                <a:srgbClr val="C6C6CF"/>
              </a:solidFill>
              <a:prstDash val="lgDash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988546" y="4359726"/>
            <a:ext cx="1924048" cy="192404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01396" y="3514669"/>
            <a:ext cx="3614162" cy="361416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46F8"/>
            </a:solidFill>
            <a:ln w="19050" cap="sq">
              <a:solidFill>
                <a:srgbClr val="C6C6CF"/>
              </a:solidFill>
              <a:prstDash val="lgDash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46452" y="4359726"/>
            <a:ext cx="1924048" cy="192404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72443" y="3514669"/>
            <a:ext cx="3614162" cy="361416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51A2"/>
            </a:solidFill>
            <a:ln w="19050" cap="sq">
              <a:solidFill>
                <a:srgbClr val="C6C6CF"/>
              </a:solidFill>
              <a:prstDash val="lg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117499" y="4359726"/>
            <a:ext cx="1924048" cy="192404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4501306" y="3404600"/>
            <a:ext cx="251587" cy="220139"/>
            <a:chOff x="0" y="0"/>
            <a:chExt cx="812800" cy="711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5636172" y="7017036"/>
            <a:ext cx="251587" cy="220139"/>
            <a:chOff x="0" y="0"/>
            <a:chExt cx="812800" cy="711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5400000">
            <a:off x="8395739" y="3404600"/>
            <a:ext cx="251587" cy="220139"/>
            <a:chOff x="0" y="0"/>
            <a:chExt cx="812800" cy="711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5400000">
            <a:off x="9507219" y="7017036"/>
            <a:ext cx="251587" cy="220139"/>
            <a:chOff x="0" y="0"/>
            <a:chExt cx="812800" cy="711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5400000">
            <a:off x="12290171" y="3404600"/>
            <a:ext cx="251587" cy="220139"/>
            <a:chOff x="0" y="0"/>
            <a:chExt cx="812800" cy="711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5400000">
            <a:off x="13488335" y="7017036"/>
            <a:ext cx="251587" cy="220139"/>
            <a:chOff x="0" y="0"/>
            <a:chExt cx="812800" cy="711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2625108" y="4634994"/>
            <a:ext cx="1477342" cy="1434784"/>
          </a:xfrm>
          <a:custGeom>
            <a:avLst/>
            <a:gdLst/>
            <a:ahLst/>
            <a:cxnLst/>
            <a:rect r="r" b="b" t="t" l="l"/>
            <a:pathLst>
              <a:path h="1434784" w="1477342">
                <a:moveTo>
                  <a:pt x="0" y="0"/>
                </a:moveTo>
                <a:lnTo>
                  <a:pt x="1477342" y="0"/>
                </a:lnTo>
                <a:lnTo>
                  <a:pt x="1477342" y="1434785"/>
                </a:lnTo>
                <a:lnTo>
                  <a:pt x="0" y="14347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6850191" y="4919882"/>
            <a:ext cx="716112" cy="824447"/>
          </a:xfrm>
          <a:custGeom>
            <a:avLst/>
            <a:gdLst/>
            <a:ahLst/>
            <a:cxnLst/>
            <a:rect r="r" b="b" t="t" l="l"/>
            <a:pathLst>
              <a:path h="824447" w="716112">
                <a:moveTo>
                  <a:pt x="0" y="0"/>
                </a:moveTo>
                <a:lnTo>
                  <a:pt x="716112" y="0"/>
                </a:lnTo>
                <a:lnTo>
                  <a:pt x="716112" y="824448"/>
                </a:lnTo>
                <a:lnTo>
                  <a:pt x="0" y="824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10654856" y="5032783"/>
            <a:ext cx="872037" cy="641432"/>
          </a:xfrm>
          <a:custGeom>
            <a:avLst/>
            <a:gdLst/>
            <a:ahLst/>
            <a:cxnLst/>
            <a:rect r="r" b="b" t="t" l="l"/>
            <a:pathLst>
              <a:path h="641432" w="872037">
                <a:moveTo>
                  <a:pt x="0" y="0"/>
                </a:moveTo>
                <a:lnTo>
                  <a:pt x="872037" y="0"/>
                </a:lnTo>
                <a:lnTo>
                  <a:pt x="872037" y="641432"/>
                </a:lnTo>
                <a:lnTo>
                  <a:pt x="0" y="641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0" id="50"/>
          <p:cNvSpPr txBox="true"/>
          <p:nvPr/>
        </p:nvSpPr>
        <p:spPr>
          <a:xfrm rot="0">
            <a:off x="3209467" y="942975"/>
            <a:ext cx="11869067" cy="7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  <a:spcBef>
                <a:spcPct val="0"/>
              </a:spcBef>
            </a:pPr>
            <a:r>
              <a:rPr lang="en-US" b="true" sz="4496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QueryFrame – Bộ lọc AI hóa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904993" y="1913001"/>
            <a:ext cx="12478015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"Laptop Dell dưới 20 triệu để học lập trình" → Truy vấn có cấu trúc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80496" y="8441578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= Laptop</a:t>
            </a:r>
          </a:p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Nhóm sản phẩm được xác định từ ngữ cảnh câu hỏi.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656452" y="8441578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= Dell</a:t>
            </a:r>
          </a:p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Thương hiệu được nhận diện từ tên gọi tự nhiên.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782554" y="8441578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= 20.000.000₫</a:t>
            </a:r>
          </a:p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Ngân sách tối đa trích xuất từ mô tả giá.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908657" y="8441578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= programming</a:t>
            </a:r>
          </a:p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Mục đích sử dụng suy luận từ ngữ cảnh người dùng.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80496" y="782439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category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656452" y="782439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brand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782554" y="782439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budget_max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908657" y="782439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use_case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14511277" y="4964493"/>
            <a:ext cx="878976" cy="611595"/>
          </a:xfrm>
          <a:custGeom>
            <a:avLst/>
            <a:gdLst/>
            <a:ahLst/>
            <a:cxnLst/>
            <a:rect r="r" b="b" t="t" l="l"/>
            <a:pathLst>
              <a:path h="611595" w="878976">
                <a:moveTo>
                  <a:pt x="0" y="0"/>
                </a:moveTo>
                <a:lnTo>
                  <a:pt x="878976" y="0"/>
                </a:lnTo>
                <a:lnTo>
                  <a:pt x="878976" y="611595"/>
                </a:lnTo>
                <a:lnTo>
                  <a:pt x="0" y="6115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53352" y="3514669"/>
            <a:ext cx="12765603" cy="3614162"/>
            <a:chOff x="0" y="0"/>
            <a:chExt cx="1777825" cy="503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7825" cy="503333"/>
            </a:xfrm>
            <a:custGeom>
              <a:avLst/>
              <a:gdLst/>
              <a:ahLst/>
              <a:cxnLst/>
              <a:rect r="r" b="b" t="t" l="l"/>
              <a:pathLst>
                <a:path h="503333" w="1777825">
                  <a:moveTo>
                    <a:pt x="60647" y="0"/>
                  </a:moveTo>
                  <a:lnTo>
                    <a:pt x="1717178" y="0"/>
                  </a:lnTo>
                  <a:cubicBezTo>
                    <a:pt x="1750672" y="0"/>
                    <a:pt x="1777825" y="27152"/>
                    <a:pt x="1777825" y="60647"/>
                  </a:cubicBezTo>
                  <a:lnTo>
                    <a:pt x="1777825" y="442686"/>
                  </a:lnTo>
                  <a:cubicBezTo>
                    <a:pt x="1777825" y="476180"/>
                    <a:pt x="1750672" y="503333"/>
                    <a:pt x="1717178" y="503333"/>
                  </a:cubicBezTo>
                  <a:lnTo>
                    <a:pt x="60647" y="503333"/>
                  </a:lnTo>
                  <a:cubicBezTo>
                    <a:pt x="27152" y="503333"/>
                    <a:pt x="0" y="476180"/>
                    <a:pt x="0" y="442686"/>
                  </a:cubicBezTo>
                  <a:lnTo>
                    <a:pt x="0" y="60647"/>
                  </a:lnTo>
                  <a:cubicBezTo>
                    <a:pt x="0" y="27152"/>
                    <a:pt x="27152" y="0"/>
                    <a:pt x="60647" y="0"/>
                  </a:cubicBezTo>
                  <a:close/>
                </a:path>
              </a:pathLst>
            </a:custGeom>
            <a:ln w="19050" cap="rnd">
              <a:solidFill>
                <a:srgbClr val="C6C6CF"/>
              </a:solidFill>
              <a:prstDash val="lg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77825" cy="550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0349" y="3514669"/>
            <a:ext cx="3614162" cy="361416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F522"/>
            </a:solidFill>
            <a:ln w="19050" cap="sq">
              <a:solidFill>
                <a:srgbClr val="C6C6CF"/>
              </a:solidFill>
              <a:prstDash val="lg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75405" y="4359726"/>
            <a:ext cx="1924048" cy="192404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43490" y="3514669"/>
            <a:ext cx="3614162" cy="361416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15"/>
            </a:solidFill>
            <a:ln w="19050" cap="sq">
              <a:solidFill>
                <a:srgbClr val="C6C6CF"/>
              </a:solidFill>
              <a:prstDash val="lgDash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988546" y="4359726"/>
            <a:ext cx="1924048" cy="192404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01396" y="3514669"/>
            <a:ext cx="3614162" cy="361416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46F8"/>
            </a:solidFill>
            <a:ln w="19050" cap="sq">
              <a:solidFill>
                <a:srgbClr val="C6C6CF"/>
              </a:solidFill>
              <a:prstDash val="lgDash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46452" y="4359726"/>
            <a:ext cx="1924048" cy="192404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72443" y="3514669"/>
            <a:ext cx="3614162" cy="361416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51A2"/>
            </a:solidFill>
            <a:ln w="19050" cap="sq">
              <a:solidFill>
                <a:srgbClr val="C6C6CF"/>
              </a:solidFill>
              <a:prstDash val="lg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117499" y="4359726"/>
            <a:ext cx="1924048" cy="192404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4501306" y="3404600"/>
            <a:ext cx="251587" cy="220139"/>
            <a:chOff x="0" y="0"/>
            <a:chExt cx="812800" cy="711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5636172" y="7017036"/>
            <a:ext cx="251587" cy="220139"/>
            <a:chOff x="0" y="0"/>
            <a:chExt cx="812800" cy="711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5400000">
            <a:off x="8395739" y="3404600"/>
            <a:ext cx="251587" cy="220139"/>
            <a:chOff x="0" y="0"/>
            <a:chExt cx="812800" cy="711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5400000">
            <a:off x="9507219" y="7017036"/>
            <a:ext cx="251587" cy="220139"/>
            <a:chOff x="0" y="0"/>
            <a:chExt cx="812800" cy="711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5400000">
            <a:off x="12290171" y="3404600"/>
            <a:ext cx="251587" cy="220139"/>
            <a:chOff x="0" y="0"/>
            <a:chExt cx="812800" cy="711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5400000">
            <a:off x="13488335" y="7017036"/>
            <a:ext cx="251587" cy="220139"/>
            <a:chOff x="0" y="0"/>
            <a:chExt cx="812800" cy="711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2982556" y="4952101"/>
            <a:ext cx="709003" cy="796684"/>
          </a:xfrm>
          <a:custGeom>
            <a:avLst/>
            <a:gdLst/>
            <a:ahLst/>
            <a:cxnLst/>
            <a:rect r="r" b="b" t="t" l="l"/>
            <a:pathLst>
              <a:path h="796684" w="709003">
                <a:moveTo>
                  <a:pt x="0" y="0"/>
                </a:moveTo>
                <a:lnTo>
                  <a:pt x="709003" y="0"/>
                </a:lnTo>
                <a:lnTo>
                  <a:pt x="709003" y="796684"/>
                </a:lnTo>
                <a:lnTo>
                  <a:pt x="0" y="796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6801939" y="4927369"/>
            <a:ext cx="813194" cy="788798"/>
          </a:xfrm>
          <a:custGeom>
            <a:avLst/>
            <a:gdLst/>
            <a:ahLst/>
            <a:cxnLst/>
            <a:rect r="r" b="b" t="t" l="l"/>
            <a:pathLst>
              <a:path h="788798" w="813194">
                <a:moveTo>
                  <a:pt x="0" y="0"/>
                </a:moveTo>
                <a:lnTo>
                  <a:pt x="813193" y="0"/>
                </a:lnTo>
                <a:lnTo>
                  <a:pt x="813193" y="788798"/>
                </a:lnTo>
                <a:lnTo>
                  <a:pt x="0" y="788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10618602" y="5011270"/>
            <a:ext cx="928230" cy="751497"/>
          </a:xfrm>
          <a:custGeom>
            <a:avLst/>
            <a:gdLst/>
            <a:ahLst/>
            <a:cxnLst/>
            <a:rect r="r" b="b" t="t" l="l"/>
            <a:pathLst>
              <a:path h="751497" w="928230">
                <a:moveTo>
                  <a:pt x="0" y="0"/>
                </a:moveTo>
                <a:lnTo>
                  <a:pt x="928230" y="0"/>
                </a:lnTo>
                <a:lnTo>
                  <a:pt x="928230" y="751497"/>
                </a:lnTo>
                <a:lnTo>
                  <a:pt x="0" y="7514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0" id="50"/>
          <p:cNvSpPr txBox="true"/>
          <p:nvPr/>
        </p:nvSpPr>
        <p:spPr>
          <a:xfrm rot="0">
            <a:off x="3209467" y="942975"/>
            <a:ext cx="11869067" cy="7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  <a:spcBef>
                <a:spcPct val="0"/>
              </a:spcBef>
            </a:pPr>
            <a:r>
              <a:rPr lang="en-US" b="true" sz="4496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AgentState &amp; ProductResolver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904993" y="1922526"/>
            <a:ext cx="12478015" cy="33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8"/>
              </a:lnSpc>
              <a:spcBef>
                <a:spcPct val="0"/>
              </a:spcBef>
            </a:pPr>
            <a:r>
              <a:rPr lang="en-US" sz="1977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Hiểu hội thoại nhiều lượt – giữ ngữ cảnh và ánh xạ tham chiếu sản phẩm chính xác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80496" y="8441578"/>
            <a:ext cx="2848994" cy="799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9"/>
              </a:lnSpc>
              <a:spcBef>
                <a:spcPct val="0"/>
              </a:spcBef>
            </a:pPr>
            <a:r>
              <a:rPr lang="en-US" sz="1506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AgentState lưu candidate_codes của sản phẩm trong phiên hội thoại hiện tại.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656452" y="8441578"/>
            <a:ext cx="2848994" cy="799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9"/>
              </a:lnSpc>
              <a:spcBef>
                <a:spcPct val="0"/>
              </a:spcBef>
            </a:pPr>
            <a:r>
              <a:rPr lang="en-US" sz="1506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Resolver xử lý tham chiếu như "mẫu thứ hai", "hai mẫu này" thay vì yêu cầu lại.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782554" y="8441578"/>
            <a:ext cx="2848994" cy="799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9"/>
              </a:lnSpc>
              <a:spcBef>
                <a:spcPct val="0"/>
              </a:spcBef>
            </a:pPr>
            <a:r>
              <a:rPr lang="en-US" sz="1506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Duy trì ngữ cảnh qua nhiều lượt hỏi, không trả lời độc lập từng câu.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908657" y="8441578"/>
            <a:ext cx="2848994" cy="799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9"/>
              </a:lnSpc>
              <a:spcBef>
                <a:spcPct val="0"/>
              </a:spcBef>
            </a:pPr>
            <a:r>
              <a:rPr lang="en-US" sz="1506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Ánh xạ tham chiếu ngôn ngữ tự nhiên sang product_code cụ thể trong catalog.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80496" y="782439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Lưu Trạng Thái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656452" y="782439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Xử Lý Tham Chiếu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782554" y="782439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Giữ Ngữ Cảnh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908657" y="782439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Resolver Mapping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14604192" y="4927706"/>
            <a:ext cx="693786" cy="699028"/>
          </a:xfrm>
          <a:custGeom>
            <a:avLst/>
            <a:gdLst/>
            <a:ahLst/>
            <a:cxnLst/>
            <a:rect r="r" b="b" t="t" l="l"/>
            <a:pathLst>
              <a:path h="699028" w="693786">
                <a:moveTo>
                  <a:pt x="0" y="0"/>
                </a:moveTo>
                <a:lnTo>
                  <a:pt x="693786" y="0"/>
                </a:lnTo>
                <a:lnTo>
                  <a:pt x="693786" y="699028"/>
                </a:lnTo>
                <a:lnTo>
                  <a:pt x="0" y="6990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594963" y="4846294"/>
            <a:ext cx="0" cy="3838538"/>
          </a:xfrm>
          <a:prstGeom prst="line">
            <a:avLst/>
          </a:prstGeom>
          <a:ln cap="flat" w="19050">
            <a:solidFill>
              <a:srgbClr val="BEF522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-10800000">
            <a:off x="1463070" y="4253378"/>
            <a:ext cx="2643741" cy="2303317"/>
            <a:chOff x="0" y="0"/>
            <a:chExt cx="93293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2930" cy="812800"/>
            </a:xfrm>
            <a:custGeom>
              <a:avLst/>
              <a:gdLst/>
              <a:ahLst/>
              <a:cxnLst/>
              <a:rect r="r" b="b" t="t" l="l"/>
              <a:pathLst>
                <a:path h="812800" w="93293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32930" y="203200"/>
                  </a:lnTo>
                  <a:lnTo>
                    <a:pt x="93293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165100"/>
              <a:ext cx="831330" cy="444500"/>
            </a:xfrm>
            <a:prstGeom prst="rect">
              <a:avLst/>
            </a:prstGeom>
          </p:spPr>
          <p:txBody>
            <a:bodyPr anchor="ctr" rtlCol="false" tIns="38116" lIns="38116" bIns="38116" rIns="38116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992702" y="4813340"/>
            <a:ext cx="1180047" cy="118004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85407" lIns="85407" bIns="85407" rIns="85407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 flipV="true">
            <a:off x="7942200" y="4846294"/>
            <a:ext cx="0" cy="3838538"/>
          </a:xfrm>
          <a:prstGeom prst="line">
            <a:avLst/>
          </a:prstGeom>
          <a:ln cap="flat" w="19050">
            <a:solidFill>
              <a:srgbClr val="15C8FE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-10800000">
            <a:off x="7810307" y="4253378"/>
            <a:ext cx="2643741" cy="2303317"/>
            <a:chOff x="0" y="0"/>
            <a:chExt cx="93293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930" cy="812800"/>
            </a:xfrm>
            <a:custGeom>
              <a:avLst/>
              <a:gdLst/>
              <a:ahLst/>
              <a:cxnLst/>
              <a:rect r="r" b="b" t="t" l="l"/>
              <a:pathLst>
                <a:path h="812800" w="93293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32930" y="203200"/>
                  </a:lnTo>
                  <a:lnTo>
                    <a:pt x="93293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15C8F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165100"/>
              <a:ext cx="831330" cy="444500"/>
            </a:xfrm>
            <a:prstGeom prst="rect">
              <a:avLst/>
            </a:prstGeom>
          </p:spPr>
          <p:txBody>
            <a:bodyPr anchor="ctr" rtlCol="false" tIns="38116" lIns="38116" bIns="38116" rIns="38116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7339939" y="4813340"/>
            <a:ext cx="1180047" cy="118004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85407" lIns="85407" bIns="85407" rIns="85407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6" id="16"/>
          <p:cNvSpPr/>
          <p:nvPr/>
        </p:nvSpPr>
        <p:spPr>
          <a:xfrm flipV="true">
            <a:off x="14289438" y="4846294"/>
            <a:ext cx="0" cy="3838538"/>
          </a:xfrm>
          <a:prstGeom prst="line">
            <a:avLst/>
          </a:prstGeom>
          <a:ln cap="flat" w="19050">
            <a:solidFill>
              <a:srgbClr val="FF8715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-10800000">
            <a:off x="14157545" y="4253378"/>
            <a:ext cx="2643741" cy="2303317"/>
            <a:chOff x="0" y="0"/>
            <a:chExt cx="93293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2930" cy="812800"/>
            </a:xfrm>
            <a:custGeom>
              <a:avLst/>
              <a:gdLst/>
              <a:ahLst/>
              <a:cxnLst/>
              <a:rect r="r" b="b" t="t" l="l"/>
              <a:pathLst>
                <a:path h="812800" w="93293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32930" y="203200"/>
                  </a:lnTo>
                  <a:lnTo>
                    <a:pt x="93293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165100"/>
              <a:ext cx="831330" cy="444500"/>
            </a:xfrm>
            <a:prstGeom prst="rect">
              <a:avLst/>
            </a:prstGeom>
          </p:spPr>
          <p:txBody>
            <a:bodyPr anchor="ctr" rtlCol="false" tIns="38116" lIns="38116" bIns="38116" rIns="38116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13687177" y="4813340"/>
            <a:ext cx="1180047" cy="118004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85407" lIns="85407" bIns="85407" rIns="85407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V="true">
            <a:off x="4758210" y="3044339"/>
            <a:ext cx="0" cy="3865213"/>
          </a:xfrm>
          <a:prstGeom prst="line">
            <a:avLst/>
          </a:prstGeom>
          <a:ln cap="flat" w="19050">
            <a:solidFill>
              <a:srgbClr val="7C46F8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24" id="24"/>
          <p:cNvGrpSpPr/>
          <p:nvPr/>
        </p:nvGrpSpPr>
        <p:grpSpPr>
          <a:xfrm rot="-10800000">
            <a:off x="4638554" y="5169543"/>
            <a:ext cx="2643741" cy="2303317"/>
            <a:chOff x="0" y="0"/>
            <a:chExt cx="93293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2930" cy="812800"/>
            </a:xfrm>
            <a:custGeom>
              <a:avLst/>
              <a:gdLst/>
              <a:ahLst/>
              <a:cxnLst/>
              <a:rect r="r" b="b" t="t" l="l"/>
              <a:pathLst>
                <a:path h="812800" w="93293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32930" y="203200"/>
                  </a:lnTo>
                  <a:lnTo>
                    <a:pt x="93293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165100"/>
              <a:ext cx="831330" cy="444500"/>
            </a:xfrm>
            <a:prstGeom prst="rect">
              <a:avLst/>
            </a:prstGeom>
          </p:spPr>
          <p:txBody>
            <a:bodyPr anchor="ctr" rtlCol="false" tIns="38116" lIns="38116" bIns="38116" rIns="38116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10800000">
            <a:off x="4168186" y="5729505"/>
            <a:ext cx="1180047" cy="118004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85407" lIns="85407" bIns="85407" rIns="85407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0" id="30"/>
          <p:cNvSpPr/>
          <p:nvPr/>
        </p:nvSpPr>
        <p:spPr>
          <a:xfrm flipV="true">
            <a:off x="11105447" y="3044339"/>
            <a:ext cx="0" cy="3865213"/>
          </a:xfrm>
          <a:prstGeom prst="line">
            <a:avLst/>
          </a:prstGeom>
          <a:ln cap="flat" w="19050">
            <a:solidFill>
              <a:srgbClr val="FB51A2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31" id="31"/>
          <p:cNvGrpSpPr/>
          <p:nvPr/>
        </p:nvGrpSpPr>
        <p:grpSpPr>
          <a:xfrm rot="-10800000">
            <a:off x="10985792" y="5169543"/>
            <a:ext cx="2643741" cy="2303317"/>
            <a:chOff x="0" y="0"/>
            <a:chExt cx="93293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2930" cy="812800"/>
            </a:xfrm>
            <a:custGeom>
              <a:avLst/>
              <a:gdLst/>
              <a:ahLst/>
              <a:cxnLst/>
              <a:rect r="r" b="b" t="t" l="l"/>
              <a:pathLst>
                <a:path h="812800" w="93293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32930" y="203200"/>
                  </a:lnTo>
                  <a:lnTo>
                    <a:pt x="93293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01600" y="165100"/>
              <a:ext cx="831330" cy="444500"/>
            </a:xfrm>
            <a:prstGeom prst="rect">
              <a:avLst/>
            </a:prstGeom>
          </p:spPr>
          <p:txBody>
            <a:bodyPr anchor="ctr" rtlCol="false" tIns="38116" lIns="38116" bIns="38116" rIns="38116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10800000">
            <a:off x="10515424" y="5729505"/>
            <a:ext cx="1180047" cy="1180047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85407" lIns="85407" bIns="85407" rIns="85407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4537877" y="6111253"/>
            <a:ext cx="440053" cy="443937"/>
          </a:xfrm>
          <a:custGeom>
            <a:avLst/>
            <a:gdLst/>
            <a:ahLst/>
            <a:cxnLst/>
            <a:rect r="r" b="b" t="t" l="l"/>
            <a:pathLst>
              <a:path h="443937" w="440053">
                <a:moveTo>
                  <a:pt x="0" y="0"/>
                </a:moveTo>
                <a:lnTo>
                  <a:pt x="440052" y="0"/>
                </a:lnTo>
                <a:lnTo>
                  <a:pt x="440052" y="443937"/>
                </a:lnTo>
                <a:lnTo>
                  <a:pt x="0" y="44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14040785" y="5084372"/>
            <a:ext cx="476250" cy="597031"/>
          </a:xfrm>
          <a:custGeom>
            <a:avLst/>
            <a:gdLst/>
            <a:ahLst/>
            <a:cxnLst/>
            <a:rect r="r" b="b" t="t" l="l"/>
            <a:pathLst>
              <a:path h="597031" w="476250">
                <a:moveTo>
                  <a:pt x="0" y="0"/>
                </a:moveTo>
                <a:lnTo>
                  <a:pt x="476250" y="0"/>
                </a:lnTo>
                <a:lnTo>
                  <a:pt x="476250" y="597031"/>
                </a:lnTo>
                <a:lnTo>
                  <a:pt x="0" y="5970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1348073" y="5212029"/>
            <a:ext cx="420181" cy="419656"/>
          </a:xfrm>
          <a:custGeom>
            <a:avLst/>
            <a:gdLst/>
            <a:ahLst/>
            <a:cxnLst/>
            <a:rect r="r" b="b" t="t" l="l"/>
            <a:pathLst>
              <a:path h="419656" w="420181">
                <a:moveTo>
                  <a:pt x="0" y="0"/>
                </a:moveTo>
                <a:lnTo>
                  <a:pt x="420181" y="0"/>
                </a:lnTo>
                <a:lnTo>
                  <a:pt x="420181" y="419655"/>
                </a:lnTo>
                <a:lnTo>
                  <a:pt x="0" y="419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7713498" y="5167610"/>
            <a:ext cx="433110" cy="430403"/>
          </a:xfrm>
          <a:custGeom>
            <a:avLst/>
            <a:gdLst/>
            <a:ahLst/>
            <a:cxnLst/>
            <a:rect r="r" b="b" t="t" l="l"/>
            <a:pathLst>
              <a:path h="430403" w="433110">
                <a:moveTo>
                  <a:pt x="0" y="0"/>
                </a:moveTo>
                <a:lnTo>
                  <a:pt x="433110" y="0"/>
                </a:lnTo>
                <a:lnTo>
                  <a:pt x="433110" y="430403"/>
                </a:lnTo>
                <a:lnTo>
                  <a:pt x="0" y="4304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10832712" y="6054035"/>
            <a:ext cx="544853" cy="532990"/>
          </a:xfrm>
          <a:custGeom>
            <a:avLst/>
            <a:gdLst/>
            <a:ahLst/>
            <a:cxnLst/>
            <a:rect r="r" b="b" t="t" l="l"/>
            <a:pathLst>
              <a:path h="532990" w="544853">
                <a:moveTo>
                  <a:pt x="0" y="0"/>
                </a:moveTo>
                <a:lnTo>
                  <a:pt x="544853" y="0"/>
                </a:lnTo>
                <a:lnTo>
                  <a:pt x="544853" y="532990"/>
                </a:lnTo>
                <a:lnTo>
                  <a:pt x="0" y="5329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2" id="42"/>
          <p:cNvSpPr txBox="true"/>
          <p:nvPr/>
        </p:nvSpPr>
        <p:spPr>
          <a:xfrm rot="0">
            <a:off x="1785463" y="8134848"/>
            <a:ext cx="2848994" cy="799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2"/>
              </a:lnSpc>
              <a:spcBef>
                <a:spcPct val="0"/>
              </a:spcBef>
            </a:pPr>
            <a:r>
              <a:rPr lang="en-US" sz="1523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Chặn lỗi: unsupported_claim, missing_field, constraint_mismatch.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85463" y="752470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Verifier Shield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132700" y="8134848"/>
            <a:ext cx="2848994" cy="53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2"/>
              </a:lnSpc>
              <a:spcBef>
                <a:spcPct val="0"/>
              </a:spcBef>
            </a:pPr>
            <a:r>
              <a:rPr lang="en-US" sz="1523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Đóng gói câu trả lời đã kiểm chứng kèm verification flag.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132700" y="7517176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Response Contract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479938" y="8134848"/>
            <a:ext cx="2848994" cy="53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2"/>
              </a:lnSpc>
              <a:spcBef>
                <a:spcPct val="0"/>
              </a:spcBef>
            </a:pPr>
            <a:r>
              <a:rPr lang="en-US" sz="1523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Hiển thị kết quả đồng bộ UI — chỉ thông tin đã xác thực.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479938" y="7517176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Approved Answer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948710" y="3625325"/>
            <a:ext cx="2857500" cy="53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2"/>
              </a:lnSpc>
              <a:spcBef>
                <a:spcPct val="0"/>
              </a:spcBef>
            </a:pPr>
            <a:r>
              <a:rPr lang="en-US" sz="1523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Thu thập dữ liệu: brand, price, specs từ catalog thực tế.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948710" y="2996714"/>
            <a:ext cx="2857500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Product Facts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295947" y="3625325"/>
            <a:ext cx="2857500" cy="53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2"/>
              </a:lnSpc>
              <a:spcBef>
                <a:spcPct val="0"/>
              </a:spcBef>
            </a:pPr>
            <a:r>
              <a:rPr lang="en-US" sz="1523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Ghi nhận bằng chứng có nguồn gốc rõ ràng cho từng claim.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261940" y="2996714"/>
            <a:ext cx="2857500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Evidence Ledger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209467" y="942975"/>
            <a:ext cx="11869067" cy="7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  <a:spcBef>
                <a:spcPct val="0"/>
              </a:spcBef>
            </a:pPr>
            <a:r>
              <a:rPr lang="en-US" b="true" sz="449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Evidence Ledger &amp; Verifier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904993" y="1913001"/>
            <a:ext cx="12478015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Lớp phản biện nội bộ — kiểm chứng mọi thông tin trước khi hiển thị cho người dùng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28029" y="3475273"/>
            <a:ext cx="5271334" cy="527133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C6C6CF"/>
              </a:solidFill>
              <a:prstDash val="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14826" y="2696795"/>
            <a:ext cx="1897739" cy="18977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9E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63017" lIns="63017" bIns="63017" rIns="63017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8223108" y="2814608"/>
            <a:ext cx="1681177" cy="883854"/>
            <a:chOff x="0" y="0"/>
            <a:chExt cx="660400" cy="3471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347196"/>
            </a:xfrm>
            <a:custGeom>
              <a:avLst/>
              <a:gdLst/>
              <a:ahLst/>
              <a:cxnLst/>
              <a:rect r="r" b="b" t="t" l="l"/>
              <a:pathLst>
                <a:path h="347196" w="660400">
                  <a:moveTo>
                    <a:pt x="220252" y="328127"/>
                  </a:moveTo>
                  <a:cubicBezTo>
                    <a:pt x="254109" y="339640"/>
                    <a:pt x="292600" y="347196"/>
                    <a:pt x="330378" y="347196"/>
                  </a:cubicBezTo>
                  <a:cubicBezTo>
                    <a:pt x="368157" y="347196"/>
                    <a:pt x="404509" y="340719"/>
                    <a:pt x="438009" y="329205"/>
                  </a:cubicBezTo>
                  <a:cubicBezTo>
                    <a:pt x="438723" y="328845"/>
                    <a:pt x="439435" y="328845"/>
                    <a:pt x="440148" y="328486"/>
                  </a:cubicBezTo>
                  <a:cubicBezTo>
                    <a:pt x="565955" y="282431"/>
                    <a:pt x="658618" y="160817"/>
                    <a:pt x="660400" y="2903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29014"/>
                  </a:lnTo>
                  <a:cubicBezTo>
                    <a:pt x="1782" y="161536"/>
                    <a:pt x="93019" y="283151"/>
                    <a:pt x="220252" y="328127"/>
                  </a:cubicBez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60400" cy="267821"/>
            </a:xfrm>
            <a:prstGeom prst="rect">
              <a:avLst/>
            </a:prstGeom>
          </p:spPr>
          <p:txBody>
            <a:bodyPr anchor="ctr" rtlCol="false" tIns="58801" lIns="58801" bIns="58801" rIns="58801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51469" y="3033437"/>
            <a:ext cx="1240843" cy="124084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127513" lIns="127513" bIns="127513" rIns="127513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8114826" y="7535624"/>
            <a:ext cx="1897739" cy="189773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9E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63017" lIns="63017" bIns="63017" rIns="63017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3108" y="8431697"/>
            <a:ext cx="1681177" cy="883854"/>
            <a:chOff x="0" y="0"/>
            <a:chExt cx="660400" cy="3471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0400" cy="347196"/>
            </a:xfrm>
            <a:custGeom>
              <a:avLst/>
              <a:gdLst/>
              <a:ahLst/>
              <a:cxnLst/>
              <a:rect r="r" b="b" t="t" l="l"/>
              <a:pathLst>
                <a:path h="347196" w="660400">
                  <a:moveTo>
                    <a:pt x="220252" y="328127"/>
                  </a:moveTo>
                  <a:cubicBezTo>
                    <a:pt x="254109" y="339640"/>
                    <a:pt x="292600" y="347196"/>
                    <a:pt x="330378" y="347196"/>
                  </a:cubicBezTo>
                  <a:cubicBezTo>
                    <a:pt x="368157" y="347196"/>
                    <a:pt x="404509" y="340719"/>
                    <a:pt x="438009" y="329205"/>
                  </a:cubicBezTo>
                  <a:cubicBezTo>
                    <a:pt x="438723" y="328845"/>
                    <a:pt x="439435" y="328845"/>
                    <a:pt x="440148" y="328486"/>
                  </a:cubicBezTo>
                  <a:cubicBezTo>
                    <a:pt x="565955" y="282431"/>
                    <a:pt x="658618" y="160817"/>
                    <a:pt x="660400" y="2903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29014"/>
                  </a:lnTo>
                  <a:cubicBezTo>
                    <a:pt x="1782" y="161536"/>
                    <a:pt x="93019" y="283151"/>
                    <a:pt x="220252" y="328127"/>
                  </a:cubicBez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60400" cy="267821"/>
            </a:xfrm>
            <a:prstGeom prst="rect">
              <a:avLst/>
            </a:prstGeom>
          </p:spPr>
          <p:txBody>
            <a:bodyPr anchor="ctr" rtlCol="false" tIns="58801" lIns="58801" bIns="58801" rIns="58801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451469" y="7872267"/>
            <a:ext cx="1240843" cy="124084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127513" lIns="127513" bIns="127513" rIns="127513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10101" y="3906502"/>
            <a:ext cx="1897739" cy="189773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9E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63017" lIns="63017" bIns="63017" rIns="63017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7200000">
            <a:off x="10655378" y="4218880"/>
            <a:ext cx="1681177" cy="883854"/>
            <a:chOff x="0" y="0"/>
            <a:chExt cx="660400" cy="3471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0400" cy="347196"/>
            </a:xfrm>
            <a:custGeom>
              <a:avLst/>
              <a:gdLst/>
              <a:ahLst/>
              <a:cxnLst/>
              <a:rect r="r" b="b" t="t" l="l"/>
              <a:pathLst>
                <a:path h="347196" w="660400">
                  <a:moveTo>
                    <a:pt x="220252" y="328127"/>
                  </a:moveTo>
                  <a:cubicBezTo>
                    <a:pt x="254109" y="339640"/>
                    <a:pt x="292600" y="347196"/>
                    <a:pt x="330378" y="347196"/>
                  </a:cubicBezTo>
                  <a:cubicBezTo>
                    <a:pt x="368157" y="347196"/>
                    <a:pt x="404509" y="340719"/>
                    <a:pt x="438009" y="329205"/>
                  </a:cubicBezTo>
                  <a:cubicBezTo>
                    <a:pt x="438723" y="328845"/>
                    <a:pt x="439435" y="328845"/>
                    <a:pt x="440148" y="328486"/>
                  </a:cubicBezTo>
                  <a:cubicBezTo>
                    <a:pt x="565955" y="282431"/>
                    <a:pt x="658618" y="160817"/>
                    <a:pt x="660400" y="2903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29014"/>
                  </a:lnTo>
                  <a:cubicBezTo>
                    <a:pt x="1782" y="161536"/>
                    <a:pt x="93019" y="283151"/>
                    <a:pt x="220252" y="328127"/>
                  </a:cubicBez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60400" cy="267821"/>
            </a:xfrm>
            <a:prstGeom prst="rect">
              <a:avLst/>
            </a:prstGeom>
          </p:spPr>
          <p:txBody>
            <a:bodyPr anchor="ctr" rtlCol="false" tIns="58801" lIns="58801" bIns="58801" rIns="58801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535549" y="4237950"/>
            <a:ext cx="1240843" cy="1240843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127513" lIns="127513" bIns="127513" rIns="127513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19552" y="6325917"/>
            <a:ext cx="1897739" cy="1897739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9E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63017" lIns="63017" bIns="63017" rIns="63017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3600000">
            <a:off x="5811825" y="7027425"/>
            <a:ext cx="1681177" cy="883854"/>
            <a:chOff x="0" y="0"/>
            <a:chExt cx="660400" cy="3471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60400" cy="347196"/>
            </a:xfrm>
            <a:custGeom>
              <a:avLst/>
              <a:gdLst/>
              <a:ahLst/>
              <a:cxnLst/>
              <a:rect r="r" b="b" t="t" l="l"/>
              <a:pathLst>
                <a:path h="347196" w="660400">
                  <a:moveTo>
                    <a:pt x="220252" y="328127"/>
                  </a:moveTo>
                  <a:cubicBezTo>
                    <a:pt x="254109" y="339640"/>
                    <a:pt x="292600" y="347196"/>
                    <a:pt x="330378" y="347196"/>
                  </a:cubicBezTo>
                  <a:cubicBezTo>
                    <a:pt x="368157" y="347196"/>
                    <a:pt x="404509" y="340719"/>
                    <a:pt x="438009" y="329205"/>
                  </a:cubicBezTo>
                  <a:cubicBezTo>
                    <a:pt x="438723" y="328845"/>
                    <a:pt x="439435" y="328845"/>
                    <a:pt x="440148" y="328486"/>
                  </a:cubicBezTo>
                  <a:cubicBezTo>
                    <a:pt x="565955" y="282431"/>
                    <a:pt x="658618" y="160817"/>
                    <a:pt x="660400" y="2903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29014"/>
                  </a:lnTo>
                  <a:cubicBezTo>
                    <a:pt x="1782" y="161536"/>
                    <a:pt x="93019" y="283151"/>
                    <a:pt x="220252" y="328127"/>
                  </a:cubicBez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60400" cy="267821"/>
            </a:xfrm>
            <a:prstGeom prst="rect">
              <a:avLst/>
            </a:prstGeom>
          </p:spPr>
          <p:txBody>
            <a:bodyPr anchor="ctr" rtlCol="false" tIns="58801" lIns="58801" bIns="58801" rIns="58801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345001" y="6665559"/>
            <a:ext cx="1240843" cy="1240843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127513" lIns="127513" bIns="127513" rIns="127513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210101" y="6325917"/>
            <a:ext cx="1897739" cy="1897739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9E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63017" lIns="63017" bIns="63017" rIns="63017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3599999">
            <a:off x="10655378" y="7027425"/>
            <a:ext cx="1681177" cy="883854"/>
            <a:chOff x="0" y="0"/>
            <a:chExt cx="660400" cy="3471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60400" cy="347196"/>
            </a:xfrm>
            <a:custGeom>
              <a:avLst/>
              <a:gdLst/>
              <a:ahLst/>
              <a:cxnLst/>
              <a:rect r="r" b="b" t="t" l="l"/>
              <a:pathLst>
                <a:path h="347196" w="660400">
                  <a:moveTo>
                    <a:pt x="220252" y="328127"/>
                  </a:moveTo>
                  <a:cubicBezTo>
                    <a:pt x="254109" y="339640"/>
                    <a:pt x="292600" y="347196"/>
                    <a:pt x="330378" y="347196"/>
                  </a:cubicBezTo>
                  <a:cubicBezTo>
                    <a:pt x="368157" y="347196"/>
                    <a:pt x="404509" y="340719"/>
                    <a:pt x="438009" y="329205"/>
                  </a:cubicBezTo>
                  <a:cubicBezTo>
                    <a:pt x="438723" y="328845"/>
                    <a:pt x="439435" y="328845"/>
                    <a:pt x="440148" y="328486"/>
                  </a:cubicBezTo>
                  <a:cubicBezTo>
                    <a:pt x="565955" y="282431"/>
                    <a:pt x="658618" y="160817"/>
                    <a:pt x="660400" y="2903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29014"/>
                  </a:lnTo>
                  <a:cubicBezTo>
                    <a:pt x="1782" y="161536"/>
                    <a:pt x="93019" y="283151"/>
                    <a:pt x="220252" y="328127"/>
                  </a:cubicBezTo>
                  <a:close/>
                </a:path>
              </a:pathLst>
            </a:custGeom>
            <a:solidFill>
              <a:srgbClr val="15C8FE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60400" cy="267821"/>
            </a:xfrm>
            <a:prstGeom prst="rect">
              <a:avLst/>
            </a:prstGeom>
          </p:spPr>
          <p:txBody>
            <a:bodyPr anchor="ctr" rtlCol="false" tIns="58801" lIns="58801" bIns="58801" rIns="58801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527355" y="6665559"/>
            <a:ext cx="1240843" cy="1240843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127513" lIns="127513" bIns="127513" rIns="127513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019552" y="3906502"/>
            <a:ext cx="1897739" cy="1897739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9E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63017" lIns="63017" bIns="63017" rIns="63017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7200000">
            <a:off x="5798013" y="4206949"/>
            <a:ext cx="1681177" cy="883854"/>
            <a:chOff x="0" y="0"/>
            <a:chExt cx="660400" cy="3471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60400" cy="347196"/>
            </a:xfrm>
            <a:custGeom>
              <a:avLst/>
              <a:gdLst/>
              <a:ahLst/>
              <a:cxnLst/>
              <a:rect r="r" b="b" t="t" l="l"/>
              <a:pathLst>
                <a:path h="347196" w="660400">
                  <a:moveTo>
                    <a:pt x="220252" y="328127"/>
                  </a:moveTo>
                  <a:cubicBezTo>
                    <a:pt x="254109" y="339640"/>
                    <a:pt x="292600" y="347196"/>
                    <a:pt x="330378" y="347196"/>
                  </a:cubicBezTo>
                  <a:cubicBezTo>
                    <a:pt x="368157" y="347196"/>
                    <a:pt x="404509" y="340719"/>
                    <a:pt x="438009" y="329205"/>
                  </a:cubicBezTo>
                  <a:cubicBezTo>
                    <a:pt x="438723" y="328845"/>
                    <a:pt x="439435" y="328845"/>
                    <a:pt x="440148" y="328486"/>
                  </a:cubicBezTo>
                  <a:cubicBezTo>
                    <a:pt x="565955" y="282431"/>
                    <a:pt x="658618" y="160817"/>
                    <a:pt x="660400" y="2903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29014"/>
                  </a:lnTo>
                  <a:cubicBezTo>
                    <a:pt x="1782" y="161536"/>
                    <a:pt x="93019" y="283151"/>
                    <a:pt x="220252" y="328127"/>
                  </a:cubicBezTo>
                  <a:close/>
                </a:path>
              </a:pathLst>
            </a:custGeom>
            <a:solidFill>
              <a:srgbClr val="A60BF1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60400" cy="267821"/>
            </a:xfrm>
            <a:prstGeom prst="rect">
              <a:avLst/>
            </a:prstGeom>
          </p:spPr>
          <p:txBody>
            <a:bodyPr anchor="ctr" rtlCol="false" tIns="58801" lIns="58801" bIns="58801" rIns="58801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336806" y="4218900"/>
            <a:ext cx="1240843" cy="1240843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127513" lIns="127513" bIns="127513" rIns="127513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-7057005">
            <a:off x="7706234" y="3721475"/>
            <a:ext cx="197011" cy="172385"/>
            <a:chOff x="0" y="0"/>
            <a:chExt cx="812800" cy="711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A60BF1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3600000">
            <a:off x="10228458" y="3754085"/>
            <a:ext cx="197011" cy="172385"/>
            <a:chOff x="0" y="0"/>
            <a:chExt cx="812800" cy="711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7200000">
            <a:off x="11563367" y="5944811"/>
            <a:ext cx="197011" cy="172385"/>
            <a:chOff x="0" y="0"/>
            <a:chExt cx="812800" cy="711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10800000">
            <a:off x="10317366" y="8245901"/>
            <a:ext cx="197011" cy="172385"/>
            <a:chOff x="0" y="0"/>
            <a:chExt cx="812800" cy="711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15C8FE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7199999">
            <a:off x="7628153" y="8245901"/>
            <a:ext cx="197011" cy="172385"/>
            <a:chOff x="0" y="0"/>
            <a:chExt cx="812800" cy="711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10800000">
            <a:off x="6344763" y="5959830"/>
            <a:ext cx="197011" cy="172385"/>
            <a:chOff x="0" y="0"/>
            <a:chExt cx="812800" cy="711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-5400000">
            <a:off x="1011940" y="3278339"/>
            <a:ext cx="268164" cy="234643"/>
            <a:chOff x="0" y="0"/>
            <a:chExt cx="812800" cy="711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A60BF1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-5400000">
            <a:off x="1011940" y="5647764"/>
            <a:ext cx="268164" cy="234643"/>
            <a:chOff x="0" y="0"/>
            <a:chExt cx="812800" cy="711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-5400000">
            <a:off x="1011940" y="8017188"/>
            <a:ext cx="268164" cy="234643"/>
            <a:chOff x="0" y="0"/>
            <a:chExt cx="812800" cy="7112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5400000">
            <a:off x="17007897" y="8017188"/>
            <a:ext cx="268164" cy="234643"/>
            <a:chOff x="0" y="0"/>
            <a:chExt cx="812800" cy="7112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15C8FE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5400000">
            <a:off x="17007897" y="5647764"/>
            <a:ext cx="268164" cy="234643"/>
            <a:chOff x="0" y="0"/>
            <a:chExt cx="812800" cy="7112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5400000">
            <a:off x="17007897" y="3278339"/>
            <a:ext cx="268164" cy="234643"/>
            <a:chOff x="0" y="0"/>
            <a:chExt cx="812800" cy="711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95" id="95"/>
          <p:cNvSpPr/>
          <p:nvPr/>
        </p:nvSpPr>
        <p:spPr>
          <a:xfrm flipH="false" flipV="false" rot="0">
            <a:off x="6647187" y="4607187"/>
            <a:ext cx="629226" cy="547494"/>
          </a:xfrm>
          <a:custGeom>
            <a:avLst/>
            <a:gdLst/>
            <a:ahLst/>
            <a:cxnLst/>
            <a:rect r="r" b="b" t="t" l="l"/>
            <a:pathLst>
              <a:path h="547494" w="629226">
                <a:moveTo>
                  <a:pt x="0" y="0"/>
                </a:moveTo>
                <a:lnTo>
                  <a:pt x="629226" y="0"/>
                </a:lnTo>
                <a:lnTo>
                  <a:pt x="629226" y="547494"/>
                </a:lnTo>
                <a:lnTo>
                  <a:pt x="0" y="547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6" id="96"/>
          <p:cNvSpPr/>
          <p:nvPr/>
        </p:nvSpPr>
        <p:spPr>
          <a:xfrm flipH="false" flipV="false" rot="0">
            <a:off x="8820514" y="3295783"/>
            <a:ext cx="500571" cy="645180"/>
          </a:xfrm>
          <a:custGeom>
            <a:avLst/>
            <a:gdLst/>
            <a:ahLst/>
            <a:cxnLst/>
            <a:rect r="r" b="b" t="t" l="l"/>
            <a:pathLst>
              <a:path h="645180" w="500571">
                <a:moveTo>
                  <a:pt x="0" y="0"/>
                </a:moveTo>
                <a:lnTo>
                  <a:pt x="500571" y="0"/>
                </a:lnTo>
                <a:lnTo>
                  <a:pt x="500571" y="645181"/>
                </a:lnTo>
                <a:lnTo>
                  <a:pt x="0" y="6451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8826365" y="8247163"/>
            <a:ext cx="491050" cy="491050"/>
          </a:xfrm>
          <a:custGeom>
            <a:avLst/>
            <a:gdLst/>
            <a:ahLst/>
            <a:cxnLst/>
            <a:rect r="r" b="b" t="t" l="l"/>
            <a:pathLst>
              <a:path h="491050" w="491050">
                <a:moveTo>
                  <a:pt x="0" y="0"/>
                </a:moveTo>
                <a:lnTo>
                  <a:pt x="491050" y="0"/>
                </a:lnTo>
                <a:lnTo>
                  <a:pt x="491050" y="491050"/>
                </a:lnTo>
                <a:lnTo>
                  <a:pt x="0" y="491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8" id="98"/>
          <p:cNvSpPr/>
          <p:nvPr/>
        </p:nvSpPr>
        <p:spPr>
          <a:xfrm flipH="false" flipV="false" rot="0">
            <a:off x="10929449" y="7012940"/>
            <a:ext cx="435515" cy="573159"/>
          </a:xfrm>
          <a:custGeom>
            <a:avLst/>
            <a:gdLst/>
            <a:ahLst/>
            <a:cxnLst/>
            <a:rect r="r" b="b" t="t" l="l"/>
            <a:pathLst>
              <a:path h="573159" w="435515">
                <a:moveTo>
                  <a:pt x="0" y="0"/>
                </a:moveTo>
                <a:lnTo>
                  <a:pt x="435515" y="0"/>
                </a:lnTo>
                <a:lnTo>
                  <a:pt x="435515" y="573159"/>
                </a:lnTo>
                <a:lnTo>
                  <a:pt x="0" y="573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9" id="99"/>
          <p:cNvSpPr/>
          <p:nvPr/>
        </p:nvSpPr>
        <p:spPr>
          <a:xfrm flipH="false" flipV="false" rot="0">
            <a:off x="10812726" y="4478433"/>
            <a:ext cx="692770" cy="586479"/>
          </a:xfrm>
          <a:custGeom>
            <a:avLst/>
            <a:gdLst/>
            <a:ahLst/>
            <a:cxnLst/>
            <a:rect r="r" b="b" t="t" l="l"/>
            <a:pathLst>
              <a:path h="586479" w="692770">
                <a:moveTo>
                  <a:pt x="0" y="0"/>
                </a:moveTo>
                <a:lnTo>
                  <a:pt x="692770" y="0"/>
                </a:lnTo>
                <a:lnTo>
                  <a:pt x="692770" y="586479"/>
                </a:lnTo>
                <a:lnTo>
                  <a:pt x="0" y="5864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0" id="100"/>
          <p:cNvSpPr/>
          <p:nvPr/>
        </p:nvSpPr>
        <p:spPr>
          <a:xfrm flipH="false" flipV="false" rot="0">
            <a:off x="6637565" y="6958123"/>
            <a:ext cx="655715" cy="655715"/>
          </a:xfrm>
          <a:custGeom>
            <a:avLst/>
            <a:gdLst/>
            <a:ahLst/>
            <a:cxnLst/>
            <a:rect r="r" b="b" t="t" l="l"/>
            <a:pathLst>
              <a:path h="655715" w="655715">
                <a:moveTo>
                  <a:pt x="0" y="0"/>
                </a:moveTo>
                <a:lnTo>
                  <a:pt x="655715" y="0"/>
                </a:lnTo>
                <a:lnTo>
                  <a:pt x="655715" y="655715"/>
                </a:lnTo>
                <a:lnTo>
                  <a:pt x="0" y="6557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1" id="101"/>
          <p:cNvSpPr txBox="true"/>
          <p:nvPr/>
        </p:nvSpPr>
        <p:spPr>
          <a:xfrm rot="0">
            <a:off x="1644343" y="3897384"/>
            <a:ext cx="2848994" cy="762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7"/>
              </a:lnSpc>
              <a:spcBef>
                <a:spcPct val="0"/>
              </a:spcBef>
            </a:pPr>
            <a:r>
              <a:rPr lang="en-US" sz="1498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Câu trả lời ngôn ngữ tự nhiên đã được kiểm chứng trước khi hiển thị.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644343" y="3213954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answer_text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644343" y="6185242"/>
            <a:ext cx="2848994" cy="762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7"/>
              </a:lnSpc>
              <a:spcBef>
                <a:spcPct val="0"/>
              </a:spcBef>
            </a:pPr>
            <a:r>
              <a:rPr lang="en-US" sz="14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Danh sách mã sản phẩm đồng bộ với ProductCard hiển thị trên UI.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644343" y="5583378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related_products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644343" y="8538524"/>
            <a:ext cx="2848994" cy="50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7"/>
              </a:lnSpc>
              <a:spcBef>
                <a:spcPct val="0"/>
              </a:spcBef>
            </a:pPr>
            <a:r>
              <a:rPr lang="en-US" sz="14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Các trường dữ liệu còn thiếu, AI báo rõ thay vì tự bịa thông số.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644343" y="7952802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missing_fields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3794663" y="8538524"/>
            <a:ext cx="2848994" cy="50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97"/>
              </a:lnSpc>
              <a:spcBef>
                <a:spcPct val="0"/>
              </a:spcBef>
            </a:pPr>
            <a:r>
              <a:rPr lang="en-US" sz="14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Ghi lại toàn bộ bước xử lý để debug, đánh giá và kiểm thử.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3794663" y="7952802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decision_trace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3794663" y="6185242"/>
            <a:ext cx="2848994" cy="50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97"/>
              </a:lnSpc>
              <a:spcBef>
                <a:spcPct val="0"/>
              </a:spcBef>
            </a:pPr>
            <a:r>
              <a:rPr lang="en-US" sz="14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Kết quả xác minh từ Verifier: passed, flagged hoặc blocked.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3794663" y="5583378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verification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3794663" y="3897384"/>
            <a:ext cx="2848994" cy="762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97"/>
              </a:lnSpc>
              <a:spcBef>
                <a:spcPct val="0"/>
              </a:spcBef>
            </a:pPr>
            <a:r>
              <a:rPr lang="en-US" sz="14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Thông số kỹ thuật được chọn lọc để hiển thị phù hợp ngữ cảnh hỏi.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3794663" y="3213954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display_specs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3209467" y="942975"/>
            <a:ext cx="11869067" cy="7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  <a:spcBef>
                <a:spcPct val="0"/>
              </a:spcBef>
            </a:pPr>
            <a:r>
              <a:rPr lang="en-US" b="true" sz="449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Response Contract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2904993" y="1913001"/>
            <a:ext cx="12478015" cy="34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3"/>
              </a:lnSpc>
              <a:spcBef>
                <a:spcPct val="0"/>
              </a:spcBef>
            </a:pPr>
            <a:r>
              <a:rPr lang="en-US" sz="1966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Cấu trúc dữ liệu đảm bảo đồng bộ giữa AI Advisor và giao diện người dùng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594963" y="4846294"/>
            <a:ext cx="0" cy="3838538"/>
          </a:xfrm>
          <a:prstGeom prst="line">
            <a:avLst/>
          </a:prstGeom>
          <a:ln cap="flat" w="19050">
            <a:solidFill>
              <a:srgbClr val="BEF522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-10800000">
            <a:off x="1463070" y="4253378"/>
            <a:ext cx="2643741" cy="2303317"/>
            <a:chOff x="0" y="0"/>
            <a:chExt cx="93293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2930" cy="812800"/>
            </a:xfrm>
            <a:custGeom>
              <a:avLst/>
              <a:gdLst/>
              <a:ahLst/>
              <a:cxnLst/>
              <a:rect r="r" b="b" t="t" l="l"/>
              <a:pathLst>
                <a:path h="812800" w="93293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32930" y="203200"/>
                  </a:lnTo>
                  <a:lnTo>
                    <a:pt x="93293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165100"/>
              <a:ext cx="831330" cy="444500"/>
            </a:xfrm>
            <a:prstGeom prst="rect">
              <a:avLst/>
            </a:prstGeom>
          </p:spPr>
          <p:txBody>
            <a:bodyPr anchor="ctr" rtlCol="false" tIns="38116" lIns="38116" bIns="38116" rIns="38116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992702" y="4813340"/>
            <a:ext cx="1180047" cy="118004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85407" lIns="85407" bIns="85407" rIns="85407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 flipV="true">
            <a:off x="7942200" y="4846294"/>
            <a:ext cx="0" cy="3838538"/>
          </a:xfrm>
          <a:prstGeom prst="line">
            <a:avLst/>
          </a:prstGeom>
          <a:ln cap="flat" w="19050">
            <a:solidFill>
              <a:srgbClr val="15C8FE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-10800000">
            <a:off x="7810307" y="4253378"/>
            <a:ext cx="2643741" cy="2303317"/>
            <a:chOff x="0" y="0"/>
            <a:chExt cx="93293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930" cy="812800"/>
            </a:xfrm>
            <a:custGeom>
              <a:avLst/>
              <a:gdLst/>
              <a:ahLst/>
              <a:cxnLst/>
              <a:rect r="r" b="b" t="t" l="l"/>
              <a:pathLst>
                <a:path h="812800" w="93293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32930" y="203200"/>
                  </a:lnTo>
                  <a:lnTo>
                    <a:pt x="93293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15C8F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165100"/>
              <a:ext cx="831330" cy="444500"/>
            </a:xfrm>
            <a:prstGeom prst="rect">
              <a:avLst/>
            </a:prstGeom>
          </p:spPr>
          <p:txBody>
            <a:bodyPr anchor="ctr" rtlCol="false" tIns="38116" lIns="38116" bIns="38116" rIns="38116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7339939" y="4813340"/>
            <a:ext cx="1180047" cy="118004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85407" lIns="85407" bIns="85407" rIns="85407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6" id="16"/>
          <p:cNvSpPr/>
          <p:nvPr/>
        </p:nvSpPr>
        <p:spPr>
          <a:xfrm flipV="true">
            <a:off x="14289438" y="4846294"/>
            <a:ext cx="0" cy="3838538"/>
          </a:xfrm>
          <a:prstGeom prst="line">
            <a:avLst/>
          </a:prstGeom>
          <a:ln cap="flat" w="19050">
            <a:solidFill>
              <a:srgbClr val="FF8715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-10800000">
            <a:off x="14157545" y="4253378"/>
            <a:ext cx="2643741" cy="2303317"/>
            <a:chOff x="0" y="0"/>
            <a:chExt cx="93293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2930" cy="812800"/>
            </a:xfrm>
            <a:custGeom>
              <a:avLst/>
              <a:gdLst/>
              <a:ahLst/>
              <a:cxnLst/>
              <a:rect r="r" b="b" t="t" l="l"/>
              <a:pathLst>
                <a:path h="812800" w="93293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32930" y="203200"/>
                  </a:lnTo>
                  <a:lnTo>
                    <a:pt x="93293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165100"/>
              <a:ext cx="831330" cy="444500"/>
            </a:xfrm>
            <a:prstGeom prst="rect">
              <a:avLst/>
            </a:prstGeom>
          </p:spPr>
          <p:txBody>
            <a:bodyPr anchor="ctr" rtlCol="false" tIns="38116" lIns="38116" bIns="38116" rIns="38116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13687177" y="4813340"/>
            <a:ext cx="1180047" cy="118004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85407" lIns="85407" bIns="85407" rIns="85407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V="true">
            <a:off x="4758210" y="3044339"/>
            <a:ext cx="0" cy="3865213"/>
          </a:xfrm>
          <a:prstGeom prst="line">
            <a:avLst/>
          </a:prstGeom>
          <a:ln cap="flat" w="19050">
            <a:solidFill>
              <a:srgbClr val="7C46F8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24" id="24"/>
          <p:cNvGrpSpPr/>
          <p:nvPr/>
        </p:nvGrpSpPr>
        <p:grpSpPr>
          <a:xfrm rot="-10800000">
            <a:off x="4638554" y="5169543"/>
            <a:ext cx="2643741" cy="2303317"/>
            <a:chOff x="0" y="0"/>
            <a:chExt cx="93293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2930" cy="812800"/>
            </a:xfrm>
            <a:custGeom>
              <a:avLst/>
              <a:gdLst/>
              <a:ahLst/>
              <a:cxnLst/>
              <a:rect r="r" b="b" t="t" l="l"/>
              <a:pathLst>
                <a:path h="812800" w="93293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32930" y="203200"/>
                  </a:lnTo>
                  <a:lnTo>
                    <a:pt x="93293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165100"/>
              <a:ext cx="831330" cy="444500"/>
            </a:xfrm>
            <a:prstGeom prst="rect">
              <a:avLst/>
            </a:prstGeom>
          </p:spPr>
          <p:txBody>
            <a:bodyPr anchor="ctr" rtlCol="false" tIns="38116" lIns="38116" bIns="38116" rIns="38116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10800000">
            <a:off x="4168186" y="5729505"/>
            <a:ext cx="1180047" cy="118004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85407" lIns="85407" bIns="85407" rIns="85407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0" id="30"/>
          <p:cNvSpPr/>
          <p:nvPr/>
        </p:nvSpPr>
        <p:spPr>
          <a:xfrm flipV="true">
            <a:off x="11105447" y="3044339"/>
            <a:ext cx="0" cy="3865213"/>
          </a:xfrm>
          <a:prstGeom prst="line">
            <a:avLst/>
          </a:prstGeom>
          <a:ln cap="flat" w="19050">
            <a:solidFill>
              <a:srgbClr val="FB51A2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31" id="31"/>
          <p:cNvGrpSpPr/>
          <p:nvPr/>
        </p:nvGrpSpPr>
        <p:grpSpPr>
          <a:xfrm rot="-10800000">
            <a:off x="10985792" y="5169543"/>
            <a:ext cx="2643741" cy="2303317"/>
            <a:chOff x="0" y="0"/>
            <a:chExt cx="93293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2930" cy="812800"/>
            </a:xfrm>
            <a:custGeom>
              <a:avLst/>
              <a:gdLst/>
              <a:ahLst/>
              <a:cxnLst/>
              <a:rect r="r" b="b" t="t" l="l"/>
              <a:pathLst>
                <a:path h="812800" w="93293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32930" y="203200"/>
                  </a:lnTo>
                  <a:lnTo>
                    <a:pt x="93293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01600" y="165100"/>
              <a:ext cx="831330" cy="444500"/>
            </a:xfrm>
            <a:prstGeom prst="rect">
              <a:avLst/>
            </a:prstGeom>
          </p:spPr>
          <p:txBody>
            <a:bodyPr anchor="ctr" rtlCol="false" tIns="38116" lIns="38116" bIns="38116" rIns="38116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10800000">
            <a:off x="10515424" y="5729505"/>
            <a:ext cx="1180047" cy="1180047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85407" lIns="85407" bIns="85407" rIns="85407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4544943" y="6094740"/>
            <a:ext cx="425988" cy="461843"/>
          </a:xfrm>
          <a:custGeom>
            <a:avLst/>
            <a:gdLst/>
            <a:ahLst/>
            <a:cxnLst/>
            <a:rect r="r" b="b" t="t" l="l"/>
            <a:pathLst>
              <a:path h="461843" w="425988">
                <a:moveTo>
                  <a:pt x="0" y="0"/>
                </a:moveTo>
                <a:lnTo>
                  <a:pt x="425989" y="0"/>
                </a:lnTo>
                <a:lnTo>
                  <a:pt x="425989" y="461843"/>
                </a:lnTo>
                <a:lnTo>
                  <a:pt x="0" y="4618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14099360" y="5176726"/>
            <a:ext cx="356931" cy="422507"/>
          </a:xfrm>
          <a:custGeom>
            <a:avLst/>
            <a:gdLst/>
            <a:ahLst/>
            <a:cxnLst/>
            <a:rect r="r" b="b" t="t" l="l"/>
            <a:pathLst>
              <a:path h="422507" w="356931">
                <a:moveTo>
                  <a:pt x="0" y="0"/>
                </a:moveTo>
                <a:lnTo>
                  <a:pt x="356931" y="0"/>
                </a:lnTo>
                <a:lnTo>
                  <a:pt x="356931" y="422507"/>
                </a:lnTo>
                <a:lnTo>
                  <a:pt x="0" y="422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1299481" y="5215121"/>
            <a:ext cx="518419" cy="456615"/>
          </a:xfrm>
          <a:custGeom>
            <a:avLst/>
            <a:gdLst/>
            <a:ahLst/>
            <a:cxnLst/>
            <a:rect r="r" b="b" t="t" l="l"/>
            <a:pathLst>
              <a:path h="456615" w="518419">
                <a:moveTo>
                  <a:pt x="0" y="0"/>
                </a:moveTo>
                <a:lnTo>
                  <a:pt x="518419" y="0"/>
                </a:lnTo>
                <a:lnTo>
                  <a:pt x="518419" y="456615"/>
                </a:lnTo>
                <a:lnTo>
                  <a:pt x="0" y="4566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7691064" y="5139163"/>
            <a:ext cx="476250" cy="488687"/>
          </a:xfrm>
          <a:custGeom>
            <a:avLst/>
            <a:gdLst/>
            <a:ahLst/>
            <a:cxnLst/>
            <a:rect r="r" b="b" t="t" l="l"/>
            <a:pathLst>
              <a:path h="488687" w="476250">
                <a:moveTo>
                  <a:pt x="0" y="0"/>
                </a:moveTo>
                <a:lnTo>
                  <a:pt x="476250" y="0"/>
                </a:lnTo>
                <a:lnTo>
                  <a:pt x="476250" y="488687"/>
                </a:lnTo>
                <a:lnTo>
                  <a:pt x="0" y="4886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10822707" y="6037656"/>
            <a:ext cx="565240" cy="567266"/>
          </a:xfrm>
          <a:custGeom>
            <a:avLst/>
            <a:gdLst/>
            <a:ahLst/>
            <a:cxnLst/>
            <a:rect r="r" b="b" t="t" l="l"/>
            <a:pathLst>
              <a:path h="567266" w="565240">
                <a:moveTo>
                  <a:pt x="0" y="0"/>
                </a:moveTo>
                <a:lnTo>
                  <a:pt x="565240" y="0"/>
                </a:lnTo>
                <a:lnTo>
                  <a:pt x="565240" y="567265"/>
                </a:lnTo>
                <a:lnTo>
                  <a:pt x="0" y="5672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2" id="42"/>
          <p:cNvSpPr txBox="true"/>
          <p:nvPr/>
        </p:nvSpPr>
        <p:spPr>
          <a:xfrm rot="0">
            <a:off x="1785463" y="8144373"/>
            <a:ext cx="2848994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/api/products, /api/chat, /health, /metrics — FastAPI + Pydantic.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85463" y="7524709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Backend API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132700" y="8144373"/>
            <a:ext cx="2848994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Intent Router, QueryFrame, Resolver, Verifier — pipeline kiểm soát AI.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132700" y="7517176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AI Core Layer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479938" y="8144373"/>
            <a:ext cx="2848994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Prototype kỹ thuật vững, kiểm thử đầy đủ, sẵn sàng mở rộng.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479938" y="7517176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Kết quả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948710" y="3531383"/>
            <a:ext cx="285750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ProductGrid, ProductCard, CopilotDrawer — giao diện tư vấn AI tích hợp.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948710" y="2996714"/>
            <a:ext cx="2857500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Frontend Layer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295947" y="3740933"/>
            <a:ext cx="2857500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Contract, catalog, resolver, verifier, scenario &amp; trace-level tests.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261940" y="2996714"/>
            <a:ext cx="2857500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Testing Suite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209467" y="942975"/>
            <a:ext cx="11869067" cy="7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  <a:spcBef>
                <a:spcPct val="0"/>
              </a:spcBef>
            </a:pPr>
            <a:r>
              <a:rPr lang="en-US" b="true" sz="449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Minh Chứng Cài Đặt &amp; Kiểm Thử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904993" y="1913001"/>
            <a:ext cx="12478015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Hệ thống được triển khai module hóa và kiểm thử đầy đủ theo từng lớp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7133" y="3277524"/>
            <a:ext cx="3754603" cy="5493869"/>
            <a:chOff x="0" y="0"/>
            <a:chExt cx="972917" cy="14236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2917" cy="1423607"/>
            </a:xfrm>
            <a:custGeom>
              <a:avLst/>
              <a:gdLst/>
              <a:ahLst/>
              <a:cxnLst/>
              <a:rect r="r" b="b" t="t" l="l"/>
              <a:pathLst>
                <a:path h="1423607" w="972917">
                  <a:moveTo>
                    <a:pt x="41240" y="0"/>
                  </a:moveTo>
                  <a:lnTo>
                    <a:pt x="931677" y="0"/>
                  </a:lnTo>
                  <a:cubicBezTo>
                    <a:pt x="954453" y="0"/>
                    <a:pt x="972917" y="18464"/>
                    <a:pt x="972917" y="41240"/>
                  </a:cubicBezTo>
                  <a:lnTo>
                    <a:pt x="972917" y="1382367"/>
                  </a:lnTo>
                  <a:cubicBezTo>
                    <a:pt x="972917" y="1405143"/>
                    <a:pt x="954453" y="1423607"/>
                    <a:pt x="931677" y="1423607"/>
                  </a:cubicBezTo>
                  <a:lnTo>
                    <a:pt x="41240" y="1423607"/>
                  </a:lnTo>
                  <a:cubicBezTo>
                    <a:pt x="18464" y="1423607"/>
                    <a:pt x="0" y="1405143"/>
                    <a:pt x="0" y="1382367"/>
                  </a:cubicBezTo>
                  <a:lnTo>
                    <a:pt x="0" y="41240"/>
                  </a:lnTo>
                  <a:cubicBezTo>
                    <a:pt x="0" y="18464"/>
                    <a:pt x="18464" y="0"/>
                    <a:pt x="412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72917" cy="1471232"/>
            </a:xfrm>
            <a:prstGeom prst="rect">
              <a:avLst/>
            </a:prstGeom>
          </p:spPr>
          <p:txBody>
            <a:bodyPr anchor="ctr" rtlCol="false" tIns="51633" lIns="51633" bIns="51633" rIns="51633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4203547" y="5148511"/>
            <a:ext cx="2179860" cy="1048009"/>
            <a:chOff x="0" y="0"/>
            <a:chExt cx="660400" cy="317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298431"/>
                  </a:moveTo>
                  <a:cubicBezTo>
                    <a:pt x="254109" y="309945"/>
                    <a:pt x="292600" y="317500"/>
                    <a:pt x="330378" y="317500"/>
                  </a:cubicBezTo>
                  <a:cubicBezTo>
                    <a:pt x="368157" y="317500"/>
                    <a:pt x="404509" y="311023"/>
                    <a:pt x="438009" y="299509"/>
                  </a:cubicBezTo>
                  <a:cubicBezTo>
                    <a:pt x="438723" y="299150"/>
                    <a:pt x="439435" y="299150"/>
                    <a:pt x="440148" y="298790"/>
                  </a:cubicBezTo>
                  <a:cubicBezTo>
                    <a:pt x="565955" y="252735"/>
                    <a:pt x="658618" y="131121"/>
                    <a:pt x="660400" y="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1782" y="131840"/>
                    <a:pt x="93019" y="253455"/>
                    <a:pt x="220252" y="298431"/>
                  </a:cubicBezTo>
                  <a:close/>
                </a:path>
              </a:pathLst>
            </a:custGeom>
            <a:solidFill>
              <a:srgbClr val="F6F6F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60400" cy="238125"/>
            </a:xfrm>
            <a:prstGeom prst="rect">
              <a:avLst/>
            </a:prstGeom>
          </p:spPr>
          <p:txBody>
            <a:bodyPr anchor="ctr" rtlCol="false" tIns="47995" lIns="47995" bIns="47995" rIns="47995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791120" y="5018752"/>
            <a:ext cx="1782688" cy="1307527"/>
            <a:chOff x="0" y="0"/>
            <a:chExt cx="660400" cy="4843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484376"/>
            </a:xfrm>
            <a:custGeom>
              <a:avLst/>
              <a:gdLst/>
              <a:ahLst/>
              <a:cxnLst/>
              <a:rect r="r" b="b" t="t" l="l"/>
              <a:pathLst>
                <a:path h="484376" w="660400">
                  <a:moveTo>
                    <a:pt x="220252" y="465307"/>
                  </a:moveTo>
                  <a:cubicBezTo>
                    <a:pt x="254109" y="476821"/>
                    <a:pt x="292600" y="484376"/>
                    <a:pt x="330378" y="484376"/>
                  </a:cubicBezTo>
                  <a:cubicBezTo>
                    <a:pt x="368157" y="484376"/>
                    <a:pt x="404509" y="477899"/>
                    <a:pt x="438009" y="466385"/>
                  </a:cubicBezTo>
                  <a:cubicBezTo>
                    <a:pt x="438723" y="466026"/>
                    <a:pt x="439435" y="466026"/>
                    <a:pt x="440148" y="465666"/>
                  </a:cubicBezTo>
                  <a:cubicBezTo>
                    <a:pt x="565955" y="419611"/>
                    <a:pt x="658618" y="297997"/>
                    <a:pt x="660400" y="163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63048"/>
                  </a:lnTo>
                  <a:cubicBezTo>
                    <a:pt x="1782" y="298716"/>
                    <a:pt x="93019" y="420331"/>
                    <a:pt x="220252" y="4653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60400" cy="405001"/>
            </a:xfrm>
            <a:prstGeom prst="rect">
              <a:avLst/>
            </a:prstGeom>
          </p:spPr>
          <p:txBody>
            <a:bodyPr anchor="ctr" rtlCol="false" tIns="47995" lIns="47995" bIns="47995" rIns="47995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8760" y="5013030"/>
            <a:ext cx="1317022" cy="13170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F52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104079" lIns="104079" bIns="104079" rIns="104079"/>
            <a:lstStyle/>
            <a:p>
              <a:pPr algn="ctr" marL="0" indent="0" lvl="0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626321" y="3277524"/>
            <a:ext cx="3754603" cy="5493869"/>
            <a:chOff x="0" y="0"/>
            <a:chExt cx="972917" cy="14236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2917" cy="1423607"/>
            </a:xfrm>
            <a:custGeom>
              <a:avLst/>
              <a:gdLst/>
              <a:ahLst/>
              <a:cxnLst/>
              <a:rect r="r" b="b" t="t" l="l"/>
              <a:pathLst>
                <a:path h="1423607" w="972917">
                  <a:moveTo>
                    <a:pt x="41240" y="0"/>
                  </a:moveTo>
                  <a:lnTo>
                    <a:pt x="931677" y="0"/>
                  </a:lnTo>
                  <a:cubicBezTo>
                    <a:pt x="954453" y="0"/>
                    <a:pt x="972917" y="18464"/>
                    <a:pt x="972917" y="41240"/>
                  </a:cubicBezTo>
                  <a:lnTo>
                    <a:pt x="972917" y="1382367"/>
                  </a:lnTo>
                  <a:cubicBezTo>
                    <a:pt x="972917" y="1405143"/>
                    <a:pt x="954453" y="1423607"/>
                    <a:pt x="931677" y="1423607"/>
                  </a:cubicBezTo>
                  <a:lnTo>
                    <a:pt x="41240" y="1423607"/>
                  </a:lnTo>
                  <a:cubicBezTo>
                    <a:pt x="18464" y="1423607"/>
                    <a:pt x="0" y="1405143"/>
                    <a:pt x="0" y="1382367"/>
                  </a:cubicBezTo>
                  <a:lnTo>
                    <a:pt x="0" y="41240"/>
                  </a:lnTo>
                  <a:cubicBezTo>
                    <a:pt x="0" y="18464"/>
                    <a:pt x="18464" y="0"/>
                    <a:pt x="412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72917" cy="1471232"/>
            </a:xfrm>
            <a:prstGeom prst="rect">
              <a:avLst/>
            </a:prstGeom>
          </p:spPr>
          <p:txBody>
            <a:bodyPr anchor="ctr" rtlCol="false" tIns="51633" lIns="51633" bIns="51633" rIns="51633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00000">
            <a:off x="8142735" y="5148511"/>
            <a:ext cx="2179860" cy="1048009"/>
            <a:chOff x="0" y="0"/>
            <a:chExt cx="660400" cy="317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298431"/>
                  </a:moveTo>
                  <a:cubicBezTo>
                    <a:pt x="254109" y="309945"/>
                    <a:pt x="292600" y="317500"/>
                    <a:pt x="330378" y="317500"/>
                  </a:cubicBezTo>
                  <a:cubicBezTo>
                    <a:pt x="368157" y="317500"/>
                    <a:pt x="404509" y="311023"/>
                    <a:pt x="438009" y="299509"/>
                  </a:cubicBezTo>
                  <a:cubicBezTo>
                    <a:pt x="438723" y="299150"/>
                    <a:pt x="439435" y="299150"/>
                    <a:pt x="440148" y="298790"/>
                  </a:cubicBezTo>
                  <a:cubicBezTo>
                    <a:pt x="565955" y="252735"/>
                    <a:pt x="658618" y="131121"/>
                    <a:pt x="660400" y="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1782" y="131840"/>
                    <a:pt x="93019" y="253455"/>
                    <a:pt x="220252" y="298431"/>
                  </a:cubicBezTo>
                  <a:close/>
                </a:path>
              </a:pathLst>
            </a:custGeom>
            <a:solidFill>
              <a:srgbClr val="F6F6F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60400" cy="238125"/>
            </a:xfrm>
            <a:prstGeom prst="rect">
              <a:avLst/>
            </a:prstGeom>
          </p:spPr>
          <p:txBody>
            <a:bodyPr anchor="ctr" rtlCol="false" tIns="47995" lIns="47995" bIns="47995" rIns="47995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4730308" y="5018752"/>
            <a:ext cx="1782688" cy="1307527"/>
            <a:chOff x="0" y="0"/>
            <a:chExt cx="660400" cy="4843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400" cy="484376"/>
            </a:xfrm>
            <a:custGeom>
              <a:avLst/>
              <a:gdLst/>
              <a:ahLst/>
              <a:cxnLst/>
              <a:rect r="r" b="b" t="t" l="l"/>
              <a:pathLst>
                <a:path h="484376" w="660400">
                  <a:moveTo>
                    <a:pt x="220252" y="465307"/>
                  </a:moveTo>
                  <a:cubicBezTo>
                    <a:pt x="254109" y="476821"/>
                    <a:pt x="292600" y="484376"/>
                    <a:pt x="330378" y="484376"/>
                  </a:cubicBezTo>
                  <a:cubicBezTo>
                    <a:pt x="368157" y="484376"/>
                    <a:pt x="404509" y="477899"/>
                    <a:pt x="438009" y="466385"/>
                  </a:cubicBezTo>
                  <a:cubicBezTo>
                    <a:pt x="438723" y="466026"/>
                    <a:pt x="439435" y="466026"/>
                    <a:pt x="440148" y="465666"/>
                  </a:cubicBezTo>
                  <a:cubicBezTo>
                    <a:pt x="565955" y="419611"/>
                    <a:pt x="658618" y="297997"/>
                    <a:pt x="660400" y="163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63048"/>
                  </a:lnTo>
                  <a:cubicBezTo>
                    <a:pt x="1782" y="298716"/>
                    <a:pt x="93019" y="420331"/>
                    <a:pt x="220252" y="4653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60400" cy="405001"/>
            </a:xfrm>
            <a:prstGeom prst="rect">
              <a:avLst/>
            </a:prstGeom>
          </p:spPr>
          <p:txBody>
            <a:bodyPr anchor="ctr" rtlCol="false" tIns="47995" lIns="47995" bIns="47995" rIns="47995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67948" y="5013030"/>
            <a:ext cx="1317022" cy="131702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46F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104079" lIns="104079" bIns="104079" rIns="104079"/>
            <a:lstStyle/>
            <a:p>
              <a:pPr algn="ctr" marL="0" indent="0" lvl="0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65509" y="3277524"/>
            <a:ext cx="3754603" cy="5493869"/>
            <a:chOff x="0" y="0"/>
            <a:chExt cx="972917" cy="14236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2917" cy="1423607"/>
            </a:xfrm>
            <a:custGeom>
              <a:avLst/>
              <a:gdLst/>
              <a:ahLst/>
              <a:cxnLst/>
              <a:rect r="r" b="b" t="t" l="l"/>
              <a:pathLst>
                <a:path h="1423607" w="972917">
                  <a:moveTo>
                    <a:pt x="41240" y="0"/>
                  </a:moveTo>
                  <a:lnTo>
                    <a:pt x="931677" y="0"/>
                  </a:lnTo>
                  <a:cubicBezTo>
                    <a:pt x="954453" y="0"/>
                    <a:pt x="972917" y="18464"/>
                    <a:pt x="972917" y="41240"/>
                  </a:cubicBezTo>
                  <a:lnTo>
                    <a:pt x="972917" y="1382367"/>
                  </a:lnTo>
                  <a:cubicBezTo>
                    <a:pt x="972917" y="1405143"/>
                    <a:pt x="954453" y="1423607"/>
                    <a:pt x="931677" y="1423607"/>
                  </a:cubicBezTo>
                  <a:lnTo>
                    <a:pt x="41240" y="1423607"/>
                  </a:lnTo>
                  <a:cubicBezTo>
                    <a:pt x="18464" y="1423607"/>
                    <a:pt x="0" y="1405143"/>
                    <a:pt x="0" y="1382367"/>
                  </a:cubicBezTo>
                  <a:lnTo>
                    <a:pt x="0" y="41240"/>
                  </a:lnTo>
                  <a:cubicBezTo>
                    <a:pt x="0" y="18464"/>
                    <a:pt x="18464" y="0"/>
                    <a:pt x="412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72917" cy="1471232"/>
            </a:xfrm>
            <a:prstGeom prst="rect">
              <a:avLst/>
            </a:prstGeom>
          </p:spPr>
          <p:txBody>
            <a:bodyPr anchor="ctr" rtlCol="false" tIns="51633" lIns="51633" bIns="51633" rIns="51633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5400000">
            <a:off x="12081923" y="5148511"/>
            <a:ext cx="2179860" cy="1048009"/>
            <a:chOff x="0" y="0"/>
            <a:chExt cx="660400" cy="317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298431"/>
                  </a:moveTo>
                  <a:cubicBezTo>
                    <a:pt x="254109" y="309945"/>
                    <a:pt x="292600" y="317500"/>
                    <a:pt x="330378" y="317500"/>
                  </a:cubicBezTo>
                  <a:cubicBezTo>
                    <a:pt x="368157" y="317500"/>
                    <a:pt x="404509" y="311023"/>
                    <a:pt x="438009" y="299509"/>
                  </a:cubicBezTo>
                  <a:cubicBezTo>
                    <a:pt x="438723" y="299150"/>
                    <a:pt x="439435" y="299150"/>
                    <a:pt x="440148" y="298790"/>
                  </a:cubicBezTo>
                  <a:cubicBezTo>
                    <a:pt x="565955" y="252735"/>
                    <a:pt x="658618" y="131121"/>
                    <a:pt x="660400" y="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1782" y="131840"/>
                    <a:pt x="93019" y="253455"/>
                    <a:pt x="220252" y="298431"/>
                  </a:cubicBezTo>
                  <a:close/>
                </a:path>
              </a:pathLst>
            </a:custGeom>
            <a:solidFill>
              <a:srgbClr val="F6F6F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60400" cy="238125"/>
            </a:xfrm>
            <a:prstGeom prst="rect">
              <a:avLst/>
            </a:prstGeom>
          </p:spPr>
          <p:txBody>
            <a:bodyPr anchor="ctr" rtlCol="false" tIns="47995" lIns="47995" bIns="47995" rIns="47995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8669496" y="5018752"/>
            <a:ext cx="1782688" cy="1307527"/>
            <a:chOff x="0" y="0"/>
            <a:chExt cx="660400" cy="4843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0400" cy="484376"/>
            </a:xfrm>
            <a:custGeom>
              <a:avLst/>
              <a:gdLst/>
              <a:ahLst/>
              <a:cxnLst/>
              <a:rect r="r" b="b" t="t" l="l"/>
              <a:pathLst>
                <a:path h="484376" w="660400">
                  <a:moveTo>
                    <a:pt x="220252" y="465307"/>
                  </a:moveTo>
                  <a:cubicBezTo>
                    <a:pt x="254109" y="476821"/>
                    <a:pt x="292600" y="484376"/>
                    <a:pt x="330378" y="484376"/>
                  </a:cubicBezTo>
                  <a:cubicBezTo>
                    <a:pt x="368157" y="484376"/>
                    <a:pt x="404509" y="477899"/>
                    <a:pt x="438009" y="466385"/>
                  </a:cubicBezTo>
                  <a:cubicBezTo>
                    <a:pt x="438723" y="466026"/>
                    <a:pt x="439435" y="466026"/>
                    <a:pt x="440148" y="465666"/>
                  </a:cubicBezTo>
                  <a:cubicBezTo>
                    <a:pt x="565955" y="419611"/>
                    <a:pt x="658618" y="297997"/>
                    <a:pt x="660400" y="163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63048"/>
                  </a:lnTo>
                  <a:cubicBezTo>
                    <a:pt x="1782" y="298716"/>
                    <a:pt x="93019" y="420331"/>
                    <a:pt x="220252" y="4653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60400" cy="405001"/>
            </a:xfrm>
            <a:prstGeom prst="rect">
              <a:avLst/>
            </a:prstGeom>
          </p:spPr>
          <p:txBody>
            <a:bodyPr anchor="ctr" rtlCol="false" tIns="47995" lIns="47995" bIns="47995" rIns="47995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07136" y="5013030"/>
            <a:ext cx="1317022" cy="1317022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51A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104079" lIns="104079" bIns="104079" rIns="104079"/>
            <a:lstStyle/>
            <a:p>
              <a:pPr algn="ctr" marL="0" indent="0" lvl="0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504697" y="3277524"/>
            <a:ext cx="3754603" cy="5493869"/>
            <a:chOff x="0" y="0"/>
            <a:chExt cx="972917" cy="142360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2917" cy="1423607"/>
            </a:xfrm>
            <a:custGeom>
              <a:avLst/>
              <a:gdLst/>
              <a:ahLst/>
              <a:cxnLst/>
              <a:rect r="r" b="b" t="t" l="l"/>
              <a:pathLst>
                <a:path h="1423607" w="972917">
                  <a:moveTo>
                    <a:pt x="41240" y="0"/>
                  </a:moveTo>
                  <a:lnTo>
                    <a:pt x="931677" y="0"/>
                  </a:lnTo>
                  <a:cubicBezTo>
                    <a:pt x="954453" y="0"/>
                    <a:pt x="972917" y="18464"/>
                    <a:pt x="972917" y="41240"/>
                  </a:cubicBezTo>
                  <a:lnTo>
                    <a:pt x="972917" y="1382367"/>
                  </a:lnTo>
                  <a:cubicBezTo>
                    <a:pt x="972917" y="1405143"/>
                    <a:pt x="954453" y="1423607"/>
                    <a:pt x="931677" y="1423607"/>
                  </a:cubicBezTo>
                  <a:lnTo>
                    <a:pt x="41240" y="1423607"/>
                  </a:lnTo>
                  <a:cubicBezTo>
                    <a:pt x="18464" y="1423607"/>
                    <a:pt x="0" y="1405143"/>
                    <a:pt x="0" y="1382367"/>
                  </a:cubicBezTo>
                  <a:lnTo>
                    <a:pt x="0" y="41240"/>
                  </a:lnTo>
                  <a:cubicBezTo>
                    <a:pt x="0" y="18464"/>
                    <a:pt x="18464" y="0"/>
                    <a:pt x="412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72917" cy="1471232"/>
            </a:xfrm>
            <a:prstGeom prst="rect">
              <a:avLst/>
            </a:prstGeom>
          </p:spPr>
          <p:txBody>
            <a:bodyPr anchor="ctr" rtlCol="false" tIns="51633" lIns="51633" bIns="51633" rIns="51633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5400000">
            <a:off x="12608684" y="5018752"/>
            <a:ext cx="1782688" cy="1307527"/>
            <a:chOff x="0" y="0"/>
            <a:chExt cx="660400" cy="48437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60400" cy="484376"/>
            </a:xfrm>
            <a:custGeom>
              <a:avLst/>
              <a:gdLst/>
              <a:ahLst/>
              <a:cxnLst/>
              <a:rect r="r" b="b" t="t" l="l"/>
              <a:pathLst>
                <a:path h="484376" w="660400">
                  <a:moveTo>
                    <a:pt x="220252" y="465307"/>
                  </a:moveTo>
                  <a:cubicBezTo>
                    <a:pt x="254109" y="476821"/>
                    <a:pt x="292600" y="484376"/>
                    <a:pt x="330378" y="484376"/>
                  </a:cubicBezTo>
                  <a:cubicBezTo>
                    <a:pt x="368157" y="484376"/>
                    <a:pt x="404509" y="477899"/>
                    <a:pt x="438009" y="466385"/>
                  </a:cubicBezTo>
                  <a:cubicBezTo>
                    <a:pt x="438723" y="466026"/>
                    <a:pt x="439435" y="466026"/>
                    <a:pt x="440148" y="465666"/>
                  </a:cubicBezTo>
                  <a:cubicBezTo>
                    <a:pt x="565955" y="419611"/>
                    <a:pt x="658618" y="297997"/>
                    <a:pt x="660400" y="163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63048"/>
                  </a:lnTo>
                  <a:cubicBezTo>
                    <a:pt x="1782" y="298716"/>
                    <a:pt x="93019" y="420331"/>
                    <a:pt x="220252" y="4653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60400" cy="405001"/>
            </a:xfrm>
            <a:prstGeom prst="rect">
              <a:avLst/>
            </a:prstGeom>
          </p:spPr>
          <p:txBody>
            <a:bodyPr anchor="ctr" rtlCol="false" tIns="47995" lIns="47995" bIns="47995" rIns="47995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046324" y="5013030"/>
            <a:ext cx="1317022" cy="1317022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15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104079" lIns="104079" bIns="104079" rIns="104079"/>
            <a:lstStyle/>
            <a:p>
              <a:pPr algn="ctr" marL="0" indent="0" lvl="0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979595" y="3563274"/>
            <a:ext cx="1143000" cy="1142883"/>
            <a:chOff x="0" y="0"/>
            <a:chExt cx="269486" cy="26945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9486" cy="269458"/>
            </a:xfrm>
            <a:custGeom>
              <a:avLst/>
              <a:gdLst/>
              <a:ahLst/>
              <a:cxnLst/>
              <a:rect r="r" b="b" t="t" l="l"/>
              <a:pathLst>
                <a:path h="269458" w="269486">
                  <a:moveTo>
                    <a:pt x="134729" y="0"/>
                  </a:moveTo>
                  <a:lnTo>
                    <a:pt x="134757" y="0"/>
                  </a:lnTo>
                  <a:cubicBezTo>
                    <a:pt x="170489" y="0"/>
                    <a:pt x="204758" y="14195"/>
                    <a:pt x="230025" y="39461"/>
                  </a:cubicBezTo>
                  <a:cubicBezTo>
                    <a:pt x="255291" y="64728"/>
                    <a:pt x="269486" y="98997"/>
                    <a:pt x="269486" y="134729"/>
                  </a:cubicBezTo>
                  <a:lnTo>
                    <a:pt x="269486" y="134729"/>
                  </a:lnTo>
                  <a:cubicBezTo>
                    <a:pt x="269486" y="209138"/>
                    <a:pt x="209166" y="269458"/>
                    <a:pt x="134757" y="269458"/>
                  </a:cubicBezTo>
                  <a:lnTo>
                    <a:pt x="134729" y="269458"/>
                  </a:lnTo>
                  <a:cubicBezTo>
                    <a:pt x="60320" y="269458"/>
                    <a:pt x="0" y="209138"/>
                    <a:pt x="0" y="134729"/>
                  </a:cubicBezTo>
                  <a:lnTo>
                    <a:pt x="0" y="134729"/>
                  </a:lnTo>
                  <a:cubicBezTo>
                    <a:pt x="0" y="60320"/>
                    <a:pt x="60320" y="0"/>
                    <a:pt x="1347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EF522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269486" cy="326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37"/>
                </a:lnSpc>
                <a:spcBef>
                  <a:spcPct val="0"/>
                </a:spcBef>
              </a:pPr>
              <a:r>
                <a:rPr lang="en-US" b="true" sz="2812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980329" y="3563274"/>
            <a:ext cx="1143000" cy="1142883"/>
            <a:chOff x="0" y="0"/>
            <a:chExt cx="269486" cy="26945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9486" cy="269458"/>
            </a:xfrm>
            <a:custGeom>
              <a:avLst/>
              <a:gdLst/>
              <a:ahLst/>
              <a:cxnLst/>
              <a:rect r="r" b="b" t="t" l="l"/>
              <a:pathLst>
                <a:path h="269458" w="269486">
                  <a:moveTo>
                    <a:pt x="134729" y="0"/>
                  </a:moveTo>
                  <a:lnTo>
                    <a:pt x="134757" y="0"/>
                  </a:lnTo>
                  <a:cubicBezTo>
                    <a:pt x="170489" y="0"/>
                    <a:pt x="204758" y="14195"/>
                    <a:pt x="230025" y="39461"/>
                  </a:cubicBezTo>
                  <a:cubicBezTo>
                    <a:pt x="255291" y="64728"/>
                    <a:pt x="269486" y="98997"/>
                    <a:pt x="269486" y="134729"/>
                  </a:cubicBezTo>
                  <a:lnTo>
                    <a:pt x="269486" y="134729"/>
                  </a:lnTo>
                  <a:cubicBezTo>
                    <a:pt x="269486" y="209138"/>
                    <a:pt x="209166" y="269458"/>
                    <a:pt x="134757" y="269458"/>
                  </a:cubicBezTo>
                  <a:lnTo>
                    <a:pt x="134729" y="269458"/>
                  </a:lnTo>
                  <a:cubicBezTo>
                    <a:pt x="60320" y="269458"/>
                    <a:pt x="0" y="209138"/>
                    <a:pt x="0" y="134729"/>
                  </a:cubicBezTo>
                  <a:lnTo>
                    <a:pt x="0" y="134729"/>
                  </a:lnTo>
                  <a:cubicBezTo>
                    <a:pt x="0" y="60320"/>
                    <a:pt x="60320" y="0"/>
                    <a:pt x="1347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C46F8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269486" cy="326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37"/>
                </a:lnSpc>
                <a:spcBef>
                  <a:spcPct val="0"/>
                </a:spcBef>
              </a:pPr>
              <a:r>
                <a:rPr lang="en-US" b="true" sz="2812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914574" y="3563274"/>
            <a:ext cx="1143000" cy="1142883"/>
            <a:chOff x="0" y="0"/>
            <a:chExt cx="269486" cy="26945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9486" cy="269458"/>
            </a:xfrm>
            <a:custGeom>
              <a:avLst/>
              <a:gdLst/>
              <a:ahLst/>
              <a:cxnLst/>
              <a:rect r="r" b="b" t="t" l="l"/>
              <a:pathLst>
                <a:path h="269458" w="269486">
                  <a:moveTo>
                    <a:pt x="134729" y="0"/>
                  </a:moveTo>
                  <a:lnTo>
                    <a:pt x="134757" y="0"/>
                  </a:lnTo>
                  <a:cubicBezTo>
                    <a:pt x="170489" y="0"/>
                    <a:pt x="204758" y="14195"/>
                    <a:pt x="230025" y="39461"/>
                  </a:cubicBezTo>
                  <a:cubicBezTo>
                    <a:pt x="255291" y="64728"/>
                    <a:pt x="269486" y="98997"/>
                    <a:pt x="269486" y="134729"/>
                  </a:cubicBezTo>
                  <a:lnTo>
                    <a:pt x="269486" y="134729"/>
                  </a:lnTo>
                  <a:cubicBezTo>
                    <a:pt x="269486" y="209138"/>
                    <a:pt x="209166" y="269458"/>
                    <a:pt x="134757" y="269458"/>
                  </a:cubicBezTo>
                  <a:lnTo>
                    <a:pt x="134729" y="269458"/>
                  </a:lnTo>
                  <a:cubicBezTo>
                    <a:pt x="60320" y="269458"/>
                    <a:pt x="0" y="209138"/>
                    <a:pt x="0" y="134729"/>
                  </a:cubicBezTo>
                  <a:lnTo>
                    <a:pt x="0" y="134729"/>
                  </a:lnTo>
                  <a:cubicBezTo>
                    <a:pt x="0" y="60320"/>
                    <a:pt x="60320" y="0"/>
                    <a:pt x="1347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B51A2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269486" cy="326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37"/>
                </a:lnSpc>
                <a:spcBef>
                  <a:spcPct val="0"/>
                </a:spcBef>
              </a:pPr>
              <a:r>
                <a:rPr lang="en-US" b="true" sz="2812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853762" y="3563274"/>
            <a:ext cx="1143000" cy="1142883"/>
            <a:chOff x="0" y="0"/>
            <a:chExt cx="269486" cy="26945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69486" cy="269458"/>
            </a:xfrm>
            <a:custGeom>
              <a:avLst/>
              <a:gdLst/>
              <a:ahLst/>
              <a:cxnLst/>
              <a:rect r="r" b="b" t="t" l="l"/>
              <a:pathLst>
                <a:path h="269458" w="269486">
                  <a:moveTo>
                    <a:pt x="134729" y="0"/>
                  </a:moveTo>
                  <a:lnTo>
                    <a:pt x="134757" y="0"/>
                  </a:lnTo>
                  <a:cubicBezTo>
                    <a:pt x="170489" y="0"/>
                    <a:pt x="204758" y="14195"/>
                    <a:pt x="230025" y="39461"/>
                  </a:cubicBezTo>
                  <a:cubicBezTo>
                    <a:pt x="255291" y="64728"/>
                    <a:pt x="269486" y="98997"/>
                    <a:pt x="269486" y="134729"/>
                  </a:cubicBezTo>
                  <a:lnTo>
                    <a:pt x="269486" y="134729"/>
                  </a:lnTo>
                  <a:cubicBezTo>
                    <a:pt x="269486" y="209138"/>
                    <a:pt x="209166" y="269458"/>
                    <a:pt x="134757" y="269458"/>
                  </a:cubicBezTo>
                  <a:lnTo>
                    <a:pt x="134729" y="269458"/>
                  </a:lnTo>
                  <a:cubicBezTo>
                    <a:pt x="60320" y="269458"/>
                    <a:pt x="0" y="209138"/>
                    <a:pt x="0" y="134729"/>
                  </a:cubicBezTo>
                  <a:lnTo>
                    <a:pt x="0" y="134729"/>
                  </a:lnTo>
                  <a:cubicBezTo>
                    <a:pt x="0" y="60320"/>
                    <a:pt x="60320" y="0"/>
                    <a:pt x="1347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8715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269486" cy="326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37"/>
                </a:lnSpc>
                <a:spcBef>
                  <a:spcPct val="0"/>
                </a:spcBef>
              </a:pPr>
              <a:r>
                <a:rPr lang="en-US" b="true" sz="2812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1600079" y="5409811"/>
            <a:ext cx="574371" cy="688573"/>
          </a:xfrm>
          <a:custGeom>
            <a:avLst/>
            <a:gdLst/>
            <a:ahLst/>
            <a:cxnLst/>
            <a:rect r="r" b="b" t="t" l="l"/>
            <a:pathLst>
              <a:path h="688573" w="574371">
                <a:moveTo>
                  <a:pt x="0" y="0"/>
                </a:moveTo>
                <a:lnTo>
                  <a:pt x="574371" y="0"/>
                </a:lnTo>
                <a:lnTo>
                  <a:pt x="574371" y="688573"/>
                </a:lnTo>
                <a:lnTo>
                  <a:pt x="0" y="688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5463987" y="5372889"/>
            <a:ext cx="689079" cy="644350"/>
          </a:xfrm>
          <a:custGeom>
            <a:avLst/>
            <a:gdLst/>
            <a:ahLst/>
            <a:cxnLst/>
            <a:rect r="r" b="b" t="t" l="l"/>
            <a:pathLst>
              <a:path h="644350" w="689079">
                <a:moveTo>
                  <a:pt x="0" y="0"/>
                </a:moveTo>
                <a:lnTo>
                  <a:pt x="689079" y="0"/>
                </a:lnTo>
                <a:lnTo>
                  <a:pt x="689079" y="644349"/>
                </a:lnTo>
                <a:lnTo>
                  <a:pt x="0" y="6443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1" id="61"/>
          <p:cNvSpPr/>
          <p:nvPr/>
        </p:nvSpPr>
        <p:spPr>
          <a:xfrm flipH="false" flipV="false" rot="0">
            <a:off x="9513315" y="5346077"/>
            <a:ext cx="606436" cy="662737"/>
          </a:xfrm>
          <a:custGeom>
            <a:avLst/>
            <a:gdLst/>
            <a:ahLst/>
            <a:cxnLst/>
            <a:rect r="r" b="b" t="t" l="l"/>
            <a:pathLst>
              <a:path h="662737" w="606436">
                <a:moveTo>
                  <a:pt x="0" y="0"/>
                </a:moveTo>
                <a:lnTo>
                  <a:pt x="606437" y="0"/>
                </a:lnTo>
                <a:lnTo>
                  <a:pt x="606437" y="662737"/>
                </a:lnTo>
                <a:lnTo>
                  <a:pt x="0" y="662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2" id="62"/>
          <p:cNvSpPr/>
          <p:nvPr/>
        </p:nvSpPr>
        <p:spPr>
          <a:xfrm flipH="false" flipV="false" rot="0">
            <a:off x="13364696" y="5418002"/>
            <a:ext cx="672306" cy="688162"/>
          </a:xfrm>
          <a:custGeom>
            <a:avLst/>
            <a:gdLst/>
            <a:ahLst/>
            <a:cxnLst/>
            <a:rect r="r" b="b" t="t" l="l"/>
            <a:pathLst>
              <a:path h="688162" w="672306">
                <a:moveTo>
                  <a:pt x="0" y="0"/>
                </a:moveTo>
                <a:lnTo>
                  <a:pt x="672306" y="0"/>
                </a:lnTo>
                <a:lnTo>
                  <a:pt x="672306" y="688162"/>
                </a:lnTo>
                <a:lnTo>
                  <a:pt x="0" y="688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3" id="63"/>
          <p:cNvSpPr txBox="true"/>
          <p:nvPr/>
        </p:nvSpPr>
        <p:spPr>
          <a:xfrm rot="0">
            <a:off x="2139937" y="7195510"/>
            <a:ext cx="2848994" cy="707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5"/>
              </a:lnSpc>
              <a:spcBef>
                <a:spcPct val="0"/>
              </a:spcBef>
            </a:pPr>
            <a:r>
              <a:rPr lang="en-US" sz="1389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AURA tư vấn sản phẩm công nghệ bằng AI được kiểm soát chặt chẽ, không để AI trả lời tự do.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079125" y="7195510"/>
            <a:ext cx="2848994" cy="707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5"/>
              </a:lnSpc>
              <a:spcBef>
                <a:spcPct val="0"/>
              </a:spcBef>
            </a:pPr>
            <a:r>
              <a:rPr lang="en-US" sz="138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Harness Engineering là đóng góp kỹ thuật trọng tâm: state, tool, workflow, trace và verifier.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018313" y="7195510"/>
            <a:ext cx="2848994" cy="707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5"/>
              </a:lnSpc>
              <a:spcBef>
                <a:spcPct val="0"/>
              </a:spcBef>
            </a:pPr>
            <a:r>
              <a:rPr lang="en-US" sz="1389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Đảm bảo grounding, verification, UI consistency và traceability xuyên suốt hệ thống.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957501" y="7195510"/>
            <a:ext cx="2848994" cy="707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5"/>
              </a:lnSpc>
              <a:spcBef>
                <a:spcPct val="0"/>
              </a:spcBef>
            </a:pPr>
            <a:r>
              <a:rPr lang="en-US" sz="1389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Mở rộng catalog, hybrid retrieval, dashboard trace, user study và monitoring sản phẩm.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139937" y="6582063"/>
            <a:ext cx="2848994" cy="31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3"/>
              </a:lnSpc>
              <a:spcBef>
                <a:spcPct val="0"/>
              </a:spcBef>
            </a:pPr>
            <a:r>
              <a:rPr lang="en-US" b="true" sz="184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AI Có Kiểm Soát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079125" y="6582063"/>
            <a:ext cx="2848994" cy="31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3"/>
              </a:lnSpc>
              <a:spcBef>
                <a:spcPct val="0"/>
              </a:spcBef>
            </a:pPr>
            <a:r>
              <a:rPr lang="en-US" b="true" sz="184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Harness Engineering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018313" y="6582063"/>
            <a:ext cx="2848994" cy="31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3"/>
              </a:lnSpc>
              <a:spcBef>
                <a:spcPct val="0"/>
              </a:spcBef>
            </a:pPr>
            <a:r>
              <a:rPr lang="en-US" b="true" sz="184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Grounding &amp; Verification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957501" y="6582063"/>
            <a:ext cx="2848994" cy="31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3"/>
              </a:lnSpc>
              <a:spcBef>
                <a:spcPct val="0"/>
              </a:spcBef>
            </a:pPr>
            <a:r>
              <a:rPr lang="en-US" b="true" sz="184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Hướng Phát Triển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209467" y="942975"/>
            <a:ext cx="11869067" cy="7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  <a:spcBef>
                <a:spcPct val="0"/>
              </a:spcBef>
            </a:pPr>
            <a:r>
              <a:rPr lang="en-US" b="true" sz="449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Kết Luận &amp; Hướng Phát Triển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904993" y="1922526"/>
            <a:ext cx="12478015" cy="315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3"/>
              </a:lnSpc>
              <a:spcBef>
                <a:spcPct val="0"/>
              </a:spcBef>
            </a:pPr>
            <a:r>
              <a:rPr lang="en-US" sz="1823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Tóm tắt đóng góp kỹ thuật và định hướng tương lai của AURA AI Sales Advisor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54812" y="2651839"/>
            <a:ext cx="3336813" cy="3393045"/>
            <a:chOff x="0" y="0"/>
            <a:chExt cx="812800" cy="826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26497"/>
            </a:xfrm>
            <a:custGeom>
              <a:avLst/>
              <a:gdLst/>
              <a:ahLst/>
              <a:cxnLst/>
              <a:rect r="r" b="b" t="t" l="l"/>
              <a:pathLst>
                <a:path h="826497" w="812800">
                  <a:moveTo>
                    <a:pt x="406400" y="0"/>
                  </a:moveTo>
                  <a:cubicBezTo>
                    <a:pt x="181951" y="0"/>
                    <a:pt x="0" y="185018"/>
                    <a:pt x="0" y="413249"/>
                  </a:cubicBezTo>
                  <a:cubicBezTo>
                    <a:pt x="0" y="641480"/>
                    <a:pt x="181951" y="826497"/>
                    <a:pt x="406400" y="826497"/>
                  </a:cubicBezTo>
                  <a:cubicBezTo>
                    <a:pt x="630849" y="826497"/>
                    <a:pt x="812800" y="641480"/>
                    <a:pt x="812800" y="413249"/>
                  </a:cubicBezTo>
                  <a:cubicBezTo>
                    <a:pt x="812800" y="18501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23900" cap="sq">
              <a:solidFill>
                <a:srgbClr val="BEF52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9384"/>
              <a:ext cx="660400" cy="709629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96375" y="2651839"/>
            <a:ext cx="3336813" cy="3393045"/>
            <a:chOff x="0" y="0"/>
            <a:chExt cx="812800" cy="8264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26497"/>
            </a:xfrm>
            <a:custGeom>
              <a:avLst/>
              <a:gdLst/>
              <a:ahLst/>
              <a:cxnLst/>
              <a:rect r="r" b="b" t="t" l="l"/>
              <a:pathLst>
                <a:path h="826497" w="812800">
                  <a:moveTo>
                    <a:pt x="406400" y="0"/>
                  </a:moveTo>
                  <a:cubicBezTo>
                    <a:pt x="181951" y="0"/>
                    <a:pt x="0" y="185018"/>
                    <a:pt x="0" y="413249"/>
                  </a:cubicBezTo>
                  <a:cubicBezTo>
                    <a:pt x="0" y="641480"/>
                    <a:pt x="181951" y="826497"/>
                    <a:pt x="406400" y="826497"/>
                  </a:cubicBezTo>
                  <a:cubicBezTo>
                    <a:pt x="630849" y="826497"/>
                    <a:pt x="812800" y="641480"/>
                    <a:pt x="812800" y="413249"/>
                  </a:cubicBezTo>
                  <a:cubicBezTo>
                    <a:pt x="812800" y="18501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23900" cap="sq">
              <a:solidFill>
                <a:srgbClr val="7C46F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9384"/>
              <a:ext cx="660400" cy="709629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854812" y="5949634"/>
            <a:ext cx="3336813" cy="3393045"/>
            <a:chOff x="0" y="0"/>
            <a:chExt cx="812800" cy="826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26497"/>
            </a:xfrm>
            <a:custGeom>
              <a:avLst/>
              <a:gdLst/>
              <a:ahLst/>
              <a:cxnLst/>
              <a:rect r="r" b="b" t="t" l="l"/>
              <a:pathLst>
                <a:path h="826497" w="812800">
                  <a:moveTo>
                    <a:pt x="406400" y="0"/>
                  </a:moveTo>
                  <a:cubicBezTo>
                    <a:pt x="181951" y="0"/>
                    <a:pt x="0" y="185018"/>
                    <a:pt x="0" y="413249"/>
                  </a:cubicBezTo>
                  <a:cubicBezTo>
                    <a:pt x="0" y="641480"/>
                    <a:pt x="181951" y="826497"/>
                    <a:pt x="406400" y="826497"/>
                  </a:cubicBezTo>
                  <a:cubicBezTo>
                    <a:pt x="630849" y="826497"/>
                    <a:pt x="812800" y="641480"/>
                    <a:pt x="812800" y="413249"/>
                  </a:cubicBezTo>
                  <a:cubicBezTo>
                    <a:pt x="812800" y="18501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23900" cap="sq">
              <a:solidFill>
                <a:srgbClr val="FF871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9384"/>
              <a:ext cx="660400" cy="709629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96375" y="5949634"/>
            <a:ext cx="3336813" cy="3393045"/>
            <a:chOff x="0" y="0"/>
            <a:chExt cx="812800" cy="8264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26497"/>
            </a:xfrm>
            <a:custGeom>
              <a:avLst/>
              <a:gdLst/>
              <a:ahLst/>
              <a:cxnLst/>
              <a:rect r="r" b="b" t="t" l="l"/>
              <a:pathLst>
                <a:path h="826497" w="812800">
                  <a:moveTo>
                    <a:pt x="406400" y="0"/>
                  </a:moveTo>
                  <a:cubicBezTo>
                    <a:pt x="181951" y="0"/>
                    <a:pt x="0" y="185018"/>
                    <a:pt x="0" y="413249"/>
                  </a:cubicBezTo>
                  <a:cubicBezTo>
                    <a:pt x="0" y="641480"/>
                    <a:pt x="181951" y="826497"/>
                    <a:pt x="406400" y="826497"/>
                  </a:cubicBezTo>
                  <a:cubicBezTo>
                    <a:pt x="630849" y="826497"/>
                    <a:pt x="812800" y="641480"/>
                    <a:pt x="812800" y="413249"/>
                  </a:cubicBezTo>
                  <a:cubicBezTo>
                    <a:pt x="812800" y="18501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23900" cap="sq">
              <a:solidFill>
                <a:srgbClr val="FB51A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9384"/>
              <a:ext cx="660400" cy="709629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84609" y="4737868"/>
            <a:ext cx="2518781" cy="251878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102400" lIns="102400" bIns="102400" rIns="1024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538900" y="5468529"/>
            <a:ext cx="1015140" cy="1563799"/>
          </a:xfrm>
          <a:custGeom>
            <a:avLst/>
            <a:gdLst/>
            <a:ahLst/>
            <a:cxnLst/>
            <a:rect r="r" b="b" t="t" l="l"/>
            <a:pathLst>
              <a:path h="1563799" w="1015140">
                <a:moveTo>
                  <a:pt x="0" y="0"/>
                </a:moveTo>
                <a:lnTo>
                  <a:pt x="1015140" y="0"/>
                </a:lnTo>
                <a:lnTo>
                  <a:pt x="1015140" y="1563799"/>
                </a:lnTo>
                <a:lnTo>
                  <a:pt x="0" y="1563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0105652" y="7161440"/>
            <a:ext cx="1177284" cy="868375"/>
          </a:xfrm>
          <a:custGeom>
            <a:avLst/>
            <a:gdLst/>
            <a:ahLst/>
            <a:cxnLst/>
            <a:rect r="r" b="b" t="t" l="l"/>
            <a:pathLst>
              <a:path h="868375" w="1177284">
                <a:moveTo>
                  <a:pt x="0" y="0"/>
                </a:moveTo>
                <a:lnTo>
                  <a:pt x="1177284" y="0"/>
                </a:lnTo>
                <a:lnTo>
                  <a:pt x="1177284" y="868375"/>
                </a:lnTo>
                <a:lnTo>
                  <a:pt x="0" y="868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7013183" y="7206271"/>
            <a:ext cx="1015557" cy="851696"/>
          </a:xfrm>
          <a:custGeom>
            <a:avLst/>
            <a:gdLst/>
            <a:ahLst/>
            <a:cxnLst/>
            <a:rect r="r" b="b" t="t" l="l"/>
            <a:pathLst>
              <a:path h="851696" w="1015557">
                <a:moveTo>
                  <a:pt x="0" y="0"/>
                </a:moveTo>
                <a:lnTo>
                  <a:pt x="1015557" y="0"/>
                </a:lnTo>
                <a:lnTo>
                  <a:pt x="1015557" y="851696"/>
                </a:lnTo>
                <a:lnTo>
                  <a:pt x="0" y="851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7108864" y="4003366"/>
            <a:ext cx="754074" cy="756903"/>
          </a:xfrm>
          <a:custGeom>
            <a:avLst/>
            <a:gdLst/>
            <a:ahLst/>
            <a:cxnLst/>
            <a:rect r="r" b="b" t="t" l="l"/>
            <a:pathLst>
              <a:path h="756903" w="754074">
                <a:moveTo>
                  <a:pt x="0" y="0"/>
                </a:moveTo>
                <a:lnTo>
                  <a:pt x="754074" y="0"/>
                </a:lnTo>
                <a:lnTo>
                  <a:pt x="754074" y="756903"/>
                </a:lnTo>
                <a:lnTo>
                  <a:pt x="0" y="756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0424994" y="3908413"/>
            <a:ext cx="612114" cy="770119"/>
          </a:xfrm>
          <a:custGeom>
            <a:avLst/>
            <a:gdLst/>
            <a:ahLst/>
            <a:cxnLst/>
            <a:rect r="r" b="b" t="t" l="l"/>
            <a:pathLst>
              <a:path h="770119" w="612114">
                <a:moveTo>
                  <a:pt x="0" y="0"/>
                </a:moveTo>
                <a:lnTo>
                  <a:pt x="612114" y="0"/>
                </a:lnTo>
                <a:lnTo>
                  <a:pt x="612114" y="770120"/>
                </a:lnTo>
                <a:lnTo>
                  <a:pt x="0" y="7701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1808761" y="7326741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Pipeline kiểm thử module hóa, trace đầy đủ để đánh giá chất lượng.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08761" y="4428232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Lớp kiểm soát AI đảm bảo grounding, verification và traceability.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08761" y="3950132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Harness Engineering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83375" y="4428232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Tư vấn sản phẩm công nghệ chính xác, đồng bộ catalog thực tế.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83375" y="3950132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AI Advisor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08761" y="6848641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Kiểm thử &amp; Trace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83375" y="7326741"/>
            <a:ext cx="2848994" cy="82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Mở rộng catalog, hybrid retrieval, dashboard trace và user study.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83375" y="6848641"/>
            <a:ext cx="2848994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Hướng phát triển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09467" y="942975"/>
            <a:ext cx="11869067" cy="7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  <a:spcBef>
                <a:spcPct val="0"/>
              </a:spcBef>
            </a:pPr>
            <a:r>
              <a:rPr lang="en-US" b="true" sz="449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Cảm ơn quý hội đồng đã lắng nghe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04993" y="1913001"/>
            <a:ext cx="12478015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Mời các câu hỏi và thảo luận — AURA AI Sales Advisor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DAHNjyOQ3O0</dc:identifier>
  <dcterms:modified xsi:type="dcterms:W3CDTF">2011-08-01T06:04:30Z</dcterms:modified>
  <cp:revision>1</cp:revision>
  <dc:title>AURA AI Sales Advisor
</dc:title>
</cp:coreProperties>
</file>